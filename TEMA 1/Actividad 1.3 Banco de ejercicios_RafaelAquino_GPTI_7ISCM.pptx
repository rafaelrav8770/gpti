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58" r:id="rId4"/>
    <p:sldId id="303" r:id="rId5"/>
    <p:sldId id="306" r:id="rId6"/>
    <p:sldId id="304" r:id="rId7"/>
    <p:sldId id="305" r:id="rId8"/>
    <p:sldId id="260" r:id="rId9"/>
    <p:sldId id="307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922" y="-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x8gfBL5Rps&amp;utm_source=chatgpt.com" TargetMode="External"/><Relationship Id="rId7" Type="http://schemas.openxmlformats.org/officeDocument/2006/relationships/hyperlink" Target="https://www.youtube.com/watch?v=kJtlZ0xneEw" TargetMode="External"/><Relationship Id="rId2" Type="http://schemas.openxmlformats.org/officeDocument/2006/relationships/hyperlink" Target="https://github.com/rafaelrav8770/GPT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mi.org/standards/pmbok?utm_source=chatgpt.com" TargetMode="External"/><Relationship Id="rId5" Type="http://schemas.openxmlformats.org/officeDocument/2006/relationships/hyperlink" Target="https://www.youtube.com/watch?v=8k_7bMRPEco&amp;utm_source=chatgpt.com" TargetMode="External"/><Relationship Id="rId4" Type="http://schemas.openxmlformats.org/officeDocument/2006/relationships/hyperlink" Target="https://www.youtube.com/watch?v=yVRZif8cJz0&amp;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1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s-MX" b="1" kern="0" dirty="0">
                <a:latin typeface="Arial" panose="020B0604020202020204" pitchFamily="34" charset="0"/>
                <a:cs typeface="Arial" panose="020B0604020202020204" pitchFamily="34" charset="0"/>
              </a:rPr>
              <a:t>GESTION DE PROYECTOS DE TI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</a:t>
            </a:r>
            <a:r>
              <a:rPr lang="es-MX" sz="2000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.3 –</a:t>
            </a:r>
            <a:r>
              <a:rPr lang="es-MX" sz="2000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BANCO DE EJERCICIOS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051900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SEPTIMO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16 DE </a:t>
            </a:r>
            <a:r>
              <a:rPr lang="es-MX" sz="2000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AGOSTO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129213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Introducción</a:t>
            </a:r>
          </a:p>
          <a:p>
            <a:pPr marL="0" indent="0">
              <a:buNone/>
            </a:pPr>
            <a:r>
              <a:rPr lang="es-MX" dirty="0"/>
              <a:t>El presente banco de ejercicios muestra el seguimiento realizado a los tres proyectos asignados durante la primera etapa de gestión. Desde el rol de Project Manager se revisaron las actividades completadas, pendientes y el avance alcanzado por cada desarrollador con respecto a su cronograma preliminar.</a:t>
            </a:r>
          </a:p>
          <a:p>
            <a:pPr marL="0" indent="0">
              <a:buNone/>
            </a:pPr>
            <a:r>
              <a:rPr lang="es-MX" dirty="0"/>
              <a:t>Mediante un cuadro comparativo se identifican de manera clara las diferencias y similitudes existentes entre los proyectos, permitiendo conocer su estado actual y determinar las actividades que requieren seguimiento.</a:t>
            </a:r>
          </a:p>
          <a:p>
            <a:pPr marL="0" indent="0">
              <a:buNone/>
            </a:pPr>
            <a:endParaRPr lang="es-MX" dirty="0"/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03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F6C57-A8B1-DC96-5869-560383E7A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Objetivo</a:t>
            </a:r>
          </a:p>
          <a:p>
            <a:pPr marL="0" indent="0">
              <a:buNone/>
            </a:pPr>
            <a:r>
              <a:rPr lang="es-MX" dirty="0"/>
              <a:t> </a:t>
            </a:r>
          </a:p>
          <a:p>
            <a:pPr marL="0" indent="0" algn="just">
              <a:buNone/>
            </a:pPr>
            <a:r>
              <a:rPr lang="es-MX" dirty="0"/>
              <a:t>Comparar </a:t>
            </a:r>
            <a:r>
              <a:rPr lang="es-MX"/>
              <a:t>el avance </a:t>
            </a:r>
            <a:r>
              <a:rPr lang="es-MX" dirty="0"/>
              <a:t>de los proyectos asignados mediante el análisis de las actividades realizadas y pendientes de cada desarrollador, con el propósito de identificar su estado actual y verificar el cumplimiento del cronograma establecido.</a:t>
            </a: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9266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3867A-3E04-8632-141B-8C5FDD171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EA835B-7257-6BC0-9849-98A1416C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El seguimiento comparativo permite al Project Manager conocer el estado de los proyectos bajo su responsabilidad y detectar oportunamente actividades pendientes, retrasos o necesidades de ajuste. Esta información facilita la toma de decisiones y permite mantener un control organizado del avance de cada desarrollador.</a:t>
            </a:r>
          </a:p>
        </p:txBody>
      </p:sp>
    </p:spTree>
    <p:extLst>
      <p:ext uri="{BB962C8B-B14F-4D97-AF65-F5344CB8AC3E}">
        <p14:creationId xmlns:p14="http://schemas.microsoft.com/office/powerpoint/2010/main" val="352723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D8D02-5163-5C0B-9AEF-6204540FB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sz="3600" b="1" dirty="0">
                <a:solidFill>
                  <a:schemeClr val="accent1"/>
                </a:solidFill>
              </a:rPr>
              <a:t>Cuadro comparativo de gestión: avance de cada desarrollador con respecto a su cronograma preliminar.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77F58E7-0BC9-AC38-65F0-6A4D4FBB15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7301369"/>
              </p:ext>
            </p:extLst>
          </p:nvPr>
        </p:nvGraphicFramePr>
        <p:xfrm>
          <a:off x="1066800" y="1690688"/>
          <a:ext cx="10401300" cy="318516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685201638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1216713441"/>
                    </a:ext>
                  </a:extLst>
                </a:gridCol>
                <a:gridCol w="2334431">
                  <a:extLst>
                    <a:ext uri="{9D8B030D-6E8A-4147-A177-3AD203B41FA5}">
                      <a16:colId xmlns:a16="http://schemas.microsoft.com/office/drawing/2014/main" val="4026051714"/>
                    </a:ext>
                  </a:extLst>
                </a:gridCol>
                <a:gridCol w="2142917">
                  <a:extLst>
                    <a:ext uri="{9D8B030D-6E8A-4147-A177-3AD203B41FA5}">
                      <a16:colId xmlns:a16="http://schemas.microsoft.com/office/drawing/2014/main" val="434915114"/>
                    </a:ext>
                  </a:extLst>
                </a:gridCol>
                <a:gridCol w="741779">
                  <a:extLst>
                    <a:ext uri="{9D8B030D-6E8A-4147-A177-3AD203B41FA5}">
                      <a16:colId xmlns:a16="http://schemas.microsoft.com/office/drawing/2014/main" val="407182494"/>
                    </a:ext>
                  </a:extLst>
                </a:gridCol>
                <a:gridCol w="1648398">
                  <a:extLst>
                    <a:ext uri="{9D8B030D-6E8A-4147-A177-3AD203B41FA5}">
                      <a16:colId xmlns:a16="http://schemas.microsoft.com/office/drawing/2014/main" val="31263975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effectLst/>
                        </a:rPr>
                        <a:t>Desarrollador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dirty="0">
                          <a:effectLst/>
                        </a:rPr>
                        <a:t>Proyecto</a:t>
                      </a:r>
                      <a:endParaRPr lang="es-MX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dirty="0">
                          <a:effectLst/>
                        </a:rPr>
                        <a:t>Actividades completadas</a:t>
                      </a:r>
                      <a:endParaRPr lang="es-MX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effectLst/>
                        </a:rPr>
                        <a:t>Actividades pendientes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effectLst/>
                        </a:rPr>
                        <a:t>% Avance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effectLst/>
                        </a:rPr>
                        <a:t>Observación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3292508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Roberto Carlos </a:t>
                      </a:r>
                      <a:r>
                        <a:rPr lang="es-MX" sz="1200" dirty="0" err="1">
                          <a:effectLst/>
                        </a:rPr>
                        <a:t>Cahuare</a:t>
                      </a:r>
                      <a:r>
                        <a:rPr lang="es-MX" sz="1200" dirty="0">
                          <a:effectLst/>
                        </a:rPr>
                        <a:t> Moreno</a:t>
                      </a:r>
                      <a:endParaRPr lang="es-MX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Taller de reparación de equipos electrónicos</a:t>
                      </a:r>
                      <a:endParaRPr lang="es-MX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Definición del proyecto, objetivos, alcance, justificación y las 5 etapas del proceso. Selección de herramientas de trabajo.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Construir el diagrama de flujo y configurar los procesos en el software de simulación.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20%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En tiempo según cronograma (Semana 1 de 8 completada).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3663544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Brandon Farith Lopez Nanga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Taller mecánico</a:t>
                      </a:r>
                      <a:endParaRPr lang="es-MX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Definición del proceso, recursos (3 mecánicos, recepción, supervisor) y tipos de servicio. Selección de herramientas de trabajo.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Formalizar requisitos funcionales/no funcionales y diseñar los diagramas del proceso.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20%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En tiempo. Se corrigió un ajuste menor de fechas en su cronograma.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3843610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Josefina Nieto Hernández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Planta embotelladora de agua</a:t>
                      </a:r>
                      <a:endParaRPr lang="es-MX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Definición del proceso completo (recepción, limpieza simple/profunda, llenado, tapado) con tiempos preliminares. Selección de herramientas de trabajo.</a:t>
                      </a:r>
                      <a:endParaRPr lang="es-MX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Definir cantidad de empleados, frecuencia de llegada de garrafones y reglas de operación de la máquina de llenado.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>
                          <a:effectLst/>
                        </a:rPr>
                        <a:t>20%</a:t>
                      </a:r>
                      <a:endParaRPr lang="es-MX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effectLst/>
                        </a:rPr>
                        <a:t>En tiempo, con ajustes de fechas ya validados por el Project Manager.</a:t>
                      </a:r>
                      <a:endParaRPr lang="es-MX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692778807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1451F046-2C7C-63C1-EA15-DDD0F82422C1}"/>
              </a:ext>
            </a:extLst>
          </p:cNvPr>
          <p:cNvSpPr txBox="1"/>
          <p:nvPr/>
        </p:nvSpPr>
        <p:spPr>
          <a:xfrm>
            <a:off x="952500" y="4875848"/>
            <a:ext cx="10515600" cy="20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700"/>
              </a:spcAft>
              <a:buNone/>
            </a:pPr>
            <a:r>
              <a:rPr lang="es-MX" sz="18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Como Project Manager, se dio seguimiento a los tres proyectos bajo supervisión a través de reuniones breves con cada desarrollador. El siguiente cuadro compara el avance de cada uno con respecto a su cronograma preliminar de 8 semanas, evidenciando las actividades ya completadas, las que aún están pendientes y el porcentaje de avance registrado hasta la fecha.</a:t>
            </a:r>
          </a:p>
          <a:p>
            <a:pPr algn="just">
              <a:spcAft>
                <a:spcPts val="700"/>
              </a:spcAft>
            </a:pPr>
            <a:r>
              <a:rPr lang="es-MX" b="1" i="1" dirty="0"/>
              <a:t>Observación general: </a:t>
            </a:r>
            <a:r>
              <a:rPr lang="es-MX" i="1" dirty="0"/>
              <a:t>los tres desarrolladores muestran el mismo nivel de avance (20%), con la fase de definición del proyecto completa en los tres casos y sin retrasos con respecto al cronograma acordado.</a:t>
            </a:r>
            <a:endParaRPr lang="es-MX" dirty="0"/>
          </a:p>
          <a:p>
            <a:pPr algn="just">
              <a:lnSpc>
                <a:spcPct val="100000"/>
              </a:lnSpc>
              <a:spcAft>
                <a:spcPts val="700"/>
              </a:spcAft>
              <a:buNone/>
            </a:pPr>
            <a:endParaRPr lang="es-MX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582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13985-6EEA-BA16-133C-412FDAA3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s-MX" sz="3600" b="1" dirty="0">
                <a:solidFill>
                  <a:schemeClr val="accent1"/>
                </a:solidFill>
              </a:rPr>
              <a:t>Análisis y seguimiento de los proyectos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81510CD-B0DA-7933-AEFA-1C43F188C7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2336316"/>
              </p:ext>
            </p:extLst>
          </p:nvPr>
        </p:nvGraphicFramePr>
        <p:xfrm>
          <a:off x="838200" y="1898174"/>
          <a:ext cx="10515600" cy="420624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0019882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792951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070661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57498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Desarrollador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Estado actual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Actividad pendiente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Acción del Project Manager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888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Roberto Carlos Cahuare Moreno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20% de avance. Fase de definición completada.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Elaborar diagrama de flujo y configurar la simulación.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Dar seguimiento al desarrollo del diagrama y verificar el avance de la simulación.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512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Brandon Farith Lopez Nanga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20% de avance. Recursos y servicios definidos.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Formalizar requisitos y diseñar los diagramas del proceso.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Revisar requisitos y validar los diagramas antes de continuar con el desarrollo.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54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Josefina Nieto Hernández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20% de avance. Proceso y tiempos preliminares definidos.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Definir empleados, frecuencia de llegada y reglas de operación.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Solicitar la información faltante y verificar que quede integrada antes de avanzar.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828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750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09F6B-605C-18C1-9557-95EC8CFCB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191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sz="3600" b="1" dirty="0">
                <a:solidFill>
                  <a:schemeClr val="accent1"/>
                </a:solidFill>
              </a:rPr>
              <a:t>Bitácora de seguimiento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37805E2-604C-EC50-6413-8B1ED72545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067981"/>
              </p:ext>
            </p:extLst>
          </p:nvPr>
        </p:nvGraphicFramePr>
        <p:xfrm>
          <a:off x="838200" y="1079232"/>
          <a:ext cx="10591800" cy="45372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118360">
                  <a:extLst>
                    <a:ext uri="{9D8B030D-6E8A-4147-A177-3AD203B41FA5}">
                      <a16:colId xmlns:a16="http://schemas.microsoft.com/office/drawing/2014/main" val="316854847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3984548316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277045324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171132670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705892254"/>
                    </a:ext>
                  </a:extLst>
                </a:gridCol>
              </a:tblGrid>
              <a:tr h="213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Fecha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Proyecto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Actividad realizada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Evidencia o resultado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Estado</a:t>
                      </a:r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2269720226"/>
                  </a:ext>
                </a:extLst>
              </a:tr>
              <a:tr h="669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20/08/2026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Taller mecánico — Brandon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Se revisó el levantamiento inicial y se definieron el proceso, los recursos y el alcance del proyecto.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Levantamiento inicial documentado.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Completado</a:t>
                      </a:r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3703141994"/>
                  </a:ext>
                </a:extLst>
              </a:tr>
              <a:tr h="669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20/08/2026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Planta embotelladora — Josefina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Se revisó la información inicial y se identificaron parámetros pendientes para construir la simulación.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Levantamiento inicial documentado.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Completado</a:t>
                      </a:r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2862597612"/>
                  </a:ext>
                </a:extLst>
              </a:tr>
              <a:tr h="578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20/08/2026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Taller de electrónica — Roberto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Se revisó el proceso de recepción, diagnóstico, reparación, pruebas y entrega de equipos.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Levantamiento inicial documentado.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Completado</a:t>
                      </a:r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1210022008"/>
                  </a:ext>
                </a:extLst>
              </a:tr>
              <a:tr h="578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21/08/2026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Tres proyectos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Se organizaron los datos obtenidos y se establecieron los objetivos, alcances y entregables principales.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Información organizada para elaborar las actas.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Completado</a:t>
                      </a:r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620347648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22/08/2026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Tres proyectos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Se elaboraron las actas de inicio ACTA-001, ACTA-002 y ACTA-003.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Tres actas de inicio elaboradas.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Completado</a:t>
                      </a:r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3564956249"/>
                  </a:ext>
                </a:extLst>
              </a:tr>
              <a:tr h="578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23/08/2026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Tres proyectos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Se elaboraron los planes de trabajo con actividades, fechas, entregables, riesgos y criterios de aceptación.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PLAN-001, PLAN-002 y PLAN-003.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Completado</a:t>
                      </a:r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736481103"/>
                  </a:ext>
                </a:extLst>
              </a:tr>
              <a:tr h="669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24/08/2026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Tres proyectos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dirty="0"/>
                        <a:t>Se revisó la documentación reunida y se registró el avance correspondiente al corte de la Unidad 1.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Presentación y banco de ejercicios actualizados.</a:t>
                      </a:r>
                    </a:p>
                  </a:txBody>
                  <a:tcPr marL="30429" marR="30429" marT="15214" marB="152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dirty="0"/>
                        <a:t>Completado</a:t>
                      </a:r>
                    </a:p>
                  </a:txBody>
                  <a:tcPr marL="30429" marR="30429" marT="15214" marB="15214" anchor="ctr"/>
                </a:tc>
                <a:extLst>
                  <a:ext uri="{0D108BD9-81ED-4DB2-BD59-A6C34878D82A}">
                    <a16:rowId xmlns:a16="http://schemas.microsoft.com/office/drawing/2014/main" val="40898638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A7615F87-9D81-14CD-4CCA-6B2A011D13E9}"/>
              </a:ext>
            </a:extLst>
          </p:cNvPr>
          <p:cNvSpPr txBox="1"/>
          <p:nvPr/>
        </p:nvSpPr>
        <p:spPr>
          <a:xfrm>
            <a:off x="838199" y="5778768"/>
            <a:ext cx="10658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bitácora permitió documentar cronológicamente las actividades realizadas durante el levantamiento, la formalización y la planificación inicial de los tres proyectos</a:t>
            </a:r>
          </a:p>
        </p:txBody>
      </p:sp>
    </p:spTree>
    <p:extLst>
      <p:ext uri="{BB962C8B-B14F-4D97-AF65-F5344CB8AC3E}">
        <p14:creationId xmlns:p14="http://schemas.microsoft.com/office/powerpoint/2010/main" val="394271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AC5D9-9FD1-99B5-CB0C-FC5B34DE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837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sz="4400" b="1" dirty="0">
                <a:solidFill>
                  <a:schemeClr val="accent1"/>
                </a:solidFill>
                <a:latin typeface="+mj-lt"/>
              </a:rPr>
              <a:t>Conclusión</a:t>
            </a:r>
          </a:p>
          <a:p>
            <a:pPr marL="0" indent="0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 El cuadro comparativo permitió identificar el estado actual de los tres proyectos bajo supervisión. Los desarrolladores presentan un avance aproximado del 20 % y han completado la etapa inicial de definición de sus proyectos.</a:t>
            </a:r>
          </a:p>
          <a:p>
            <a:pPr marL="0" indent="0" algn="just">
              <a:buNone/>
            </a:pPr>
            <a:r>
              <a:rPr lang="es-MX" dirty="0"/>
              <a:t>Como Project Manager se logró identificar las actividades pendientes de cada desarrollador y establecer las acciones de seguimiento necesarias para continuar con el desarrollo conforme al cronograma. Esta comparación permite mantener un control general de los proyectos y detectar oportunamente posibles retrasos.</a:t>
            </a: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55922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A0075-23DC-9820-03EC-BB9C50FC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s-MX" sz="3600" b="1" dirty="0">
                <a:solidFill>
                  <a:schemeClr val="accent1"/>
                </a:solidFill>
              </a:rPr>
              <a:t>Fuente De Información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EDD0C2-4503-5EC0-BBD2-E720A1C3A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MX" dirty="0"/>
              <a:t>Aquino Villanueva, R. (2026). </a:t>
            </a:r>
            <a:r>
              <a:rPr lang="es-MX" i="1" dirty="0"/>
              <a:t>GPTI</a:t>
            </a:r>
            <a:r>
              <a:rPr lang="es-MX" dirty="0"/>
              <a:t> GitHub. </a:t>
            </a:r>
            <a:r>
              <a:rPr lang="es-MX" dirty="0">
                <a:hlinkClick r:id="rId2"/>
              </a:rPr>
              <a:t>https://github.com/rafaelrav8770/GPTI</a:t>
            </a:r>
            <a:endParaRPr lang="es-MX" dirty="0"/>
          </a:p>
          <a:p>
            <a:pPr marL="0" indent="0">
              <a:buNone/>
            </a:pPr>
            <a:r>
              <a:rPr lang="es-MX" i="1" dirty="0"/>
              <a:t>Cómo empezar con la gestión de proyectos</a:t>
            </a:r>
            <a:r>
              <a:rPr lang="es-MX" dirty="0"/>
              <a:t> Video.  YouTube. </a:t>
            </a:r>
            <a:r>
              <a:rPr lang="es-MX" dirty="0">
                <a:hlinkClick r:id="rId3"/>
              </a:rPr>
              <a:t>https://www.youtube.com/watch?v=2x8gfBL5Rps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EALDE Business School.  </a:t>
            </a:r>
            <a:r>
              <a:rPr lang="es-MX" i="1" dirty="0"/>
              <a:t>Los 6 procesos para la gestión del alcance en dirección de proyectos</a:t>
            </a:r>
            <a:r>
              <a:rPr lang="es-MX" dirty="0"/>
              <a:t> [Video]. YouTube. </a:t>
            </a:r>
            <a:r>
              <a:rPr lang="es-MX" dirty="0">
                <a:hlinkClick r:id="rId4"/>
              </a:rPr>
              <a:t>https://www.youtube.com/watch?v=yVRZif8cJz0</a:t>
            </a:r>
            <a:endParaRPr lang="es-MX" dirty="0"/>
          </a:p>
          <a:p>
            <a:pPr marL="0" indent="0">
              <a:buNone/>
            </a:pPr>
            <a:r>
              <a:rPr lang="es-MX" i="1" dirty="0"/>
              <a:t>Levantamiento de procesos desde cero</a:t>
            </a:r>
            <a:r>
              <a:rPr lang="es-MX" dirty="0"/>
              <a:t> Video. YouTube. </a:t>
            </a:r>
            <a:r>
              <a:rPr lang="es-MX" dirty="0">
                <a:hlinkClick r:id="rId5"/>
              </a:rPr>
              <a:t>https://www.youtube.com/watch?v=8k_7bMRPEco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Project Management </a:t>
            </a:r>
            <a:r>
              <a:rPr lang="es-MX" dirty="0" err="1"/>
              <a:t>Institute</a:t>
            </a:r>
            <a:r>
              <a:rPr lang="es-MX" dirty="0"/>
              <a:t>. (2025). </a:t>
            </a:r>
            <a:r>
              <a:rPr lang="es-MX" i="1" dirty="0"/>
              <a:t>A guide </a:t>
            </a:r>
            <a:r>
              <a:rPr lang="es-MX" i="1" dirty="0" err="1"/>
              <a:t>to</a:t>
            </a:r>
            <a:r>
              <a:rPr lang="es-MX" i="1" dirty="0"/>
              <a:t> </a:t>
            </a:r>
            <a:r>
              <a:rPr lang="es-MX" i="1" dirty="0" err="1"/>
              <a:t>the</a:t>
            </a:r>
            <a:r>
              <a:rPr lang="es-MX" i="1" dirty="0"/>
              <a:t> </a:t>
            </a:r>
            <a:r>
              <a:rPr lang="es-MX" i="1" dirty="0" err="1"/>
              <a:t>project</a:t>
            </a:r>
            <a:r>
              <a:rPr lang="es-MX" i="1" dirty="0"/>
              <a:t> </a:t>
            </a:r>
            <a:r>
              <a:rPr lang="es-MX" i="1" dirty="0" err="1"/>
              <a:t>management</a:t>
            </a:r>
            <a:r>
              <a:rPr lang="es-MX" i="1" dirty="0"/>
              <a:t> </a:t>
            </a:r>
            <a:r>
              <a:rPr lang="es-MX" i="1" dirty="0" err="1"/>
              <a:t>body</a:t>
            </a:r>
            <a:r>
              <a:rPr lang="es-MX" i="1" dirty="0"/>
              <a:t> </a:t>
            </a:r>
            <a:r>
              <a:rPr lang="es-MX" i="1" dirty="0" err="1"/>
              <a:t>of</a:t>
            </a:r>
            <a:r>
              <a:rPr lang="es-MX" i="1" dirty="0"/>
              <a:t> </a:t>
            </a:r>
            <a:r>
              <a:rPr lang="es-MX" i="1" dirty="0" err="1"/>
              <a:t>knowledge</a:t>
            </a:r>
            <a:r>
              <a:rPr lang="es-MX" i="1" dirty="0"/>
              <a:t> (PMBOK® guide)</a:t>
            </a:r>
            <a:r>
              <a:rPr lang="es-MX" dirty="0"/>
              <a:t> (8.ª ed.). </a:t>
            </a:r>
            <a:r>
              <a:rPr lang="es-MX" dirty="0">
                <a:hlinkClick r:id="rId6"/>
              </a:rPr>
              <a:t>https://www.pmi.org/standards/pmbok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Video Gestión de Proyectos TI YouTube. </a:t>
            </a:r>
            <a:r>
              <a:rPr lang="es-MX" dirty="0">
                <a:hlinkClick r:id="rId7"/>
              </a:rPr>
              <a:t>https://www.youtube.com/watch?v=kJtlZ0xneEw</a:t>
            </a:r>
            <a:endParaRPr lang="es-MX" dirty="0"/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369432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4306</TotalTime>
  <Words>1126</Words>
  <Application>Microsoft Office PowerPoint</Application>
  <PresentationFormat>Panorámica</PresentationFormat>
  <Paragraphs>124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justificación</vt:lpstr>
      <vt:lpstr>Cuadro comparativo de gestión: avance de cada desarrollador con respecto a su cronograma preliminar.</vt:lpstr>
      <vt:lpstr>Análisis y seguimiento de los proyectos</vt:lpstr>
      <vt:lpstr>Bitácora de seguimiento</vt:lpstr>
      <vt:lpstr>Presentación de PowerPoint</vt:lpstr>
      <vt:lpstr>Fuente De Información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53</cp:revision>
  <dcterms:created xsi:type="dcterms:W3CDTF">2026-02-14T13:39:49Z</dcterms:created>
  <dcterms:modified xsi:type="dcterms:W3CDTF">2026-08-31T03:28:43Z</dcterms:modified>
</cp:coreProperties>
</file>