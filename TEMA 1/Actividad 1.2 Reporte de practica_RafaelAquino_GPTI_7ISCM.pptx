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3" r:id="rId3"/>
    <p:sldId id="258" r:id="rId4"/>
    <p:sldId id="303" r:id="rId5"/>
    <p:sldId id="319" r:id="rId6"/>
    <p:sldId id="320" r:id="rId7"/>
    <p:sldId id="321" r:id="rId8"/>
    <p:sldId id="322" r:id="rId9"/>
    <p:sldId id="323" r:id="rId10"/>
    <p:sldId id="324" r:id="rId11"/>
    <p:sldId id="326" r:id="rId12"/>
    <p:sldId id="325" r:id="rId13"/>
    <p:sldId id="327" r:id="rId14"/>
    <p:sldId id="328" r:id="rId15"/>
    <p:sldId id="329" r:id="rId16"/>
    <p:sldId id="330" r:id="rId17"/>
    <p:sldId id="331" r:id="rId18"/>
    <p:sldId id="332" r:id="rId19"/>
    <p:sldId id="333" r:id="rId20"/>
    <p:sldId id="334" r:id="rId21"/>
    <p:sldId id="335" r:id="rId22"/>
    <p:sldId id="336" r:id="rId23"/>
    <p:sldId id="260" r:id="rId24"/>
    <p:sldId id="318" r:id="rId2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0" d="100"/>
          <a:sy n="50" d="100"/>
        </p:scale>
        <p:origin x="92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30/08/2026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2x8gfBL5Rps&amp;utm_source=chatgpt.com" TargetMode="External"/><Relationship Id="rId2" Type="http://schemas.openxmlformats.org/officeDocument/2006/relationships/hyperlink" Target="https://github.com/rafaelrav8770/GPTI" TargetMode="External"/><Relationship Id="rId1" Type="http://schemas.openxmlformats.org/officeDocument/2006/relationships/slideLayout" Target="../slideLayouts/slideLayout2.xml"/><Relationship Id="rId6" Type="http://schemas.openxmlformats.org/officeDocument/2006/relationships/hyperlink" Target="https://www.pmi.org/standards/pmbok?utm_source=chatgpt.com" TargetMode="External"/><Relationship Id="rId5" Type="http://schemas.openxmlformats.org/officeDocument/2006/relationships/hyperlink" Target="https://www.youtube.com/watch?v=8k_7bMRPEco&amp;utm_source=chatgpt.com" TargetMode="External"/><Relationship Id="rId4" Type="http://schemas.openxmlformats.org/officeDocument/2006/relationships/hyperlink" Target="https://www.youtube.com/watch?v=yVRZif8cJz0&amp;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0000"/>
              </a:lnSpc>
              <a:spcAft>
                <a:spcPts val="800"/>
              </a:spcAft>
              <a:buNone/>
            </a:pPr>
            <a:r>
              <a:rPr lang="es-MX" sz="2000" b="1" kern="0" dirty="0">
                <a:latin typeface="Arial" panose="020B0604020202020204" pitchFamily="34" charset="0"/>
                <a:cs typeface="Arial" panose="020B0604020202020204" pitchFamily="34" charset="0"/>
              </a:rPr>
              <a:t>GESTION DE PROYECTOS DE TI</a:t>
            </a: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1</a:t>
            </a:r>
            <a:r>
              <a:rPr lang="es-MX" sz="2000" b="1" kern="0" dirty="0">
                <a:effectLst/>
                <a:latin typeface="Arial" panose="020B0604020202020204" pitchFamily="34" charset="0"/>
                <a:ea typeface="Arial" panose="020B0604020202020204" pitchFamily="34" charset="0"/>
                <a:cs typeface="Arial" panose="020B0604020202020204" pitchFamily="34" charset="0"/>
              </a:rPr>
              <a:t>.2 –REPORTE DE PRACTICA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61639978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a:latin typeface="Arial" panose="020B0604020202020204" pitchFamily="34" charset="0"/>
                <a:ea typeface="Times New Roman" panose="02020603050405020304" pitchFamily="18" charset="0"/>
                <a:cs typeface="Arial" panose="020B0604020202020204" pitchFamily="34" charset="0"/>
              </a:rPr>
              <a:t>1</a:t>
            </a:r>
            <a:r>
              <a:rPr lang="es-MX" sz="2000" b="1" kern="0" dirty="0">
                <a:latin typeface="Arial" panose="020B0604020202020204" pitchFamily="34" charset="0"/>
                <a:ea typeface="Times New Roman" panose="02020603050405020304" pitchFamily="18" charset="0"/>
                <a:cs typeface="Arial" panose="020B0604020202020204" pitchFamily="34" charset="0"/>
              </a:rPr>
              <a:t>4</a:t>
            </a:r>
            <a:r>
              <a:rPr lang="es-MX" sz="2000" b="1" kern="0">
                <a:effectLst/>
                <a:latin typeface="Arial" panose="020B0604020202020204" pitchFamily="34" charset="0"/>
                <a:ea typeface="Times New Roman" panose="02020603050405020304" pitchFamily="18" charset="0"/>
                <a:cs typeface="Arial" panose="020B0604020202020204" pitchFamily="34" charset="0"/>
              </a:rPr>
              <a:t>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a:t>
            </a:r>
            <a:r>
              <a:rPr lang="es-MX" sz="2000" b="1" kern="0" dirty="0">
                <a:latin typeface="Arial" panose="020B0604020202020204" pitchFamily="34" charset="0"/>
                <a:ea typeface="Times New Roman" panose="02020603050405020304" pitchFamily="18" charset="0"/>
                <a:cs typeface="Arial" panose="020B0604020202020204" pitchFamily="34" charset="0"/>
              </a:rPr>
              <a:t>AGOSTO</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5200" b="1" kern="0" dirty="0">
                <a:solidFill>
                  <a:schemeClr val="accent1"/>
                </a:solidFill>
                <a:latin typeface="+mj-lt"/>
                <a:cs typeface="Arial" panose="020B0604020202020204" pitchFamily="34" charset="0"/>
              </a:rPr>
              <a:t>Introducción</a:t>
            </a:r>
          </a:p>
          <a:p>
            <a:r>
              <a:rPr lang="es-MX" dirty="0"/>
              <a:t>El presente reporte documenta el trabajo realizado de la materia de Gestión de Proyectos de TI, en la cual se asumió el rol de Project Manager para la supervisión de tres proyectos de simulación de procesos. Se describe cómo se recibió, organizó y dio seguimiento inicial a cada proyecto, a partir de un formulario de levantamiento de información aplicado a cada desarrollador responsable.</a:t>
            </a:r>
          </a:p>
          <a:p>
            <a:r>
              <a:rPr lang="es-MX" dirty="0"/>
              <a:t>A lo largo del reporte se presenta, para cada proyecto, su definición, objetivos, procesos principales, las personas involucradas en cada área de trabajo, la evidencia de los formatos entregados, el cronograma preliminar y el avance registrado hasta la fecha.</a:t>
            </a:r>
          </a:p>
          <a:p>
            <a:pPr marL="0" indent="0">
              <a:buNone/>
            </a:pPr>
            <a:endParaRPr lang="es-MX" dirty="0"/>
          </a:p>
          <a:p>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normAutofit/>
          </a:bodyPr>
          <a:lstStyle/>
          <a:p>
            <a:pPr marL="0" indent="0">
              <a:spcBef>
                <a:spcPct val="0"/>
              </a:spcBef>
              <a:buNone/>
            </a:pPr>
            <a:r>
              <a:rPr lang="es-MX" sz="4800" b="1" dirty="0">
                <a:solidFill>
                  <a:schemeClr val="accent1"/>
                </a:solidFill>
                <a:latin typeface="+mj-lt"/>
                <a:ea typeface="+mj-ea"/>
                <a:cs typeface="+mj-cs"/>
              </a:rPr>
              <a:t>Objetivo</a:t>
            </a:r>
          </a:p>
          <a:p>
            <a:pPr marL="0" indent="0">
              <a:buNone/>
            </a:pPr>
            <a:r>
              <a:rPr lang="es-MX" dirty="0"/>
              <a:t> </a:t>
            </a:r>
          </a:p>
        </p:txBody>
      </p:sp>
      <p:sp>
        <p:nvSpPr>
          <p:cNvPr id="4" name="CuadroTexto 3">
            <a:extLst>
              <a:ext uri="{FF2B5EF4-FFF2-40B4-BE49-F238E27FC236}">
                <a16:creationId xmlns:a16="http://schemas.microsoft.com/office/drawing/2014/main" id="{F84CD005-444C-BCE1-5383-69207A0A2786}"/>
              </a:ext>
            </a:extLst>
          </p:cNvPr>
          <p:cNvSpPr txBox="1"/>
          <p:nvPr/>
        </p:nvSpPr>
        <p:spPr>
          <a:xfrm>
            <a:off x="1162049" y="3087753"/>
            <a:ext cx="10515599" cy="923330"/>
          </a:xfrm>
          <a:prstGeom prst="rect">
            <a:avLst/>
          </a:prstGeom>
        </p:spPr>
        <p:txBody>
          <a:bodyPr vert="horz" lIns="91440" tIns="45720" rIns="91440" bIns="45720" rtlCol="0">
            <a:normAutofit fontScale="62500" lnSpcReduction="20000"/>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s-MX" dirty="0"/>
              <a:t>Demostrar la capacidad de recibir, organizar y dar seguimiento inicial a distintos proyectos gestionados de forma simultánea, aplicando los conceptos fundamentales de la gestión de proyectos definición del alcance, objetivos, procesos, responsables y cronograma desde el rol de Project Manager.</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buNone/>
            </a:pPr>
            <a:r>
              <a:rPr lang="es-MX" dirty="0"/>
              <a:t>Como Project Manager es necesario contar con evidencia formal del proceso de arranque de cada proyecto bajo supervisión, ya que de ello depende la correcta planificación, el seguimiento posterior y la toma de decisiones durante el desarrollo. Documentar esta etapa permite identificar desde el inicio los recursos, procesos y responsables de cada proyecto, así como establecer una línea base de cronograma y avance, el progreso real conforme transcurran las siguientes semanas.</a:t>
            </a:r>
          </a:p>
          <a:p>
            <a:endParaRPr lang="es-MX" dirty="0"/>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2BA0A-607E-FFBA-A919-B8C6D14DD468}"/>
              </a:ext>
            </a:extLst>
          </p:cNvPr>
          <p:cNvSpPr>
            <a:spLocks noGrp="1"/>
          </p:cNvSpPr>
          <p:nvPr>
            <p:ph type="title"/>
          </p:nvPr>
        </p:nvSpPr>
        <p:spPr>
          <a:xfrm>
            <a:off x="838200" y="1"/>
            <a:ext cx="10515600" cy="2236442"/>
          </a:xfrm>
        </p:spPr>
        <p:txBody>
          <a:bodyPr vert="horz" lIns="91440" tIns="45720" rIns="91440" bIns="45720" rtlCol="0" anchor="ctr">
            <a:noAutofit/>
          </a:bodyPr>
          <a:lstStyle/>
          <a:p>
            <a:r>
              <a:rPr lang="es-MX" sz="3600" b="1" dirty="0">
                <a:solidFill>
                  <a:schemeClr val="accent1"/>
                </a:solidFill>
              </a:rPr>
              <a:t>PROYECTO 1</a:t>
            </a:r>
            <a:br>
              <a:rPr lang="es-MX" sz="3600" b="1" dirty="0">
                <a:solidFill>
                  <a:schemeClr val="accent1"/>
                </a:solidFill>
              </a:rPr>
            </a:br>
            <a:r>
              <a:rPr lang="es-MX" sz="3600" b="1" dirty="0">
                <a:solidFill>
                  <a:schemeClr val="accent1"/>
                </a:solidFill>
              </a:rPr>
              <a:t>Roberto Carlos </a:t>
            </a:r>
            <a:r>
              <a:rPr lang="es-MX" sz="3600" b="1" dirty="0" err="1">
                <a:solidFill>
                  <a:schemeClr val="accent1"/>
                </a:solidFill>
              </a:rPr>
              <a:t>Cahuare</a:t>
            </a:r>
            <a:r>
              <a:rPr lang="es-MX" sz="3600" b="1" dirty="0">
                <a:solidFill>
                  <a:schemeClr val="accent1"/>
                </a:solidFill>
              </a:rPr>
              <a:t> Moreno</a:t>
            </a:r>
            <a:br>
              <a:rPr lang="es-MX" sz="3600" b="1" dirty="0">
                <a:solidFill>
                  <a:schemeClr val="accent1"/>
                </a:solidFill>
              </a:rPr>
            </a:br>
            <a:r>
              <a:rPr lang="es-MX" sz="3600" b="1" dirty="0">
                <a:solidFill>
                  <a:schemeClr val="accent1"/>
                </a:solidFill>
              </a:rPr>
              <a:t>Simulación de Procesos de Servicio y Reparación en un Taller de Electrónica</a:t>
            </a:r>
          </a:p>
        </p:txBody>
      </p:sp>
      <p:sp>
        <p:nvSpPr>
          <p:cNvPr id="3" name="Marcador de contenido 2">
            <a:extLst>
              <a:ext uri="{FF2B5EF4-FFF2-40B4-BE49-F238E27FC236}">
                <a16:creationId xmlns:a16="http://schemas.microsoft.com/office/drawing/2014/main" id="{B3997388-5E15-DD13-3D56-F714069EEFC7}"/>
              </a:ext>
            </a:extLst>
          </p:cNvPr>
          <p:cNvSpPr>
            <a:spLocks noGrp="1"/>
          </p:cNvSpPr>
          <p:nvPr>
            <p:ph idx="1"/>
          </p:nvPr>
        </p:nvSpPr>
        <p:spPr>
          <a:xfrm>
            <a:off x="838200" y="2236442"/>
            <a:ext cx="10515600" cy="4351338"/>
          </a:xfrm>
        </p:spPr>
        <p:txBody>
          <a:bodyPr>
            <a:normAutofit fontScale="77500" lnSpcReduction="20000"/>
          </a:bodyPr>
          <a:lstStyle/>
          <a:p>
            <a:pPr marL="0" indent="0">
              <a:buNone/>
            </a:pPr>
            <a:r>
              <a:rPr lang="es-MX" b="1" cap="all" dirty="0"/>
              <a:t>De qué trata</a:t>
            </a:r>
            <a:endParaRPr lang="es-MX" dirty="0"/>
          </a:p>
          <a:p>
            <a:pPr marL="0" indent="0">
              <a:buNone/>
            </a:pPr>
            <a:r>
              <a:rPr lang="es-MX" dirty="0"/>
              <a:t>El proyecto simula el funcionamiento de un taller de reparación de equipos electrónicos, modelando el flujo completo de un dispositivo desde que el cliente lo ingresa hasta que es entregado ya reparado. No lo atiende una sola persona: el proceso está dividido en áreas independientes, cada una a cargo de una persona distinta, tal como ocurre en un taller de electrónica real (recepción, diagnóstico, reparación, pruebas de calidad y entrega).</a:t>
            </a:r>
          </a:p>
          <a:p>
            <a:pPr marL="0" indent="0">
              <a:buNone/>
            </a:pPr>
            <a:r>
              <a:rPr lang="es-MX" b="1" cap="all" dirty="0"/>
              <a:t>Problema que busca atender</a:t>
            </a:r>
            <a:endParaRPr lang="es-MX" dirty="0"/>
          </a:p>
          <a:p>
            <a:pPr marL="0" indent="0">
              <a:buNone/>
            </a:pPr>
            <a:r>
              <a:rPr lang="es-MX" dirty="0"/>
              <a:t>Los talleres de este tipo suelen presentar acumulación de equipos y tiempos de espera prolongados cuando la demanda supera la capacidad de los técnicos disponibles. Se busca comprender en qué punto del proceso se generan los cuellos de botella.</a:t>
            </a:r>
          </a:p>
          <a:p>
            <a:pPr marL="0" indent="0">
              <a:buNone/>
            </a:pPr>
            <a:r>
              <a:rPr lang="es-MX" b="1" cap="all" dirty="0"/>
              <a:t>Objetivo</a:t>
            </a:r>
            <a:endParaRPr lang="es-MX" dirty="0"/>
          </a:p>
          <a:p>
            <a:pPr marL="0" indent="0">
              <a:buNone/>
            </a:pPr>
            <a:r>
              <a:rPr lang="es-MX" dirty="0"/>
              <a:t>Desarrollar un modelo de simulación de eventos que represente el flujo operativo del taller, para analizar el rendimiento del sistema y los tiempos de ciclo bajo condiciones operativas simuladas.</a:t>
            </a:r>
          </a:p>
          <a:p>
            <a:endParaRPr lang="es-MX" dirty="0"/>
          </a:p>
        </p:txBody>
      </p:sp>
    </p:spTree>
    <p:extLst>
      <p:ext uri="{BB962C8B-B14F-4D97-AF65-F5344CB8AC3E}">
        <p14:creationId xmlns:p14="http://schemas.microsoft.com/office/powerpoint/2010/main" val="541148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DF5298F-390E-AC2B-7069-D09DEC8C8905}"/>
              </a:ext>
            </a:extLst>
          </p:cNvPr>
          <p:cNvSpPr>
            <a:spLocks noGrp="1"/>
          </p:cNvSpPr>
          <p:nvPr>
            <p:ph idx="1"/>
          </p:nvPr>
        </p:nvSpPr>
        <p:spPr/>
        <p:txBody>
          <a:bodyPr>
            <a:normAutofit fontScale="92500" lnSpcReduction="10000"/>
          </a:bodyPr>
          <a:lstStyle/>
          <a:p>
            <a:pPr marL="0" indent="0">
              <a:buNone/>
            </a:pPr>
            <a:r>
              <a:rPr lang="es-MX" b="1" cap="all" dirty="0"/>
              <a:t>Qué se quiere lograr</a:t>
            </a:r>
            <a:endParaRPr lang="es-MX" dirty="0"/>
          </a:p>
          <a:p>
            <a:pPr marL="0" indent="0">
              <a:buNone/>
            </a:pPr>
            <a:r>
              <a:rPr lang="es-MX" dirty="0"/>
              <a:t>Obtener indicadores de tiempos de espera, uso de recursos (técnicos) y tiempo total de ciclo, que permitan identificar cuellos de botella y proponer mejoras al proceso.</a:t>
            </a:r>
          </a:p>
          <a:p>
            <a:pPr marL="0" indent="0">
              <a:buNone/>
            </a:pPr>
            <a:r>
              <a:rPr lang="es-MX" b="1" cap="all" dirty="0"/>
              <a:t>Procesos principales del proyecto</a:t>
            </a:r>
            <a:endParaRPr lang="es-MX" dirty="0"/>
          </a:p>
          <a:p>
            <a:pPr marL="0" indent="0">
              <a:buNone/>
            </a:pPr>
            <a:r>
              <a:rPr lang="es-MX" b="1" dirty="0"/>
              <a:t>— </a:t>
            </a:r>
            <a:r>
              <a:rPr lang="es-MX" dirty="0"/>
              <a:t>Recepción y registro del equipo</a:t>
            </a:r>
          </a:p>
          <a:p>
            <a:pPr marL="0" indent="0">
              <a:buNone/>
            </a:pPr>
            <a:r>
              <a:rPr lang="es-MX" b="1" dirty="0"/>
              <a:t>— </a:t>
            </a:r>
            <a:r>
              <a:rPr lang="es-MX" dirty="0"/>
              <a:t>Diagnóstico técnico especializado</a:t>
            </a:r>
          </a:p>
          <a:p>
            <a:pPr marL="0" indent="0">
              <a:buNone/>
            </a:pPr>
            <a:r>
              <a:rPr lang="es-MX" b="1" dirty="0"/>
              <a:t>— </a:t>
            </a:r>
            <a:r>
              <a:rPr lang="es-MX" dirty="0"/>
              <a:t>Reparación en la estación de trabajo correspondiente</a:t>
            </a:r>
          </a:p>
          <a:p>
            <a:pPr marL="0" indent="0">
              <a:buNone/>
            </a:pPr>
            <a:r>
              <a:rPr lang="es-MX" b="1" dirty="0"/>
              <a:t>— </a:t>
            </a:r>
            <a:r>
              <a:rPr lang="es-MX" dirty="0"/>
              <a:t>Pruebas de calidad</a:t>
            </a:r>
          </a:p>
          <a:p>
            <a:pPr marL="0" indent="0">
              <a:buNone/>
            </a:pPr>
            <a:r>
              <a:rPr lang="es-MX" b="1" dirty="0"/>
              <a:t>— </a:t>
            </a:r>
            <a:r>
              <a:rPr lang="es-MX" dirty="0"/>
              <a:t>Entrega y facturación al cliente</a:t>
            </a:r>
          </a:p>
          <a:p>
            <a:endParaRPr lang="es-MX" dirty="0"/>
          </a:p>
        </p:txBody>
      </p:sp>
    </p:spTree>
    <p:extLst>
      <p:ext uri="{BB962C8B-B14F-4D97-AF65-F5344CB8AC3E}">
        <p14:creationId xmlns:p14="http://schemas.microsoft.com/office/powerpoint/2010/main" val="1939659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7905F-C5B6-7F91-E712-82B25DAF3C3A}"/>
              </a:ext>
            </a:extLst>
          </p:cNvPr>
          <p:cNvSpPr>
            <a:spLocks noGrp="1"/>
          </p:cNvSpPr>
          <p:nvPr>
            <p:ph type="title"/>
          </p:nvPr>
        </p:nvSpPr>
        <p:spPr/>
        <p:txBody>
          <a:bodyPr vert="horz" lIns="91440" tIns="45720" rIns="91440" bIns="45720" rtlCol="0">
            <a:normAutofit/>
          </a:bodyPr>
          <a:lstStyle/>
          <a:p>
            <a:pPr>
              <a:buFont typeface="Arial" panose="020B0604020202020204" pitchFamily="34" charset="0"/>
            </a:pPr>
            <a:r>
              <a:rPr lang="es-MX" sz="4800" b="1" dirty="0">
                <a:solidFill>
                  <a:schemeClr val="accent1"/>
                </a:solidFill>
              </a:rPr>
              <a:t>Personas / áreas involucradas</a:t>
            </a:r>
          </a:p>
        </p:txBody>
      </p:sp>
      <p:graphicFrame>
        <p:nvGraphicFramePr>
          <p:cNvPr id="4" name="Marcador de contenido 3">
            <a:extLst>
              <a:ext uri="{FF2B5EF4-FFF2-40B4-BE49-F238E27FC236}">
                <a16:creationId xmlns:a16="http://schemas.microsoft.com/office/drawing/2014/main" id="{30960F52-EED7-CDC5-D84D-3068287B548F}"/>
              </a:ext>
            </a:extLst>
          </p:cNvPr>
          <p:cNvGraphicFramePr>
            <a:graphicFrameLocks noGrp="1"/>
          </p:cNvGraphicFramePr>
          <p:nvPr>
            <p:ph idx="1"/>
            <p:extLst>
              <p:ext uri="{D42A27DB-BD31-4B8C-83A1-F6EECF244321}">
                <p14:modId xmlns:p14="http://schemas.microsoft.com/office/powerpoint/2010/main" val="4264317008"/>
              </p:ext>
            </p:extLst>
          </p:nvPr>
        </p:nvGraphicFramePr>
        <p:xfrm>
          <a:off x="1027043" y="2131412"/>
          <a:ext cx="10515600" cy="300228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3096912986"/>
                    </a:ext>
                  </a:extLst>
                </a:gridCol>
                <a:gridCol w="3505200">
                  <a:extLst>
                    <a:ext uri="{9D8B030D-6E8A-4147-A177-3AD203B41FA5}">
                      <a16:colId xmlns:a16="http://schemas.microsoft.com/office/drawing/2014/main" val="2550367083"/>
                    </a:ext>
                  </a:extLst>
                </a:gridCol>
                <a:gridCol w="3505200">
                  <a:extLst>
                    <a:ext uri="{9D8B030D-6E8A-4147-A177-3AD203B41FA5}">
                      <a16:colId xmlns:a16="http://schemas.microsoft.com/office/drawing/2014/main" val="1913501367"/>
                    </a:ext>
                  </a:extLst>
                </a:gridCol>
              </a:tblGrid>
              <a:tr h="294463">
                <a:tc>
                  <a:txBody>
                    <a:bodyPr/>
                    <a:lstStyle/>
                    <a:p>
                      <a:pPr>
                        <a:buNone/>
                      </a:pPr>
                      <a:r>
                        <a:rPr lang="es-MX" sz="1200">
                          <a:effectLst/>
                        </a:rPr>
                        <a:t>Área / Proceso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200">
                          <a:effectLst/>
                        </a:rPr>
                        <a:t>Persona asignada</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200">
                          <a:effectLst/>
                        </a:rPr>
                        <a:t>Función principal</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581495371"/>
                  </a:ext>
                </a:extLst>
              </a:tr>
              <a:tr h="503437">
                <a:tc>
                  <a:txBody>
                    <a:bodyPr/>
                    <a:lstStyle/>
                    <a:p>
                      <a:pPr>
                        <a:buNone/>
                      </a:pPr>
                      <a:r>
                        <a:rPr lang="es-MX" sz="1400">
                          <a:effectLst/>
                        </a:rPr>
                        <a:t>Recepción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dirty="0">
                          <a:effectLst/>
                        </a:rPr>
                        <a:t>Ana Gutiérrez</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Recibe el equipo, genera el ticket y registra los datos del cliente</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4251063663"/>
                  </a:ext>
                </a:extLst>
              </a:tr>
              <a:tr h="503437">
                <a:tc>
                  <a:txBody>
                    <a:bodyPr/>
                    <a:lstStyle/>
                    <a:p>
                      <a:pPr>
                        <a:buNone/>
                      </a:pPr>
                      <a:r>
                        <a:rPr lang="es-MX" sz="1400">
                          <a:effectLst/>
                        </a:rPr>
                        <a:t>Diagnóstico técnico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Carlos Méndez</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Revisa el equipo y determina la falla y el tipo de reparación necesaria</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285208180"/>
                  </a:ext>
                </a:extLst>
              </a:tr>
              <a:tr h="503437">
                <a:tc>
                  <a:txBody>
                    <a:bodyPr/>
                    <a:lstStyle/>
                    <a:p>
                      <a:pPr>
                        <a:buNone/>
                      </a:pPr>
                      <a:r>
                        <a:rPr lang="es-MX" sz="1400">
                          <a:effectLst/>
                        </a:rPr>
                        <a:t>Reparación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Luis Fernández</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Ejecuta la reparación según lo indicado en el diagnóstico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857814509"/>
                  </a:ext>
                </a:extLst>
              </a:tr>
              <a:tr h="503437">
                <a:tc>
                  <a:txBody>
                    <a:bodyPr/>
                    <a:lstStyle/>
                    <a:p>
                      <a:pPr>
                        <a:buNone/>
                      </a:pPr>
                      <a:r>
                        <a:rPr lang="es-MX" sz="1400">
                          <a:effectLst/>
                        </a:rPr>
                        <a:t>Pruebas de calidad</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Sofía Ramírez</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Verifica que el equipo funcione correctamente antes de entregarlo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512304399"/>
                  </a:ext>
                </a:extLst>
              </a:tr>
              <a:tr h="503437">
                <a:tc>
                  <a:txBody>
                    <a:bodyPr/>
                    <a:lstStyle/>
                    <a:p>
                      <a:pPr>
                        <a:buNone/>
                      </a:pPr>
                      <a:r>
                        <a:rPr lang="es-MX" sz="1400" dirty="0">
                          <a:effectLst/>
                        </a:rPr>
                        <a:t>Entrega y facturación</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Diego Torres</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dirty="0">
                          <a:effectLst/>
                        </a:rPr>
                        <a:t>Contacta al cliente, entrega el equipo y genera el cobro</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734712617"/>
                  </a:ext>
                </a:extLst>
              </a:tr>
            </a:tbl>
          </a:graphicData>
        </a:graphic>
      </p:graphicFrame>
      <p:sp>
        <p:nvSpPr>
          <p:cNvPr id="6" name="CuadroTexto 5">
            <a:extLst>
              <a:ext uri="{FF2B5EF4-FFF2-40B4-BE49-F238E27FC236}">
                <a16:creationId xmlns:a16="http://schemas.microsoft.com/office/drawing/2014/main" id="{6F054DFC-F216-545F-70CB-F98EFE8C449E}"/>
              </a:ext>
            </a:extLst>
          </p:cNvPr>
          <p:cNvSpPr txBox="1"/>
          <p:nvPr/>
        </p:nvSpPr>
        <p:spPr>
          <a:xfrm>
            <a:off x="1027043" y="5166623"/>
            <a:ext cx="10515600" cy="646331"/>
          </a:xfrm>
          <a:prstGeom prst="rect">
            <a:avLst/>
          </a:prstGeom>
          <a:noFill/>
        </p:spPr>
        <p:txBody>
          <a:bodyPr wrap="square">
            <a:spAutoFit/>
          </a:bodyPr>
          <a:lstStyle/>
          <a:p>
            <a:pPr>
              <a:spcBef>
                <a:spcPts val="500"/>
              </a:spcBef>
              <a:spcAft>
                <a:spcPts val="500"/>
              </a:spcAft>
              <a:buNone/>
            </a:pPr>
            <a:r>
              <a:rPr lang="es-MX" sz="1800" i="1" dirty="0">
                <a:solidFill>
                  <a:schemeClr val="tx1"/>
                </a:solidFill>
                <a:effectLst/>
                <a:latin typeface="+mn-lt"/>
                <a:ea typeface="Calibri" panose="020F0502020204030204" pitchFamily="34" charset="0"/>
              </a:rPr>
              <a:t>Subproceso de decisión en Pruebas de calidad: si el equipo aprueba la prueba → pasa directamente a Entrega y facturación; si no la aprueba → regresa a la estación de Reparación para retrabajo antes de una nueva prueba.</a:t>
            </a:r>
            <a:endParaRPr lang="es-MX"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15780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C2C70-18AF-E92D-7853-85C8D92CC06A}"/>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Evidencias de los formatos entregados</a:t>
            </a:r>
          </a:p>
        </p:txBody>
      </p:sp>
      <p:pic>
        <p:nvPicPr>
          <p:cNvPr id="9" name="Imagen 8">
            <a:extLst>
              <a:ext uri="{FF2B5EF4-FFF2-40B4-BE49-F238E27FC236}">
                <a16:creationId xmlns:a16="http://schemas.microsoft.com/office/drawing/2014/main" id="{FE4A38F2-AEB4-242F-51E9-C41FA533EF74}"/>
              </a:ext>
            </a:extLst>
          </p:cNvPr>
          <p:cNvPicPr>
            <a:picLocks noChangeAspect="1"/>
          </p:cNvPicPr>
          <p:nvPr/>
        </p:nvPicPr>
        <p:blipFill>
          <a:blip r:embed="rId2"/>
          <a:stretch>
            <a:fillRect/>
          </a:stretch>
        </p:blipFill>
        <p:spPr>
          <a:xfrm>
            <a:off x="974071" y="1690688"/>
            <a:ext cx="5120000" cy="2880000"/>
          </a:xfrm>
          <a:prstGeom prst="rect">
            <a:avLst/>
          </a:prstGeom>
        </p:spPr>
      </p:pic>
      <p:pic>
        <p:nvPicPr>
          <p:cNvPr id="11" name="Imagen 10">
            <a:extLst>
              <a:ext uri="{FF2B5EF4-FFF2-40B4-BE49-F238E27FC236}">
                <a16:creationId xmlns:a16="http://schemas.microsoft.com/office/drawing/2014/main" id="{DCF71E95-E809-18DA-E113-D75717397A0D}"/>
              </a:ext>
            </a:extLst>
          </p:cNvPr>
          <p:cNvPicPr>
            <a:picLocks noChangeAspect="1"/>
          </p:cNvPicPr>
          <p:nvPr/>
        </p:nvPicPr>
        <p:blipFill>
          <a:blip r:embed="rId3"/>
          <a:stretch>
            <a:fillRect/>
          </a:stretch>
        </p:blipFill>
        <p:spPr>
          <a:xfrm>
            <a:off x="6366076" y="1690688"/>
            <a:ext cx="5120000" cy="2880000"/>
          </a:xfrm>
          <a:prstGeom prst="rect">
            <a:avLst/>
          </a:prstGeom>
        </p:spPr>
      </p:pic>
      <p:sp>
        <p:nvSpPr>
          <p:cNvPr id="13" name="CuadroTexto 12">
            <a:extLst>
              <a:ext uri="{FF2B5EF4-FFF2-40B4-BE49-F238E27FC236}">
                <a16:creationId xmlns:a16="http://schemas.microsoft.com/office/drawing/2014/main" id="{AD327C6B-D409-2946-E86F-9E160C65B46E}"/>
              </a:ext>
            </a:extLst>
          </p:cNvPr>
          <p:cNvSpPr txBox="1"/>
          <p:nvPr/>
        </p:nvSpPr>
        <p:spPr>
          <a:xfrm>
            <a:off x="974071" y="4747858"/>
            <a:ext cx="5120000" cy="646331"/>
          </a:xfrm>
          <a:prstGeom prst="rect">
            <a:avLst/>
          </a:prstGeom>
          <a:noFill/>
        </p:spPr>
        <p:txBody>
          <a:bodyPr wrap="square">
            <a:spAutoFit/>
          </a:bodyPr>
          <a:lstStyle/>
          <a:p>
            <a:r>
              <a:rPr lang="es-MX" sz="1800" i="1" dirty="0">
                <a:solidFill>
                  <a:schemeClr val="tx1"/>
                </a:solidFill>
                <a:effectLst/>
                <a:latin typeface="+mn-lt"/>
                <a:ea typeface="Calibri" panose="020F0502020204030204" pitchFamily="34" charset="0"/>
              </a:rPr>
              <a:t>Formato de levantamiento inicial — encabezado y definición del proyecto</a:t>
            </a:r>
            <a:endParaRPr lang="es-MX" dirty="0"/>
          </a:p>
        </p:txBody>
      </p:sp>
      <p:sp>
        <p:nvSpPr>
          <p:cNvPr id="15" name="CuadroTexto 14">
            <a:extLst>
              <a:ext uri="{FF2B5EF4-FFF2-40B4-BE49-F238E27FC236}">
                <a16:creationId xmlns:a16="http://schemas.microsoft.com/office/drawing/2014/main" id="{D6EBF6B6-F277-A894-4C26-F97A7BA59C68}"/>
              </a:ext>
            </a:extLst>
          </p:cNvPr>
          <p:cNvSpPr txBox="1"/>
          <p:nvPr/>
        </p:nvSpPr>
        <p:spPr>
          <a:xfrm>
            <a:off x="6366076" y="4747858"/>
            <a:ext cx="4987724" cy="646330"/>
          </a:xfrm>
          <a:prstGeom prst="rect">
            <a:avLst/>
          </a:prstGeom>
          <a:noFill/>
        </p:spPr>
        <p:txBody>
          <a:bodyPr wrap="square">
            <a:spAutoFit/>
          </a:bodyPr>
          <a:lstStyle/>
          <a:p>
            <a:r>
              <a:rPr lang="es-MX" sz="1800" i="1" dirty="0">
                <a:solidFill>
                  <a:schemeClr val="tx1"/>
                </a:solidFill>
                <a:effectLst/>
                <a:latin typeface="+mn-lt"/>
                <a:ea typeface="Calibri" panose="020F0502020204030204" pitchFamily="34" charset="0"/>
              </a:rPr>
              <a:t>Cronograma preliminar de 8 semanas entregado por el desarrollador</a:t>
            </a:r>
            <a:endParaRPr lang="es-MX" dirty="0"/>
          </a:p>
        </p:txBody>
      </p:sp>
      <p:sp>
        <p:nvSpPr>
          <p:cNvPr id="17" name="CuadroTexto 16">
            <a:extLst>
              <a:ext uri="{FF2B5EF4-FFF2-40B4-BE49-F238E27FC236}">
                <a16:creationId xmlns:a16="http://schemas.microsoft.com/office/drawing/2014/main" id="{B6E89C02-52A4-425C-3D03-97393022A19C}"/>
              </a:ext>
            </a:extLst>
          </p:cNvPr>
          <p:cNvSpPr txBox="1"/>
          <p:nvPr/>
        </p:nvSpPr>
        <p:spPr>
          <a:xfrm>
            <a:off x="1238491" y="5571358"/>
            <a:ext cx="10000527" cy="923330"/>
          </a:xfrm>
          <a:prstGeom prst="rect">
            <a:avLst/>
          </a:prstGeom>
          <a:noFill/>
        </p:spPr>
        <p:txBody>
          <a:bodyPr wrap="square">
            <a:spAutoFit/>
          </a:bodyPr>
          <a:lstStyle/>
          <a:p>
            <a:pPr algn="just">
              <a:lnSpc>
                <a:spcPct val="100000"/>
              </a:lnSpc>
              <a:spcAft>
                <a:spcPts val="700"/>
              </a:spcAft>
              <a:buNone/>
            </a:pPr>
            <a:r>
              <a:rPr lang="es-MX" sz="1800" dirty="0">
                <a:solidFill>
                  <a:schemeClr val="tx1"/>
                </a:solidFill>
                <a:effectLst/>
                <a:latin typeface="+mn-lt"/>
                <a:ea typeface="Calibri" panose="020F0502020204030204" pitchFamily="34" charset="0"/>
              </a:rPr>
              <a:t>En esta actividad se elaboró y entregó el formato de levantamiento inicial correspondiente al proyecto de Roberto, quien lo completó dentro del plazo acordado con la información del proyecto y su cronograma preliminar.</a:t>
            </a:r>
            <a:endParaRPr lang="es-MX"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8720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871A20-0EC5-14EA-D588-6BB0D5518FA8}"/>
              </a:ext>
            </a:extLst>
          </p:cNvPr>
          <p:cNvSpPr>
            <a:spLocks noGrp="1"/>
          </p:cNvSpPr>
          <p:nvPr>
            <p:ph type="title"/>
          </p:nvPr>
        </p:nvSpPr>
        <p:spPr>
          <a:xfrm>
            <a:off x="1365813" y="365125"/>
            <a:ext cx="10515600" cy="1325563"/>
          </a:xfrm>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Cronograma</a:t>
            </a:r>
          </a:p>
        </p:txBody>
      </p:sp>
      <p:graphicFrame>
        <p:nvGraphicFramePr>
          <p:cNvPr id="4" name="Marcador de contenido 3">
            <a:extLst>
              <a:ext uri="{FF2B5EF4-FFF2-40B4-BE49-F238E27FC236}">
                <a16:creationId xmlns:a16="http://schemas.microsoft.com/office/drawing/2014/main" id="{E4D78AA3-4B06-C9B0-1949-02309132FF07}"/>
              </a:ext>
            </a:extLst>
          </p:cNvPr>
          <p:cNvGraphicFramePr>
            <a:graphicFrameLocks noGrp="1"/>
          </p:cNvGraphicFramePr>
          <p:nvPr>
            <p:ph idx="1"/>
            <p:extLst>
              <p:ext uri="{D42A27DB-BD31-4B8C-83A1-F6EECF244321}">
                <p14:modId xmlns:p14="http://schemas.microsoft.com/office/powerpoint/2010/main" val="1485654315"/>
              </p:ext>
            </p:extLst>
          </p:nvPr>
        </p:nvGraphicFramePr>
        <p:xfrm>
          <a:off x="1365813" y="1967697"/>
          <a:ext cx="9444941" cy="4027990"/>
        </p:xfrm>
        <a:graphic>
          <a:graphicData uri="http://schemas.openxmlformats.org/drawingml/2006/table">
            <a:tbl>
              <a:tblPr firstRow="1" firstCol="1" bandRow="1">
                <a:tableStyleId>{5C22544A-7EE6-4342-B048-85BDC9FD1C3A}</a:tableStyleId>
              </a:tblPr>
              <a:tblGrid>
                <a:gridCol w="1053296">
                  <a:extLst>
                    <a:ext uri="{9D8B030D-6E8A-4147-A177-3AD203B41FA5}">
                      <a16:colId xmlns:a16="http://schemas.microsoft.com/office/drawing/2014/main" val="2754659400"/>
                    </a:ext>
                  </a:extLst>
                </a:gridCol>
                <a:gridCol w="4456253">
                  <a:extLst>
                    <a:ext uri="{9D8B030D-6E8A-4147-A177-3AD203B41FA5}">
                      <a16:colId xmlns:a16="http://schemas.microsoft.com/office/drawing/2014/main" val="3142218184"/>
                    </a:ext>
                  </a:extLst>
                </a:gridCol>
                <a:gridCol w="1770927">
                  <a:extLst>
                    <a:ext uri="{9D8B030D-6E8A-4147-A177-3AD203B41FA5}">
                      <a16:colId xmlns:a16="http://schemas.microsoft.com/office/drawing/2014/main" val="3254679110"/>
                    </a:ext>
                  </a:extLst>
                </a:gridCol>
                <a:gridCol w="2164465">
                  <a:extLst>
                    <a:ext uri="{9D8B030D-6E8A-4147-A177-3AD203B41FA5}">
                      <a16:colId xmlns:a16="http://schemas.microsoft.com/office/drawing/2014/main" val="2306654808"/>
                    </a:ext>
                  </a:extLst>
                </a:gridCol>
              </a:tblGrid>
              <a:tr h="413374">
                <a:tc>
                  <a:txBody>
                    <a:bodyPr/>
                    <a:lstStyle/>
                    <a:p>
                      <a:pPr>
                        <a:buNone/>
                      </a:pPr>
                      <a:r>
                        <a:rPr lang="es-MX" sz="1600">
                          <a:effectLst/>
                        </a:rPr>
                        <a:t>Semana</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Actividad</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Inicio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Fin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554080369"/>
                  </a:ext>
                </a:extLst>
              </a:tr>
              <a:tr h="451827">
                <a:tc>
                  <a:txBody>
                    <a:bodyPr/>
                    <a:lstStyle/>
                    <a:p>
                      <a:pPr>
                        <a:buNone/>
                      </a:pPr>
                      <a:r>
                        <a:rPr lang="es-MX" sz="1600" dirty="0">
                          <a:effectLst/>
                        </a:rPr>
                        <a:t>1</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Definición del proyecto (nombre, objetivos, alcance)</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17/08/2026</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23/08/2026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17421604"/>
                  </a:ext>
                </a:extLst>
              </a:tr>
              <a:tr h="451827">
                <a:tc>
                  <a:txBody>
                    <a:bodyPr/>
                    <a:lstStyle/>
                    <a:p>
                      <a:pPr>
                        <a:buNone/>
                      </a:pPr>
                      <a:r>
                        <a:rPr lang="es-MX" sz="1600">
                          <a:effectLst/>
                        </a:rPr>
                        <a:t>2</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Planteamiento del problema y justificación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24/08/2026</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30/08/2026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03713786"/>
                  </a:ext>
                </a:extLst>
              </a:tr>
              <a:tr h="451827">
                <a:tc>
                  <a:txBody>
                    <a:bodyPr/>
                    <a:lstStyle/>
                    <a:p>
                      <a:pPr>
                        <a:buNone/>
                      </a:pPr>
                      <a:r>
                        <a:rPr lang="es-MX" sz="1600">
                          <a:effectLst/>
                        </a:rPr>
                        <a:t>3</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Análisis de requisitos / preparación de la simulación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31/08/2026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06/09/2026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43636524"/>
                  </a:ext>
                </a:extLst>
              </a:tr>
              <a:tr h="451827">
                <a:tc>
                  <a:txBody>
                    <a:bodyPr/>
                    <a:lstStyle/>
                    <a:p>
                      <a:pPr>
                        <a:buNone/>
                      </a:pPr>
                      <a:r>
                        <a:rPr lang="es-MX" sz="1600">
                          <a:effectLst/>
                        </a:rPr>
                        <a:t>4</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Especificación y montaje de la simulación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07/09/2026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13/09/2026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908829710"/>
                  </a:ext>
                </a:extLst>
              </a:tr>
              <a:tr h="451827">
                <a:tc>
                  <a:txBody>
                    <a:bodyPr/>
                    <a:lstStyle/>
                    <a:p>
                      <a:pPr>
                        <a:buNone/>
                      </a:pPr>
                      <a:r>
                        <a:rPr lang="es-MX" sz="1600">
                          <a:effectLst/>
                        </a:rPr>
                        <a:t>5</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Desarrollo / avance de la simulación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14/09/2026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20/09/2026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364901367"/>
                  </a:ext>
                </a:extLst>
              </a:tr>
              <a:tr h="451827">
                <a:tc>
                  <a:txBody>
                    <a:bodyPr/>
                    <a:lstStyle/>
                    <a:p>
                      <a:pPr>
                        <a:buNone/>
                      </a:pPr>
                      <a:r>
                        <a:rPr lang="es-MX" sz="1600">
                          <a:effectLst/>
                        </a:rPr>
                        <a:t>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Desarrollo / avance de la simulación (continuación)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21/09/2026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27/09/2026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249663058"/>
                  </a:ext>
                </a:extLst>
              </a:tr>
              <a:tr h="451827">
                <a:tc>
                  <a:txBody>
                    <a:bodyPr/>
                    <a:lstStyle/>
                    <a:p>
                      <a:pPr>
                        <a:buNone/>
                      </a:pPr>
                      <a:r>
                        <a:rPr lang="es-MX" sz="1600">
                          <a:effectLst/>
                        </a:rPr>
                        <a:t>7</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Revisión, ajustes y pruebas</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28/09/2026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04/10/2026</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520070562"/>
                  </a:ext>
                </a:extLst>
              </a:tr>
              <a:tr h="451827">
                <a:tc>
                  <a:txBody>
                    <a:bodyPr/>
                    <a:lstStyle/>
                    <a:p>
                      <a:pPr>
                        <a:buNone/>
                      </a:pPr>
                      <a:r>
                        <a:rPr lang="es-MX" sz="1600">
                          <a:effectLst/>
                        </a:rPr>
                        <a:t>8</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Entrega final y reporte</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05/10/2026</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11/10/2026</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433442873"/>
                  </a:ext>
                </a:extLst>
              </a:tr>
            </a:tbl>
          </a:graphicData>
        </a:graphic>
      </p:graphicFrame>
    </p:spTree>
    <p:extLst>
      <p:ext uri="{BB962C8B-B14F-4D97-AF65-F5344CB8AC3E}">
        <p14:creationId xmlns:p14="http://schemas.microsoft.com/office/powerpoint/2010/main" val="2468109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FF0731-87AD-A56E-C0CB-B68EF8C458EF}"/>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Avance actual</a:t>
            </a:r>
          </a:p>
        </p:txBody>
      </p:sp>
      <p:sp>
        <p:nvSpPr>
          <p:cNvPr id="3" name="Marcador de contenido 2">
            <a:extLst>
              <a:ext uri="{FF2B5EF4-FFF2-40B4-BE49-F238E27FC236}">
                <a16:creationId xmlns:a16="http://schemas.microsoft.com/office/drawing/2014/main" id="{0CD760DD-7002-5BCA-3F26-2ABDA3944625}"/>
              </a:ext>
            </a:extLst>
          </p:cNvPr>
          <p:cNvSpPr>
            <a:spLocks noGrp="1"/>
          </p:cNvSpPr>
          <p:nvPr>
            <p:ph idx="1"/>
          </p:nvPr>
        </p:nvSpPr>
        <p:spPr/>
        <p:txBody>
          <a:bodyPr/>
          <a:lstStyle/>
          <a:p>
            <a:pPr marL="0" indent="0">
              <a:buNone/>
            </a:pPr>
            <a:r>
              <a:rPr lang="es-MX" dirty="0"/>
              <a:t>20% — fase de definición completa. </a:t>
            </a:r>
          </a:p>
          <a:p>
            <a:pPr marL="0" indent="0">
              <a:buNone/>
            </a:pPr>
            <a:r>
              <a:rPr lang="es-MX" dirty="0"/>
              <a:t>Ya se definieron objetivos, alcance, justificación y las 5 etapas del proceso. </a:t>
            </a:r>
          </a:p>
          <a:p>
            <a:pPr marL="0" indent="0">
              <a:buNone/>
            </a:pPr>
            <a:r>
              <a:rPr lang="es-MX" dirty="0"/>
              <a:t>Eligió herramientas de trabajo (Bizagi, </a:t>
            </a:r>
            <a:r>
              <a:rPr lang="es-MX" dirty="0" err="1"/>
              <a:t>Camunda</a:t>
            </a:r>
            <a:r>
              <a:rPr lang="es-MX" dirty="0"/>
              <a:t>, Draw.io, R/</a:t>
            </a:r>
            <a:r>
              <a:rPr lang="es-MX" dirty="0" err="1"/>
              <a:t>RStudio</a:t>
            </a:r>
            <a:r>
              <a:rPr lang="es-MX" dirty="0"/>
              <a:t>). Pendiente: construir el diagrama de flujo y configurar los procesos en el software de simulación.</a:t>
            </a:r>
          </a:p>
          <a:p>
            <a:endParaRPr lang="es-MX" dirty="0"/>
          </a:p>
        </p:txBody>
      </p:sp>
    </p:spTree>
    <p:extLst>
      <p:ext uri="{BB962C8B-B14F-4D97-AF65-F5344CB8AC3E}">
        <p14:creationId xmlns:p14="http://schemas.microsoft.com/office/powerpoint/2010/main" val="1478603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53D6D-75B9-BBA4-2C8C-B81614504C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206A41-D9DC-9510-4A57-9A035F762FF2}"/>
              </a:ext>
            </a:extLst>
          </p:cNvPr>
          <p:cNvSpPr>
            <a:spLocks noGrp="1"/>
          </p:cNvSpPr>
          <p:nvPr>
            <p:ph type="title"/>
          </p:nvPr>
        </p:nvSpPr>
        <p:spPr>
          <a:xfrm>
            <a:off x="838200" y="1"/>
            <a:ext cx="10515600" cy="2236442"/>
          </a:xfrm>
        </p:spPr>
        <p:txBody>
          <a:bodyPr vert="horz" lIns="91440" tIns="45720" rIns="91440" bIns="45720" rtlCol="0" anchor="ctr">
            <a:noAutofit/>
          </a:bodyPr>
          <a:lstStyle/>
          <a:p>
            <a:r>
              <a:rPr lang="es-MX" sz="3600" b="1" dirty="0">
                <a:solidFill>
                  <a:schemeClr val="accent1"/>
                </a:solidFill>
              </a:rPr>
              <a:t>PROYECTO 2</a:t>
            </a:r>
            <a:br>
              <a:rPr lang="es-MX" sz="3600" b="1" dirty="0">
                <a:solidFill>
                  <a:schemeClr val="accent1"/>
                </a:solidFill>
              </a:rPr>
            </a:br>
            <a:r>
              <a:rPr lang="es-MX" sz="3600" b="1" dirty="0">
                <a:solidFill>
                  <a:schemeClr val="accent1"/>
                </a:solidFill>
              </a:rPr>
              <a:t>Brandon </a:t>
            </a:r>
            <a:r>
              <a:rPr lang="es-MX" sz="3600" b="1" dirty="0" err="1">
                <a:solidFill>
                  <a:schemeClr val="accent1"/>
                </a:solidFill>
              </a:rPr>
              <a:t>Farith</a:t>
            </a:r>
            <a:r>
              <a:rPr lang="es-MX" sz="3600" b="1" dirty="0">
                <a:solidFill>
                  <a:schemeClr val="accent1"/>
                </a:solidFill>
              </a:rPr>
              <a:t> </a:t>
            </a:r>
            <a:r>
              <a:rPr lang="es-MX" sz="3600" b="1" dirty="0" err="1">
                <a:solidFill>
                  <a:schemeClr val="accent1"/>
                </a:solidFill>
              </a:rPr>
              <a:t>Lopez</a:t>
            </a:r>
            <a:r>
              <a:rPr lang="es-MX" sz="3600" b="1" dirty="0">
                <a:solidFill>
                  <a:schemeClr val="accent1"/>
                </a:solidFill>
              </a:rPr>
              <a:t> Nanga</a:t>
            </a:r>
            <a:br>
              <a:rPr lang="es-MX" sz="3600" b="1" dirty="0">
                <a:solidFill>
                  <a:schemeClr val="accent1"/>
                </a:solidFill>
              </a:rPr>
            </a:br>
            <a:r>
              <a:rPr lang="es-MX" sz="3600" b="1" dirty="0">
                <a:solidFill>
                  <a:schemeClr val="accent1"/>
                </a:solidFill>
              </a:rPr>
              <a:t>Simulación y Optimización del Proceso de Atención de un Taller Mecánico</a:t>
            </a:r>
          </a:p>
        </p:txBody>
      </p:sp>
      <p:sp>
        <p:nvSpPr>
          <p:cNvPr id="3" name="Marcador de contenido 2">
            <a:extLst>
              <a:ext uri="{FF2B5EF4-FFF2-40B4-BE49-F238E27FC236}">
                <a16:creationId xmlns:a16="http://schemas.microsoft.com/office/drawing/2014/main" id="{FAF76E52-2E43-4DC0-0F45-702DC4F4EF74}"/>
              </a:ext>
            </a:extLst>
          </p:cNvPr>
          <p:cNvSpPr>
            <a:spLocks noGrp="1"/>
          </p:cNvSpPr>
          <p:nvPr>
            <p:ph idx="1"/>
          </p:nvPr>
        </p:nvSpPr>
        <p:spPr>
          <a:xfrm>
            <a:off x="838200" y="2445889"/>
            <a:ext cx="10515600" cy="4351338"/>
          </a:xfrm>
        </p:spPr>
        <p:txBody>
          <a:bodyPr>
            <a:normAutofit fontScale="77500" lnSpcReduction="20000"/>
          </a:bodyPr>
          <a:lstStyle/>
          <a:p>
            <a:pPr marL="0" indent="0">
              <a:buNone/>
            </a:pPr>
            <a:r>
              <a:rPr lang="es-MX" b="1" cap="all" dirty="0"/>
              <a:t>De qué trata</a:t>
            </a:r>
            <a:endParaRPr lang="es-MX" dirty="0"/>
          </a:p>
          <a:p>
            <a:pPr marL="0" indent="0">
              <a:buNone/>
            </a:pPr>
            <a:r>
              <a:rPr lang="es-MX" dirty="0"/>
              <a:t>El proyecto simula la atención de vehículos en un taller mecánico, desde su llegada hasta la entrega, considerando tres mecánicos como recurso limitado y distintos tipos de servicio (cambio de aceite, frenos y trabajos de motor). Cada rol del taller —recepción, supervisión y los tres mecánicos— es representado por una persona distinta dentro del proceso.</a:t>
            </a:r>
          </a:p>
          <a:p>
            <a:pPr marL="0" indent="0">
              <a:buNone/>
            </a:pPr>
            <a:r>
              <a:rPr lang="es-MX" b="1" cap="all" dirty="0"/>
              <a:t>Problema que busca atender</a:t>
            </a:r>
            <a:endParaRPr lang="es-MX" dirty="0"/>
          </a:p>
          <a:p>
            <a:pPr marL="0" indent="0">
              <a:buNone/>
            </a:pPr>
            <a:r>
              <a:rPr lang="es-MX" dirty="0"/>
              <a:t>Se desea comprender cómo se comporta el taller cuando llegan vehículos con distintas necesidades de servicio y los mecánicos tienen capacidad limitada, para identificar tiempos de espera, formación de colas y posibles cuellos de botella.</a:t>
            </a:r>
          </a:p>
          <a:p>
            <a:pPr marL="0" indent="0">
              <a:buNone/>
            </a:pPr>
            <a:r>
              <a:rPr lang="es-MX" b="1" cap="all" dirty="0"/>
              <a:t>Objetivo</a:t>
            </a:r>
            <a:endParaRPr lang="es-MX" dirty="0"/>
          </a:p>
          <a:p>
            <a:pPr marL="0" indent="0">
              <a:buNone/>
            </a:pPr>
            <a:r>
              <a:rPr lang="es-MX" dirty="0"/>
              <a:t>Desarrollar un sistema de simulación de procesos que represente y analice el funcionamiento de un taller mecánico, considerando la llegada de vehículos, la formación de colas, la disponibilidad de tres mecánicos y los diferentes tiempos de servicio.</a:t>
            </a:r>
          </a:p>
          <a:p>
            <a:endParaRPr lang="es-MX" dirty="0"/>
          </a:p>
        </p:txBody>
      </p:sp>
    </p:spTree>
    <p:extLst>
      <p:ext uri="{BB962C8B-B14F-4D97-AF65-F5344CB8AC3E}">
        <p14:creationId xmlns:p14="http://schemas.microsoft.com/office/powerpoint/2010/main" val="2568460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contenido 6">
            <a:extLst>
              <a:ext uri="{FF2B5EF4-FFF2-40B4-BE49-F238E27FC236}">
                <a16:creationId xmlns:a16="http://schemas.microsoft.com/office/drawing/2014/main" id="{24D5ECA7-4532-F37C-89B7-08259F6D31D5}"/>
              </a:ext>
            </a:extLst>
          </p:cNvPr>
          <p:cNvSpPr>
            <a:spLocks noGrp="1"/>
          </p:cNvSpPr>
          <p:nvPr>
            <p:ph idx="1"/>
          </p:nvPr>
        </p:nvSpPr>
        <p:spPr/>
        <p:txBody>
          <a:bodyPr>
            <a:normAutofit fontScale="92500" lnSpcReduction="10000"/>
          </a:bodyPr>
          <a:lstStyle/>
          <a:p>
            <a:pPr marL="0" indent="0">
              <a:buNone/>
            </a:pPr>
            <a:r>
              <a:rPr lang="es-MX" b="1" cap="all" dirty="0"/>
              <a:t>Qué se quiere lograr</a:t>
            </a:r>
            <a:endParaRPr lang="es-MX" dirty="0"/>
          </a:p>
          <a:p>
            <a:pPr marL="0" indent="0">
              <a:buNone/>
            </a:pPr>
            <a:r>
              <a:rPr lang="es-MX" dirty="0"/>
              <a:t>Obtener el tiempo promedio de espera y de atención, la cantidad de vehículos atendidos y en cola, y la utilización de cada mecánico, para identificar cuellos de botella y proponer mejoras.</a:t>
            </a:r>
          </a:p>
          <a:p>
            <a:pPr marL="0" indent="0">
              <a:buNone/>
            </a:pPr>
            <a:r>
              <a:rPr lang="es-MX" b="1" cap="all" dirty="0"/>
              <a:t>Procesos principales del proyecto</a:t>
            </a:r>
            <a:endParaRPr lang="es-MX" dirty="0"/>
          </a:p>
          <a:p>
            <a:pPr marL="0" indent="0">
              <a:buNone/>
            </a:pPr>
            <a:r>
              <a:rPr lang="es-MX" b="1" dirty="0"/>
              <a:t>— </a:t>
            </a:r>
            <a:r>
              <a:rPr lang="es-MX" dirty="0"/>
              <a:t>Recepción del vehículo</a:t>
            </a:r>
          </a:p>
          <a:p>
            <a:pPr marL="0" indent="0">
              <a:buNone/>
            </a:pPr>
            <a:r>
              <a:rPr lang="es-MX" b="1" dirty="0"/>
              <a:t>— </a:t>
            </a:r>
            <a:r>
              <a:rPr lang="es-MX" dirty="0"/>
              <a:t>Asignación a un mecánico disponible</a:t>
            </a:r>
          </a:p>
          <a:p>
            <a:pPr marL="0" indent="0">
              <a:buNone/>
            </a:pPr>
            <a:r>
              <a:rPr lang="es-MX" b="1" dirty="0"/>
              <a:t>— </a:t>
            </a:r>
            <a:r>
              <a:rPr lang="es-MX" dirty="0"/>
              <a:t>Servicio (cambio de aceite, frenos o motor)</a:t>
            </a:r>
          </a:p>
          <a:p>
            <a:pPr marL="0" indent="0">
              <a:buNone/>
            </a:pPr>
            <a:r>
              <a:rPr lang="es-MX" b="1" dirty="0"/>
              <a:t>— </a:t>
            </a:r>
            <a:r>
              <a:rPr lang="es-MX" dirty="0"/>
              <a:t>Supervisión y autorización del cliente</a:t>
            </a:r>
          </a:p>
          <a:p>
            <a:pPr marL="0" indent="0">
              <a:buNone/>
            </a:pPr>
            <a:r>
              <a:rPr lang="es-MX" b="1" dirty="0"/>
              <a:t>— </a:t>
            </a:r>
            <a:r>
              <a:rPr lang="es-MX" dirty="0"/>
              <a:t>Pago y entrega</a:t>
            </a:r>
          </a:p>
          <a:p>
            <a:endParaRPr lang="es-MX" dirty="0"/>
          </a:p>
        </p:txBody>
      </p:sp>
    </p:spTree>
    <p:extLst>
      <p:ext uri="{BB962C8B-B14F-4D97-AF65-F5344CB8AC3E}">
        <p14:creationId xmlns:p14="http://schemas.microsoft.com/office/powerpoint/2010/main" val="1324523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CB44CA-79AF-98BE-AA5F-FE43A5B0292F}"/>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Personas / áreas involucradas</a:t>
            </a:r>
          </a:p>
        </p:txBody>
      </p:sp>
      <p:graphicFrame>
        <p:nvGraphicFramePr>
          <p:cNvPr id="4" name="Marcador de contenido 3">
            <a:extLst>
              <a:ext uri="{FF2B5EF4-FFF2-40B4-BE49-F238E27FC236}">
                <a16:creationId xmlns:a16="http://schemas.microsoft.com/office/drawing/2014/main" id="{4157ADFD-33B9-F74B-B94D-275A2374BD8C}"/>
              </a:ext>
            </a:extLst>
          </p:cNvPr>
          <p:cNvGraphicFramePr>
            <a:graphicFrameLocks noGrp="1"/>
          </p:cNvGraphicFramePr>
          <p:nvPr>
            <p:ph idx="1"/>
            <p:extLst>
              <p:ext uri="{D42A27DB-BD31-4B8C-83A1-F6EECF244321}">
                <p14:modId xmlns:p14="http://schemas.microsoft.com/office/powerpoint/2010/main" val="1160988042"/>
              </p:ext>
            </p:extLst>
          </p:nvPr>
        </p:nvGraphicFramePr>
        <p:xfrm>
          <a:off x="1296366" y="1690687"/>
          <a:ext cx="9873207" cy="3793906"/>
        </p:xfrm>
        <a:graphic>
          <a:graphicData uri="http://schemas.openxmlformats.org/drawingml/2006/table">
            <a:tbl>
              <a:tblPr firstRow="1" firstCol="1" bandRow="1">
                <a:tableStyleId>{5C22544A-7EE6-4342-B048-85BDC9FD1C3A}</a:tableStyleId>
              </a:tblPr>
              <a:tblGrid>
                <a:gridCol w="3291069">
                  <a:extLst>
                    <a:ext uri="{9D8B030D-6E8A-4147-A177-3AD203B41FA5}">
                      <a16:colId xmlns:a16="http://schemas.microsoft.com/office/drawing/2014/main" val="2118941889"/>
                    </a:ext>
                  </a:extLst>
                </a:gridCol>
                <a:gridCol w="1767066">
                  <a:extLst>
                    <a:ext uri="{9D8B030D-6E8A-4147-A177-3AD203B41FA5}">
                      <a16:colId xmlns:a16="http://schemas.microsoft.com/office/drawing/2014/main" val="2101181112"/>
                    </a:ext>
                  </a:extLst>
                </a:gridCol>
                <a:gridCol w="4815072">
                  <a:extLst>
                    <a:ext uri="{9D8B030D-6E8A-4147-A177-3AD203B41FA5}">
                      <a16:colId xmlns:a16="http://schemas.microsoft.com/office/drawing/2014/main" val="3551705861"/>
                    </a:ext>
                  </a:extLst>
                </a:gridCol>
              </a:tblGrid>
              <a:tr h="303561">
                <a:tc>
                  <a:txBody>
                    <a:bodyPr/>
                    <a:lstStyle/>
                    <a:p>
                      <a:pPr>
                        <a:buNone/>
                      </a:pPr>
                      <a:r>
                        <a:rPr lang="es-MX" sz="1400">
                          <a:effectLst/>
                        </a:rPr>
                        <a:t>Área / Proceso</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Persona asignada</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Función principal</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624246855"/>
                  </a:ext>
                </a:extLst>
              </a:tr>
              <a:tr h="783612">
                <a:tc>
                  <a:txBody>
                    <a:bodyPr/>
                    <a:lstStyle/>
                    <a:p>
                      <a:pPr>
                        <a:buNone/>
                      </a:pPr>
                      <a:r>
                        <a:rPr lang="es-MX" sz="1600">
                          <a:effectLst/>
                        </a:rPr>
                        <a:t>Recepción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Marta López</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Recibe el vehículo y registra el servicio solicitado</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022639428"/>
                  </a:ext>
                </a:extLst>
              </a:tr>
              <a:tr h="783612">
                <a:tc>
                  <a:txBody>
                    <a:bodyPr/>
                    <a:lstStyle/>
                    <a:p>
                      <a:pPr>
                        <a:buNone/>
                      </a:pPr>
                      <a:r>
                        <a:rPr lang="es-MX" sz="1600">
                          <a:effectLst/>
                        </a:rPr>
                        <a:t>Supervisión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Jorge Ramírez</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Autoriza reparaciones adicionales y coordina al equipo</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852162439"/>
                  </a:ext>
                </a:extLst>
              </a:tr>
              <a:tr h="557705">
                <a:tc>
                  <a:txBody>
                    <a:bodyPr/>
                    <a:lstStyle/>
                    <a:p>
                      <a:pPr>
                        <a:buNone/>
                      </a:pPr>
                      <a:r>
                        <a:rPr lang="es-MX" sz="1600" dirty="0">
                          <a:effectLst/>
                        </a:rPr>
                        <a:t>Mecánico 1 — cambio de aceite</a:t>
                      </a:r>
                      <a:endParaRPr lang="es-MX" sz="18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Pedro Sánchez</a:t>
                      </a:r>
                      <a:endParaRPr lang="es-MX" sz="1800" dirty="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Atiende servicios rápidos de cambio de aceite</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855827527"/>
                  </a:ext>
                </a:extLst>
              </a:tr>
              <a:tr h="557705">
                <a:tc>
                  <a:txBody>
                    <a:bodyPr/>
                    <a:lstStyle/>
                    <a:p>
                      <a:pPr>
                        <a:buNone/>
                      </a:pPr>
                      <a:r>
                        <a:rPr lang="es-MX" sz="1600">
                          <a:effectLst/>
                        </a:rPr>
                        <a:t>Mecánico 2 — frenos</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Andrés Molina</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Atiende reparaciones del sistema de frenos</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4204297584"/>
                  </a:ext>
                </a:extLst>
              </a:tr>
              <a:tr h="783612">
                <a:tc>
                  <a:txBody>
                    <a:bodyPr/>
                    <a:lstStyle/>
                    <a:p>
                      <a:pPr>
                        <a:buNone/>
                      </a:pPr>
                      <a:r>
                        <a:rPr lang="es-MX" sz="1600">
                          <a:effectLst/>
                        </a:rPr>
                        <a:t>Mecánico 3 — motor</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Iván Cruz</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Atiende trabajos relacionados con el motor, de mayor duración</a:t>
                      </a:r>
                      <a:endParaRPr lang="es-MX" sz="1800" dirty="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307175365"/>
                  </a:ext>
                </a:extLst>
              </a:tr>
            </a:tbl>
          </a:graphicData>
        </a:graphic>
      </p:graphicFrame>
      <p:sp>
        <p:nvSpPr>
          <p:cNvPr id="6" name="CuadroTexto 5">
            <a:extLst>
              <a:ext uri="{FF2B5EF4-FFF2-40B4-BE49-F238E27FC236}">
                <a16:creationId xmlns:a16="http://schemas.microsoft.com/office/drawing/2014/main" id="{DC3EA524-722A-B36E-A044-408630185CBE}"/>
              </a:ext>
            </a:extLst>
          </p:cNvPr>
          <p:cNvSpPr txBox="1"/>
          <p:nvPr/>
        </p:nvSpPr>
        <p:spPr>
          <a:xfrm>
            <a:off x="1296366" y="5460494"/>
            <a:ext cx="9873207" cy="923330"/>
          </a:xfrm>
          <a:prstGeom prst="rect">
            <a:avLst/>
          </a:prstGeom>
          <a:noFill/>
        </p:spPr>
        <p:txBody>
          <a:bodyPr wrap="square">
            <a:spAutoFit/>
          </a:bodyPr>
          <a:lstStyle/>
          <a:p>
            <a:pPr>
              <a:spcBef>
                <a:spcPts val="500"/>
              </a:spcBef>
              <a:spcAft>
                <a:spcPts val="500"/>
              </a:spcAft>
              <a:buNone/>
            </a:pPr>
            <a:r>
              <a:rPr lang="es-MX" sz="1800" i="1" dirty="0">
                <a:solidFill>
                  <a:schemeClr val="tx1"/>
                </a:solidFill>
                <a:effectLst/>
                <a:latin typeface="+mn-lt"/>
                <a:ea typeface="Calibri" panose="020F0502020204030204" pitchFamily="34" charset="0"/>
              </a:rPr>
              <a:t>Subproceso de decisión en Supervisión: si durante el servicio se detecta una falla adicional → se solicita autorización del cliente antes de continuar; si el cliente no autoriza → el vehículo se reensambla y solo se cobra el diagnóstico.</a:t>
            </a:r>
            <a:endParaRPr lang="es-MX"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2911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BF90B9-E2B9-DEFD-0354-17B6B7E356D7}"/>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Evidencias de los formatos entregados</a:t>
            </a:r>
          </a:p>
        </p:txBody>
      </p:sp>
      <p:pic>
        <p:nvPicPr>
          <p:cNvPr id="5" name="Imagen 4">
            <a:extLst>
              <a:ext uri="{FF2B5EF4-FFF2-40B4-BE49-F238E27FC236}">
                <a16:creationId xmlns:a16="http://schemas.microsoft.com/office/drawing/2014/main" id="{B00F5C02-F904-5D08-29E3-80CEA730C656}"/>
              </a:ext>
            </a:extLst>
          </p:cNvPr>
          <p:cNvPicPr>
            <a:picLocks noChangeAspect="1"/>
          </p:cNvPicPr>
          <p:nvPr/>
        </p:nvPicPr>
        <p:blipFill>
          <a:blip r:embed="rId2"/>
          <a:stretch>
            <a:fillRect/>
          </a:stretch>
        </p:blipFill>
        <p:spPr>
          <a:xfrm>
            <a:off x="838200" y="1690688"/>
            <a:ext cx="5120000" cy="2880000"/>
          </a:xfrm>
          <a:prstGeom prst="rect">
            <a:avLst/>
          </a:prstGeom>
        </p:spPr>
      </p:pic>
      <p:pic>
        <p:nvPicPr>
          <p:cNvPr id="7" name="Imagen 6">
            <a:extLst>
              <a:ext uri="{FF2B5EF4-FFF2-40B4-BE49-F238E27FC236}">
                <a16:creationId xmlns:a16="http://schemas.microsoft.com/office/drawing/2014/main" id="{1350943E-0661-82FB-ECEA-D53D328EE8C9}"/>
              </a:ext>
            </a:extLst>
          </p:cNvPr>
          <p:cNvPicPr>
            <a:picLocks noChangeAspect="1"/>
          </p:cNvPicPr>
          <p:nvPr/>
        </p:nvPicPr>
        <p:blipFill>
          <a:blip r:embed="rId3"/>
          <a:stretch>
            <a:fillRect/>
          </a:stretch>
        </p:blipFill>
        <p:spPr>
          <a:xfrm>
            <a:off x="6096000" y="1690688"/>
            <a:ext cx="5120000" cy="2880000"/>
          </a:xfrm>
          <a:prstGeom prst="rect">
            <a:avLst/>
          </a:prstGeom>
        </p:spPr>
      </p:pic>
      <p:sp>
        <p:nvSpPr>
          <p:cNvPr id="9" name="CuadroTexto 8">
            <a:extLst>
              <a:ext uri="{FF2B5EF4-FFF2-40B4-BE49-F238E27FC236}">
                <a16:creationId xmlns:a16="http://schemas.microsoft.com/office/drawing/2014/main" id="{4E1E6BAD-F111-2C9C-2288-8BDEA722F2A6}"/>
              </a:ext>
            </a:extLst>
          </p:cNvPr>
          <p:cNvSpPr txBox="1"/>
          <p:nvPr/>
        </p:nvSpPr>
        <p:spPr>
          <a:xfrm>
            <a:off x="858321" y="4666833"/>
            <a:ext cx="5120000" cy="646331"/>
          </a:xfrm>
          <a:prstGeom prst="rect">
            <a:avLst/>
          </a:prstGeom>
          <a:noFill/>
        </p:spPr>
        <p:txBody>
          <a:bodyPr wrap="square">
            <a:spAutoFit/>
          </a:bodyPr>
          <a:lstStyle/>
          <a:p>
            <a:r>
              <a:rPr lang="es-MX" sz="1800" i="1" dirty="0">
                <a:solidFill>
                  <a:schemeClr val="tx1"/>
                </a:solidFill>
                <a:effectLst/>
                <a:latin typeface="+mn-lt"/>
                <a:ea typeface="Calibri" panose="020F0502020204030204" pitchFamily="34" charset="0"/>
              </a:rPr>
              <a:t>Formato de levantamiento inicial — encabezado y definición del proyecto</a:t>
            </a:r>
            <a:endParaRPr lang="es-MX" dirty="0"/>
          </a:p>
        </p:txBody>
      </p:sp>
      <p:sp>
        <p:nvSpPr>
          <p:cNvPr id="11" name="CuadroTexto 10">
            <a:extLst>
              <a:ext uri="{FF2B5EF4-FFF2-40B4-BE49-F238E27FC236}">
                <a16:creationId xmlns:a16="http://schemas.microsoft.com/office/drawing/2014/main" id="{4E6ECA07-39D5-A9CF-C3BC-717ED3FDC0EF}"/>
              </a:ext>
            </a:extLst>
          </p:cNvPr>
          <p:cNvSpPr txBox="1"/>
          <p:nvPr/>
        </p:nvSpPr>
        <p:spPr>
          <a:xfrm>
            <a:off x="6250326" y="4666833"/>
            <a:ext cx="4987724" cy="646330"/>
          </a:xfrm>
          <a:prstGeom prst="rect">
            <a:avLst/>
          </a:prstGeom>
          <a:noFill/>
        </p:spPr>
        <p:txBody>
          <a:bodyPr wrap="square">
            <a:spAutoFit/>
          </a:bodyPr>
          <a:lstStyle/>
          <a:p>
            <a:r>
              <a:rPr lang="es-MX" sz="1800" i="1" dirty="0">
                <a:solidFill>
                  <a:schemeClr val="tx1"/>
                </a:solidFill>
                <a:effectLst/>
                <a:latin typeface="+mn-lt"/>
                <a:ea typeface="Calibri" panose="020F0502020204030204" pitchFamily="34" charset="0"/>
              </a:rPr>
              <a:t>Cronograma preliminar de 8 semanas entregado por el desarrollador</a:t>
            </a:r>
            <a:endParaRPr lang="es-MX" dirty="0"/>
          </a:p>
        </p:txBody>
      </p:sp>
      <p:sp>
        <p:nvSpPr>
          <p:cNvPr id="13" name="CuadroTexto 12">
            <a:extLst>
              <a:ext uri="{FF2B5EF4-FFF2-40B4-BE49-F238E27FC236}">
                <a16:creationId xmlns:a16="http://schemas.microsoft.com/office/drawing/2014/main" id="{9C914C68-F154-EE6D-C218-C6910EFE864A}"/>
              </a:ext>
            </a:extLst>
          </p:cNvPr>
          <p:cNvSpPr txBox="1"/>
          <p:nvPr/>
        </p:nvSpPr>
        <p:spPr>
          <a:xfrm>
            <a:off x="867134" y="5777479"/>
            <a:ext cx="10936282" cy="646331"/>
          </a:xfrm>
          <a:prstGeom prst="rect">
            <a:avLst/>
          </a:prstGeom>
          <a:noFill/>
        </p:spPr>
        <p:txBody>
          <a:bodyPr wrap="square">
            <a:spAutoFit/>
          </a:bodyPr>
          <a:lstStyle/>
          <a:p>
            <a:r>
              <a:rPr lang="es-MX" sz="1800" dirty="0">
                <a:solidFill>
                  <a:schemeClr val="tx1"/>
                </a:solidFill>
                <a:effectLst/>
                <a:latin typeface="+mn-lt"/>
                <a:ea typeface="Calibri" panose="020F0502020204030204" pitchFamily="34" charset="0"/>
              </a:rPr>
              <a:t>En esta actividad se elaboró y entregó el formato de levantamiento inicial correspondiente al proyecto de Brandon, quien lo completó dentro del plazo acordado con la información del proyecto y su cronograma preliminar.</a:t>
            </a:r>
            <a:endParaRPr lang="es-MX" dirty="0"/>
          </a:p>
        </p:txBody>
      </p:sp>
    </p:spTree>
    <p:extLst>
      <p:ext uri="{BB962C8B-B14F-4D97-AF65-F5344CB8AC3E}">
        <p14:creationId xmlns:p14="http://schemas.microsoft.com/office/powerpoint/2010/main" val="438124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C82F-44A4-6B2A-ABB9-66794ADA288E}"/>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Cronograma</a:t>
            </a:r>
          </a:p>
        </p:txBody>
      </p:sp>
      <p:graphicFrame>
        <p:nvGraphicFramePr>
          <p:cNvPr id="4" name="Marcador de contenido 3">
            <a:extLst>
              <a:ext uri="{FF2B5EF4-FFF2-40B4-BE49-F238E27FC236}">
                <a16:creationId xmlns:a16="http://schemas.microsoft.com/office/drawing/2014/main" id="{9617981B-168F-7E6E-7C94-9ACAB92C9BAB}"/>
              </a:ext>
            </a:extLst>
          </p:cNvPr>
          <p:cNvGraphicFramePr>
            <a:graphicFrameLocks noGrp="1"/>
          </p:cNvGraphicFramePr>
          <p:nvPr>
            <p:ph idx="1"/>
            <p:extLst>
              <p:ext uri="{D42A27DB-BD31-4B8C-83A1-F6EECF244321}">
                <p14:modId xmlns:p14="http://schemas.microsoft.com/office/powerpoint/2010/main" val="1543370029"/>
              </p:ext>
            </p:extLst>
          </p:nvPr>
        </p:nvGraphicFramePr>
        <p:xfrm>
          <a:off x="1060174" y="1690688"/>
          <a:ext cx="10293628" cy="3716196"/>
        </p:xfrm>
        <a:graphic>
          <a:graphicData uri="http://schemas.openxmlformats.org/drawingml/2006/table">
            <a:tbl>
              <a:tblPr firstRow="1" firstCol="1" bandRow="1">
                <a:tableStyleId>{5C22544A-7EE6-4342-B048-85BDC9FD1C3A}</a:tableStyleId>
              </a:tblPr>
              <a:tblGrid>
                <a:gridCol w="857802">
                  <a:extLst>
                    <a:ext uri="{9D8B030D-6E8A-4147-A177-3AD203B41FA5}">
                      <a16:colId xmlns:a16="http://schemas.microsoft.com/office/drawing/2014/main" val="351856511"/>
                    </a:ext>
                  </a:extLst>
                </a:gridCol>
                <a:gridCol w="5874302">
                  <a:extLst>
                    <a:ext uri="{9D8B030D-6E8A-4147-A177-3AD203B41FA5}">
                      <a16:colId xmlns:a16="http://schemas.microsoft.com/office/drawing/2014/main" val="2312636926"/>
                    </a:ext>
                  </a:extLst>
                </a:gridCol>
                <a:gridCol w="1683026">
                  <a:extLst>
                    <a:ext uri="{9D8B030D-6E8A-4147-A177-3AD203B41FA5}">
                      <a16:colId xmlns:a16="http://schemas.microsoft.com/office/drawing/2014/main" val="3283062111"/>
                    </a:ext>
                  </a:extLst>
                </a:gridCol>
                <a:gridCol w="1878498">
                  <a:extLst>
                    <a:ext uri="{9D8B030D-6E8A-4147-A177-3AD203B41FA5}">
                      <a16:colId xmlns:a16="http://schemas.microsoft.com/office/drawing/2014/main" val="1918332154"/>
                    </a:ext>
                  </a:extLst>
                </a:gridCol>
              </a:tblGrid>
              <a:tr h="358979">
                <a:tc>
                  <a:txBody>
                    <a:bodyPr/>
                    <a:lstStyle/>
                    <a:p>
                      <a:pPr>
                        <a:buNone/>
                      </a:pPr>
                      <a:r>
                        <a:rPr lang="es-MX" sz="1400">
                          <a:effectLst/>
                        </a:rPr>
                        <a:t>Semana</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Actividad</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Inicio</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Fin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030426944"/>
                  </a:ext>
                </a:extLst>
              </a:tr>
              <a:tr h="561221">
                <a:tc>
                  <a:txBody>
                    <a:bodyPr/>
                    <a:lstStyle/>
                    <a:p>
                      <a:pPr>
                        <a:buNone/>
                      </a:pPr>
                      <a:r>
                        <a:rPr lang="es-MX" sz="1600">
                          <a:effectLst/>
                        </a:rPr>
                        <a:t>1</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Definición del proyecto: nombre, contexto, objetivos y alcance</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20/08/2026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26/08/2026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520143096"/>
                  </a:ext>
                </a:extLst>
              </a:tr>
              <a:tr h="399428">
                <a:tc>
                  <a:txBody>
                    <a:bodyPr/>
                    <a:lstStyle/>
                    <a:p>
                      <a:pPr>
                        <a:buNone/>
                      </a:pPr>
                      <a:r>
                        <a:rPr lang="es-MX" sz="1600">
                          <a:effectLst/>
                        </a:rPr>
                        <a:t>2</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Planteamiento del problema y justificación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27/08/2026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02/09/2026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762417675"/>
                  </a:ext>
                </a:extLst>
              </a:tr>
              <a:tr h="399428">
                <a:tc>
                  <a:txBody>
                    <a:bodyPr/>
                    <a:lstStyle/>
                    <a:p>
                      <a:pPr>
                        <a:buNone/>
                      </a:pPr>
                      <a:r>
                        <a:rPr lang="es-MX" sz="1600">
                          <a:effectLst/>
                        </a:rPr>
                        <a:t>3</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Análisis de requisitos y preparación de la simulación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03/09/2026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09/09/2026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613498599"/>
                  </a:ext>
                </a:extLst>
              </a:tr>
              <a:tr h="399428">
                <a:tc>
                  <a:txBody>
                    <a:bodyPr/>
                    <a:lstStyle/>
                    <a:p>
                      <a:pPr>
                        <a:buNone/>
                      </a:pPr>
                      <a:r>
                        <a:rPr lang="es-MX" sz="1600">
                          <a:effectLst/>
                        </a:rPr>
                        <a:t>4</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Especificación y montaje inicial de la simulación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10/09/2026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16/09/2026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108639365"/>
                  </a:ext>
                </a:extLst>
              </a:tr>
              <a:tr h="399428">
                <a:tc>
                  <a:txBody>
                    <a:bodyPr/>
                    <a:lstStyle/>
                    <a:p>
                      <a:pPr>
                        <a:buNone/>
                      </a:pPr>
                      <a:r>
                        <a:rPr lang="es-MX" sz="1600">
                          <a:effectLst/>
                        </a:rPr>
                        <a:t>5</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Desarrollo de la aplicación y avance de la simulación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17/09/2026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23/09/2026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081141619"/>
                  </a:ext>
                </a:extLst>
              </a:tr>
              <a:tr h="399428">
                <a:tc>
                  <a:txBody>
                    <a:bodyPr/>
                    <a:lstStyle/>
                    <a:p>
                      <a:pPr>
                        <a:buNone/>
                      </a:pPr>
                      <a:r>
                        <a:rPr lang="es-MX" sz="1600">
                          <a:effectLst/>
                        </a:rPr>
                        <a:t>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Desarrollo de la simulación y análisis inicial de resultados</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24/09/2026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30/09/2026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26509640"/>
                  </a:ext>
                </a:extLst>
              </a:tr>
              <a:tr h="399428">
                <a:tc>
                  <a:txBody>
                    <a:bodyPr/>
                    <a:lstStyle/>
                    <a:p>
                      <a:pPr>
                        <a:buNone/>
                      </a:pPr>
                      <a:r>
                        <a:rPr lang="es-MX" sz="1600">
                          <a:effectLst/>
                        </a:rPr>
                        <a:t>7</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Revisión, integración, ajustes y pruebas</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01/10/2026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07/10/2026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451947813"/>
                  </a:ext>
                </a:extLst>
              </a:tr>
              <a:tr h="399428">
                <a:tc>
                  <a:txBody>
                    <a:bodyPr/>
                    <a:lstStyle/>
                    <a:p>
                      <a:pPr>
                        <a:buNone/>
                      </a:pPr>
                      <a:r>
                        <a:rPr lang="es-MX" sz="1600">
                          <a:effectLst/>
                        </a:rPr>
                        <a:t>8</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Entrega final, reporte y presentación del proyecto</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08/10/2026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14/10/2026</a:t>
                      </a:r>
                      <a:endParaRPr lang="es-MX" sz="1800" dirty="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416640312"/>
                  </a:ext>
                </a:extLst>
              </a:tr>
            </a:tbl>
          </a:graphicData>
        </a:graphic>
      </p:graphicFrame>
    </p:spTree>
    <p:extLst>
      <p:ext uri="{BB962C8B-B14F-4D97-AF65-F5344CB8AC3E}">
        <p14:creationId xmlns:p14="http://schemas.microsoft.com/office/powerpoint/2010/main" val="828561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579B1-F095-438C-DBBB-AAA45E9427A2}"/>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Avance actual</a:t>
            </a:r>
          </a:p>
        </p:txBody>
      </p:sp>
      <p:sp>
        <p:nvSpPr>
          <p:cNvPr id="3" name="Marcador de contenido 2">
            <a:extLst>
              <a:ext uri="{FF2B5EF4-FFF2-40B4-BE49-F238E27FC236}">
                <a16:creationId xmlns:a16="http://schemas.microsoft.com/office/drawing/2014/main" id="{ABDA33C3-CF3B-5F79-9FBF-6E19982696AE}"/>
              </a:ext>
            </a:extLst>
          </p:cNvPr>
          <p:cNvSpPr>
            <a:spLocks noGrp="1"/>
          </p:cNvSpPr>
          <p:nvPr>
            <p:ph idx="1"/>
          </p:nvPr>
        </p:nvSpPr>
        <p:spPr/>
        <p:txBody>
          <a:bodyPr/>
          <a:lstStyle/>
          <a:p>
            <a:pPr marL="0" indent="0">
              <a:buNone/>
            </a:pPr>
            <a:r>
              <a:rPr lang="es-MX" dirty="0"/>
              <a:t>20% — fase de definición completa.</a:t>
            </a:r>
          </a:p>
          <a:p>
            <a:pPr marL="0" indent="0">
              <a:buNone/>
            </a:pPr>
            <a:r>
              <a:rPr lang="es-MX" dirty="0"/>
              <a:t>Ya definió el proceso, los recursos (3 mecánicos, recepción, supervisor) y los tipos de servicio. </a:t>
            </a:r>
          </a:p>
          <a:p>
            <a:pPr marL="0" indent="0">
              <a:buNone/>
            </a:pPr>
            <a:r>
              <a:rPr lang="es-MX" dirty="0"/>
              <a:t>Eligió herramientas de trabajo (Java, Python, R). </a:t>
            </a:r>
          </a:p>
          <a:p>
            <a:pPr marL="0" indent="0">
              <a:buNone/>
            </a:pPr>
            <a:r>
              <a:rPr lang="es-MX" dirty="0"/>
              <a:t>Pendiente: formalizar requisitos funcionales/no funcionales y diseñar los diagramas del proceso.</a:t>
            </a:r>
          </a:p>
          <a:p>
            <a:endParaRPr lang="es-MX" dirty="0"/>
          </a:p>
        </p:txBody>
      </p:sp>
    </p:spTree>
    <p:extLst>
      <p:ext uri="{BB962C8B-B14F-4D97-AF65-F5344CB8AC3E}">
        <p14:creationId xmlns:p14="http://schemas.microsoft.com/office/powerpoint/2010/main" val="194081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2C0C3F-9014-9272-C17F-A60ED3D36414}"/>
              </a:ext>
            </a:extLst>
          </p:cNvPr>
          <p:cNvSpPr>
            <a:spLocks noGrp="1"/>
          </p:cNvSpPr>
          <p:nvPr>
            <p:ph type="title"/>
          </p:nvPr>
        </p:nvSpPr>
        <p:spPr>
          <a:xfrm>
            <a:off x="838200" y="1"/>
            <a:ext cx="10515600" cy="1690688"/>
          </a:xfrm>
        </p:spPr>
        <p:txBody>
          <a:bodyPr vert="horz" lIns="91440" tIns="45720" rIns="91440" bIns="45720" rtlCol="0" anchor="ctr">
            <a:noAutofit/>
          </a:bodyPr>
          <a:lstStyle/>
          <a:p>
            <a:r>
              <a:rPr lang="es-MX" sz="3600" b="1" dirty="0">
                <a:solidFill>
                  <a:schemeClr val="accent1"/>
                </a:solidFill>
              </a:rPr>
              <a:t>PROYECTO 3</a:t>
            </a:r>
            <a:br>
              <a:rPr lang="es-MX" sz="3600" b="1" dirty="0">
                <a:solidFill>
                  <a:schemeClr val="accent1"/>
                </a:solidFill>
              </a:rPr>
            </a:br>
            <a:r>
              <a:rPr lang="es-MX" sz="3600" b="1" dirty="0">
                <a:solidFill>
                  <a:schemeClr val="accent1"/>
                </a:solidFill>
              </a:rPr>
              <a:t>Josefina Nieto Hernández</a:t>
            </a:r>
            <a:br>
              <a:rPr lang="es-MX" sz="3600" b="1" dirty="0">
                <a:solidFill>
                  <a:schemeClr val="accent1"/>
                </a:solidFill>
              </a:rPr>
            </a:br>
            <a:r>
              <a:rPr lang="es-MX" sz="3600" b="1" dirty="0">
                <a:solidFill>
                  <a:schemeClr val="accent1"/>
                </a:solidFill>
              </a:rPr>
              <a:t>Simulación de una Planta Embotelladora de Agua</a:t>
            </a:r>
          </a:p>
        </p:txBody>
      </p:sp>
      <p:sp>
        <p:nvSpPr>
          <p:cNvPr id="3" name="Marcador de contenido 2">
            <a:extLst>
              <a:ext uri="{FF2B5EF4-FFF2-40B4-BE49-F238E27FC236}">
                <a16:creationId xmlns:a16="http://schemas.microsoft.com/office/drawing/2014/main" id="{D7A76C59-54EE-0A8A-2CD4-479D0A2202F2}"/>
              </a:ext>
            </a:extLst>
          </p:cNvPr>
          <p:cNvSpPr>
            <a:spLocks noGrp="1"/>
          </p:cNvSpPr>
          <p:nvPr>
            <p:ph idx="1"/>
          </p:nvPr>
        </p:nvSpPr>
        <p:spPr/>
        <p:txBody>
          <a:bodyPr>
            <a:normAutofit fontScale="85000" lnSpcReduction="20000"/>
          </a:bodyPr>
          <a:lstStyle/>
          <a:p>
            <a:pPr marL="0" indent="0" algn="just">
              <a:buNone/>
            </a:pPr>
            <a:r>
              <a:rPr lang="es-MX" b="1" cap="all" dirty="0"/>
              <a:t>De qué trata</a:t>
            </a:r>
            <a:endParaRPr lang="es-MX" dirty="0"/>
          </a:p>
          <a:p>
            <a:pPr marL="0" indent="0" algn="just">
              <a:buNone/>
            </a:pPr>
            <a:r>
              <a:rPr lang="es-MX" dirty="0"/>
              <a:t>El proyecto simula el proceso productivo de una planta embotelladora de agua, representando el flujo de los garrafones desde su llegada vacíos hasta convertirse en producto terminado, pasando por distintas áreas de trabajo a cargo de personas distintas: recepción, limpieza, llenado y colocación de tapas y sellos.</a:t>
            </a:r>
          </a:p>
          <a:p>
            <a:pPr marL="0" indent="0" algn="just">
              <a:buNone/>
            </a:pPr>
            <a:r>
              <a:rPr lang="es-MX" b="1" cap="all" dirty="0"/>
              <a:t>Problema que busca atender</a:t>
            </a:r>
            <a:endParaRPr lang="es-MX" dirty="0"/>
          </a:p>
          <a:p>
            <a:pPr marL="0" indent="0" algn="just">
              <a:buNone/>
            </a:pPr>
            <a:r>
              <a:rPr lang="es-MX" dirty="0"/>
              <a:t>Se busca analizar el comportamiento del proceso productivo identificando posibles cuellos de botella, tiempos de espera, acumulación de garrafones y utilización de los recursos disponibles, así como el efecto de los distintos tiempos de limpieza sobre el desempeño general de la planta.</a:t>
            </a:r>
          </a:p>
          <a:p>
            <a:pPr marL="0" indent="0" algn="just">
              <a:buNone/>
            </a:pPr>
            <a:r>
              <a:rPr lang="es-MX" b="1" cap="all" dirty="0"/>
              <a:t>Objetivo</a:t>
            </a:r>
            <a:endParaRPr lang="es-MX" dirty="0"/>
          </a:p>
          <a:p>
            <a:pPr marL="0" indent="0" algn="just">
              <a:buNone/>
            </a:pPr>
            <a:r>
              <a:rPr lang="es-MX" dirty="0"/>
              <a:t>Desarrollar una simulación del proceso de una planta embotelladora de agua para analizar el flujo de los garrafones, los tiempos de procesamiento y espera, la utilización de los recursos y el comportamiento general del sistema.</a:t>
            </a:r>
          </a:p>
          <a:p>
            <a:endParaRPr lang="es-MX" dirty="0"/>
          </a:p>
        </p:txBody>
      </p:sp>
    </p:spTree>
    <p:extLst>
      <p:ext uri="{BB962C8B-B14F-4D97-AF65-F5344CB8AC3E}">
        <p14:creationId xmlns:p14="http://schemas.microsoft.com/office/powerpoint/2010/main" val="3401432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ACAB7EE-6549-9B23-6B0B-CAE6ED624CD3}"/>
              </a:ext>
            </a:extLst>
          </p:cNvPr>
          <p:cNvSpPr>
            <a:spLocks noGrp="1"/>
          </p:cNvSpPr>
          <p:nvPr>
            <p:ph idx="1"/>
          </p:nvPr>
        </p:nvSpPr>
        <p:spPr/>
        <p:txBody>
          <a:bodyPr>
            <a:normAutofit fontScale="92500" lnSpcReduction="10000"/>
          </a:bodyPr>
          <a:lstStyle/>
          <a:p>
            <a:pPr marL="0" indent="0">
              <a:buNone/>
            </a:pPr>
            <a:r>
              <a:rPr lang="es-MX" b="1" cap="all" dirty="0"/>
              <a:t>Qué se quiere lograr</a:t>
            </a:r>
            <a:endParaRPr lang="es-MX" dirty="0"/>
          </a:p>
          <a:p>
            <a:pPr marL="0" indent="0">
              <a:buNone/>
            </a:pPr>
            <a:r>
              <a:rPr lang="es-MX" dirty="0"/>
              <a:t>Obtener información sobre tiempos de procesamiento y espera, cantidad de garrafones procesados, formación de colas y utilización de los recursos, para plantear oportunidades de mejora en el proceso.</a:t>
            </a:r>
          </a:p>
          <a:p>
            <a:pPr marL="0" indent="0">
              <a:buNone/>
            </a:pPr>
            <a:r>
              <a:rPr lang="es-MX" b="1" cap="all" dirty="0"/>
              <a:t>Procesos principales del proyecto</a:t>
            </a:r>
            <a:endParaRPr lang="es-MX" dirty="0"/>
          </a:p>
          <a:p>
            <a:pPr marL="0" indent="0">
              <a:buNone/>
            </a:pPr>
            <a:r>
              <a:rPr lang="es-MX" b="1" dirty="0"/>
              <a:t>— </a:t>
            </a:r>
            <a:r>
              <a:rPr lang="es-MX" dirty="0"/>
              <a:t>Recepción de garrafones vacíos</a:t>
            </a:r>
          </a:p>
          <a:p>
            <a:pPr marL="0" indent="0">
              <a:buNone/>
            </a:pPr>
            <a:r>
              <a:rPr lang="es-MX" b="1" dirty="0"/>
              <a:t>— </a:t>
            </a:r>
            <a:r>
              <a:rPr lang="es-MX" dirty="0"/>
              <a:t>Limpieza (simple o profunda, según condición)</a:t>
            </a:r>
          </a:p>
          <a:p>
            <a:pPr marL="0" indent="0">
              <a:buNone/>
            </a:pPr>
            <a:r>
              <a:rPr lang="es-MX" b="1" dirty="0"/>
              <a:t>— </a:t>
            </a:r>
            <a:r>
              <a:rPr lang="es-MX" dirty="0"/>
              <a:t>Llenado (grupos de 4 garrafones)</a:t>
            </a:r>
          </a:p>
          <a:p>
            <a:pPr marL="0" indent="0">
              <a:buNone/>
            </a:pPr>
            <a:r>
              <a:rPr lang="es-MX" b="1" dirty="0"/>
              <a:t>— </a:t>
            </a:r>
            <a:r>
              <a:rPr lang="es-MX" dirty="0"/>
              <a:t>Colocación de tapas y sellos</a:t>
            </a:r>
          </a:p>
          <a:p>
            <a:pPr marL="0" indent="0">
              <a:buNone/>
            </a:pPr>
            <a:r>
              <a:rPr lang="es-MX" b="1" dirty="0"/>
              <a:t>— </a:t>
            </a:r>
            <a:r>
              <a:rPr lang="es-MX" dirty="0"/>
              <a:t>Producto terminado</a:t>
            </a:r>
          </a:p>
          <a:p>
            <a:endParaRPr lang="es-MX" dirty="0"/>
          </a:p>
        </p:txBody>
      </p:sp>
    </p:spTree>
    <p:extLst>
      <p:ext uri="{BB962C8B-B14F-4D97-AF65-F5344CB8AC3E}">
        <p14:creationId xmlns:p14="http://schemas.microsoft.com/office/powerpoint/2010/main" val="111442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6D1B46-B7FA-9E62-7622-58E131C85B4C}"/>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Personas / áreas involucradas</a:t>
            </a:r>
          </a:p>
        </p:txBody>
      </p:sp>
      <p:graphicFrame>
        <p:nvGraphicFramePr>
          <p:cNvPr id="4" name="Marcador de contenido 3">
            <a:extLst>
              <a:ext uri="{FF2B5EF4-FFF2-40B4-BE49-F238E27FC236}">
                <a16:creationId xmlns:a16="http://schemas.microsoft.com/office/drawing/2014/main" id="{9F33758B-CE01-E47F-3F95-56A6A165FFDD}"/>
              </a:ext>
            </a:extLst>
          </p:cNvPr>
          <p:cNvGraphicFramePr>
            <a:graphicFrameLocks noGrp="1"/>
          </p:cNvGraphicFramePr>
          <p:nvPr>
            <p:ph idx="1"/>
            <p:extLst>
              <p:ext uri="{D42A27DB-BD31-4B8C-83A1-F6EECF244321}">
                <p14:modId xmlns:p14="http://schemas.microsoft.com/office/powerpoint/2010/main" val="4096512065"/>
              </p:ext>
            </p:extLst>
          </p:nvPr>
        </p:nvGraphicFramePr>
        <p:xfrm>
          <a:off x="1311965" y="1666296"/>
          <a:ext cx="9740346" cy="3992383"/>
        </p:xfrm>
        <a:graphic>
          <a:graphicData uri="http://schemas.openxmlformats.org/drawingml/2006/table">
            <a:tbl>
              <a:tblPr firstRow="1" firstCol="1" bandRow="1">
                <a:tableStyleId>{5C22544A-7EE6-4342-B048-85BDC9FD1C3A}</a:tableStyleId>
              </a:tblPr>
              <a:tblGrid>
                <a:gridCol w="2186609">
                  <a:extLst>
                    <a:ext uri="{9D8B030D-6E8A-4147-A177-3AD203B41FA5}">
                      <a16:colId xmlns:a16="http://schemas.microsoft.com/office/drawing/2014/main" val="3939374673"/>
                    </a:ext>
                  </a:extLst>
                </a:gridCol>
                <a:gridCol w="2305878">
                  <a:extLst>
                    <a:ext uri="{9D8B030D-6E8A-4147-A177-3AD203B41FA5}">
                      <a16:colId xmlns:a16="http://schemas.microsoft.com/office/drawing/2014/main" val="1425373738"/>
                    </a:ext>
                  </a:extLst>
                </a:gridCol>
                <a:gridCol w="5247859">
                  <a:extLst>
                    <a:ext uri="{9D8B030D-6E8A-4147-A177-3AD203B41FA5}">
                      <a16:colId xmlns:a16="http://schemas.microsoft.com/office/drawing/2014/main" val="1075242055"/>
                    </a:ext>
                  </a:extLst>
                </a:gridCol>
              </a:tblGrid>
              <a:tr h="382563">
                <a:tc>
                  <a:txBody>
                    <a:bodyPr/>
                    <a:lstStyle/>
                    <a:p>
                      <a:pPr>
                        <a:buNone/>
                      </a:pPr>
                      <a:r>
                        <a:rPr lang="es-MX" sz="1200">
                          <a:effectLst/>
                        </a:rPr>
                        <a:t>Área / Proceso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200">
                          <a:effectLst/>
                        </a:rPr>
                        <a:t>Persona asignada</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200">
                          <a:effectLst/>
                        </a:rPr>
                        <a:t>Función principal</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108695283"/>
                  </a:ext>
                </a:extLst>
              </a:tr>
              <a:tr h="696460">
                <a:tc>
                  <a:txBody>
                    <a:bodyPr/>
                    <a:lstStyle/>
                    <a:p>
                      <a:pPr>
                        <a:buNone/>
                      </a:pPr>
                      <a:r>
                        <a:rPr lang="es-MX" sz="1400">
                          <a:effectLst/>
                        </a:rPr>
                        <a:t>Recepción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Laura Jiménez</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Recibe los garrafones vacíos y los dirige al área de limpieza</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956729138"/>
                  </a:ext>
                </a:extLst>
              </a:tr>
              <a:tr h="971120">
                <a:tc>
                  <a:txBody>
                    <a:bodyPr/>
                    <a:lstStyle/>
                    <a:p>
                      <a:pPr>
                        <a:buNone/>
                      </a:pPr>
                      <a:r>
                        <a:rPr lang="es-MX" sz="1400">
                          <a:effectLst/>
                        </a:rPr>
                        <a:t>Limpieza</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Miguel Ángel Pérez</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Realiza la limpieza simple o profunda según la condición del garrafón</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3460050796"/>
                  </a:ext>
                </a:extLst>
              </a:tr>
              <a:tr h="971120">
                <a:tc>
                  <a:txBody>
                    <a:bodyPr/>
                    <a:lstStyle/>
                    <a:p>
                      <a:pPr>
                        <a:buNone/>
                      </a:pPr>
                      <a:r>
                        <a:rPr lang="es-MX" sz="1400">
                          <a:effectLst/>
                        </a:rPr>
                        <a:t>Llenado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Daniela Ruiz</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Opera la máquina de llenado que procesa grupos de 4 garrafones</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387449135"/>
                  </a:ext>
                </a:extLst>
              </a:tr>
              <a:tr h="971120">
                <a:tc>
                  <a:txBody>
                    <a:bodyPr/>
                    <a:lstStyle/>
                    <a:p>
                      <a:pPr>
                        <a:buNone/>
                      </a:pPr>
                      <a:r>
                        <a:rPr lang="es-MX" sz="1400">
                          <a:effectLst/>
                        </a:rPr>
                        <a:t>Tapado y sellado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Fernando Castillo</a:t>
                      </a:r>
                      <a:endParaRPr lang="es-MX" sz="16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dirty="0">
                          <a:effectLst/>
                        </a:rPr>
                        <a:t>Coloca las tapas y sellos antes de considerar el producto terminado</a:t>
                      </a:r>
                      <a:endParaRPr lang="es-MX" sz="1600" dirty="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013494943"/>
                  </a:ext>
                </a:extLst>
              </a:tr>
            </a:tbl>
          </a:graphicData>
        </a:graphic>
      </p:graphicFrame>
      <p:sp>
        <p:nvSpPr>
          <p:cNvPr id="6" name="CuadroTexto 5">
            <a:extLst>
              <a:ext uri="{FF2B5EF4-FFF2-40B4-BE49-F238E27FC236}">
                <a16:creationId xmlns:a16="http://schemas.microsoft.com/office/drawing/2014/main" id="{D652BF39-CE97-2EA6-2E15-E2765A14BB4D}"/>
              </a:ext>
            </a:extLst>
          </p:cNvPr>
          <p:cNvSpPr txBox="1"/>
          <p:nvPr/>
        </p:nvSpPr>
        <p:spPr>
          <a:xfrm>
            <a:off x="1311965" y="5658679"/>
            <a:ext cx="9740346" cy="923330"/>
          </a:xfrm>
          <a:prstGeom prst="rect">
            <a:avLst/>
          </a:prstGeom>
          <a:noFill/>
        </p:spPr>
        <p:txBody>
          <a:bodyPr wrap="square">
            <a:spAutoFit/>
          </a:bodyPr>
          <a:lstStyle/>
          <a:p>
            <a:pPr>
              <a:spcBef>
                <a:spcPts val="500"/>
              </a:spcBef>
              <a:spcAft>
                <a:spcPts val="500"/>
              </a:spcAft>
              <a:buNone/>
            </a:pPr>
            <a:r>
              <a:rPr lang="es-MX" sz="1800" i="1" dirty="0">
                <a:solidFill>
                  <a:schemeClr val="tx1"/>
                </a:solidFill>
                <a:effectLst/>
                <a:latin typeface="+mn-lt"/>
                <a:ea typeface="Calibri" panose="020F0502020204030204" pitchFamily="34" charset="0"/>
              </a:rPr>
              <a:t>Subproceso de decisión en Limpieza: si el garrafón está en condiciones normales → limpieza simple (30 segundos); si requiere mayor atención → limpieza profunda manual (90 segundos), antes de continuar al llenado.</a:t>
            </a:r>
            <a:endParaRPr lang="es-MX"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22209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CA4165-38F9-C556-6904-471DDCE4535A}"/>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Evidencias de los formatos entregados</a:t>
            </a:r>
          </a:p>
        </p:txBody>
      </p:sp>
      <p:pic>
        <p:nvPicPr>
          <p:cNvPr id="5" name="Imagen 4">
            <a:extLst>
              <a:ext uri="{FF2B5EF4-FFF2-40B4-BE49-F238E27FC236}">
                <a16:creationId xmlns:a16="http://schemas.microsoft.com/office/drawing/2014/main" id="{8E825833-1F39-12C2-70AA-39E376291134}"/>
              </a:ext>
            </a:extLst>
          </p:cNvPr>
          <p:cNvPicPr>
            <a:picLocks noChangeAspect="1"/>
          </p:cNvPicPr>
          <p:nvPr/>
        </p:nvPicPr>
        <p:blipFill>
          <a:blip r:embed="rId2"/>
          <a:stretch>
            <a:fillRect/>
          </a:stretch>
        </p:blipFill>
        <p:spPr>
          <a:xfrm>
            <a:off x="891208" y="1984649"/>
            <a:ext cx="5120000" cy="2880000"/>
          </a:xfrm>
          <a:prstGeom prst="rect">
            <a:avLst/>
          </a:prstGeom>
        </p:spPr>
      </p:pic>
      <p:pic>
        <p:nvPicPr>
          <p:cNvPr id="7" name="Imagen 6">
            <a:extLst>
              <a:ext uri="{FF2B5EF4-FFF2-40B4-BE49-F238E27FC236}">
                <a16:creationId xmlns:a16="http://schemas.microsoft.com/office/drawing/2014/main" id="{E06C75F3-622C-15FE-9E7B-EA3738010A37}"/>
              </a:ext>
            </a:extLst>
          </p:cNvPr>
          <p:cNvPicPr>
            <a:picLocks noChangeAspect="1"/>
          </p:cNvPicPr>
          <p:nvPr/>
        </p:nvPicPr>
        <p:blipFill>
          <a:blip r:embed="rId3"/>
          <a:stretch>
            <a:fillRect/>
          </a:stretch>
        </p:blipFill>
        <p:spPr>
          <a:xfrm>
            <a:off x="6286810" y="1984649"/>
            <a:ext cx="5120000" cy="2880000"/>
          </a:xfrm>
          <a:prstGeom prst="rect">
            <a:avLst/>
          </a:prstGeom>
        </p:spPr>
      </p:pic>
      <p:sp>
        <p:nvSpPr>
          <p:cNvPr id="9" name="CuadroTexto 8">
            <a:extLst>
              <a:ext uri="{FF2B5EF4-FFF2-40B4-BE49-F238E27FC236}">
                <a16:creationId xmlns:a16="http://schemas.microsoft.com/office/drawing/2014/main" id="{80938EEA-661D-A4E9-7AC3-417FA00B19E2}"/>
              </a:ext>
            </a:extLst>
          </p:cNvPr>
          <p:cNvSpPr txBox="1"/>
          <p:nvPr/>
        </p:nvSpPr>
        <p:spPr>
          <a:xfrm>
            <a:off x="924581" y="4945131"/>
            <a:ext cx="5120000" cy="646331"/>
          </a:xfrm>
          <a:prstGeom prst="rect">
            <a:avLst/>
          </a:prstGeom>
          <a:noFill/>
        </p:spPr>
        <p:txBody>
          <a:bodyPr wrap="square">
            <a:spAutoFit/>
          </a:bodyPr>
          <a:lstStyle/>
          <a:p>
            <a:r>
              <a:rPr lang="es-MX" sz="1800" i="1" dirty="0">
                <a:solidFill>
                  <a:schemeClr val="tx1"/>
                </a:solidFill>
                <a:effectLst/>
                <a:latin typeface="+mn-lt"/>
                <a:ea typeface="Calibri" panose="020F0502020204030204" pitchFamily="34" charset="0"/>
              </a:rPr>
              <a:t>Formato de levantamiento inicial — encabezado y definición del proyecto</a:t>
            </a:r>
            <a:endParaRPr lang="es-MX" dirty="0"/>
          </a:p>
        </p:txBody>
      </p:sp>
      <p:sp>
        <p:nvSpPr>
          <p:cNvPr id="11" name="CuadroTexto 10">
            <a:extLst>
              <a:ext uri="{FF2B5EF4-FFF2-40B4-BE49-F238E27FC236}">
                <a16:creationId xmlns:a16="http://schemas.microsoft.com/office/drawing/2014/main" id="{F662E43B-45ED-CE83-156F-5553FCCDBA85}"/>
              </a:ext>
            </a:extLst>
          </p:cNvPr>
          <p:cNvSpPr txBox="1"/>
          <p:nvPr/>
        </p:nvSpPr>
        <p:spPr>
          <a:xfrm>
            <a:off x="6316586" y="4945131"/>
            <a:ext cx="4987724" cy="646330"/>
          </a:xfrm>
          <a:prstGeom prst="rect">
            <a:avLst/>
          </a:prstGeom>
          <a:noFill/>
        </p:spPr>
        <p:txBody>
          <a:bodyPr wrap="square">
            <a:spAutoFit/>
          </a:bodyPr>
          <a:lstStyle/>
          <a:p>
            <a:r>
              <a:rPr lang="es-MX" sz="1800" i="1" dirty="0">
                <a:solidFill>
                  <a:schemeClr val="tx1"/>
                </a:solidFill>
                <a:effectLst/>
                <a:latin typeface="+mn-lt"/>
                <a:ea typeface="Calibri" panose="020F0502020204030204" pitchFamily="34" charset="0"/>
              </a:rPr>
              <a:t>Cronograma preliminar de 8 semanas entregado por el desarrollador</a:t>
            </a:r>
            <a:endParaRPr lang="es-MX" dirty="0"/>
          </a:p>
        </p:txBody>
      </p:sp>
      <p:sp>
        <p:nvSpPr>
          <p:cNvPr id="13" name="CuadroTexto 12">
            <a:extLst>
              <a:ext uri="{FF2B5EF4-FFF2-40B4-BE49-F238E27FC236}">
                <a16:creationId xmlns:a16="http://schemas.microsoft.com/office/drawing/2014/main" id="{E5B54795-C253-33C3-6A81-DE03A73F8383}"/>
              </a:ext>
            </a:extLst>
          </p:cNvPr>
          <p:cNvSpPr txBox="1"/>
          <p:nvPr/>
        </p:nvSpPr>
        <p:spPr>
          <a:xfrm>
            <a:off x="924581" y="5724951"/>
            <a:ext cx="10429219" cy="923330"/>
          </a:xfrm>
          <a:prstGeom prst="rect">
            <a:avLst/>
          </a:prstGeom>
          <a:noFill/>
        </p:spPr>
        <p:txBody>
          <a:bodyPr wrap="square">
            <a:spAutoFit/>
          </a:bodyPr>
          <a:lstStyle/>
          <a:p>
            <a:pPr algn="just">
              <a:lnSpc>
                <a:spcPct val="100000"/>
              </a:lnSpc>
              <a:spcAft>
                <a:spcPts val="700"/>
              </a:spcAft>
              <a:buNone/>
            </a:pPr>
            <a:r>
              <a:rPr lang="es-MX" sz="1800" dirty="0">
                <a:solidFill>
                  <a:schemeClr val="tx1"/>
                </a:solidFill>
                <a:effectLst/>
                <a:latin typeface="+mn-lt"/>
                <a:ea typeface="Calibri" panose="020F0502020204030204" pitchFamily="34" charset="0"/>
              </a:rPr>
              <a:t>En esta actividad se elaboró y entregó el formato de levantamiento inicial correspondiente al proyecto de Josefina, quien lo completó dentro del plazo acordado con la información del proyecto y su cronograma preliminar.</a:t>
            </a:r>
            <a:endParaRPr lang="es-MX"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70638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8DE30-9E41-8C05-053C-D717A2290D98}"/>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Cronograma</a:t>
            </a:r>
          </a:p>
        </p:txBody>
      </p:sp>
      <p:graphicFrame>
        <p:nvGraphicFramePr>
          <p:cNvPr id="4" name="Marcador de contenido 3">
            <a:extLst>
              <a:ext uri="{FF2B5EF4-FFF2-40B4-BE49-F238E27FC236}">
                <a16:creationId xmlns:a16="http://schemas.microsoft.com/office/drawing/2014/main" id="{09349239-9F4B-4BAA-BB1D-EEE20604644D}"/>
              </a:ext>
            </a:extLst>
          </p:cNvPr>
          <p:cNvGraphicFramePr>
            <a:graphicFrameLocks noGrp="1"/>
          </p:cNvGraphicFramePr>
          <p:nvPr>
            <p:ph idx="1"/>
            <p:extLst>
              <p:ext uri="{D42A27DB-BD31-4B8C-83A1-F6EECF244321}">
                <p14:modId xmlns:p14="http://schemas.microsoft.com/office/powerpoint/2010/main" val="1573417125"/>
              </p:ext>
            </p:extLst>
          </p:nvPr>
        </p:nvGraphicFramePr>
        <p:xfrm>
          <a:off x="1391478" y="1690688"/>
          <a:ext cx="9117497" cy="3465037"/>
        </p:xfrm>
        <a:graphic>
          <a:graphicData uri="http://schemas.openxmlformats.org/drawingml/2006/table">
            <a:tbl>
              <a:tblPr firstRow="1" firstCol="1" bandRow="1">
                <a:tableStyleId>{5C22544A-7EE6-4342-B048-85BDC9FD1C3A}</a:tableStyleId>
              </a:tblPr>
              <a:tblGrid>
                <a:gridCol w="759792">
                  <a:extLst>
                    <a:ext uri="{9D8B030D-6E8A-4147-A177-3AD203B41FA5}">
                      <a16:colId xmlns:a16="http://schemas.microsoft.com/office/drawing/2014/main" val="3150257229"/>
                    </a:ext>
                  </a:extLst>
                </a:gridCol>
                <a:gridCol w="4938643">
                  <a:extLst>
                    <a:ext uri="{9D8B030D-6E8A-4147-A177-3AD203B41FA5}">
                      <a16:colId xmlns:a16="http://schemas.microsoft.com/office/drawing/2014/main" val="532501353"/>
                    </a:ext>
                  </a:extLst>
                </a:gridCol>
                <a:gridCol w="1736035">
                  <a:extLst>
                    <a:ext uri="{9D8B030D-6E8A-4147-A177-3AD203B41FA5}">
                      <a16:colId xmlns:a16="http://schemas.microsoft.com/office/drawing/2014/main" val="4232738332"/>
                    </a:ext>
                  </a:extLst>
                </a:gridCol>
                <a:gridCol w="1683027">
                  <a:extLst>
                    <a:ext uri="{9D8B030D-6E8A-4147-A177-3AD203B41FA5}">
                      <a16:colId xmlns:a16="http://schemas.microsoft.com/office/drawing/2014/main" val="3462512808"/>
                    </a:ext>
                  </a:extLst>
                </a:gridCol>
              </a:tblGrid>
              <a:tr h="354509">
                <a:tc>
                  <a:txBody>
                    <a:bodyPr/>
                    <a:lstStyle/>
                    <a:p>
                      <a:pPr>
                        <a:buNone/>
                      </a:pPr>
                      <a:r>
                        <a:rPr lang="es-MX" sz="1400">
                          <a:effectLst/>
                        </a:rPr>
                        <a:t>Semana</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Actividad</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Inicio</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400">
                          <a:effectLst/>
                        </a:rPr>
                        <a:t>Fin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339525010"/>
                  </a:ext>
                </a:extLst>
              </a:tr>
              <a:tr h="388816">
                <a:tc>
                  <a:txBody>
                    <a:bodyPr/>
                    <a:lstStyle/>
                    <a:p>
                      <a:pPr>
                        <a:buNone/>
                      </a:pPr>
                      <a:r>
                        <a:rPr lang="es-MX" sz="1600">
                          <a:effectLst/>
                        </a:rPr>
                        <a:t>1</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Definición del proyecto (nombre, objetivos, alcance)</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17/08/2026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24/08/2026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2890659877"/>
                  </a:ext>
                </a:extLst>
              </a:tr>
              <a:tr h="388816">
                <a:tc>
                  <a:txBody>
                    <a:bodyPr/>
                    <a:lstStyle/>
                    <a:p>
                      <a:pPr>
                        <a:buNone/>
                      </a:pPr>
                      <a:r>
                        <a:rPr lang="es-MX" sz="1600">
                          <a:effectLst/>
                        </a:rPr>
                        <a:t>2</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Planteamiento del problema y justificación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25/08/2026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31/08/2026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739902996"/>
                  </a:ext>
                </a:extLst>
              </a:tr>
              <a:tr h="388816">
                <a:tc>
                  <a:txBody>
                    <a:bodyPr/>
                    <a:lstStyle/>
                    <a:p>
                      <a:pPr>
                        <a:buNone/>
                      </a:pPr>
                      <a:r>
                        <a:rPr lang="es-MX" sz="1600">
                          <a:effectLst/>
                        </a:rPr>
                        <a:t>3</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Análisis de requisitos / preparación de la simulación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01/09/2026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07/09/2026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712070797"/>
                  </a:ext>
                </a:extLst>
              </a:tr>
              <a:tr h="388816">
                <a:tc>
                  <a:txBody>
                    <a:bodyPr/>
                    <a:lstStyle/>
                    <a:p>
                      <a:pPr>
                        <a:buNone/>
                      </a:pPr>
                      <a:r>
                        <a:rPr lang="es-MX" sz="1600">
                          <a:effectLst/>
                        </a:rPr>
                        <a:t>4</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Especificación y montaje de la simulación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08/09/2026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14/09/2026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1619654073"/>
                  </a:ext>
                </a:extLst>
              </a:tr>
              <a:tr h="388816">
                <a:tc>
                  <a:txBody>
                    <a:bodyPr/>
                    <a:lstStyle/>
                    <a:p>
                      <a:pPr>
                        <a:buNone/>
                      </a:pPr>
                      <a:r>
                        <a:rPr lang="es-MX" sz="1600">
                          <a:effectLst/>
                        </a:rPr>
                        <a:t>5</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Desarrollo / avance de la simulación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15/09/2026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21/09/2026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571337959"/>
                  </a:ext>
                </a:extLst>
              </a:tr>
              <a:tr h="388816">
                <a:tc>
                  <a:txBody>
                    <a:bodyPr/>
                    <a:lstStyle/>
                    <a:p>
                      <a:pPr>
                        <a:buNone/>
                      </a:pPr>
                      <a:r>
                        <a:rPr lang="es-MX" sz="1600">
                          <a:effectLst/>
                        </a:rPr>
                        <a:t>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Desarrollo / avance de la simulación (continuación)</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22/09/2026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28/09/2026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867099739"/>
                  </a:ext>
                </a:extLst>
              </a:tr>
              <a:tr h="388816">
                <a:tc>
                  <a:txBody>
                    <a:bodyPr/>
                    <a:lstStyle/>
                    <a:p>
                      <a:pPr>
                        <a:buNone/>
                      </a:pPr>
                      <a:r>
                        <a:rPr lang="es-MX" sz="1600">
                          <a:effectLst/>
                        </a:rPr>
                        <a:t>7</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Revisión, ajustes y pruebas</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29/09/2026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05/10/2026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4082021243"/>
                  </a:ext>
                </a:extLst>
              </a:tr>
              <a:tr h="388816">
                <a:tc>
                  <a:txBody>
                    <a:bodyPr/>
                    <a:lstStyle/>
                    <a:p>
                      <a:pPr>
                        <a:buNone/>
                      </a:pPr>
                      <a:r>
                        <a:rPr lang="es-MX" sz="1600">
                          <a:effectLst/>
                        </a:rPr>
                        <a:t>8</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Entrega final y reporte</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a:effectLst/>
                        </a:rPr>
                        <a:t>06/10/2026</a:t>
                      </a:r>
                      <a:endParaRPr lang="es-MX" sz="1800">
                        <a:effectLst/>
                        <a:latin typeface="Times New Roman" panose="02020603050405020304" pitchFamily="18" charset="0"/>
                        <a:ea typeface="Times New Roman" panose="02020603050405020304" pitchFamily="18" charset="0"/>
                      </a:endParaRPr>
                    </a:p>
                  </a:txBody>
                  <a:tcPr marL="57150" marR="57150" marT="57150" marB="57150" anchor="ctr"/>
                </a:tc>
                <a:tc>
                  <a:txBody>
                    <a:bodyPr/>
                    <a:lstStyle/>
                    <a:p>
                      <a:pPr>
                        <a:buNone/>
                      </a:pPr>
                      <a:r>
                        <a:rPr lang="es-MX" sz="1600" dirty="0">
                          <a:effectLst/>
                        </a:rPr>
                        <a:t>12/10/2026</a:t>
                      </a:r>
                      <a:endParaRPr lang="es-MX" sz="1800" dirty="0">
                        <a:effectLst/>
                        <a:latin typeface="Times New Roman" panose="02020603050405020304" pitchFamily="18" charset="0"/>
                        <a:ea typeface="Times New Roman" panose="02020603050405020304" pitchFamily="18" charset="0"/>
                      </a:endParaRPr>
                    </a:p>
                  </a:txBody>
                  <a:tcPr marL="57150" marR="57150" marT="57150" marB="57150" anchor="ctr"/>
                </a:tc>
                <a:extLst>
                  <a:ext uri="{0D108BD9-81ED-4DB2-BD59-A6C34878D82A}">
                    <a16:rowId xmlns:a16="http://schemas.microsoft.com/office/drawing/2014/main" val="904728225"/>
                  </a:ext>
                </a:extLst>
              </a:tr>
            </a:tbl>
          </a:graphicData>
        </a:graphic>
      </p:graphicFrame>
    </p:spTree>
    <p:extLst>
      <p:ext uri="{BB962C8B-B14F-4D97-AF65-F5344CB8AC3E}">
        <p14:creationId xmlns:p14="http://schemas.microsoft.com/office/powerpoint/2010/main" val="4217801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8CA754-BF11-EFB4-662E-3CF6B3D4D860}"/>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Avance actual</a:t>
            </a:r>
          </a:p>
        </p:txBody>
      </p:sp>
      <p:sp>
        <p:nvSpPr>
          <p:cNvPr id="3" name="Marcador de contenido 2">
            <a:extLst>
              <a:ext uri="{FF2B5EF4-FFF2-40B4-BE49-F238E27FC236}">
                <a16:creationId xmlns:a16="http://schemas.microsoft.com/office/drawing/2014/main" id="{A94BB9AA-8EA5-85E5-3D25-7E36B2EB9A8F}"/>
              </a:ext>
            </a:extLst>
          </p:cNvPr>
          <p:cNvSpPr>
            <a:spLocks noGrp="1"/>
          </p:cNvSpPr>
          <p:nvPr>
            <p:ph idx="1"/>
          </p:nvPr>
        </p:nvSpPr>
        <p:spPr/>
        <p:txBody>
          <a:bodyPr/>
          <a:lstStyle/>
          <a:p>
            <a:pPr marL="0" indent="0">
              <a:buNone/>
            </a:pPr>
            <a:r>
              <a:rPr lang="es-MX" dirty="0"/>
              <a:t>20% — fase de definición completa. </a:t>
            </a:r>
          </a:p>
          <a:p>
            <a:pPr marL="0" indent="0">
              <a:buNone/>
            </a:pPr>
            <a:r>
              <a:rPr lang="es-MX" dirty="0"/>
              <a:t>Ya definió el proceso completo (recepción, limpieza simple/profunda, llenado, tapado) con tiempos preliminares (30s, 90s, 20s). </a:t>
            </a:r>
          </a:p>
          <a:p>
            <a:pPr marL="0" indent="0">
              <a:buNone/>
            </a:pPr>
            <a:r>
              <a:rPr lang="es-MX" dirty="0"/>
              <a:t>Eligió herramientas de trabajo (IntelliJ, </a:t>
            </a:r>
            <a:r>
              <a:rPr lang="es-MX" dirty="0" err="1"/>
              <a:t>Scene</a:t>
            </a:r>
            <a:r>
              <a:rPr lang="es-MX" dirty="0"/>
              <a:t> </a:t>
            </a:r>
            <a:r>
              <a:rPr lang="es-MX" dirty="0" err="1"/>
              <a:t>Builder</a:t>
            </a:r>
            <a:r>
              <a:rPr lang="es-MX" dirty="0"/>
              <a:t>, </a:t>
            </a:r>
            <a:r>
              <a:rPr lang="es-MX" dirty="0" err="1"/>
              <a:t>Laragon</a:t>
            </a:r>
            <a:r>
              <a:rPr lang="es-MX" dirty="0"/>
              <a:t>, </a:t>
            </a:r>
            <a:r>
              <a:rPr lang="es-MX" dirty="0" err="1"/>
              <a:t>Camunda</a:t>
            </a:r>
            <a:r>
              <a:rPr lang="es-MX" dirty="0"/>
              <a:t>, Bizagi). </a:t>
            </a:r>
          </a:p>
          <a:p>
            <a:pPr marL="0" indent="0">
              <a:buNone/>
            </a:pPr>
            <a:r>
              <a:rPr lang="es-MX" dirty="0"/>
              <a:t>Pendiente: definir cantidad de empleados, frecuencia de llegada de garrafones y reglas de operación de la máquina de llenado.</a:t>
            </a:r>
          </a:p>
          <a:p>
            <a:endParaRPr lang="es-MX" dirty="0"/>
          </a:p>
        </p:txBody>
      </p:sp>
    </p:spTree>
    <p:extLst>
      <p:ext uri="{BB962C8B-B14F-4D97-AF65-F5344CB8AC3E}">
        <p14:creationId xmlns:p14="http://schemas.microsoft.com/office/powerpoint/2010/main" val="2308293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fontScale="70000" lnSpcReduction="20000"/>
          </a:bodyPr>
          <a:lstStyle/>
          <a:p>
            <a:pPr marL="0" indent="0">
              <a:buNone/>
            </a:pPr>
            <a:r>
              <a:rPr lang="es-MX" sz="4800" b="1" dirty="0">
                <a:solidFill>
                  <a:schemeClr val="accent1"/>
                </a:solidFill>
                <a:latin typeface="+mj-lt"/>
              </a:rPr>
              <a:t>Conclusión</a:t>
            </a:r>
          </a:p>
          <a:p>
            <a:pPr marL="0" indent="0" algn="just">
              <a:buNone/>
            </a:pPr>
            <a:r>
              <a:rPr lang="es-MX" dirty="0"/>
              <a:t>Durante esta primera etapa como Project Manager se logró recibir, organizar y dar seguimiento inicial a los tres proyectos de simulación asignados: el taller de reparación de equipos electrónicos, el taller mecánico y la planta embotelladora de agua. En los tres casos se aplicó el mismo formulario de levantamiento de información, lo que permitió documentar de manera uniforme su definición, objetivos, procesos, personas involucradas y cronograma.</a:t>
            </a:r>
          </a:p>
          <a:p>
            <a:pPr marL="0" indent="0" algn="just">
              <a:buNone/>
            </a:pPr>
            <a:r>
              <a:rPr lang="es-MX" dirty="0"/>
              <a:t>El ejercicio de identificar a las personas responsables de cada área de trabajo, así como los subprocesos de decisión dentro de cada flujo, ayudó a confirmar que ninguno de los tres proyectos depende de una sola persona para completarse, sino que cada uno representa una línea de producción con distintos roles y responsabilidades, tal como ocurre en un proceso real.</a:t>
            </a:r>
          </a:p>
          <a:p>
            <a:pPr marL="0" indent="0" algn="just">
              <a:buNone/>
            </a:pPr>
            <a:r>
              <a:rPr lang="es-MX" dirty="0"/>
              <a:t>Al cierre de esta unidad, los tres proyectos se encuentran sincronizados en un avance aproximado del 20%, con la fase de definición completa y un cronograma de 8 semanas establecido para cada uno. El seguimiento continuará mediante reuniones breves periódicas y la actualización constante de la bitácora del Project Manager, con el fin de asegurar que los proyectos se desarrollen dentro del tiempo acordado.</a:t>
            </a:r>
          </a:p>
        </p:txBody>
      </p:sp>
    </p:spTree>
    <p:extLst>
      <p:ext uri="{BB962C8B-B14F-4D97-AF65-F5344CB8AC3E}">
        <p14:creationId xmlns:p14="http://schemas.microsoft.com/office/powerpoint/2010/main" val="4155922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4124EC-CD38-C073-CDBA-5D847311AD5F}"/>
              </a:ext>
            </a:extLst>
          </p:cNvPr>
          <p:cNvSpPr>
            <a:spLocks noGrp="1"/>
          </p:cNvSpPr>
          <p:nvPr>
            <p:ph type="title"/>
          </p:nvPr>
        </p:nvSpPr>
        <p:spPr/>
        <p:txBody>
          <a:bodyPr/>
          <a:lstStyle/>
          <a:p>
            <a:r>
              <a:rPr lang="es-MX" b="1" dirty="0">
                <a:solidFill>
                  <a:schemeClr val="accent1"/>
                </a:solidFill>
              </a:rPr>
              <a:t>FUENTE DE INFORMACION</a:t>
            </a:r>
          </a:p>
        </p:txBody>
      </p:sp>
      <p:sp>
        <p:nvSpPr>
          <p:cNvPr id="3" name="Marcador de contenido 2">
            <a:extLst>
              <a:ext uri="{FF2B5EF4-FFF2-40B4-BE49-F238E27FC236}">
                <a16:creationId xmlns:a16="http://schemas.microsoft.com/office/drawing/2014/main" id="{820F83E8-77E6-BA3C-CE9D-7E292129AB41}"/>
              </a:ext>
            </a:extLst>
          </p:cNvPr>
          <p:cNvSpPr>
            <a:spLocks noGrp="1"/>
          </p:cNvSpPr>
          <p:nvPr>
            <p:ph idx="1"/>
          </p:nvPr>
        </p:nvSpPr>
        <p:spPr/>
        <p:txBody>
          <a:bodyPr>
            <a:normAutofit fontScale="85000" lnSpcReduction="10000"/>
          </a:bodyPr>
          <a:lstStyle/>
          <a:p>
            <a:r>
              <a:rPr lang="es-MX" dirty="0"/>
              <a:t>Aquino Villanueva, R. (2026). </a:t>
            </a:r>
            <a:r>
              <a:rPr lang="es-MX" i="1" dirty="0"/>
              <a:t>GPTI</a:t>
            </a:r>
            <a:r>
              <a:rPr lang="es-MX" dirty="0"/>
              <a:t> [Repositorio de código fuente]. GitHub. </a:t>
            </a:r>
            <a:r>
              <a:rPr lang="es-MX" dirty="0">
                <a:hlinkClick r:id="rId2"/>
              </a:rPr>
              <a:t>https://github.com/rafaelrav8770/GPTI</a:t>
            </a:r>
            <a:endParaRPr lang="es-MX" dirty="0"/>
          </a:p>
          <a:p>
            <a:r>
              <a:rPr lang="es-MX" i="1" dirty="0"/>
              <a:t>Cómo empezar con la gestión de proyectos</a:t>
            </a:r>
            <a:r>
              <a:rPr lang="es-MX" dirty="0"/>
              <a:t> Video.  YouTube. </a:t>
            </a:r>
            <a:r>
              <a:rPr lang="es-MX" dirty="0">
                <a:hlinkClick r:id="rId3"/>
              </a:rPr>
              <a:t>https://www.youtube.com/watch?v=2x8gfBL5Rps</a:t>
            </a:r>
            <a:endParaRPr lang="es-MX" dirty="0"/>
          </a:p>
          <a:p>
            <a:r>
              <a:rPr lang="es-MX" dirty="0"/>
              <a:t>EALDE Business School.  </a:t>
            </a:r>
            <a:r>
              <a:rPr lang="es-MX" i="1" dirty="0"/>
              <a:t>Los 6 procesos para la gestión del alcance en dirección de proyectos</a:t>
            </a:r>
            <a:r>
              <a:rPr lang="es-MX" dirty="0"/>
              <a:t> Video. YouTube. </a:t>
            </a:r>
            <a:r>
              <a:rPr lang="es-MX" dirty="0">
                <a:hlinkClick r:id="rId4"/>
              </a:rPr>
              <a:t>https://www.youtube.com/watch?v=yVRZif8cJz0</a:t>
            </a:r>
            <a:endParaRPr lang="es-MX" dirty="0"/>
          </a:p>
          <a:p>
            <a:r>
              <a:rPr lang="es-MX" i="1" dirty="0"/>
              <a:t>Levantamiento de procesos desde cero</a:t>
            </a:r>
            <a:r>
              <a:rPr lang="es-MX" dirty="0"/>
              <a:t> Video. YouTube. </a:t>
            </a:r>
            <a:r>
              <a:rPr lang="es-MX" dirty="0">
                <a:hlinkClick r:id="rId5"/>
              </a:rPr>
              <a:t>https://www.youtube.com/watch?v=8k_7bMRPEco</a:t>
            </a:r>
            <a:endParaRPr lang="es-MX" dirty="0"/>
          </a:p>
          <a:p>
            <a:r>
              <a:rPr lang="es-MX" dirty="0"/>
              <a:t>Project Management </a:t>
            </a:r>
            <a:r>
              <a:rPr lang="es-MX" dirty="0" err="1"/>
              <a:t>Institute</a:t>
            </a:r>
            <a:r>
              <a:rPr lang="es-MX" dirty="0"/>
              <a:t>. (2025). </a:t>
            </a:r>
            <a:r>
              <a:rPr lang="es-MX" i="1" dirty="0"/>
              <a:t>A guide </a:t>
            </a:r>
            <a:r>
              <a:rPr lang="es-MX" i="1" dirty="0" err="1"/>
              <a:t>to</a:t>
            </a:r>
            <a:r>
              <a:rPr lang="es-MX" i="1" dirty="0"/>
              <a:t> </a:t>
            </a:r>
            <a:r>
              <a:rPr lang="es-MX" i="1" dirty="0" err="1"/>
              <a:t>the</a:t>
            </a:r>
            <a:r>
              <a:rPr lang="es-MX" i="1" dirty="0"/>
              <a:t> </a:t>
            </a:r>
            <a:r>
              <a:rPr lang="es-MX" i="1" dirty="0" err="1"/>
              <a:t>project</a:t>
            </a:r>
            <a:r>
              <a:rPr lang="es-MX" i="1" dirty="0"/>
              <a:t> </a:t>
            </a:r>
            <a:r>
              <a:rPr lang="es-MX" i="1" dirty="0" err="1"/>
              <a:t>management</a:t>
            </a:r>
            <a:r>
              <a:rPr lang="es-MX" i="1" dirty="0"/>
              <a:t> </a:t>
            </a:r>
            <a:r>
              <a:rPr lang="es-MX" i="1" dirty="0" err="1"/>
              <a:t>body</a:t>
            </a:r>
            <a:r>
              <a:rPr lang="es-MX" i="1" dirty="0"/>
              <a:t> </a:t>
            </a:r>
            <a:r>
              <a:rPr lang="es-MX" i="1" dirty="0" err="1"/>
              <a:t>of</a:t>
            </a:r>
            <a:r>
              <a:rPr lang="es-MX" i="1" dirty="0"/>
              <a:t> </a:t>
            </a:r>
            <a:r>
              <a:rPr lang="es-MX" i="1" dirty="0" err="1"/>
              <a:t>knowledge</a:t>
            </a:r>
            <a:r>
              <a:rPr lang="es-MX" i="1" dirty="0"/>
              <a:t> (PMBOK® guide)</a:t>
            </a:r>
            <a:r>
              <a:rPr lang="es-MX" dirty="0"/>
              <a:t> (8.ª ed.). </a:t>
            </a:r>
            <a:r>
              <a:rPr lang="es-MX" dirty="0">
                <a:hlinkClick r:id="rId6"/>
              </a:rPr>
              <a:t>https://www.pmi.org/standards/pmbok</a:t>
            </a:r>
            <a:endParaRPr lang="es-MX" dirty="0"/>
          </a:p>
          <a:p>
            <a:r>
              <a:rPr lang="es-MX" dirty="0"/>
              <a:t>Video. Gestión de Proyectos TI YouTube. https://www.youtube.com/watch?v=kJtlZ0xneEw</a:t>
            </a:r>
          </a:p>
          <a:p>
            <a:endParaRPr lang="es-MX" dirty="0"/>
          </a:p>
        </p:txBody>
      </p:sp>
    </p:spTree>
    <p:extLst>
      <p:ext uri="{BB962C8B-B14F-4D97-AF65-F5344CB8AC3E}">
        <p14:creationId xmlns:p14="http://schemas.microsoft.com/office/powerpoint/2010/main" val="14363354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3004</TotalTime>
  <Words>2377</Words>
  <Application>Microsoft Office PowerPoint</Application>
  <PresentationFormat>Panorámica</PresentationFormat>
  <Paragraphs>277</Paragraphs>
  <Slides>24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Calibri Light</vt:lpstr>
      <vt:lpstr>Times New Roman</vt:lpstr>
      <vt:lpstr>Tema de Office</vt:lpstr>
      <vt:lpstr>Presentación de PowerPoint</vt:lpstr>
      <vt:lpstr>Presentación de PowerPoint</vt:lpstr>
      <vt:lpstr>Presentación de PowerPoint</vt:lpstr>
      <vt:lpstr>justificación</vt:lpstr>
      <vt:lpstr>PROYECTO 1 Roberto Carlos Cahuare Moreno Simulación de Procesos de Servicio y Reparación en un Taller de Electrónica</vt:lpstr>
      <vt:lpstr>Presentación de PowerPoint</vt:lpstr>
      <vt:lpstr>Personas / áreas involucradas</vt:lpstr>
      <vt:lpstr>Evidencias de los formatos entregados</vt:lpstr>
      <vt:lpstr>Cronograma</vt:lpstr>
      <vt:lpstr>Avance actual</vt:lpstr>
      <vt:lpstr>PROYECTO 2 Brandon Farith Lopez Nanga Simulación y Optimización del Proceso de Atención de un Taller Mecánico</vt:lpstr>
      <vt:lpstr>Presentación de PowerPoint</vt:lpstr>
      <vt:lpstr>Personas / áreas involucradas</vt:lpstr>
      <vt:lpstr>Evidencias de los formatos entregados</vt:lpstr>
      <vt:lpstr>Cronograma</vt:lpstr>
      <vt:lpstr>Avance actual</vt:lpstr>
      <vt:lpstr>PROYECTO 3 Josefina Nieto Hernández Simulación de una Planta Embotelladora de Agua</vt:lpstr>
      <vt:lpstr>Presentación de PowerPoint</vt:lpstr>
      <vt:lpstr>Personas / áreas involucradas</vt:lpstr>
      <vt:lpstr>Evidencias de los formatos entregados</vt:lpstr>
      <vt:lpstr>Cronograma</vt:lpstr>
      <vt:lpstr>Avance actual</vt:lpstr>
      <vt:lpstr>Presentación de PowerPoint</vt:lpstr>
      <vt:lpstr>FUENTE DE INFORMACION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59</cp:revision>
  <dcterms:created xsi:type="dcterms:W3CDTF">2026-02-14T13:39:49Z</dcterms:created>
  <dcterms:modified xsi:type="dcterms:W3CDTF">2026-08-31T03:27:53Z</dcterms:modified>
</cp:coreProperties>
</file>