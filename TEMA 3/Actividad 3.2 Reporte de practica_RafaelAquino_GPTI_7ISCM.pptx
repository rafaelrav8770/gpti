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80" r:id="rId2"/>
    <p:sldId id="281"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2" r:id="rId24"/>
    <p:sldId id="283" r:id="rId25"/>
    <p:sldId id="284" r:id="rId26"/>
    <p:sldId id="285" r:id="rId27"/>
    <p:sldId id="278" r:id="rId28"/>
    <p:sldId id="279" r:id="rId29"/>
    <p:sldId id="286" r:id="rId3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4C1A8A3-306A-4EB7-A6B1-4F7E0EB9C5D6}" styleName="Estilo medio 3 - Énfasis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A111915-BE36-4E01-A7E5-04B1672EAD32}" styleName="Estilo claro 2 - Acento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FD0F851-EC5A-4D38-B0AD-8093EC10F338}" styleName="Estilo claro 1 - Acento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ABFCF23-3B69-468F-B69F-88F6DE6A72F2}" styleName="Estilo medio 1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78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17/09/2026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Repositorio GPTI del usuario.</a:t>
            </a:r>
          </a:p>
          <a:p>
            <a:r>
              <a:t>- Documentos de proyecto y capturas de Monday.com proporcionados por el usuario.</a:t>
            </a:r>
          </a:p>
          <a:p>
            <a:r>
              <a:t>- Material docente y Guía PMBOK 7 utilizada en la materia.</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17/09/2026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17/09/2026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156920"/>
          </a:xfrm>
          <a:prstGeom prst="rect">
            <a:avLst/>
          </a:prstGeom>
          <a:noFill/>
        </p:spPr>
        <p:txBody>
          <a:bodyPr wrap="square">
            <a:spAutoFit/>
          </a:bodyPr>
          <a:lstStyle/>
          <a:p>
            <a:pPr algn="ctr">
              <a:lnSpc>
                <a:spcPct val="100000"/>
              </a:lnSpc>
              <a:spcAft>
                <a:spcPts val="800"/>
              </a:spcAft>
              <a:buNone/>
            </a:pPr>
            <a:r>
              <a:rPr lang="es-MX" b="1" kern="0" dirty="0">
                <a:latin typeface="Arial" panose="020B0604020202020204" pitchFamily="34" charset="0"/>
                <a:cs typeface="Arial" panose="020B0604020202020204" pitchFamily="34" charset="0"/>
              </a:rPr>
              <a:t>GESTION DE PROYECTOS DE TI</a:t>
            </a:r>
          </a:p>
          <a:p>
            <a:pPr algn="ctr">
              <a:lnSpc>
                <a:spcPct val="100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a:t>
            </a:r>
            <a:r>
              <a:rPr lang="es-MX" sz="2000" b="1" kern="0" dirty="0">
                <a:latin typeface="Arial" panose="020B0604020202020204" pitchFamily="34" charset="0"/>
                <a:ea typeface="Arial" panose="020B0604020202020204" pitchFamily="34" charset="0"/>
                <a:cs typeface="Arial" panose="020B0604020202020204" pitchFamily="34" charset="0"/>
              </a:rPr>
              <a:t>3</a:t>
            </a:r>
            <a:r>
              <a:rPr lang="es-MX" sz="2000" b="1" kern="0" dirty="0">
                <a:effectLst/>
                <a:latin typeface="Arial" panose="020B0604020202020204" pitchFamily="34" charset="0"/>
                <a:ea typeface="Arial" panose="020B0604020202020204" pitchFamily="34" charset="0"/>
                <a:cs typeface="Arial" panose="020B0604020202020204" pitchFamily="34" charset="0"/>
              </a:rPr>
              <a:t>.</a:t>
            </a:r>
            <a:r>
              <a:rPr lang="es-MX" sz="2000" b="1" kern="0" dirty="0">
                <a:latin typeface="Arial" panose="020B0604020202020204" pitchFamily="34" charset="0"/>
                <a:ea typeface="Arial" panose="020B0604020202020204" pitchFamily="34" charset="0"/>
                <a:cs typeface="Arial" panose="020B0604020202020204" pitchFamily="34" charset="0"/>
              </a:rPr>
              <a:t>2</a:t>
            </a:r>
            <a:r>
              <a:rPr lang="es-MX" sz="2000" b="1" kern="0" dirty="0">
                <a:effectLst/>
                <a:latin typeface="Arial" panose="020B0604020202020204" pitchFamily="34" charset="0"/>
                <a:ea typeface="Arial" panose="020B0604020202020204" pitchFamily="34" charset="0"/>
                <a:cs typeface="Arial" panose="020B0604020202020204" pitchFamily="34" charset="0"/>
              </a:rPr>
              <a:t> –</a:t>
            </a:r>
            <a:r>
              <a:rPr lang="es-MX" sz="2000" b="1" kern="0" dirty="0">
                <a:latin typeface="Arial" panose="020B0604020202020204" pitchFamily="34" charset="0"/>
                <a:ea typeface="Arial" panose="020B0604020202020204" pitchFamily="34" charset="0"/>
                <a:cs typeface="Arial" panose="020B0604020202020204" pitchFamily="34" charset="0"/>
              </a:rPr>
              <a:t>REPORTE DE PRACTICA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SEPTIMO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793875" y="6265557"/>
            <a:ext cx="7812505" cy="1078244"/>
          </a:xfrm>
          <a:prstGeom prst="rect">
            <a:avLst/>
          </a:prstGeom>
          <a:noFill/>
        </p:spPr>
        <p:txBody>
          <a:bodyPr wrap="square">
            <a:spAutoFit/>
          </a:bodyPr>
          <a:lstStyle/>
          <a:p>
            <a:pPr algn="r">
              <a:lnSpc>
                <a:spcPct val="107000"/>
              </a:lnSpc>
              <a:spcAft>
                <a:spcPts val="800"/>
              </a:spcAft>
              <a:buNone/>
            </a:pPr>
            <a:r>
              <a:rPr lang="es-MX" sz="2000" b="1" kern="0" dirty="0">
                <a:latin typeface="Arial" panose="020B0604020202020204" pitchFamily="34" charset="0"/>
                <a:ea typeface="Times New Roman" panose="02020603050405020304" pitchFamily="18" charset="0"/>
                <a:cs typeface="Arial" panose="020B0604020202020204" pitchFamily="34" charset="0"/>
              </a:rPr>
              <a:t>27</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 </a:t>
            </a:r>
            <a:r>
              <a:rPr lang="es-MX" sz="2000" b="1" kern="0">
                <a:effectLst/>
                <a:latin typeface="Arial" panose="020B0604020202020204" pitchFamily="34" charset="0"/>
                <a:ea typeface="Times New Roman" panose="02020603050405020304" pitchFamily="18" charset="0"/>
                <a:cs typeface="Arial" panose="020B0604020202020204" pitchFamily="34" charset="0"/>
              </a:rPr>
              <a:t>DE AGOSTO </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1055832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lnSpcReduction="10000"/>
          </a:bodyPr>
          <a:lstStyle/>
          <a:p>
            <a:pPr marL="0" indent="0">
              <a:buNone/>
            </a:pPr>
            <a:r>
              <a:rPr lang="es-MX" sz="4400" b="1" kern="0" dirty="0">
                <a:solidFill>
                  <a:schemeClr val="accent1"/>
                </a:solidFill>
                <a:latin typeface="+mj-lt"/>
                <a:cs typeface="Arial" panose="020B0604020202020204" pitchFamily="34" charset="0"/>
              </a:rPr>
              <a:t>Introducción</a:t>
            </a:r>
          </a:p>
          <a:p>
            <a:pPr marL="0" indent="0" algn="just">
              <a:buNone/>
            </a:pPr>
            <a:r>
              <a:rPr lang="es-MX" dirty="0"/>
              <a:t>La planificación permite transformar los objetivos de un proyecto en actividades ordenadas, medibles y verificables. En esta práctica se aplicaron cronogramas, estimación de recursos y costos, estructuras de desglose del trabajo y diagramas de Gantt a tres proyectos académicos de simulación: un taller mecánico, una planta embotelladora y un taller de electrónica.
La información se obtuvo de las actas ACTA-001, ACTA-002 y ACTA-003, los planes PLAN-001, PLAN-002 y PLAN-003, los cuestionarios respondidos y el seguimiento registrado en Monday. Las herramientas visuales permitieron reconocer dependencias, fechas límite y entregables, y facilitaron la comunicación del avance con las personas ejecutoras.</a:t>
            </a:r>
          </a:p>
          <a:p>
            <a:pPr marL="0" indent="0" algn="just">
              <a:buNone/>
            </a:pPr>
            <a:endParaRPr lang="es-MX" dirty="0"/>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356B65-D6B3-09AC-24F1-487C58C8713A}"/>
              </a:ext>
            </a:extLst>
          </p:cNvPr>
          <p:cNvSpPr>
            <a:spLocks noGrp="1"/>
          </p:cNvSpPr>
          <p:nvPr>
            <p:ph type="title"/>
          </p:nvPr>
        </p:nvSpPr>
        <p:spPr/>
        <p:txBody>
          <a:bodyPr>
            <a:normAutofit/>
          </a:bodyPr>
          <a:lstStyle/>
          <a:p>
            <a:r>
              <a:rPr lang="es-MX" b="1" kern="0" dirty="0">
                <a:solidFill>
                  <a:schemeClr val="accent1"/>
                </a:solidFill>
                <a:ea typeface="+mn-ea"/>
                <a:cs typeface="Arial" panose="020B0604020202020204" pitchFamily="34" charset="0"/>
              </a:rPr>
              <a:t>Objetivo</a:t>
            </a:r>
          </a:p>
        </p:txBody>
      </p:sp>
      <p:sp>
        <p:nvSpPr>
          <p:cNvPr id="3" name="CuadroTexto 2">
            <a:extLst>
              <a:ext uri="{FF2B5EF4-FFF2-40B4-BE49-F238E27FC236}">
                <a16:creationId xmlns:a16="http://schemas.microsoft.com/office/drawing/2014/main" id="{3FA9FFEB-3993-4A4E-BA47-10ED6A9FDF6F}"/>
              </a:ext>
            </a:extLst>
          </p:cNvPr>
          <p:cNvSpPr txBox="1"/>
          <p:nvPr/>
        </p:nvSpPr>
        <p:spPr>
          <a:xfrm>
            <a:off x="1181100" y="1781175"/>
            <a:ext cx="10515600" cy="4191000"/>
          </a:xfrm>
          <a:prstGeom prst="rect">
            <a:avLst/>
          </a:prstGeom>
          <a:noFill/>
        </p:spPr>
        <p:txBody>
          <a:bodyPr vertOverflow="overflow" vert="horz" wrap="square" rtlCol="0" anchor="t" anchorCtr="0">
            <a:noAutofit/>
          </a:bodyPr>
          <a:lstStyle/>
          <a:p>
            <a:pPr algn="just"/>
            <a:r>
              <a:rPr lang="es-MX" sz="2800" dirty="0"/>
              <a:t>El objetivo es aplicar herramientas de planificación para organizar el alcance, las actividades, los recursos, los costos y los tiempos de tres proyectos académicos de simulación mediante cronogramas, estructuras de desglose del trabajo (WBS) y diagramas de Gantt. Para lograrlo, se definieron los entregables de cada proyecto, se ordenaron las actividades considerando sus fechas, duraciones y dependencias, se identificaron los recursos necesarios y se estimaron los costos directos de ejecución.</a:t>
            </a:r>
          </a:p>
        </p:txBody>
      </p:sp>
    </p:spTree>
    <p:extLst>
      <p:ext uri="{BB962C8B-B14F-4D97-AF65-F5344CB8AC3E}">
        <p14:creationId xmlns:p14="http://schemas.microsoft.com/office/powerpoint/2010/main" val="872364332"/>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9709BD-43C8-E083-574C-CD048A14B1AB}"/>
              </a:ext>
            </a:extLst>
          </p:cNvPr>
          <p:cNvSpPr>
            <a:spLocks noGrp="1"/>
          </p:cNvSpPr>
          <p:nvPr>
            <p:ph type="title"/>
          </p:nvPr>
        </p:nvSpPr>
        <p:spPr/>
        <p:txBody>
          <a:bodyPr vert="horz" lIns="91440" tIns="45720" rIns="91440" bIns="45720" rtlCol="0" anchor="ctr">
            <a:normAutofit/>
          </a:bodyPr>
          <a:lstStyle/>
          <a:p>
            <a:r>
              <a:rPr lang="es-MX" b="1" kern="0" dirty="0">
                <a:solidFill>
                  <a:schemeClr val="accent1"/>
                </a:solidFill>
                <a:ea typeface="+mn-ea"/>
                <a:cs typeface="Arial" panose="020B0604020202020204" pitchFamily="34" charset="0"/>
              </a:rPr>
              <a:t>Justificación</a:t>
            </a:r>
          </a:p>
        </p:txBody>
      </p:sp>
      <p:sp>
        <p:nvSpPr>
          <p:cNvPr id="3" name="CuadroTexto 2">
            <a:extLst>
              <a:ext uri="{FF2B5EF4-FFF2-40B4-BE49-F238E27FC236}">
                <a16:creationId xmlns:a16="http://schemas.microsoft.com/office/drawing/2014/main" id="{0070AEA3-E762-4E94-80BA-2A1F43151F0F}"/>
              </a:ext>
            </a:extLst>
          </p:cNvPr>
          <p:cNvSpPr txBox="1"/>
          <p:nvPr/>
        </p:nvSpPr>
        <p:spPr>
          <a:xfrm>
            <a:off x="838200" y="1905000"/>
            <a:ext cx="10515600" cy="41910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s-MX"/>
            </a:defPPr>
            <a:lvl1pPr algn="just">
              <a:defRPr sz="2800"/>
            </a:lvl1pPr>
          </a:lstStyle>
          <a:p>
            <a:r>
              <a:rPr lang="es-MX"/>
              <a:t>Los tres proyectos presentan procesos, herramientas y fechas distintas. Sin una planificación común sería difícil conocer qué actividad debe realizarse primero, qué evidencia demuestra su cumplimiento y qué retrasos pueden afectar la entrega final.
La WBS facilita dividir cada proyecto en componentes manejables, mientras que el Gantt muestra cuándo debe ejecutarse cada actividad. El cronograma, los recursos y los costos permiten evaluar si el plan es viable antes de continuar con la ejecución.</a:t>
            </a:r>
          </a:p>
        </p:txBody>
      </p:sp>
    </p:spTree>
    <p:extLst>
      <p:ext uri="{BB962C8B-B14F-4D97-AF65-F5344CB8AC3E}">
        <p14:creationId xmlns:p14="http://schemas.microsoft.com/office/powerpoint/2010/main" val="1097269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3189A3-FD75-DF35-B597-3665CC2994DB}"/>
              </a:ext>
            </a:extLst>
          </p:cNvPr>
          <p:cNvSpPr>
            <a:spLocks noGrp="1"/>
          </p:cNvSpPr>
          <p:nvPr>
            <p:ph type="title"/>
          </p:nvPr>
        </p:nvSpPr>
        <p:spPr/>
        <p:txBody>
          <a:bodyPr>
            <a:normAutofit/>
          </a:bodyPr>
          <a:lstStyle/>
          <a:p>
            <a:r>
              <a:rPr lang="es-MX" sz="4000" b="1">
                <a:solidFill>
                  <a:srgbClr val="4472C4"/>
                </a:solidFill>
              </a:rPr>
              <a:t>Alcance de la práctica</a:t>
            </a:r>
          </a:p>
        </p:txBody>
      </p:sp>
      <p:sp>
        <p:nvSpPr>
          <p:cNvPr id="3" name="CuadroTexto 2">
            <a:extLst>
              <a:ext uri="{FF2B5EF4-FFF2-40B4-BE49-F238E27FC236}">
                <a16:creationId xmlns:a16="http://schemas.microsoft.com/office/drawing/2014/main" id="{C293F4AA-8F1B-48D3-977A-A775FD4DC8FA}"/>
              </a:ext>
            </a:extLst>
          </p:cNvPr>
          <p:cNvSpPr txBox="1"/>
          <p:nvPr/>
        </p:nvSpPr>
        <p:spPr>
          <a:xfrm>
            <a:off x="838200" y="1609725"/>
            <a:ext cx="10515600" cy="41910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s-MX"/>
            </a:defPPr>
            <a:lvl1pPr algn="just">
              <a:defRPr sz="2800"/>
            </a:lvl1pPr>
          </a:lstStyle>
          <a:p>
            <a:r>
              <a:rPr lang="es-MX" sz="2400" dirty="0"/>
              <a:t>La práctica comprende la planificación y el seguimiento de los proyectos de Brandon, Josefina y Roberto.
El alcance incluye:</a:t>
            </a:r>
          </a:p>
          <a:p>
            <a:r>
              <a:rPr lang="es-MX" sz="2400" dirty="0"/>
              <a:t> Objetivos y alcance de cada proyecto.
 Cronogramas, recursos y costos estimados.
 WBS y diagramas de Gantt de los tres proyectos.
 Evidencias de seguimiento disponibles hasta el 15 de septiembre de 2026.
</a:t>
            </a:r>
          </a:p>
        </p:txBody>
      </p:sp>
    </p:spTree>
    <p:extLst>
      <p:ext uri="{BB962C8B-B14F-4D97-AF65-F5344CB8AC3E}">
        <p14:creationId xmlns:p14="http://schemas.microsoft.com/office/powerpoint/2010/main" val="1845082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55A7FB-999C-12BA-7113-DC7ABCB9BE89}"/>
              </a:ext>
            </a:extLst>
          </p:cNvPr>
          <p:cNvSpPr>
            <a:spLocks noGrp="1"/>
          </p:cNvSpPr>
          <p:nvPr>
            <p:ph type="title"/>
          </p:nvPr>
        </p:nvSpPr>
        <p:spPr/>
        <p:txBody>
          <a:bodyPr>
            <a:normAutofit/>
          </a:bodyPr>
          <a:lstStyle/>
          <a:p>
            <a:r>
              <a:rPr lang="es-MX" sz="4000" b="1" dirty="0">
                <a:solidFill>
                  <a:srgbClr val="4472C4"/>
                </a:solidFill>
              </a:rPr>
              <a:t>Descripción de los proyectos</a:t>
            </a:r>
          </a:p>
        </p:txBody>
      </p:sp>
      <p:graphicFrame>
        <p:nvGraphicFramePr>
          <p:cNvPr id="4" name="Tabla 3">
            <a:extLst>
              <a:ext uri="{FF2B5EF4-FFF2-40B4-BE49-F238E27FC236}">
                <a16:creationId xmlns:a16="http://schemas.microsoft.com/office/drawing/2014/main" id="{E7AA91F3-B16D-48F3-8071-1F513AAB1933}"/>
              </a:ext>
            </a:extLst>
          </p:cNvPr>
          <p:cNvGraphicFramePr>
            <a:graphicFrameLocks noGrp="1"/>
          </p:cNvGraphicFramePr>
          <p:nvPr>
            <p:extLst>
              <p:ext uri="{D42A27DB-BD31-4B8C-83A1-F6EECF244321}">
                <p14:modId xmlns:p14="http://schemas.microsoft.com/office/powerpoint/2010/main" val="3332070855"/>
              </p:ext>
            </p:extLst>
          </p:nvPr>
        </p:nvGraphicFramePr>
        <p:xfrm>
          <a:off x="838200" y="1690688"/>
          <a:ext cx="10515600" cy="3159760"/>
        </p:xfrm>
        <a:graphic>
          <a:graphicData uri="http://schemas.openxmlformats.org/drawingml/2006/table">
            <a:tbl>
              <a:tblPr firstRow="1" bandRow="1">
                <a:tableStyleId>{69012ECD-51FC-41F1-AA8D-1B2483CD663E}</a:tableStyleId>
              </a:tblPr>
              <a:tblGrid>
                <a:gridCol w="3403600">
                  <a:extLst>
                    <a:ext uri="{9D8B030D-6E8A-4147-A177-3AD203B41FA5}">
                      <a16:colId xmlns:a16="http://schemas.microsoft.com/office/drawing/2014/main" val="3168030891"/>
                    </a:ext>
                  </a:extLst>
                </a:gridCol>
                <a:gridCol w="2540000">
                  <a:extLst>
                    <a:ext uri="{9D8B030D-6E8A-4147-A177-3AD203B41FA5}">
                      <a16:colId xmlns:a16="http://schemas.microsoft.com/office/drawing/2014/main" val="4286596875"/>
                    </a:ext>
                  </a:extLst>
                </a:gridCol>
                <a:gridCol w="2540000">
                  <a:extLst>
                    <a:ext uri="{9D8B030D-6E8A-4147-A177-3AD203B41FA5}">
                      <a16:colId xmlns:a16="http://schemas.microsoft.com/office/drawing/2014/main" val="88502444"/>
                    </a:ext>
                  </a:extLst>
                </a:gridCol>
                <a:gridCol w="2032000">
                  <a:extLst>
                    <a:ext uri="{9D8B030D-6E8A-4147-A177-3AD203B41FA5}">
                      <a16:colId xmlns:a16="http://schemas.microsoft.com/office/drawing/2014/main" val="1108151708"/>
                    </a:ext>
                  </a:extLst>
                </a:gridCol>
              </a:tblGrid>
              <a:tr h="635000">
                <a:tc>
                  <a:txBody>
                    <a:bodyPr/>
                    <a:lstStyle/>
                    <a:p>
                      <a:r>
                        <a:rPr lang="es-MX" sz="1400" b="1">
                          <a:solidFill>
                            <a:srgbClr val="1F3864"/>
                          </a:solidFill>
                        </a:rPr>
                        <a:t>Proyecto</a:t>
                      </a:r>
                    </a:p>
                  </a:txBody>
                  <a:tcPr anchor="ctr"/>
                </a:tc>
                <a:tc>
                  <a:txBody>
                    <a:bodyPr/>
                    <a:lstStyle/>
                    <a:p>
                      <a:r>
                        <a:rPr lang="es-MX" sz="1400" b="0" dirty="0">
                          <a:solidFill>
                            <a:srgbClr val="1F3864"/>
                          </a:solidFill>
                        </a:rPr>
                        <a:t>Responsable</a:t>
                      </a:r>
                    </a:p>
                  </a:txBody>
                  <a:tcPr anchor="ctr"/>
                </a:tc>
                <a:tc>
                  <a:txBody>
                    <a:bodyPr/>
                    <a:lstStyle/>
                    <a:p>
                      <a:r>
                        <a:rPr lang="es-MX" sz="1400" b="1">
                          <a:solidFill>
                            <a:srgbClr val="1F3864"/>
                          </a:solidFill>
                        </a:rPr>
                        <a:t>Periodo</a:t>
                      </a:r>
                    </a:p>
                  </a:txBody>
                  <a:tcPr anchor="ctr"/>
                </a:tc>
                <a:tc>
                  <a:txBody>
                    <a:bodyPr/>
                    <a:lstStyle/>
                    <a:p>
                      <a:r>
                        <a:rPr lang="es-MX" sz="1400" b="1">
                          <a:solidFill>
                            <a:srgbClr val="1F3864"/>
                          </a:solidFill>
                        </a:rPr>
                        <a:t>Situación actual</a:t>
                      </a:r>
                    </a:p>
                  </a:txBody>
                  <a:tcPr anchor="ctr"/>
                </a:tc>
                <a:extLst>
                  <a:ext uri="{0D108BD9-81ED-4DB2-BD59-A6C34878D82A}">
                    <a16:rowId xmlns:a16="http://schemas.microsoft.com/office/drawing/2014/main" val="1166997269"/>
                  </a:ext>
                </a:extLst>
              </a:tr>
              <a:tr h="635000">
                <a:tc>
                  <a:txBody>
                    <a:bodyPr/>
                    <a:lstStyle/>
                    <a:p>
                      <a:pPr algn="l"/>
                      <a:r>
                        <a:rPr lang="es-MX" sz="1500">
                          <a:solidFill>
                            <a:srgbClr val="262626"/>
                          </a:solidFill>
                        </a:rPr>
                        <a:t>Simulación y optimización de un taller mecánico</a:t>
                      </a:r>
                    </a:p>
                  </a:txBody>
                  <a:tcPr anchor="ctr"/>
                </a:tc>
                <a:tc>
                  <a:txBody>
                    <a:bodyPr/>
                    <a:lstStyle/>
                    <a:p>
                      <a:pPr algn="l"/>
                      <a:r>
                        <a:rPr lang="es-MX" sz="1500">
                          <a:solidFill>
                            <a:srgbClr val="262626"/>
                          </a:solidFill>
                        </a:rPr>
                        <a:t>Brandon Farith López Nanga</a:t>
                      </a:r>
                    </a:p>
                  </a:txBody>
                  <a:tcPr anchor="ctr"/>
                </a:tc>
                <a:tc>
                  <a:txBody>
                    <a:bodyPr/>
                    <a:lstStyle/>
                    <a:p>
                      <a:pPr algn="ctr"/>
                      <a:r>
                        <a:rPr lang="es-MX" sz="1500" dirty="0">
                          <a:solidFill>
                            <a:srgbClr val="262626"/>
                          </a:solidFill>
                        </a:rPr>
                        <a:t>17/08/2026 al 11/10/2026</a:t>
                      </a:r>
                    </a:p>
                  </a:txBody>
                  <a:tcPr anchor="ctr"/>
                </a:tc>
                <a:tc>
                  <a:txBody>
                    <a:bodyPr/>
                    <a:lstStyle/>
                    <a:p>
                      <a:pPr algn="l"/>
                      <a:r>
                        <a:rPr lang="es-MX" sz="1500" dirty="0">
                          <a:solidFill>
                            <a:srgbClr val="262626"/>
                          </a:solidFill>
                        </a:rPr>
                        <a:t>Simulación en Python en curso</a:t>
                      </a:r>
                    </a:p>
                  </a:txBody>
                  <a:tcPr anchor="ctr"/>
                </a:tc>
                <a:extLst>
                  <a:ext uri="{0D108BD9-81ED-4DB2-BD59-A6C34878D82A}">
                    <a16:rowId xmlns:a16="http://schemas.microsoft.com/office/drawing/2014/main" val="625920069"/>
                  </a:ext>
                </a:extLst>
              </a:tr>
              <a:tr h="635000">
                <a:tc>
                  <a:txBody>
                    <a:bodyPr/>
                    <a:lstStyle/>
                    <a:p>
                      <a:pPr algn="l"/>
                      <a:r>
                        <a:rPr lang="es-MX" sz="1500">
                          <a:solidFill>
                            <a:srgbClr val="262626"/>
                          </a:solidFill>
                        </a:rPr>
                        <a:t>Simulación de una planta embotelladora de agua</a:t>
                      </a:r>
                    </a:p>
                  </a:txBody>
                  <a:tcPr anchor="ctr"/>
                </a:tc>
                <a:tc>
                  <a:txBody>
                    <a:bodyPr/>
                    <a:lstStyle/>
                    <a:p>
                      <a:pPr algn="l"/>
                      <a:r>
                        <a:rPr lang="es-MX" sz="1500">
                          <a:solidFill>
                            <a:srgbClr val="262626"/>
                          </a:solidFill>
                        </a:rPr>
                        <a:t>Josefina Nieto Hernández</a:t>
                      </a:r>
                    </a:p>
                  </a:txBody>
                  <a:tcPr anchor="ctr"/>
                </a:tc>
                <a:tc>
                  <a:txBody>
                    <a:bodyPr/>
                    <a:lstStyle/>
                    <a:p>
                      <a:pPr algn="ctr"/>
                      <a:r>
                        <a:rPr lang="es-MX" sz="1500" dirty="0">
                          <a:solidFill>
                            <a:srgbClr val="262626"/>
                          </a:solidFill>
                        </a:rPr>
                        <a:t>17/08/2026 al 11/10/2026</a:t>
                      </a:r>
                    </a:p>
                  </a:txBody>
                  <a:tcPr anchor="ctr"/>
                </a:tc>
                <a:tc>
                  <a:txBody>
                    <a:bodyPr/>
                    <a:lstStyle/>
                    <a:p>
                      <a:pPr algn="l"/>
                      <a:r>
                        <a:rPr lang="es-MX" sz="1600" dirty="0"/>
                        <a:t>Diagrama aprobado; modelo funcional y pruebas en curso</a:t>
                      </a:r>
                      <a:endParaRPr lang="es-MX" sz="1500" dirty="0">
                        <a:solidFill>
                          <a:srgbClr val="262626"/>
                        </a:solidFill>
                      </a:endParaRPr>
                    </a:p>
                  </a:txBody>
                  <a:tcPr anchor="ctr"/>
                </a:tc>
                <a:extLst>
                  <a:ext uri="{0D108BD9-81ED-4DB2-BD59-A6C34878D82A}">
                    <a16:rowId xmlns:a16="http://schemas.microsoft.com/office/drawing/2014/main" val="2626732802"/>
                  </a:ext>
                </a:extLst>
              </a:tr>
              <a:tr h="635000">
                <a:tc>
                  <a:txBody>
                    <a:bodyPr/>
                    <a:lstStyle/>
                    <a:p>
                      <a:pPr algn="l"/>
                      <a:r>
                        <a:rPr lang="es-MX" sz="1500">
                          <a:solidFill>
                            <a:srgbClr val="262626"/>
                          </a:solidFill>
                        </a:rPr>
                        <a:t>Simulación de un taller de electrónica</a:t>
                      </a:r>
                    </a:p>
                  </a:txBody>
                  <a:tcPr anchor="ctr"/>
                </a:tc>
                <a:tc>
                  <a:txBody>
                    <a:bodyPr/>
                    <a:lstStyle/>
                    <a:p>
                      <a:pPr algn="l"/>
                      <a:r>
                        <a:rPr lang="es-MX" sz="1500" dirty="0">
                          <a:solidFill>
                            <a:srgbClr val="262626"/>
                          </a:solidFill>
                        </a:rPr>
                        <a:t>Roberto Carlos </a:t>
                      </a:r>
                      <a:r>
                        <a:rPr lang="es-MX" sz="1500" dirty="0" err="1">
                          <a:solidFill>
                            <a:srgbClr val="262626"/>
                          </a:solidFill>
                        </a:rPr>
                        <a:t>Cahuare</a:t>
                      </a:r>
                      <a:r>
                        <a:rPr lang="es-MX" sz="1500" dirty="0">
                          <a:solidFill>
                            <a:srgbClr val="262626"/>
                          </a:solidFill>
                        </a:rPr>
                        <a:t> Moreno</a:t>
                      </a:r>
                    </a:p>
                  </a:txBody>
                  <a:tcPr anchor="ctr"/>
                </a:tc>
                <a:tc>
                  <a:txBody>
                    <a:bodyPr/>
                    <a:lstStyle/>
                    <a:p>
                      <a:pPr algn="ctr"/>
                      <a:r>
                        <a:rPr lang="es-MX" sz="1500">
                          <a:solidFill>
                            <a:srgbClr val="262626"/>
                          </a:solidFill>
                        </a:rPr>
                        <a:t>17/08/2026 al 11/10/2026</a:t>
                      </a:r>
                    </a:p>
                  </a:txBody>
                  <a:tcPr anchor="ctr"/>
                </a:tc>
                <a:tc>
                  <a:txBody>
                    <a:bodyPr/>
                    <a:lstStyle/>
                    <a:p>
                      <a:pPr algn="l"/>
                      <a:r>
                        <a:rPr lang="es-MX" sz="1600" dirty="0"/>
                        <a:t>Diagrama aprobado; modelo funcional y pruebas piloto en curso.</a:t>
                      </a:r>
                      <a:endParaRPr lang="es-MX" sz="1500" dirty="0">
                        <a:solidFill>
                          <a:srgbClr val="262626"/>
                        </a:solidFill>
                      </a:endParaRPr>
                    </a:p>
                  </a:txBody>
                  <a:tcPr anchor="ctr"/>
                </a:tc>
                <a:extLst>
                  <a:ext uri="{0D108BD9-81ED-4DB2-BD59-A6C34878D82A}">
                    <a16:rowId xmlns:a16="http://schemas.microsoft.com/office/drawing/2014/main" val="1340260219"/>
                  </a:ext>
                </a:extLst>
              </a:tr>
            </a:tbl>
          </a:graphicData>
        </a:graphic>
      </p:graphicFrame>
      <p:sp>
        <p:nvSpPr>
          <p:cNvPr id="5" name="CuadroTexto 4">
            <a:extLst>
              <a:ext uri="{FF2B5EF4-FFF2-40B4-BE49-F238E27FC236}">
                <a16:creationId xmlns:a16="http://schemas.microsoft.com/office/drawing/2014/main" id="{FDA5ECB1-3C6C-420A-82E5-BC5976C826DA}"/>
              </a:ext>
            </a:extLst>
          </p:cNvPr>
          <p:cNvSpPr txBox="1"/>
          <p:nvPr/>
        </p:nvSpPr>
        <p:spPr>
          <a:xfrm>
            <a:off x="957469" y="5284375"/>
            <a:ext cx="10515600" cy="635000"/>
          </a:xfrm>
          <a:prstGeom prst="rect">
            <a:avLst/>
          </a:prstGeom>
          <a:noFill/>
        </p:spPr>
        <p:txBody>
          <a:bodyPr vertOverflow="overflow" vert="horz" wrap="square" rtlCol="0" anchor="t" anchorCtr="0">
            <a:noAutofit/>
          </a:bodyPr>
          <a:lstStyle/>
          <a:p>
            <a:pPr algn="l"/>
            <a:r>
              <a:rPr lang="es-MX" sz="2400" dirty="0"/>
              <a:t>Los tres proyectos comparten el objetivo de simular un proceso con recursos limitados y colas, y comparar escenarios de desempeño.</a:t>
            </a:r>
          </a:p>
        </p:txBody>
      </p:sp>
    </p:spTree>
    <p:extLst>
      <p:ext uri="{BB962C8B-B14F-4D97-AF65-F5344CB8AC3E}">
        <p14:creationId xmlns:p14="http://schemas.microsoft.com/office/powerpoint/2010/main" val="538522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F8C016-DC10-4FBA-52BF-9D35D312544C}"/>
              </a:ext>
            </a:extLst>
          </p:cNvPr>
          <p:cNvSpPr>
            <a:spLocks noGrp="1"/>
          </p:cNvSpPr>
          <p:nvPr>
            <p:ph type="title"/>
          </p:nvPr>
        </p:nvSpPr>
        <p:spPr/>
        <p:txBody>
          <a:bodyPr>
            <a:normAutofit/>
          </a:bodyPr>
          <a:lstStyle/>
          <a:p>
            <a:r>
              <a:rPr lang="es-MX" sz="4000" b="1">
                <a:solidFill>
                  <a:srgbClr val="4472C4"/>
                </a:solidFill>
              </a:rPr>
              <a:t>Proyecto de Brandon</a:t>
            </a:r>
          </a:p>
        </p:txBody>
      </p:sp>
      <p:sp>
        <p:nvSpPr>
          <p:cNvPr id="3" name="CuadroTexto 2">
            <a:extLst>
              <a:ext uri="{FF2B5EF4-FFF2-40B4-BE49-F238E27FC236}">
                <a16:creationId xmlns:a16="http://schemas.microsoft.com/office/drawing/2014/main" id="{05A4876D-928A-43D0-BF79-BEAC991EB346}"/>
              </a:ext>
            </a:extLst>
          </p:cNvPr>
          <p:cNvSpPr txBox="1"/>
          <p:nvPr/>
        </p:nvSpPr>
        <p:spPr>
          <a:xfrm>
            <a:off x="732182" y="1398656"/>
            <a:ext cx="4886739" cy="5094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s-MX"/>
            </a:defPPr>
            <a:lvl1pPr algn="just">
              <a:defRPr sz="2400"/>
            </a:lvl1pPr>
          </a:lstStyle>
          <a:p>
            <a:r>
              <a:rPr lang="es-MX" dirty="0"/>
              <a:t>Simulación y optimización de un taller mecánico.
El proyecto consiste en simular y optimizar el proceso de atención de un taller mecánico. Incluye la recepción del cliente, el registro del vehículo, la asignación de mecánicos, la realización del servicio, la supervisión del trabajo y la entrega del vehículo. El modelo permitirá analizar tiempos de espera, utilización de recursos y dos escenarios de funcionamiento.
</a:t>
            </a:r>
          </a:p>
        </p:txBody>
      </p:sp>
      <p:pic>
        <p:nvPicPr>
          <p:cNvPr id="7" name="Imagen 6">
            <a:extLst>
              <a:ext uri="{FF2B5EF4-FFF2-40B4-BE49-F238E27FC236}">
                <a16:creationId xmlns:a16="http://schemas.microsoft.com/office/drawing/2014/main" id="{C57D6EEF-1B68-F23C-BA9D-8F2620396A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5629" y="1857375"/>
            <a:ext cx="6142520" cy="2384425"/>
          </a:xfrm>
          <a:prstGeom prst="rect">
            <a:avLst/>
          </a:prstGeom>
        </p:spPr>
      </p:pic>
    </p:spTree>
    <p:extLst>
      <p:ext uri="{BB962C8B-B14F-4D97-AF65-F5344CB8AC3E}">
        <p14:creationId xmlns:p14="http://schemas.microsoft.com/office/powerpoint/2010/main" val="2302113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9EF688-5503-672E-9B95-D07D964AB277}"/>
              </a:ext>
            </a:extLst>
          </p:cNvPr>
          <p:cNvSpPr>
            <a:spLocks noGrp="1"/>
          </p:cNvSpPr>
          <p:nvPr>
            <p:ph type="title"/>
          </p:nvPr>
        </p:nvSpPr>
        <p:spPr/>
        <p:txBody>
          <a:bodyPr>
            <a:normAutofit/>
          </a:bodyPr>
          <a:lstStyle/>
          <a:p>
            <a:r>
              <a:rPr lang="es-MX" sz="4000" b="1" dirty="0">
                <a:solidFill>
                  <a:srgbClr val="4472C4"/>
                </a:solidFill>
              </a:rPr>
              <a:t>Proyecto de Josefina</a:t>
            </a:r>
          </a:p>
        </p:txBody>
      </p:sp>
      <p:sp>
        <p:nvSpPr>
          <p:cNvPr id="3" name="CuadroTexto 2">
            <a:extLst>
              <a:ext uri="{FF2B5EF4-FFF2-40B4-BE49-F238E27FC236}">
                <a16:creationId xmlns:a16="http://schemas.microsoft.com/office/drawing/2014/main" id="{EE2CA7A9-4EEA-43EA-9766-5F87A9F75C7C}"/>
              </a:ext>
            </a:extLst>
          </p:cNvPr>
          <p:cNvSpPr txBox="1"/>
          <p:nvPr/>
        </p:nvSpPr>
        <p:spPr>
          <a:xfrm>
            <a:off x="838200" y="1968500"/>
            <a:ext cx="5536096" cy="40214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s-MX"/>
            </a:defPPr>
            <a:lvl1pPr algn="just">
              <a:defRPr sz="2400"/>
            </a:lvl1pPr>
          </a:lstStyle>
          <a:p>
            <a:r>
              <a:rPr lang="es-MX" dirty="0"/>
              <a:t>Simulación de una planta embotelladora de agua.
El proyecto consiste en simular el procesamiento de un lote de 40 garrafones en una planta embotelladora. Incluye lavado simple y profundo, llenado, colocación de tapas y sellos, traslado y almacenamiento. Se compararán el escenario actual y un segundo escenario con el apoyo del Empleado 5.
</a:t>
            </a:r>
          </a:p>
        </p:txBody>
      </p:sp>
      <p:pic>
        <p:nvPicPr>
          <p:cNvPr id="7" name="Imagen 6">
            <a:extLst>
              <a:ext uri="{FF2B5EF4-FFF2-40B4-BE49-F238E27FC236}">
                <a16:creationId xmlns:a16="http://schemas.microsoft.com/office/drawing/2014/main" id="{B67A91BE-4675-8C2E-CA67-C69561EBB9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5802" y="179588"/>
            <a:ext cx="3969822" cy="5935462"/>
          </a:xfrm>
          <a:prstGeom prst="rect">
            <a:avLst/>
          </a:prstGeom>
        </p:spPr>
      </p:pic>
    </p:spTree>
    <p:extLst>
      <p:ext uri="{BB962C8B-B14F-4D97-AF65-F5344CB8AC3E}">
        <p14:creationId xmlns:p14="http://schemas.microsoft.com/office/powerpoint/2010/main" val="4232571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5D666F-9269-89B9-DC4B-6FEBEE9C23C4}"/>
              </a:ext>
            </a:extLst>
          </p:cNvPr>
          <p:cNvSpPr>
            <a:spLocks noGrp="1"/>
          </p:cNvSpPr>
          <p:nvPr>
            <p:ph type="title"/>
          </p:nvPr>
        </p:nvSpPr>
        <p:spPr/>
        <p:txBody>
          <a:bodyPr>
            <a:normAutofit/>
          </a:bodyPr>
          <a:lstStyle/>
          <a:p>
            <a:r>
              <a:rPr lang="es-MX" sz="4000" b="1">
                <a:solidFill>
                  <a:srgbClr val="4472C4"/>
                </a:solidFill>
              </a:rPr>
              <a:t>Proyecto de Roberto</a:t>
            </a:r>
          </a:p>
        </p:txBody>
      </p:sp>
      <p:sp>
        <p:nvSpPr>
          <p:cNvPr id="3" name="CuadroTexto 2">
            <a:extLst>
              <a:ext uri="{FF2B5EF4-FFF2-40B4-BE49-F238E27FC236}">
                <a16:creationId xmlns:a16="http://schemas.microsoft.com/office/drawing/2014/main" id="{A4D39E0C-09F2-494B-8A8B-83B662851D73}"/>
              </a:ext>
            </a:extLst>
          </p:cNvPr>
          <p:cNvSpPr txBox="1"/>
          <p:nvPr/>
        </p:nvSpPr>
        <p:spPr>
          <a:xfrm>
            <a:off x="944217" y="1680420"/>
            <a:ext cx="4754218" cy="31464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s-MX"/>
            </a:defPPr>
            <a:lvl1pPr algn="just">
              <a:defRPr sz="2400"/>
            </a:lvl1pPr>
          </a:lstStyle>
          <a:p>
            <a:r>
              <a:rPr lang="es-MX" dirty="0"/>
              <a:t>Simulación de un taller de electrónica.
El proyecto consiste en simular el proceso de un taller de reparación de equipos electrónicos. Comprende recepción, diagnóstico, reparación, pruebas de calidad, retrabajo, entrega y facturación. Se realizarán pruebas piloto y se comparará el proceso actual con un escenario mejorado.
</a:t>
            </a:r>
          </a:p>
        </p:txBody>
      </p:sp>
      <p:pic>
        <p:nvPicPr>
          <p:cNvPr id="7" name="Imagen 6">
            <a:extLst>
              <a:ext uri="{FF2B5EF4-FFF2-40B4-BE49-F238E27FC236}">
                <a16:creationId xmlns:a16="http://schemas.microsoft.com/office/drawing/2014/main" id="{72162BCA-E9BF-C360-359D-193669102B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3006" y="2517913"/>
            <a:ext cx="6080868" cy="2308932"/>
          </a:xfrm>
          <a:prstGeom prst="rect">
            <a:avLst/>
          </a:prstGeom>
        </p:spPr>
      </p:pic>
    </p:spTree>
    <p:extLst>
      <p:ext uri="{BB962C8B-B14F-4D97-AF65-F5344CB8AC3E}">
        <p14:creationId xmlns:p14="http://schemas.microsoft.com/office/powerpoint/2010/main" val="3188159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454C71-DC4C-E4F8-A47C-4F26EBABB0B0}"/>
              </a:ext>
            </a:extLst>
          </p:cNvPr>
          <p:cNvSpPr>
            <a:spLocks noGrp="1"/>
          </p:cNvSpPr>
          <p:nvPr>
            <p:ph type="title"/>
          </p:nvPr>
        </p:nvSpPr>
        <p:spPr/>
        <p:txBody>
          <a:bodyPr>
            <a:normAutofit/>
          </a:bodyPr>
          <a:lstStyle/>
          <a:p>
            <a:r>
              <a:rPr lang="es-MX" sz="4000" b="1">
                <a:solidFill>
                  <a:srgbClr val="4472C4"/>
                </a:solidFill>
              </a:rPr>
              <a:t>Cronograma de actividades</a:t>
            </a:r>
          </a:p>
        </p:txBody>
      </p:sp>
      <p:sp>
        <p:nvSpPr>
          <p:cNvPr id="3" name="CuadroTexto 2">
            <a:extLst>
              <a:ext uri="{FF2B5EF4-FFF2-40B4-BE49-F238E27FC236}">
                <a16:creationId xmlns:a16="http://schemas.microsoft.com/office/drawing/2014/main" id="{9C9262A3-D605-4FBB-A0CA-86E15C0D5E85}"/>
              </a:ext>
            </a:extLst>
          </p:cNvPr>
          <p:cNvSpPr txBox="1"/>
          <p:nvPr/>
        </p:nvSpPr>
        <p:spPr>
          <a:xfrm>
            <a:off x="838200" y="1905000"/>
            <a:ext cx="10515600" cy="41910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s-MX"/>
            </a:defPPr>
            <a:lvl1pPr algn="just">
              <a:defRPr sz="2400"/>
            </a:lvl1pPr>
          </a:lstStyle>
          <a:p>
            <a:r>
              <a:rPr lang="es-MX" dirty="0"/>
              <a:t>Los cronogramas se construyeron a partir de los planes aprobados. Cada fila define una actividad, su periodo y el entregable esperado.
La secuencia respeta las dependencias: primero se define el proceso, después se construye el modelo, se ejecutan pruebas y finalmente se documentan los resultados.
 Brandon: 17/08/2026 al 11/10/2026, ocho actividades semanales.
 Josefina: 17/08/2026 al 11/10/2026, ocho actividades semanales.
 Roberto: 17/08/2026 al 11/10/2026, siete actividades semanales.</a:t>
            </a:r>
          </a:p>
        </p:txBody>
      </p:sp>
    </p:spTree>
    <p:extLst>
      <p:ext uri="{BB962C8B-B14F-4D97-AF65-F5344CB8AC3E}">
        <p14:creationId xmlns:p14="http://schemas.microsoft.com/office/powerpoint/2010/main" val="3654310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04D4FE-E0A5-73EA-9D3E-7087E60209B9}"/>
              </a:ext>
            </a:extLst>
          </p:cNvPr>
          <p:cNvSpPr>
            <a:spLocks noGrp="1"/>
          </p:cNvSpPr>
          <p:nvPr>
            <p:ph type="title"/>
          </p:nvPr>
        </p:nvSpPr>
        <p:spPr/>
        <p:txBody>
          <a:bodyPr>
            <a:normAutofit/>
          </a:bodyPr>
          <a:lstStyle/>
          <a:p>
            <a:r>
              <a:rPr lang="es-MX" sz="4000" b="1" dirty="0">
                <a:solidFill>
                  <a:srgbClr val="4472C4"/>
                </a:solidFill>
              </a:rPr>
              <a:t>Cronograma de Brandon</a:t>
            </a:r>
          </a:p>
        </p:txBody>
      </p:sp>
      <p:graphicFrame>
        <p:nvGraphicFramePr>
          <p:cNvPr id="4" name="Tabla 3">
            <a:extLst>
              <a:ext uri="{FF2B5EF4-FFF2-40B4-BE49-F238E27FC236}">
                <a16:creationId xmlns:a16="http://schemas.microsoft.com/office/drawing/2014/main" id="{3111435D-C068-4C5A-A10C-8E874CDF5FDB}"/>
              </a:ext>
            </a:extLst>
          </p:cNvPr>
          <p:cNvGraphicFramePr>
            <a:graphicFrameLocks noGrp="1"/>
          </p:cNvGraphicFramePr>
          <p:nvPr>
            <p:extLst>
              <p:ext uri="{D42A27DB-BD31-4B8C-83A1-F6EECF244321}">
                <p14:modId xmlns:p14="http://schemas.microsoft.com/office/powerpoint/2010/main" val="3248945709"/>
              </p:ext>
            </p:extLst>
          </p:nvPr>
        </p:nvGraphicFramePr>
        <p:xfrm>
          <a:off x="838200" y="1879600"/>
          <a:ext cx="10515600" cy="4572000"/>
        </p:xfrm>
        <a:graphic>
          <a:graphicData uri="http://schemas.openxmlformats.org/drawingml/2006/table">
            <a:tbl>
              <a:tblPr firstRow="1" bandRow="1">
                <a:tableStyleId>{FABFCF23-3B69-468F-B69F-88F6DE6A72F2}</a:tableStyleId>
              </a:tblPr>
              <a:tblGrid>
                <a:gridCol w="4800600">
                  <a:extLst>
                    <a:ext uri="{9D8B030D-6E8A-4147-A177-3AD203B41FA5}">
                      <a16:colId xmlns:a16="http://schemas.microsoft.com/office/drawing/2014/main" val="82599505"/>
                    </a:ext>
                  </a:extLst>
                </a:gridCol>
                <a:gridCol w="2032000">
                  <a:extLst>
                    <a:ext uri="{9D8B030D-6E8A-4147-A177-3AD203B41FA5}">
                      <a16:colId xmlns:a16="http://schemas.microsoft.com/office/drawing/2014/main" val="570250426"/>
                    </a:ext>
                  </a:extLst>
                </a:gridCol>
                <a:gridCol w="2032000">
                  <a:extLst>
                    <a:ext uri="{9D8B030D-6E8A-4147-A177-3AD203B41FA5}">
                      <a16:colId xmlns:a16="http://schemas.microsoft.com/office/drawing/2014/main" val="938952417"/>
                    </a:ext>
                  </a:extLst>
                </a:gridCol>
                <a:gridCol w="1651000">
                  <a:extLst>
                    <a:ext uri="{9D8B030D-6E8A-4147-A177-3AD203B41FA5}">
                      <a16:colId xmlns:a16="http://schemas.microsoft.com/office/drawing/2014/main" val="340984463"/>
                    </a:ext>
                  </a:extLst>
                </a:gridCol>
              </a:tblGrid>
              <a:tr h="508000">
                <a:tc>
                  <a:txBody>
                    <a:bodyPr/>
                    <a:lstStyle/>
                    <a:p>
                      <a:r>
                        <a:rPr lang="es-MX" sz="1800" kern="1200" dirty="0">
                          <a:solidFill>
                            <a:schemeClr val="dk1"/>
                          </a:solidFill>
                          <a:latin typeface="+mn-lt"/>
                          <a:ea typeface="+mn-ea"/>
                          <a:cs typeface="+mn-cs"/>
                        </a:rPr>
                        <a:t>Actividad</a:t>
                      </a:r>
                    </a:p>
                  </a:txBody>
                  <a:tcPr anchor="ctr"/>
                </a:tc>
                <a:tc>
                  <a:txBody>
                    <a:bodyPr/>
                    <a:lstStyle/>
                    <a:p>
                      <a:pPr marL="0" algn="l" defTabSz="914400" rtl="0" eaLnBrk="1" latinLnBrk="0" hangingPunct="1"/>
                      <a:r>
                        <a:rPr lang="es-MX" sz="1800" b="1" kern="1200" dirty="0">
                          <a:solidFill>
                            <a:schemeClr val="dk1"/>
                          </a:solidFill>
                          <a:latin typeface="+mn-lt"/>
                          <a:ea typeface="+mn-ea"/>
                          <a:cs typeface="+mn-cs"/>
                        </a:rPr>
                        <a:t>Inicio</a:t>
                      </a:r>
                    </a:p>
                  </a:txBody>
                  <a:tcPr anchor="ctr"/>
                </a:tc>
                <a:tc>
                  <a:txBody>
                    <a:bodyPr/>
                    <a:lstStyle/>
                    <a:p>
                      <a:pPr marL="0" algn="l" defTabSz="914400" rtl="0" eaLnBrk="1" latinLnBrk="0" hangingPunct="1"/>
                      <a:r>
                        <a:rPr lang="es-MX" sz="1800" b="1" kern="1200" dirty="0">
                          <a:solidFill>
                            <a:schemeClr val="dk1"/>
                          </a:solidFill>
                          <a:latin typeface="+mn-lt"/>
                          <a:ea typeface="+mn-ea"/>
                          <a:cs typeface="+mn-cs"/>
                        </a:rPr>
                        <a:t>Fin</a:t>
                      </a:r>
                    </a:p>
                  </a:txBody>
                  <a:tcPr anchor="ctr"/>
                </a:tc>
                <a:tc>
                  <a:txBody>
                    <a:bodyPr/>
                    <a:lstStyle/>
                    <a:p>
                      <a:pPr marL="0" algn="l" defTabSz="914400" rtl="0" eaLnBrk="1" latinLnBrk="0" hangingPunct="1"/>
                      <a:r>
                        <a:rPr lang="es-MX" sz="1800" b="1" kern="1200" dirty="0">
                          <a:solidFill>
                            <a:schemeClr val="dk1"/>
                          </a:solidFill>
                          <a:latin typeface="+mn-lt"/>
                          <a:ea typeface="+mn-ea"/>
                          <a:cs typeface="+mn-cs"/>
                        </a:rPr>
                        <a:t>Días</a:t>
                      </a:r>
                    </a:p>
                  </a:txBody>
                  <a:tcPr anchor="ctr"/>
                </a:tc>
                <a:extLst>
                  <a:ext uri="{0D108BD9-81ED-4DB2-BD59-A6C34878D82A}">
                    <a16:rowId xmlns:a16="http://schemas.microsoft.com/office/drawing/2014/main" val="3097231761"/>
                  </a:ext>
                </a:extLst>
              </a:tr>
              <a:tr h="508000">
                <a:tc>
                  <a:txBody>
                    <a:bodyPr/>
                    <a:lstStyle/>
                    <a:p>
                      <a:pPr algn="l"/>
                      <a:r>
                        <a:rPr lang="es-MX" sz="1800" kern="1200" dirty="0">
                          <a:solidFill>
                            <a:schemeClr val="dk1"/>
                          </a:solidFill>
                          <a:latin typeface="+mn-lt"/>
                          <a:ea typeface="+mn-ea"/>
                          <a:cs typeface="+mn-cs"/>
                        </a:rPr>
                        <a:t>Modelo conceptual</a:t>
                      </a:r>
                    </a:p>
                  </a:txBody>
                  <a:tcPr anchor="ctr"/>
                </a:tc>
                <a:tc>
                  <a:txBody>
                    <a:bodyPr/>
                    <a:lstStyle/>
                    <a:p>
                      <a:pPr>
                        <a:buNone/>
                      </a:pPr>
                      <a:r>
                        <a:rPr lang="es-MX" dirty="0"/>
                        <a:t>17/08/2026</a:t>
                      </a:r>
                    </a:p>
                  </a:txBody>
                  <a:tcPr anchor="ctr"/>
                </a:tc>
                <a:tc>
                  <a:txBody>
                    <a:bodyPr/>
                    <a:lstStyle/>
                    <a:p>
                      <a:pPr>
                        <a:buNone/>
                      </a:pPr>
                      <a:r>
                        <a:rPr lang="es-MX" dirty="0"/>
                        <a:t>23/08/2026</a:t>
                      </a:r>
                    </a:p>
                  </a:txBody>
                  <a:tcPr anchor="ctr"/>
                </a:tc>
                <a:tc>
                  <a:txBody>
                    <a:bodyPr/>
                    <a:lstStyle/>
                    <a:p>
                      <a:pPr algn="ctr"/>
                      <a:r>
                        <a:rPr lang="es-MX" sz="1800" kern="1200" dirty="0">
                          <a:solidFill>
                            <a:schemeClr val="dk1"/>
                          </a:solidFill>
                          <a:latin typeface="+mn-lt"/>
                          <a:ea typeface="+mn-ea"/>
                          <a:cs typeface="+mn-cs"/>
                        </a:rPr>
                        <a:t>7</a:t>
                      </a:r>
                    </a:p>
                  </a:txBody>
                  <a:tcPr anchor="ctr"/>
                </a:tc>
                <a:extLst>
                  <a:ext uri="{0D108BD9-81ED-4DB2-BD59-A6C34878D82A}">
                    <a16:rowId xmlns:a16="http://schemas.microsoft.com/office/drawing/2014/main" val="4056170002"/>
                  </a:ext>
                </a:extLst>
              </a:tr>
              <a:tr h="508000">
                <a:tc>
                  <a:txBody>
                    <a:bodyPr/>
                    <a:lstStyle/>
                    <a:p>
                      <a:pPr algn="l"/>
                      <a:r>
                        <a:rPr lang="es-MX" sz="1800" kern="1200" dirty="0">
                          <a:solidFill>
                            <a:schemeClr val="dk1"/>
                          </a:solidFill>
                          <a:latin typeface="+mn-lt"/>
                          <a:ea typeface="+mn-ea"/>
                          <a:cs typeface="+mn-cs"/>
                        </a:rPr>
                        <a:t>Diseño Java</a:t>
                      </a:r>
                    </a:p>
                  </a:txBody>
                  <a:tcPr anchor="ctr"/>
                </a:tc>
                <a:tc>
                  <a:txBody>
                    <a:bodyPr/>
                    <a:lstStyle/>
                    <a:p>
                      <a:pPr>
                        <a:buNone/>
                      </a:pPr>
                      <a:r>
                        <a:rPr lang="es-MX" dirty="0"/>
                        <a:t>24/08/2026</a:t>
                      </a:r>
                    </a:p>
                  </a:txBody>
                  <a:tcPr anchor="ctr"/>
                </a:tc>
                <a:tc>
                  <a:txBody>
                    <a:bodyPr/>
                    <a:lstStyle/>
                    <a:p>
                      <a:pPr>
                        <a:buNone/>
                      </a:pPr>
                      <a:r>
                        <a:rPr lang="es-MX" dirty="0"/>
                        <a:t>30/08/2026</a:t>
                      </a:r>
                    </a:p>
                  </a:txBody>
                  <a:tcPr anchor="ctr"/>
                </a:tc>
                <a:tc>
                  <a:txBody>
                    <a:bodyPr/>
                    <a:lstStyle/>
                    <a:p>
                      <a:pPr algn="ctr"/>
                      <a:r>
                        <a:rPr lang="es-MX" sz="1800" kern="1200" dirty="0">
                          <a:solidFill>
                            <a:schemeClr val="dk1"/>
                          </a:solidFill>
                          <a:latin typeface="+mn-lt"/>
                          <a:ea typeface="+mn-ea"/>
                          <a:cs typeface="+mn-cs"/>
                        </a:rPr>
                        <a:t>7</a:t>
                      </a:r>
                    </a:p>
                  </a:txBody>
                  <a:tcPr anchor="ctr"/>
                </a:tc>
                <a:extLst>
                  <a:ext uri="{0D108BD9-81ED-4DB2-BD59-A6C34878D82A}">
                    <a16:rowId xmlns:a16="http://schemas.microsoft.com/office/drawing/2014/main" val="191551160"/>
                  </a:ext>
                </a:extLst>
              </a:tr>
              <a:tr h="508000">
                <a:tc>
                  <a:txBody>
                    <a:bodyPr/>
                    <a:lstStyle/>
                    <a:p>
                      <a:pPr algn="l"/>
                      <a:r>
                        <a:rPr lang="es-MX" sz="1800" kern="1200" dirty="0">
                          <a:solidFill>
                            <a:schemeClr val="dk1"/>
                          </a:solidFill>
                          <a:latin typeface="+mn-lt"/>
                          <a:ea typeface="+mn-ea"/>
                          <a:cs typeface="+mn-cs"/>
                        </a:rPr>
                        <a:t>Aplicación Java inicial</a:t>
                      </a:r>
                    </a:p>
                  </a:txBody>
                  <a:tcPr anchor="ctr"/>
                </a:tc>
                <a:tc>
                  <a:txBody>
                    <a:bodyPr/>
                    <a:lstStyle/>
                    <a:p>
                      <a:pPr>
                        <a:buNone/>
                      </a:pPr>
                      <a:r>
                        <a:rPr lang="es-MX" dirty="0"/>
                        <a:t>31/08/2026</a:t>
                      </a:r>
                    </a:p>
                  </a:txBody>
                  <a:tcPr anchor="ctr"/>
                </a:tc>
                <a:tc>
                  <a:txBody>
                    <a:bodyPr/>
                    <a:lstStyle/>
                    <a:p>
                      <a:pPr>
                        <a:buNone/>
                      </a:pPr>
                      <a:r>
                        <a:rPr lang="es-MX" dirty="0"/>
                        <a:t>06/09/2026</a:t>
                      </a:r>
                    </a:p>
                  </a:txBody>
                  <a:tcPr anchor="ctr"/>
                </a:tc>
                <a:tc>
                  <a:txBody>
                    <a:bodyPr/>
                    <a:lstStyle/>
                    <a:p>
                      <a:pPr algn="ctr"/>
                      <a:r>
                        <a:rPr lang="es-MX" sz="1800" kern="1200" dirty="0">
                          <a:solidFill>
                            <a:schemeClr val="dk1"/>
                          </a:solidFill>
                          <a:latin typeface="+mn-lt"/>
                          <a:ea typeface="+mn-ea"/>
                          <a:cs typeface="+mn-cs"/>
                        </a:rPr>
                        <a:t>7</a:t>
                      </a:r>
                    </a:p>
                  </a:txBody>
                  <a:tcPr anchor="ctr"/>
                </a:tc>
                <a:extLst>
                  <a:ext uri="{0D108BD9-81ED-4DB2-BD59-A6C34878D82A}">
                    <a16:rowId xmlns:a16="http://schemas.microsoft.com/office/drawing/2014/main" val="2001981310"/>
                  </a:ext>
                </a:extLst>
              </a:tr>
              <a:tr h="508000">
                <a:tc>
                  <a:txBody>
                    <a:bodyPr/>
                    <a:lstStyle/>
                    <a:p>
                      <a:pPr algn="l"/>
                      <a:r>
                        <a:rPr lang="es-MX" sz="1800" kern="1200" dirty="0">
                          <a:solidFill>
                            <a:schemeClr val="dk1"/>
                          </a:solidFill>
                          <a:latin typeface="+mn-lt"/>
                          <a:ea typeface="+mn-ea"/>
                          <a:cs typeface="+mn-cs"/>
                        </a:rPr>
                        <a:t>Depuración Java y base Python</a:t>
                      </a:r>
                    </a:p>
                  </a:txBody>
                  <a:tcPr anchor="ctr"/>
                </a:tc>
                <a:tc>
                  <a:txBody>
                    <a:bodyPr/>
                    <a:lstStyle/>
                    <a:p>
                      <a:pPr>
                        <a:buNone/>
                      </a:pPr>
                      <a:r>
                        <a:rPr lang="es-MX" dirty="0"/>
                        <a:t>07/09/2026</a:t>
                      </a:r>
                    </a:p>
                  </a:txBody>
                  <a:tcPr anchor="ctr"/>
                </a:tc>
                <a:tc>
                  <a:txBody>
                    <a:bodyPr/>
                    <a:lstStyle/>
                    <a:p>
                      <a:pPr>
                        <a:buNone/>
                      </a:pPr>
                      <a:r>
                        <a:rPr lang="es-MX" dirty="0"/>
                        <a:t>13/09/2026</a:t>
                      </a:r>
                    </a:p>
                  </a:txBody>
                  <a:tcPr anchor="ctr"/>
                </a:tc>
                <a:tc>
                  <a:txBody>
                    <a:bodyPr/>
                    <a:lstStyle/>
                    <a:p>
                      <a:pPr algn="ctr"/>
                      <a:r>
                        <a:rPr lang="es-MX" sz="1800" kern="1200" dirty="0">
                          <a:solidFill>
                            <a:schemeClr val="dk1"/>
                          </a:solidFill>
                          <a:latin typeface="+mn-lt"/>
                          <a:ea typeface="+mn-ea"/>
                          <a:cs typeface="+mn-cs"/>
                        </a:rPr>
                        <a:t>7</a:t>
                      </a:r>
                    </a:p>
                  </a:txBody>
                  <a:tcPr anchor="ctr"/>
                </a:tc>
                <a:extLst>
                  <a:ext uri="{0D108BD9-81ED-4DB2-BD59-A6C34878D82A}">
                    <a16:rowId xmlns:a16="http://schemas.microsoft.com/office/drawing/2014/main" val="542444287"/>
                  </a:ext>
                </a:extLst>
              </a:tr>
              <a:tr h="508000">
                <a:tc>
                  <a:txBody>
                    <a:bodyPr/>
                    <a:lstStyle/>
                    <a:p>
                      <a:pPr algn="l"/>
                      <a:r>
                        <a:rPr lang="es-MX" sz="1800" kern="1200" dirty="0">
                          <a:solidFill>
                            <a:schemeClr val="dk1"/>
                          </a:solidFill>
                          <a:latin typeface="+mn-lt"/>
                          <a:ea typeface="+mn-ea"/>
                          <a:cs typeface="+mn-cs"/>
                        </a:rPr>
                        <a:t>Simulación en Python</a:t>
                      </a:r>
                    </a:p>
                  </a:txBody>
                  <a:tcPr anchor="ctr"/>
                </a:tc>
                <a:tc>
                  <a:txBody>
                    <a:bodyPr/>
                    <a:lstStyle/>
                    <a:p>
                      <a:pPr>
                        <a:buNone/>
                      </a:pPr>
                      <a:r>
                        <a:rPr lang="es-MX"/>
                        <a:t>14/09/2026</a:t>
                      </a:r>
                    </a:p>
                  </a:txBody>
                  <a:tcPr anchor="ctr"/>
                </a:tc>
                <a:tc>
                  <a:txBody>
                    <a:bodyPr/>
                    <a:lstStyle/>
                    <a:p>
                      <a:pPr>
                        <a:buNone/>
                      </a:pPr>
                      <a:r>
                        <a:rPr lang="es-MX" dirty="0"/>
                        <a:t>20/09/2026</a:t>
                      </a:r>
                    </a:p>
                  </a:txBody>
                  <a:tcPr anchor="ctr"/>
                </a:tc>
                <a:tc>
                  <a:txBody>
                    <a:bodyPr/>
                    <a:lstStyle/>
                    <a:p>
                      <a:pPr algn="ctr"/>
                      <a:r>
                        <a:rPr lang="es-MX" sz="1800" kern="1200" dirty="0">
                          <a:solidFill>
                            <a:schemeClr val="dk1"/>
                          </a:solidFill>
                          <a:latin typeface="+mn-lt"/>
                          <a:ea typeface="+mn-ea"/>
                          <a:cs typeface="+mn-cs"/>
                        </a:rPr>
                        <a:t>7</a:t>
                      </a:r>
                    </a:p>
                  </a:txBody>
                  <a:tcPr anchor="ctr"/>
                </a:tc>
                <a:extLst>
                  <a:ext uri="{0D108BD9-81ED-4DB2-BD59-A6C34878D82A}">
                    <a16:rowId xmlns:a16="http://schemas.microsoft.com/office/drawing/2014/main" val="3105308859"/>
                  </a:ext>
                </a:extLst>
              </a:tr>
              <a:tr h="508000">
                <a:tc>
                  <a:txBody>
                    <a:bodyPr/>
                    <a:lstStyle/>
                    <a:p>
                      <a:pPr algn="l"/>
                      <a:r>
                        <a:rPr lang="es-MX" sz="1800" kern="1200" dirty="0">
                          <a:solidFill>
                            <a:schemeClr val="dk1"/>
                          </a:solidFill>
                          <a:latin typeface="+mn-lt"/>
                          <a:ea typeface="+mn-ea"/>
                          <a:cs typeface="+mn-cs"/>
                        </a:rPr>
                        <a:t>Dos escenarios</a:t>
                      </a:r>
                    </a:p>
                  </a:txBody>
                  <a:tcPr anchor="ctr"/>
                </a:tc>
                <a:tc>
                  <a:txBody>
                    <a:bodyPr/>
                    <a:lstStyle/>
                    <a:p>
                      <a:pPr>
                        <a:buNone/>
                      </a:pPr>
                      <a:r>
                        <a:rPr lang="es-MX"/>
                        <a:t>21/09/2026</a:t>
                      </a:r>
                    </a:p>
                  </a:txBody>
                  <a:tcPr anchor="ctr"/>
                </a:tc>
                <a:tc>
                  <a:txBody>
                    <a:bodyPr/>
                    <a:lstStyle/>
                    <a:p>
                      <a:pPr>
                        <a:buNone/>
                      </a:pPr>
                      <a:r>
                        <a:rPr lang="es-MX" dirty="0"/>
                        <a:t>27/09/2026</a:t>
                      </a:r>
                    </a:p>
                  </a:txBody>
                  <a:tcPr anchor="ctr"/>
                </a:tc>
                <a:tc>
                  <a:txBody>
                    <a:bodyPr/>
                    <a:lstStyle/>
                    <a:p>
                      <a:pPr algn="ctr"/>
                      <a:r>
                        <a:rPr lang="es-MX" sz="1800" kern="1200" dirty="0">
                          <a:solidFill>
                            <a:schemeClr val="dk1"/>
                          </a:solidFill>
                          <a:latin typeface="+mn-lt"/>
                          <a:ea typeface="+mn-ea"/>
                          <a:cs typeface="+mn-cs"/>
                        </a:rPr>
                        <a:t>7</a:t>
                      </a:r>
                    </a:p>
                  </a:txBody>
                  <a:tcPr anchor="ctr"/>
                </a:tc>
                <a:extLst>
                  <a:ext uri="{0D108BD9-81ED-4DB2-BD59-A6C34878D82A}">
                    <a16:rowId xmlns:a16="http://schemas.microsoft.com/office/drawing/2014/main" val="3730337102"/>
                  </a:ext>
                </a:extLst>
              </a:tr>
              <a:tr h="508000">
                <a:tc>
                  <a:txBody>
                    <a:bodyPr/>
                    <a:lstStyle/>
                    <a:p>
                      <a:pPr algn="l"/>
                      <a:r>
                        <a:rPr lang="es-MX" sz="1800" kern="1200" dirty="0">
                          <a:solidFill>
                            <a:schemeClr val="dk1"/>
                          </a:solidFill>
                          <a:latin typeface="+mn-lt"/>
                          <a:ea typeface="+mn-ea"/>
                          <a:cs typeface="+mn-cs"/>
                        </a:rPr>
                        <a:t>Análisis y gráficas en R</a:t>
                      </a:r>
                    </a:p>
                  </a:txBody>
                  <a:tcPr anchor="ctr"/>
                </a:tc>
                <a:tc>
                  <a:txBody>
                    <a:bodyPr/>
                    <a:lstStyle/>
                    <a:p>
                      <a:pPr>
                        <a:buNone/>
                      </a:pPr>
                      <a:r>
                        <a:rPr lang="es-MX"/>
                        <a:t>28/09/2026</a:t>
                      </a:r>
                    </a:p>
                  </a:txBody>
                  <a:tcPr anchor="ctr"/>
                </a:tc>
                <a:tc>
                  <a:txBody>
                    <a:bodyPr/>
                    <a:lstStyle/>
                    <a:p>
                      <a:pPr>
                        <a:buNone/>
                      </a:pPr>
                      <a:r>
                        <a:rPr lang="es-MX" dirty="0"/>
                        <a:t>04/10/2026</a:t>
                      </a:r>
                    </a:p>
                  </a:txBody>
                  <a:tcPr anchor="ctr"/>
                </a:tc>
                <a:tc>
                  <a:txBody>
                    <a:bodyPr/>
                    <a:lstStyle/>
                    <a:p>
                      <a:pPr algn="ctr"/>
                      <a:r>
                        <a:rPr lang="es-MX" sz="1800" kern="1200" dirty="0">
                          <a:solidFill>
                            <a:schemeClr val="dk1"/>
                          </a:solidFill>
                          <a:latin typeface="+mn-lt"/>
                          <a:ea typeface="+mn-ea"/>
                          <a:cs typeface="+mn-cs"/>
                        </a:rPr>
                        <a:t>7</a:t>
                      </a:r>
                    </a:p>
                  </a:txBody>
                  <a:tcPr anchor="ctr"/>
                </a:tc>
                <a:extLst>
                  <a:ext uri="{0D108BD9-81ED-4DB2-BD59-A6C34878D82A}">
                    <a16:rowId xmlns:a16="http://schemas.microsoft.com/office/drawing/2014/main" val="1947926070"/>
                  </a:ext>
                </a:extLst>
              </a:tr>
              <a:tr h="508000">
                <a:tc>
                  <a:txBody>
                    <a:bodyPr/>
                    <a:lstStyle/>
                    <a:p>
                      <a:pPr algn="l"/>
                      <a:r>
                        <a:rPr lang="es-MX" sz="1800" kern="1200" dirty="0">
                          <a:solidFill>
                            <a:schemeClr val="dk1"/>
                          </a:solidFill>
                          <a:latin typeface="+mn-lt"/>
                          <a:ea typeface="+mn-ea"/>
                          <a:cs typeface="+mn-cs"/>
                        </a:rPr>
                        <a:t>Reporte final</a:t>
                      </a:r>
                    </a:p>
                  </a:txBody>
                  <a:tcPr anchor="ctr"/>
                </a:tc>
                <a:tc>
                  <a:txBody>
                    <a:bodyPr/>
                    <a:lstStyle/>
                    <a:p>
                      <a:pPr>
                        <a:buNone/>
                      </a:pPr>
                      <a:r>
                        <a:rPr lang="es-MX"/>
                        <a:t>05/10/2026</a:t>
                      </a:r>
                    </a:p>
                  </a:txBody>
                  <a:tcPr anchor="ctr"/>
                </a:tc>
                <a:tc>
                  <a:txBody>
                    <a:bodyPr/>
                    <a:lstStyle/>
                    <a:p>
                      <a:pPr>
                        <a:buNone/>
                      </a:pPr>
                      <a:r>
                        <a:rPr lang="es-MX" dirty="0"/>
                        <a:t>11/10/2026</a:t>
                      </a:r>
                    </a:p>
                  </a:txBody>
                  <a:tcPr anchor="ctr"/>
                </a:tc>
                <a:tc>
                  <a:txBody>
                    <a:bodyPr/>
                    <a:lstStyle/>
                    <a:p>
                      <a:pPr algn="ctr"/>
                      <a:r>
                        <a:rPr lang="es-MX" sz="1800" kern="1200" dirty="0">
                          <a:solidFill>
                            <a:schemeClr val="dk1"/>
                          </a:solidFill>
                          <a:latin typeface="+mn-lt"/>
                          <a:ea typeface="+mn-ea"/>
                          <a:cs typeface="+mn-cs"/>
                        </a:rPr>
                        <a:t>7</a:t>
                      </a:r>
                    </a:p>
                  </a:txBody>
                  <a:tcPr anchor="ctr"/>
                </a:tc>
                <a:extLst>
                  <a:ext uri="{0D108BD9-81ED-4DB2-BD59-A6C34878D82A}">
                    <a16:rowId xmlns:a16="http://schemas.microsoft.com/office/drawing/2014/main" val="1449069710"/>
                  </a:ext>
                </a:extLst>
              </a:tr>
            </a:tbl>
          </a:graphicData>
        </a:graphic>
      </p:graphicFrame>
    </p:spTree>
    <p:extLst>
      <p:ext uri="{BB962C8B-B14F-4D97-AF65-F5344CB8AC3E}">
        <p14:creationId xmlns:p14="http://schemas.microsoft.com/office/powerpoint/2010/main" val="2991234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D9ED57-8EE8-4614-020C-C48E730226DE}"/>
              </a:ext>
            </a:extLst>
          </p:cNvPr>
          <p:cNvSpPr>
            <a:spLocks noGrp="1"/>
          </p:cNvSpPr>
          <p:nvPr>
            <p:ph type="title"/>
          </p:nvPr>
        </p:nvSpPr>
        <p:spPr/>
        <p:txBody>
          <a:bodyPr>
            <a:normAutofit/>
          </a:bodyPr>
          <a:lstStyle/>
          <a:p>
            <a:r>
              <a:rPr lang="es-MX" sz="4000" b="1">
                <a:solidFill>
                  <a:srgbClr val="4472C4"/>
                </a:solidFill>
              </a:rPr>
              <a:t>Cronograma de Josefina</a:t>
            </a:r>
          </a:p>
        </p:txBody>
      </p:sp>
      <p:graphicFrame>
        <p:nvGraphicFramePr>
          <p:cNvPr id="4" name="Tabla 3">
            <a:extLst>
              <a:ext uri="{FF2B5EF4-FFF2-40B4-BE49-F238E27FC236}">
                <a16:creationId xmlns:a16="http://schemas.microsoft.com/office/drawing/2014/main" id="{A76C0709-328E-4B91-96DD-D835F8CADC58}"/>
              </a:ext>
            </a:extLst>
          </p:cNvPr>
          <p:cNvGraphicFramePr>
            <a:graphicFrameLocks noGrp="1"/>
          </p:cNvGraphicFramePr>
          <p:nvPr>
            <p:extLst>
              <p:ext uri="{D42A27DB-BD31-4B8C-83A1-F6EECF244321}">
                <p14:modId xmlns:p14="http://schemas.microsoft.com/office/powerpoint/2010/main" val="2793854658"/>
              </p:ext>
            </p:extLst>
          </p:nvPr>
        </p:nvGraphicFramePr>
        <p:xfrm>
          <a:off x="838200" y="1879600"/>
          <a:ext cx="10515600" cy="4572000"/>
        </p:xfrm>
        <a:graphic>
          <a:graphicData uri="http://schemas.openxmlformats.org/drawingml/2006/table">
            <a:tbl>
              <a:tblPr firstRow="1" bandRow="1">
                <a:tableStyleId>{FABFCF23-3B69-468F-B69F-88F6DE6A72F2}</a:tableStyleId>
              </a:tblPr>
              <a:tblGrid>
                <a:gridCol w="4800600">
                  <a:extLst>
                    <a:ext uri="{9D8B030D-6E8A-4147-A177-3AD203B41FA5}">
                      <a16:colId xmlns:a16="http://schemas.microsoft.com/office/drawing/2014/main" val="2739877759"/>
                    </a:ext>
                  </a:extLst>
                </a:gridCol>
                <a:gridCol w="2032000">
                  <a:extLst>
                    <a:ext uri="{9D8B030D-6E8A-4147-A177-3AD203B41FA5}">
                      <a16:colId xmlns:a16="http://schemas.microsoft.com/office/drawing/2014/main" val="1708816424"/>
                    </a:ext>
                  </a:extLst>
                </a:gridCol>
                <a:gridCol w="2032000">
                  <a:extLst>
                    <a:ext uri="{9D8B030D-6E8A-4147-A177-3AD203B41FA5}">
                      <a16:colId xmlns:a16="http://schemas.microsoft.com/office/drawing/2014/main" val="1913686220"/>
                    </a:ext>
                  </a:extLst>
                </a:gridCol>
                <a:gridCol w="1651000">
                  <a:extLst>
                    <a:ext uri="{9D8B030D-6E8A-4147-A177-3AD203B41FA5}">
                      <a16:colId xmlns:a16="http://schemas.microsoft.com/office/drawing/2014/main" val="1360972748"/>
                    </a:ext>
                  </a:extLst>
                </a:gridCol>
              </a:tblGrid>
              <a:tr h="508000">
                <a:tc>
                  <a:txBody>
                    <a:bodyPr/>
                    <a:lstStyle/>
                    <a:p>
                      <a:r>
                        <a:rPr lang="es-MX" sz="1800" kern="1200" dirty="0">
                          <a:solidFill>
                            <a:schemeClr val="dk1"/>
                          </a:solidFill>
                          <a:latin typeface="+mn-lt"/>
                          <a:ea typeface="+mn-ea"/>
                          <a:cs typeface="+mn-cs"/>
                        </a:rPr>
                        <a:t>Actividad</a:t>
                      </a:r>
                    </a:p>
                  </a:txBody>
                  <a:tcPr anchor="ctr"/>
                </a:tc>
                <a:tc>
                  <a:txBody>
                    <a:bodyPr/>
                    <a:lstStyle/>
                    <a:p>
                      <a:r>
                        <a:rPr lang="es-MX" sz="1800" kern="1200">
                          <a:solidFill>
                            <a:schemeClr val="dk1"/>
                          </a:solidFill>
                          <a:latin typeface="+mn-lt"/>
                          <a:ea typeface="+mn-ea"/>
                          <a:cs typeface="+mn-cs"/>
                        </a:rPr>
                        <a:t>Inicio</a:t>
                      </a:r>
                    </a:p>
                  </a:txBody>
                  <a:tcPr anchor="ctr"/>
                </a:tc>
                <a:tc>
                  <a:txBody>
                    <a:bodyPr/>
                    <a:lstStyle/>
                    <a:p>
                      <a:r>
                        <a:rPr lang="es-MX" sz="1800" kern="1200">
                          <a:solidFill>
                            <a:schemeClr val="dk1"/>
                          </a:solidFill>
                          <a:latin typeface="+mn-lt"/>
                          <a:ea typeface="+mn-ea"/>
                          <a:cs typeface="+mn-cs"/>
                        </a:rPr>
                        <a:t>Fin</a:t>
                      </a:r>
                    </a:p>
                  </a:txBody>
                  <a:tcPr anchor="ctr"/>
                </a:tc>
                <a:tc>
                  <a:txBody>
                    <a:bodyPr/>
                    <a:lstStyle/>
                    <a:p>
                      <a:r>
                        <a:rPr lang="es-MX" sz="1800" kern="1200">
                          <a:solidFill>
                            <a:schemeClr val="dk1"/>
                          </a:solidFill>
                          <a:latin typeface="+mn-lt"/>
                          <a:ea typeface="+mn-ea"/>
                          <a:cs typeface="+mn-cs"/>
                        </a:rPr>
                        <a:t>Días</a:t>
                      </a:r>
                    </a:p>
                  </a:txBody>
                  <a:tcPr anchor="ctr"/>
                </a:tc>
                <a:extLst>
                  <a:ext uri="{0D108BD9-81ED-4DB2-BD59-A6C34878D82A}">
                    <a16:rowId xmlns:a16="http://schemas.microsoft.com/office/drawing/2014/main" val="2198058148"/>
                  </a:ext>
                </a:extLst>
              </a:tr>
              <a:tr h="508000">
                <a:tc>
                  <a:txBody>
                    <a:bodyPr/>
                    <a:lstStyle/>
                    <a:p>
                      <a:pPr algn="l"/>
                      <a:r>
                        <a:rPr lang="es-MX" sz="1800" kern="1200" dirty="0">
                          <a:solidFill>
                            <a:schemeClr val="dk1"/>
                          </a:solidFill>
                          <a:latin typeface="+mn-lt"/>
                          <a:ea typeface="+mn-ea"/>
                          <a:cs typeface="+mn-cs"/>
                        </a:rPr>
                        <a:t>Parámetros del proceso</a:t>
                      </a:r>
                    </a:p>
                  </a:txBody>
                  <a:tcPr anchor="ctr"/>
                </a:tc>
                <a:tc>
                  <a:txBody>
                    <a:bodyPr/>
                    <a:lstStyle/>
                    <a:p>
                      <a:pPr algn="ctr"/>
                      <a:r>
                        <a:rPr lang="es-MX" sz="1800" kern="1200">
                          <a:solidFill>
                            <a:schemeClr val="dk1"/>
                          </a:solidFill>
                          <a:latin typeface="+mn-lt"/>
                          <a:ea typeface="+mn-ea"/>
                          <a:cs typeface="+mn-cs"/>
                        </a:rPr>
                        <a:t>17/08/2026</a:t>
                      </a:r>
                    </a:p>
                  </a:txBody>
                  <a:tcPr anchor="ctr"/>
                </a:tc>
                <a:tc>
                  <a:txBody>
                    <a:bodyPr/>
                    <a:lstStyle/>
                    <a:p>
                      <a:pPr algn="ctr"/>
                      <a:r>
                        <a:rPr lang="es-MX" sz="1800" kern="1200">
                          <a:solidFill>
                            <a:schemeClr val="dk1"/>
                          </a:solidFill>
                          <a:latin typeface="+mn-lt"/>
                          <a:ea typeface="+mn-ea"/>
                          <a:cs typeface="+mn-cs"/>
                        </a:rPr>
                        <a:t>23/08/2026</a:t>
                      </a:r>
                    </a:p>
                  </a:txBody>
                  <a:tcPr anchor="ctr"/>
                </a:tc>
                <a:tc>
                  <a:txBody>
                    <a:bodyPr/>
                    <a:lstStyle/>
                    <a:p>
                      <a:pPr algn="ctr"/>
                      <a:r>
                        <a:rPr lang="es-MX" sz="1800" kern="1200">
                          <a:solidFill>
                            <a:schemeClr val="dk1"/>
                          </a:solidFill>
                          <a:latin typeface="+mn-lt"/>
                          <a:ea typeface="+mn-ea"/>
                          <a:cs typeface="+mn-cs"/>
                        </a:rPr>
                        <a:t>7</a:t>
                      </a:r>
                    </a:p>
                  </a:txBody>
                  <a:tcPr anchor="ctr"/>
                </a:tc>
                <a:extLst>
                  <a:ext uri="{0D108BD9-81ED-4DB2-BD59-A6C34878D82A}">
                    <a16:rowId xmlns:a16="http://schemas.microsoft.com/office/drawing/2014/main" val="2671970886"/>
                  </a:ext>
                </a:extLst>
              </a:tr>
              <a:tr h="508000">
                <a:tc>
                  <a:txBody>
                    <a:bodyPr/>
                    <a:lstStyle/>
                    <a:p>
                      <a:pPr algn="l"/>
                      <a:r>
                        <a:rPr lang="es-MX" sz="1800" kern="1200" dirty="0">
                          <a:solidFill>
                            <a:schemeClr val="dk1"/>
                          </a:solidFill>
                          <a:latin typeface="+mn-lt"/>
                          <a:ea typeface="+mn-ea"/>
                          <a:cs typeface="+mn-cs"/>
                        </a:rPr>
                        <a:t>Herramienta de simulación</a:t>
                      </a:r>
                    </a:p>
                  </a:txBody>
                  <a:tcPr anchor="ctr"/>
                </a:tc>
                <a:tc>
                  <a:txBody>
                    <a:bodyPr/>
                    <a:lstStyle/>
                    <a:p>
                      <a:pPr algn="ctr"/>
                      <a:r>
                        <a:rPr lang="es-MX" sz="1800" kern="1200">
                          <a:solidFill>
                            <a:schemeClr val="dk1"/>
                          </a:solidFill>
                          <a:latin typeface="+mn-lt"/>
                          <a:ea typeface="+mn-ea"/>
                          <a:cs typeface="+mn-cs"/>
                        </a:rPr>
                        <a:t>24/08/2026</a:t>
                      </a:r>
                    </a:p>
                  </a:txBody>
                  <a:tcPr anchor="ctr"/>
                </a:tc>
                <a:tc>
                  <a:txBody>
                    <a:bodyPr/>
                    <a:lstStyle/>
                    <a:p>
                      <a:pPr algn="ctr"/>
                      <a:r>
                        <a:rPr lang="es-MX" sz="1800" kern="1200">
                          <a:solidFill>
                            <a:schemeClr val="dk1"/>
                          </a:solidFill>
                          <a:latin typeface="+mn-lt"/>
                          <a:ea typeface="+mn-ea"/>
                          <a:cs typeface="+mn-cs"/>
                        </a:rPr>
                        <a:t>30/08/2026</a:t>
                      </a:r>
                    </a:p>
                  </a:txBody>
                  <a:tcPr anchor="ctr"/>
                </a:tc>
                <a:tc>
                  <a:txBody>
                    <a:bodyPr/>
                    <a:lstStyle/>
                    <a:p>
                      <a:pPr algn="ctr"/>
                      <a:r>
                        <a:rPr lang="es-MX" sz="1800" kern="1200">
                          <a:solidFill>
                            <a:schemeClr val="dk1"/>
                          </a:solidFill>
                          <a:latin typeface="+mn-lt"/>
                          <a:ea typeface="+mn-ea"/>
                          <a:cs typeface="+mn-cs"/>
                        </a:rPr>
                        <a:t>7</a:t>
                      </a:r>
                    </a:p>
                  </a:txBody>
                  <a:tcPr anchor="ctr"/>
                </a:tc>
                <a:extLst>
                  <a:ext uri="{0D108BD9-81ED-4DB2-BD59-A6C34878D82A}">
                    <a16:rowId xmlns:a16="http://schemas.microsoft.com/office/drawing/2014/main" val="982686500"/>
                  </a:ext>
                </a:extLst>
              </a:tr>
              <a:tr h="508000">
                <a:tc>
                  <a:txBody>
                    <a:bodyPr/>
                    <a:lstStyle/>
                    <a:p>
                      <a:pPr algn="l"/>
                      <a:r>
                        <a:rPr lang="es-MX" sz="1800" kern="1200" dirty="0">
                          <a:solidFill>
                            <a:schemeClr val="dk1"/>
                          </a:solidFill>
                          <a:latin typeface="+mn-lt"/>
                          <a:ea typeface="+mn-ea"/>
                          <a:cs typeface="+mn-cs"/>
                        </a:rPr>
                        <a:t>Diagrama y recursos</a:t>
                      </a:r>
                    </a:p>
                  </a:txBody>
                  <a:tcPr anchor="ctr"/>
                </a:tc>
                <a:tc>
                  <a:txBody>
                    <a:bodyPr/>
                    <a:lstStyle/>
                    <a:p>
                      <a:pPr algn="ctr"/>
                      <a:r>
                        <a:rPr lang="es-MX" sz="1800" kern="1200">
                          <a:solidFill>
                            <a:schemeClr val="dk1"/>
                          </a:solidFill>
                          <a:latin typeface="+mn-lt"/>
                          <a:ea typeface="+mn-ea"/>
                          <a:cs typeface="+mn-cs"/>
                        </a:rPr>
                        <a:t>31/08/2026</a:t>
                      </a:r>
                    </a:p>
                  </a:txBody>
                  <a:tcPr anchor="ctr"/>
                </a:tc>
                <a:tc>
                  <a:txBody>
                    <a:bodyPr/>
                    <a:lstStyle/>
                    <a:p>
                      <a:pPr algn="ctr"/>
                      <a:r>
                        <a:rPr lang="es-MX" sz="1800" kern="1200">
                          <a:solidFill>
                            <a:schemeClr val="dk1"/>
                          </a:solidFill>
                          <a:latin typeface="+mn-lt"/>
                          <a:ea typeface="+mn-ea"/>
                          <a:cs typeface="+mn-cs"/>
                        </a:rPr>
                        <a:t>06/09/2026</a:t>
                      </a:r>
                    </a:p>
                  </a:txBody>
                  <a:tcPr anchor="ctr"/>
                </a:tc>
                <a:tc>
                  <a:txBody>
                    <a:bodyPr/>
                    <a:lstStyle/>
                    <a:p>
                      <a:pPr algn="ctr"/>
                      <a:r>
                        <a:rPr lang="es-MX" sz="1800" kern="1200">
                          <a:solidFill>
                            <a:schemeClr val="dk1"/>
                          </a:solidFill>
                          <a:latin typeface="+mn-lt"/>
                          <a:ea typeface="+mn-ea"/>
                          <a:cs typeface="+mn-cs"/>
                        </a:rPr>
                        <a:t>7</a:t>
                      </a:r>
                    </a:p>
                  </a:txBody>
                  <a:tcPr anchor="ctr"/>
                </a:tc>
                <a:extLst>
                  <a:ext uri="{0D108BD9-81ED-4DB2-BD59-A6C34878D82A}">
                    <a16:rowId xmlns:a16="http://schemas.microsoft.com/office/drawing/2014/main" val="3484524387"/>
                  </a:ext>
                </a:extLst>
              </a:tr>
              <a:tr h="508000">
                <a:tc>
                  <a:txBody>
                    <a:bodyPr/>
                    <a:lstStyle/>
                    <a:p>
                      <a:pPr algn="l"/>
                      <a:r>
                        <a:rPr lang="es-MX" sz="1800" kern="1200" dirty="0">
                          <a:solidFill>
                            <a:schemeClr val="dk1"/>
                          </a:solidFill>
                          <a:latin typeface="+mn-lt"/>
                          <a:ea typeface="+mn-ea"/>
                          <a:cs typeface="+mn-cs"/>
                        </a:rPr>
                        <a:t>Modelo inicial</a:t>
                      </a:r>
                    </a:p>
                  </a:txBody>
                  <a:tcPr anchor="ctr"/>
                </a:tc>
                <a:tc>
                  <a:txBody>
                    <a:bodyPr/>
                    <a:lstStyle/>
                    <a:p>
                      <a:pPr algn="ctr"/>
                      <a:r>
                        <a:rPr lang="es-MX" sz="1800" kern="1200">
                          <a:solidFill>
                            <a:schemeClr val="dk1"/>
                          </a:solidFill>
                          <a:latin typeface="+mn-lt"/>
                          <a:ea typeface="+mn-ea"/>
                          <a:cs typeface="+mn-cs"/>
                        </a:rPr>
                        <a:t>07/09/2026</a:t>
                      </a:r>
                    </a:p>
                  </a:txBody>
                  <a:tcPr anchor="ctr"/>
                </a:tc>
                <a:tc>
                  <a:txBody>
                    <a:bodyPr/>
                    <a:lstStyle/>
                    <a:p>
                      <a:pPr algn="ctr"/>
                      <a:r>
                        <a:rPr lang="es-MX" sz="1800" kern="1200">
                          <a:solidFill>
                            <a:schemeClr val="dk1"/>
                          </a:solidFill>
                          <a:latin typeface="+mn-lt"/>
                          <a:ea typeface="+mn-ea"/>
                          <a:cs typeface="+mn-cs"/>
                        </a:rPr>
                        <a:t>13/09/2026</a:t>
                      </a:r>
                    </a:p>
                  </a:txBody>
                  <a:tcPr anchor="ctr"/>
                </a:tc>
                <a:tc>
                  <a:txBody>
                    <a:bodyPr/>
                    <a:lstStyle/>
                    <a:p>
                      <a:pPr algn="ctr"/>
                      <a:r>
                        <a:rPr lang="es-MX" sz="1800" kern="1200">
                          <a:solidFill>
                            <a:schemeClr val="dk1"/>
                          </a:solidFill>
                          <a:latin typeface="+mn-lt"/>
                          <a:ea typeface="+mn-ea"/>
                          <a:cs typeface="+mn-cs"/>
                        </a:rPr>
                        <a:t>7</a:t>
                      </a:r>
                    </a:p>
                  </a:txBody>
                  <a:tcPr anchor="ctr"/>
                </a:tc>
                <a:extLst>
                  <a:ext uri="{0D108BD9-81ED-4DB2-BD59-A6C34878D82A}">
                    <a16:rowId xmlns:a16="http://schemas.microsoft.com/office/drawing/2014/main" val="1770192433"/>
                  </a:ext>
                </a:extLst>
              </a:tr>
              <a:tr h="508000">
                <a:tc>
                  <a:txBody>
                    <a:bodyPr/>
                    <a:lstStyle/>
                    <a:p>
                      <a:pPr algn="l"/>
                      <a:r>
                        <a:rPr lang="es-MX" sz="1800" kern="1200">
                          <a:solidFill>
                            <a:schemeClr val="dk1"/>
                          </a:solidFill>
                          <a:latin typeface="+mn-lt"/>
                          <a:ea typeface="+mn-ea"/>
                          <a:cs typeface="+mn-cs"/>
                        </a:rPr>
                        <a:t>Modelo funcional y pruebas</a:t>
                      </a:r>
                    </a:p>
                  </a:txBody>
                  <a:tcPr anchor="ctr"/>
                </a:tc>
                <a:tc>
                  <a:txBody>
                    <a:bodyPr/>
                    <a:lstStyle/>
                    <a:p>
                      <a:pPr algn="ctr"/>
                      <a:r>
                        <a:rPr lang="es-MX" sz="1800" kern="1200" dirty="0">
                          <a:solidFill>
                            <a:schemeClr val="dk1"/>
                          </a:solidFill>
                          <a:latin typeface="+mn-lt"/>
                          <a:ea typeface="+mn-ea"/>
                          <a:cs typeface="+mn-cs"/>
                        </a:rPr>
                        <a:t>14/09/2026</a:t>
                      </a:r>
                    </a:p>
                  </a:txBody>
                  <a:tcPr anchor="ctr"/>
                </a:tc>
                <a:tc>
                  <a:txBody>
                    <a:bodyPr/>
                    <a:lstStyle/>
                    <a:p>
                      <a:pPr algn="ctr"/>
                      <a:r>
                        <a:rPr lang="es-MX" sz="1800" kern="1200">
                          <a:solidFill>
                            <a:schemeClr val="dk1"/>
                          </a:solidFill>
                          <a:latin typeface="+mn-lt"/>
                          <a:ea typeface="+mn-ea"/>
                          <a:cs typeface="+mn-cs"/>
                        </a:rPr>
                        <a:t>20/09/2026</a:t>
                      </a:r>
                    </a:p>
                  </a:txBody>
                  <a:tcPr anchor="ctr"/>
                </a:tc>
                <a:tc>
                  <a:txBody>
                    <a:bodyPr/>
                    <a:lstStyle/>
                    <a:p>
                      <a:pPr algn="ctr"/>
                      <a:r>
                        <a:rPr lang="es-MX" sz="1800" kern="1200">
                          <a:solidFill>
                            <a:schemeClr val="dk1"/>
                          </a:solidFill>
                          <a:latin typeface="+mn-lt"/>
                          <a:ea typeface="+mn-ea"/>
                          <a:cs typeface="+mn-cs"/>
                        </a:rPr>
                        <a:t>7</a:t>
                      </a:r>
                    </a:p>
                  </a:txBody>
                  <a:tcPr anchor="ctr"/>
                </a:tc>
                <a:extLst>
                  <a:ext uri="{0D108BD9-81ED-4DB2-BD59-A6C34878D82A}">
                    <a16:rowId xmlns:a16="http://schemas.microsoft.com/office/drawing/2014/main" val="772648184"/>
                  </a:ext>
                </a:extLst>
              </a:tr>
              <a:tr h="508000">
                <a:tc>
                  <a:txBody>
                    <a:bodyPr/>
                    <a:lstStyle/>
                    <a:p>
                      <a:pPr algn="l"/>
                      <a:r>
                        <a:rPr lang="es-MX" sz="1800" kern="1200">
                          <a:solidFill>
                            <a:schemeClr val="dk1"/>
                          </a:solidFill>
                          <a:latin typeface="+mn-lt"/>
                          <a:ea typeface="+mn-ea"/>
                          <a:cs typeface="+mn-cs"/>
                        </a:rPr>
                        <a:t>Escenario base</a:t>
                      </a:r>
                    </a:p>
                  </a:txBody>
                  <a:tcPr anchor="ctr"/>
                </a:tc>
                <a:tc>
                  <a:txBody>
                    <a:bodyPr/>
                    <a:lstStyle/>
                    <a:p>
                      <a:pPr algn="ctr"/>
                      <a:r>
                        <a:rPr lang="es-MX" sz="1800" kern="1200" dirty="0">
                          <a:solidFill>
                            <a:schemeClr val="dk1"/>
                          </a:solidFill>
                          <a:latin typeface="+mn-lt"/>
                          <a:ea typeface="+mn-ea"/>
                          <a:cs typeface="+mn-cs"/>
                        </a:rPr>
                        <a:t>21/09/2026</a:t>
                      </a:r>
                    </a:p>
                  </a:txBody>
                  <a:tcPr anchor="ctr"/>
                </a:tc>
                <a:tc>
                  <a:txBody>
                    <a:bodyPr/>
                    <a:lstStyle/>
                    <a:p>
                      <a:pPr algn="ctr"/>
                      <a:r>
                        <a:rPr lang="es-MX" sz="1800" kern="1200">
                          <a:solidFill>
                            <a:schemeClr val="dk1"/>
                          </a:solidFill>
                          <a:latin typeface="+mn-lt"/>
                          <a:ea typeface="+mn-ea"/>
                          <a:cs typeface="+mn-cs"/>
                        </a:rPr>
                        <a:t>27/09/2026</a:t>
                      </a:r>
                    </a:p>
                  </a:txBody>
                  <a:tcPr anchor="ctr"/>
                </a:tc>
                <a:tc>
                  <a:txBody>
                    <a:bodyPr/>
                    <a:lstStyle/>
                    <a:p>
                      <a:pPr algn="ctr"/>
                      <a:r>
                        <a:rPr lang="es-MX" sz="1800" kern="1200">
                          <a:solidFill>
                            <a:schemeClr val="dk1"/>
                          </a:solidFill>
                          <a:latin typeface="+mn-lt"/>
                          <a:ea typeface="+mn-ea"/>
                          <a:cs typeface="+mn-cs"/>
                        </a:rPr>
                        <a:t>7</a:t>
                      </a:r>
                    </a:p>
                  </a:txBody>
                  <a:tcPr anchor="ctr"/>
                </a:tc>
                <a:extLst>
                  <a:ext uri="{0D108BD9-81ED-4DB2-BD59-A6C34878D82A}">
                    <a16:rowId xmlns:a16="http://schemas.microsoft.com/office/drawing/2014/main" val="1045278180"/>
                  </a:ext>
                </a:extLst>
              </a:tr>
              <a:tr h="508000">
                <a:tc>
                  <a:txBody>
                    <a:bodyPr/>
                    <a:lstStyle/>
                    <a:p>
                      <a:pPr algn="l"/>
                      <a:r>
                        <a:rPr lang="es-MX" sz="1800" kern="1200">
                          <a:solidFill>
                            <a:schemeClr val="dk1"/>
                          </a:solidFill>
                          <a:latin typeface="+mn-lt"/>
                          <a:ea typeface="+mn-ea"/>
                          <a:cs typeface="+mn-cs"/>
                        </a:rPr>
                        <a:t>Segundo escenario</a:t>
                      </a:r>
                    </a:p>
                  </a:txBody>
                  <a:tcPr anchor="ctr"/>
                </a:tc>
                <a:tc>
                  <a:txBody>
                    <a:bodyPr/>
                    <a:lstStyle/>
                    <a:p>
                      <a:pPr algn="ctr"/>
                      <a:r>
                        <a:rPr lang="es-MX" sz="1800" kern="1200">
                          <a:solidFill>
                            <a:schemeClr val="dk1"/>
                          </a:solidFill>
                          <a:latin typeface="+mn-lt"/>
                          <a:ea typeface="+mn-ea"/>
                          <a:cs typeface="+mn-cs"/>
                        </a:rPr>
                        <a:t>28/09/2026</a:t>
                      </a:r>
                    </a:p>
                  </a:txBody>
                  <a:tcPr anchor="ctr"/>
                </a:tc>
                <a:tc>
                  <a:txBody>
                    <a:bodyPr/>
                    <a:lstStyle/>
                    <a:p>
                      <a:pPr algn="ctr"/>
                      <a:r>
                        <a:rPr lang="es-MX" sz="1800" kern="1200" dirty="0">
                          <a:solidFill>
                            <a:schemeClr val="dk1"/>
                          </a:solidFill>
                          <a:latin typeface="+mn-lt"/>
                          <a:ea typeface="+mn-ea"/>
                          <a:cs typeface="+mn-cs"/>
                        </a:rPr>
                        <a:t>04/10/2026</a:t>
                      </a:r>
                    </a:p>
                  </a:txBody>
                  <a:tcPr anchor="ctr"/>
                </a:tc>
                <a:tc>
                  <a:txBody>
                    <a:bodyPr/>
                    <a:lstStyle/>
                    <a:p>
                      <a:pPr algn="ctr"/>
                      <a:r>
                        <a:rPr lang="es-MX" sz="1800" kern="1200">
                          <a:solidFill>
                            <a:schemeClr val="dk1"/>
                          </a:solidFill>
                          <a:latin typeface="+mn-lt"/>
                          <a:ea typeface="+mn-ea"/>
                          <a:cs typeface="+mn-cs"/>
                        </a:rPr>
                        <a:t>7</a:t>
                      </a:r>
                    </a:p>
                  </a:txBody>
                  <a:tcPr anchor="ctr"/>
                </a:tc>
                <a:extLst>
                  <a:ext uri="{0D108BD9-81ED-4DB2-BD59-A6C34878D82A}">
                    <a16:rowId xmlns:a16="http://schemas.microsoft.com/office/drawing/2014/main" val="1867225115"/>
                  </a:ext>
                </a:extLst>
              </a:tr>
              <a:tr h="508000">
                <a:tc>
                  <a:txBody>
                    <a:bodyPr/>
                    <a:lstStyle/>
                    <a:p>
                      <a:pPr algn="l"/>
                      <a:r>
                        <a:rPr lang="es-MX" sz="1800" kern="1200" dirty="0">
                          <a:solidFill>
                            <a:schemeClr val="dk1"/>
                          </a:solidFill>
                          <a:latin typeface="+mn-lt"/>
                          <a:ea typeface="+mn-ea"/>
                          <a:cs typeface="+mn-cs"/>
                        </a:rPr>
                        <a:t>Análisis y reporte</a:t>
                      </a:r>
                    </a:p>
                  </a:txBody>
                  <a:tcPr anchor="ctr"/>
                </a:tc>
                <a:tc>
                  <a:txBody>
                    <a:bodyPr/>
                    <a:lstStyle/>
                    <a:p>
                      <a:pPr algn="ctr"/>
                      <a:r>
                        <a:rPr lang="es-MX" sz="1800" kern="1200" dirty="0">
                          <a:solidFill>
                            <a:schemeClr val="dk1"/>
                          </a:solidFill>
                          <a:latin typeface="+mn-lt"/>
                          <a:ea typeface="+mn-ea"/>
                          <a:cs typeface="+mn-cs"/>
                        </a:rPr>
                        <a:t>05/10/2026</a:t>
                      </a:r>
                    </a:p>
                  </a:txBody>
                  <a:tcPr anchor="ctr"/>
                </a:tc>
                <a:tc>
                  <a:txBody>
                    <a:bodyPr/>
                    <a:lstStyle/>
                    <a:p>
                      <a:pPr algn="ctr"/>
                      <a:r>
                        <a:rPr lang="es-MX" sz="1800" kern="1200" dirty="0">
                          <a:solidFill>
                            <a:schemeClr val="dk1"/>
                          </a:solidFill>
                          <a:latin typeface="+mn-lt"/>
                          <a:ea typeface="+mn-ea"/>
                          <a:cs typeface="+mn-cs"/>
                        </a:rPr>
                        <a:t>11/10/2026</a:t>
                      </a:r>
                    </a:p>
                  </a:txBody>
                  <a:tcPr anchor="ctr"/>
                </a:tc>
                <a:tc>
                  <a:txBody>
                    <a:bodyPr/>
                    <a:lstStyle/>
                    <a:p>
                      <a:pPr algn="ctr"/>
                      <a:r>
                        <a:rPr lang="es-MX" sz="1800" kern="1200" dirty="0">
                          <a:solidFill>
                            <a:schemeClr val="dk1"/>
                          </a:solidFill>
                          <a:latin typeface="+mn-lt"/>
                          <a:ea typeface="+mn-ea"/>
                          <a:cs typeface="+mn-cs"/>
                        </a:rPr>
                        <a:t>7</a:t>
                      </a:r>
                    </a:p>
                  </a:txBody>
                  <a:tcPr anchor="ctr"/>
                </a:tc>
                <a:extLst>
                  <a:ext uri="{0D108BD9-81ED-4DB2-BD59-A6C34878D82A}">
                    <a16:rowId xmlns:a16="http://schemas.microsoft.com/office/drawing/2014/main" val="333207978"/>
                  </a:ext>
                </a:extLst>
              </a:tr>
            </a:tbl>
          </a:graphicData>
        </a:graphic>
      </p:graphicFrame>
    </p:spTree>
    <p:extLst>
      <p:ext uri="{BB962C8B-B14F-4D97-AF65-F5344CB8AC3E}">
        <p14:creationId xmlns:p14="http://schemas.microsoft.com/office/powerpoint/2010/main" val="4064264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65673F-225B-E8F4-CC30-8B9340F42707}"/>
              </a:ext>
            </a:extLst>
          </p:cNvPr>
          <p:cNvSpPr>
            <a:spLocks noGrp="1"/>
          </p:cNvSpPr>
          <p:nvPr>
            <p:ph type="title"/>
          </p:nvPr>
        </p:nvSpPr>
        <p:spPr/>
        <p:txBody>
          <a:bodyPr>
            <a:normAutofit/>
          </a:bodyPr>
          <a:lstStyle/>
          <a:p>
            <a:r>
              <a:rPr lang="es-MX" sz="4000" b="1">
                <a:solidFill>
                  <a:srgbClr val="4472C4"/>
                </a:solidFill>
              </a:rPr>
              <a:t>Cronograma de Roberto</a:t>
            </a:r>
          </a:p>
        </p:txBody>
      </p:sp>
      <p:graphicFrame>
        <p:nvGraphicFramePr>
          <p:cNvPr id="4" name="Tabla 3">
            <a:extLst>
              <a:ext uri="{FF2B5EF4-FFF2-40B4-BE49-F238E27FC236}">
                <a16:creationId xmlns:a16="http://schemas.microsoft.com/office/drawing/2014/main" id="{59BFEC95-671B-4458-8DCE-FB6969B8C0D8}"/>
              </a:ext>
            </a:extLst>
          </p:cNvPr>
          <p:cNvGraphicFramePr>
            <a:graphicFrameLocks noGrp="1"/>
          </p:cNvGraphicFramePr>
          <p:nvPr>
            <p:extLst>
              <p:ext uri="{D42A27DB-BD31-4B8C-83A1-F6EECF244321}">
                <p14:modId xmlns:p14="http://schemas.microsoft.com/office/powerpoint/2010/main" val="1432660660"/>
              </p:ext>
            </p:extLst>
          </p:nvPr>
        </p:nvGraphicFramePr>
        <p:xfrm>
          <a:off x="838200" y="1879600"/>
          <a:ext cx="10515600" cy="4064000"/>
        </p:xfrm>
        <a:graphic>
          <a:graphicData uri="http://schemas.openxmlformats.org/drawingml/2006/table">
            <a:tbl>
              <a:tblPr firstRow="1" bandRow="1">
                <a:tableStyleId>{FABFCF23-3B69-468F-B69F-88F6DE6A72F2}</a:tableStyleId>
              </a:tblPr>
              <a:tblGrid>
                <a:gridCol w="4800600">
                  <a:extLst>
                    <a:ext uri="{9D8B030D-6E8A-4147-A177-3AD203B41FA5}">
                      <a16:colId xmlns:a16="http://schemas.microsoft.com/office/drawing/2014/main" val="2805744630"/>
                    </a:ext>
                  </a:extLst>
                </a:gridCol>
                <a:gridCol w="2032000">
                  <a:extLst>
                    <a:ext uri="{9D8B030D-6E8A-4147-A177-3AD203B41FA5}">
                      <a16:colId xmlns:a16="http://schemas.microsoft.com/office/drawing/2014/main" val="1568545251"/>
                    </a:ext>
                  </a:extLst>
                </a:gridCol>
                <a:gridCol w="2032000">
                  <a:extLst>
                    <a:ext uri="{9D8B030D-6E8A-4147-A177-3AD203B41FA5}">
                      <a16:colId xmlns:a16="http://schemas.microsoft.com/office/drawing/2014/main" val="2895476230"/>
                    </a:ext>
                  </a:extLst>
                </a:gridCol>
                <a:gridCol w="1651000">
                  <a:extLst>
                    <a:ext uri="{9D8B030D-6E8A-4147-A177-3AD203B41FA5}">
                      <a16:colId xmlns:a16="http://schemas.microsoft.com/office/drawing/2014/main" val="8951381"/>
                    </a:ext>
                  </a:extLst>
                </a:gridCol>
              </a:tblGrid>
              <a:tr h="508000">
                <a:tc>
                  <a:txBody>
                    <a:bodyPr/>
                    <a:lstStyle/>
                    <a:p>
                      <a:r>
                        <a:rPr lang="es-MX" sz="1800" kern="1200" dirty="0">
                          <a:solidFill>
                            <a:schemeClr val="dk1"/>
                          </a:solidFill>
                          <a:latin typeface="+mn-lt"/>
                          <a:ea typeface="+mn-ea"/>
                          <a:cs typeface="+mn-cs"/>
                        </a:rPr>
                        <a:t>Actividad</a:t>
                      </a:r>
                    </a:p>
                  </a:txBody>
                  <a:tcPr anchor="ctr"/>
                </a:tc>
                <a:tc>
                  <a:txBody>
                    <a:bodyPr/>
                    <a:lstStyle/>
                    <a:p>
                      <a:r>
                        <a:rPr lang="es-MX" sz="1800" kern="1200">
                          <a:solidFill>
                            <a:schemeClr val="dk1"/>
                          </a:solidFill>
                          <a:latin typeface="+mn-lt"/>
                          <a:ea typeface="+mn-ea"/>
                          <a:cs typeface="+mn-cs"/>
                        </a:rPr>
                        <a:t>Inicio</a:t>
                      </a:r>
                    </a:p>
                  </a:txBody>
                  <a:tcPr anchor="ctr"/>
                </a:tc>
                <a:tc>
                  <a:txBody>
                    <a:bodyPr/>
                    <a:lstStyle/>
                    <a:p>
                      <a:r>
                        <a:rPr lang="es-MX" sz="1800" kern="1200">
                          <a:solidFill>
                            <a:schemeClr val="dk1"/>
                          </a:solidFill>
                          <a:latin typeface="+mn-lt"/>
                          <a:ea typeface="+mn-ea"/>
                          <a:cs typeface="+mn-cs"/>
                        </a:rPr>
                        <a:t>Fin</a:t>
                      </a:r>
                    </a:p>
                  </a:txBody>
                  <a:tcPr anchor="ctr"/>
                </a:tc>
                <a:tc>
                  <a:txBody>
                    <a:bodyPr/>
                    <a:lstStyle/>
                    <a:p>
                      <a:r>
                        <a:rPr lang="es-MX" sz="1800" kern="1200">
                          <a:solidFill>
                            <a:schemeClr val="dk1"/>
                          </a:solidFill>
                          <a:latin typeface="+mn-lt"/>
                          <a:ea typeface="+mn-ea"/>
                          <a:cs typeface="+mn-cs"/>
                        </a:rPr>
                        <a:t>Días</a:t>
                      </a:r>
                    </a:p>
                  </a:txBody>
                  <a:tcPr anchor="ctr"/>
                </a:tc>
                <a:extLst>
                  <a:ext uri="{0D108BD9-81ED-4DB2-BD59-A6C34878D82A}">
                    <a16:rowId xmlns:a16="http://schemas.microsoft.com/office/drawing/2014/main" val="4053715315"/>
                  </a:ext>
                </a:extLst>
              </a:tr>
              <a:tr h="508000">
                <a:tc>
                  <a:txBody>
                    <a:bodyPr/>
                    <a:lstStyle/>
                    <a:p>
                      <a:pPr algn="l"/>
                      <a:r>
                        <a:rPr lang="es-MX" sz="1800" kern="1200" dirty="0">
                          <a:solidFill>
                            <a:schemeClr val="dk1"/>
                          </a:solidFill>
                          <a:latin typeface="+mn-lt"/>
                          <a:ea typeface="+mn-ea"/>
                          <a:cs typeface="+mn-cs"/>
                        </a:rPr>
                        <a:t>Diagrama y distribuciones</a:t>
                      </a:r>
                    </a:p>
                  </a:txBody>
                  <a:tcPr anchor="ctr"/>
                </a:tc>
                <a:tc>
                  <a:txBody>
                    <a:bodyPr/>
                    <a:lstStyle/>
                    <a:p>
                      <a:pPr algn="ctr"/>
                      <a:r>
                        <a:rPr lang="es-MX" sz="1800" kern="1200">
                          <a:solidFill>
                            <a:schemeClr val="dk1"/>
                          </a:solidFill>
                          <a:latin typeface="+mn-lt"/>
                          <a:ea typeface="+mn-ea"/>
                          <a:cs typeface="+mn-cs"/>
                        </a:rPr>
                        <a:t>17/08/2026</a:t>
                      </a:r>
                    </a:p>
                  </a:txBody>
                  <a:tcPr anchor="ctr"/>
                </a:tc>
                <a:tc>
                  <a:txBody>
                    <a:bodyPr/>
                    <a:lstStyle/>
                    <a:p>
                      <a:pPr algn="ctr"/>
                      <a:r>
                        <a:rPr lang="es-MX" sz="1800" kern="1200">
                          <a:solidFill>
                            <a:schemeClr val="dk1"/>
                          </a:solidFill>
                          <a:latin typeface="+mn-lt"/>
                          <a:ea typeface="+mn-ea"/>
                          <a:cs typeface="+mn-cs"/>
                        </a:rPr>
                        <a:t>23/08/2026</a:t>
                      </a:r>
                    </a:p>
                  </a:txBody>
                  <a:tcPr anchor="ctr"/>
                </a:tc>
                <a:tc>
                  <a:txBody>
                    <a:bodyPr/>
                    <a:lstStyle/>
                    <a:p>
                      <a:pPr algn="ctr"/>
                      <a:r>
                        <a:rPr lang="es-MX" sz="1800" kern="1200">
                          <a:solidFill>
                            <a:schemeClr val="dk1"/>
                          </a:solidFill>
                          <a:latin typeface="+mn-lt"/>
                          <a:ea typeface="+mn-ea"/>
                          <a:cs typeface="+mn-cs"/>
                        </a:rPr>
                        <a:t>7</a:t>
                      </a:r>
                    </a:p>
                  </a:txBody>
                  <a:tcPr anchor="ctr"/>
                </a:tc>
                <a:extLst>
                  <a:ext uri="{0D108BD9-81ED-4DB2-BD59-A6C34878D82A}">
                    <a16:rowId xmlns:a16="http://schemas.microsoft.com/office/drawing/2014/main" val="53212900"/>
                  </a:ext>
                </a:extLst>
              </a:tr>
              <a:tr h="508000">
                <a:tc>
                  <a:txBody>
                    <a:bodyPr/>
                    <a:lstStyle/>
                    <a:p>
                      <a:pPr algn="l"/>
                      <a:r>
                        <a:rPr lang="es-MX" sz="1800" kern="1200" dirty="0">
                          <a:solidFill>
                            <a:schemeClr val="dk1"/>
                          </a:solidFill>
                          <a:latin typeface="+mn-lt"/>
                          <a:ea typeface="+mn-ea"/>
                          <a:cs typeface="+mn-cs"/>
                        </a:rPr>
                        <a:t>Modelo lógico y herramienta</a:t>
                      </a:r>
                    </a:p>
                  </a:txBody>
                  <a:tcPr anchor="ctr"/>
                </a:tc>
                <a:tc>
                  <a:txBody>
                    <a:bodyPr/>
                    <a:lstStyle/>
                    <a:p>
                      <a:pPr algn="ctr"/>
                      <a:r>
                        <a:rPr lang="es-MX" sz="1800" kern="1200">
                          <a:solidFill>
                            <a:schemeClr val="dk1"/>
                          </a:solidFill>
                          <a:latin typeface="+mn-lt"/>
                          <a:ea typeface="+mn-ea"/>
                          <a:cs typeface="+mn-cs"/>
                        </a:rPr>
                        <a:t>24/08/2026</a:t>
                      </a:r>
                    </a:p>
                  </a:txBody>
                  <a:tcPr anchor="ctr"/>
                </a:tc>
                <a:tc>
                  <a:txBody>
                    <a:bodyPr/>
                    <a:lstStyle/>
                    <a:p>
                      <a:pPr algn="ctr"/>
                      <a:r>
                        <a:rPr lang="es-MX" sz="1800" kern="1200">
                          <a:solidFill>
                            <a:schemeClr val="dk1"/>
                          </a:solidFill>
                          <a:latin typeface="+mn-lt"/>
                          <a:ea typeface="+mn-ea"/>
                          <a:cs typeface="+mn-cs"/>
                        </a:rPr>
                        <a:t>30/08/2026</a:t>
                      </a:r>
                    </a:p>
                  </a:txBody>
                  <a:tcPr anchor="ctr"/>
                </a:tc>
                <a:tc>
                  <a:txBody>
                    <a:bodyPr/>
                    <a:lstStyle/>
                    <a:p>
                      <a:pPr algn="ctr"/>
                      <a:r>
                        <a:rPr lang="es-MX" sz="1800" kern="1200">
                          <a:solidFill>
                            <a:schemeClr val="dk1"/>
                          </a:solidFill>
                          <a:latin typeface="+mn-lt"/>
                          <a:ea typeface="+mn-ea"/>
                          <a:cs typeface="+mn-cs"/>
                        </a:rPr>
                        <a:t>7</a:t>
                      </a:r>
                    </a:p>
                  </a:txBody>
                  <a:tcPr anchor="ctr"/>
                </a:tc>
                <a:extLst>
                  <a:ext uri="{0D108BD9-81ED-4DB2-BD59-A6C34878D82A}">
                    <a16:rowId xmlns:a16="http://schemas.microsoft.com/office/drawing/2014/main" val="1344884822"/>
                  </a:ext>
                </a:extLst>
              </a:tr>
              <a:tr h="508000">
                <a:tc>
                  <a:txBody>
                    <a:bodyPr/>
                    <a:lstStyle/>
                    <a:p>
                      <a:pPr algn="l"/>
                      <a:r>
                        <a:rPr lang="es-MX" sz="1800" kern="1200" dirty="0">
                          <a:solidFill>
                            <a:schemeClr val="dk1"/>
                          </a:solidFill>
                          <a:latin typeface="+mn-lt"/>
                          <a:ea typeface="+mn-ea"/>
                          <a:cs typeface="+mn-cs"/>
                        </a:rPr>
                        <a:t>Implementación inicial</a:t>
                      </a:r>
                    </a:p>
                  </a:txBody>
                  <a:tcPr anchor="ctr"/>
                </a:tc>
                <a:tc>
                  <a:txBody>
                    <a:bodyPr/>
                    <a:lstStyle/>
                    <a:p>
                      <a:pPr algn="ctr"/>
                      <a:r>
                        <a:rPr lang="es-MX" sz="1800" kern="1200">
                          <a:solidFill>
                            <a:schemeClr val="dk1"/>
                          </a:solidFill>
                          <a:latin typeface="+mn-lt"/>
                          <a:ea typeface="+mn-ea"/>
                          <a:cs typeface="+mn-cs"/>
                        </a:rPr>
                        <a:t>31/08/2026</a:t>
                      </a:r>
                    </a:p>
                  </a:txBody>
                  <a:tcPr anchor="ctr"/>
                </a:tc>
                <a:tc>
                  <a:txBody>
                    <a:bodyPr/>
                    <a:lstStyle/>
                    <a:p>
                      <a:pPr algn="ctr"/>
                      <a:r>
                        <a:rPr lang="es-MX" sz="1800" kern="1200">
                          <a:solidFill>
                            <a:schemeClr val="dk1"/>
                          </a:solidFill>
                          <a:latin typeface="+mn-lt"/>
                          <a:ea typeface="+mn-ea"/>
                          <a:cs typeface="+mn-cs"/>
                        </a:rPr>
                        <a:t>06/09/2026</a:t>
                      </a:r>
                    </a:p>
                  </a:txBody>
                  <a:tcPr anchor="ctr"/>
                </a:tc>
                <a:tc>
                  <a:txBody>
                    <a:bodyPr/>
                    <a:lstStyle/>
                    <a:p>
                      <a:pPr algn="ctr"/>
                      <a:r>
                        <a:rPr lang="es-MX" sz="1800" kern="1200">
                          <a:solidFill>
                            <a:schemeClr val="dk1"/>
                          </a:solidFill>
                          <a:latin typeface="+mn-lt"/>
                          <a:ea typeface="+mn-ea"/>
                          <a:cs typeface="+mn-cs"/>
                        </a:rPr>
                        <a:t>7</a:t>
                      </a:r>
                    </a:p>
                  </a:txBody>
                  <a:tcPr anchor="ctr"/>
                </a:tc>
                <a:extLst>
                  <a:ext uri="{0D108BD9-81ED-4DB2-BD59-A6C34878D82A}">
                    <a16:rowId xmlns:a16="http://schemas.microsoft.com/office/drawing/2014/main" val="3573057371"/>
                  </a:ext>
                </a:extLst>
              </a:tr>
              <a:tr h="508000">
                <a:tc>
                  <a:txBody>
                    <a:bodyPr/>
                    <a:lstStyle/>
                    <a:p>
                      <a:pPr algn="l"/>
                      <a:r>
                        <a:rPr lang="es-MX" sz="1800" kern="1200" dirty="0">
                          <a:solidFill>
                            <a:schemeClr val="dk1"/>
                          </a:solidFill>
                          <a:latin typeface="+mn-lt"/>
                          <a:ea typeface="+mn-ea"/>
                          <a:cs typeface="+mn-cs"/>
                        </a:rPr>
                        <a:t>Implementación completa</a:t>
                      </a:r>
                    </a:p>
                  </a:txBody>
                  <a:tcPr anchor="ctr"/>
                </a:tc>
                <a:tc>
                  <a:txBody>
                    <a:bodyPr/>
                    <a:lstStyle/>
                    <a:p>
                      <a:pPr algn="ctr"/>
                      <a:r>
                        <a:rPr lang="es-MX" sz="1800" kern="1200">
                          <a:solidFill>
                            <a:schemeClr val="dk1"/>
                          </a:solidFill>
                          <a:latin typeface="+mn-lt"/>
                          <a:ea typeface="+mn-ea"/>
                          <a:cs typeface="+mn-cs"/>
                        </a:rPr>
                        <a:t>07/09/2026</a:t>
                      </a:r>
                    </a:p>
                  </a:txBody>
                  <a:tcPr anchor="ctr"/>
                </a:tc>
                <a:tc>
                  <a:txBody>
                    <a:bodyPr/>
                    <a:lstStyle/>
                    <a:p>
                      <a:pPr algn="ctr"/>
                      <a:r>
                        <a:rPr lang="es-MX" sz="1800" kern="1200">
                          <a:solidFill>
                            <a:schemeClr val="dk1"/>
                          </a:solidFill>
                          <a:latin typeface="+mn-lt"/>
                          <a:ea typeface="+mn-ea"/>
                          <a:cs typeface="+mn-cs"/>
                        </a:rPr>
                        <a:t>13/09/2026</a:t>
                      </a:r>
                    </a:p>
                  </a:txBody>
                  <a:tcPr anchor="ctr"/>
                </a:tc>
                <a:tc>
                  <a:txBody>
                    <a:bodyPr/>
                    <a:lstStyle/>
                    <a:p>
                      <a:pPr algn="ctr"/>
                      <a:r>
                        <a:rPr lang="es-MX" sz="1800" kern="1200">
                          <a:solidFill>
                            <a:schemeClr val="dk1"/>
                          </a:solidFill>
                          <a:latin typeface="+mn-lt"/>
                          <a:ea typeface="+mn-ea"/>
                          <a:cs typeface="+mn-cs"/>
                        </a:rPr>
                        <a:t>7</a:t>
                      </a:r>
                    </a:p>
                  </a:txBody>
                  <a:tcPr anchor="ctr"/>
                </a:tc>
                <a:extLst>
                  <a:ext uri="{0D108BD9-81ED-4DB2-BD59-A6C34878D82A}">
                    <a16:rowId xmlns:a16="http://schemas.microsoft.com/office/drawing/2014/main" val="4232537074"/>
                  </a:ext>
                </a:extLst>
              </a:tr>
              <a:tr h="508000">
                <a:tc>
                  <a:txBody>
                    <a:bodyPr/>
                    <a:lstStyle/>
                    <a:p>
                      <a:pPr algn="l"/>
                      <a:r>
                        <a:rPr lang="es-MX" sz="1800" kern="1200" dirty="0">
                          <a:solidFill>
                            <a:schemeClr val="dk1"/>
                          </a:solidFill>
                          <a:latin typeface="+mn-lt"/>
                          <a:ea typeface="+mn-ea"/>
                          <a:cs typeface="+mn-cs"/>
                        </a:rPr>
                        <a:t>Pruebas piloto</a:t>
                      </a:r>
                    </a:p>
                  </a:txBody>
                  <a:tcPr anchor="ctr"/>
                </a:tc>
                <a:tc>
                  <a:txBody>
                    <a:bodyPr/>
                    <a:lstStyle/>
                    <a:p>
                      <a:pPr algn="ctr"/>
                      <a:r>
                        <a:rPr lang="es-MX" sz="1800" kern="1200">
                          <a:solidFill>
                            <a:schemeClr val="dk1"/>
                          </a:solidFill>
                          <a:latin typeface="+mn-lt"/>
                          <a:ea typeface="+mn-ea"/>
                          <a:cs typeface="+mn-cs"/>
                        </a:rPr>
                        <a:t>14/09/2026</a:t>
                      </a:r>
                    </a:p>
                  </a:txBody>
                  <a:tcPr anchor="ctr"/>
                </a:tc>
                <a:tc>
                  <a:txBody>
                    <a:bodyPr/>
                    <a:lstStyle/>
                    <a:p>
                      <a:pPr algn="ctr"/>
                      <a:r>
                        <a:rPr lang="es-MX" sz="1800" kern="1200">
                          <a:solidFill>
                            <a:schemeClr val="dk1"/>
                          </a:solidFill>
                          <a:latin typeface="+mn-lt"/>
                          <a:ea typeface="+mn-ea"/>
                          <a:cs typeface="+mn-cs"/>
                        </a:rPr>
                        <a:t>20/09/2026</a:t>
                      </a:r>
                    </a:p>
                  </a:txBody>
                  <a:tcPr anchor="ctr"/>
                </a:tc>
                <a:tc>
                  <a:txBody>
                    <a:bodyPr/>
                    <a:lstStyle/>
                    <a:p>
                      <a:pPr algn="ctr"/>
                      <a:r>
                        <a:rPr lang="es-MX" sz="1800" kern="1200">
                          <a:solidFill>
                            <a:schemeClr val="dk1"/>
                          </a:solidFill>
                          <a:latin typeface="+mn-lt"/>
                          <a:ea typeface="+mn-ea"/>
                          <a:cs typeface="+mn-cs"/>
                        </a:rPr>
                        <a:t>7</a:t>
                      </a:r>
                    </a:p>
                  </a:txBody>
                  <a:tcPr anchor="ctr"/>
                </a:tc>
                <a:extLst>
                  <a:ext uri="{0D108BD9-81ED-4DB2-BD59-A6C34878D82A}">
                    <a16:rowId xmlns:a16="http://schemas.microsoft.com/office/drawing/2014/main" val="4185479544"/>
                  </a:ext>
                </a:extLst>
              </a:tr>
              <a:tr h="508000">
                <a:tc>
                  <a:txBody>
                    <a:bodyPr/>
                    <a:lstStyle/>
                    <a:p>
                      <a:pPr algn="l"/>
                      <a:r>
                        <a:rPr lang="es-MX" sz="1800" kern="1200" dirty="0">
                          <a:solidFill>
                            <a:schemeClr val="dk1"/>
                          </a:solidFill>
                          <a:latin typeface="+mn-lt"/>
                          <a:ea typeface="+mn-ea"/>
                          <a:cs typeface="+mn-cs"/>
                        </a:rPr>
                        <a:t>Corridas y escenario alternativo</a:t>
                      </a:r>
                    </a:p>
                  </a:txBody>
                  <a:tcPr anchor="ctr"/>
                </a:tc>
                <a:tc>
                  <a:txBody>
                    <a:bodyPr/>
                    <a:lstStyle/>
                    <a:p>
                      <a:pPr algn="ctr"/>
                      <a:r>
                        <a:rPr lang="es-MX" sz="1800" kern="1200" dirty="0">
                          <a:solidFill>
                            <a:schemeClr val="dk1"/>
                          </a:solidFill>
                          <a:latin typeface="+mn-lt"/>
                          <a:ea typeface="+mn-ea"/>
                          <a:cs typeface="+mn-cs"/>
                        </a:rPr>
                        <a:t>21/09/2026</a:t>
                      </a:r>
                    </a:p>
                  </a:txBody>
                  <a:tcPr anchor="ctr"/>
                </a:tc>
                <a:tc>
                  <a:txBody>
                    <a:bodyPr/>
                    <a:lstStyle/>
                    <a:p>
                      <a:pPr algn="ctr"/>
                      <a:r>
                        <a:rPr lang="es-MX" sz="1800" kern="1200">
                          <a:solidFill>
                            <a:schemeClr val="dk1"/>
                          </a:solidFill>
                          <a:latin typeface="+mn-lt"/>
                          <a:ea typeface="+mn-ea"/>
                          <a:cs typeface="+mn-cs"/>
                        </a:rPr>
                        <a:t>27/09/2026</a:t>
                      </a:r>
                    </a:p>
                  </a:txBody>
                  <a:tcPr anchor="ctr"/>
                </a:tc>
                <a:tc>
                  <a:txBody>
                    <a:bodyPr/>
                    <a:lstStyle/>
                    <a:p>
                      <a:pPr algn="ctr"/>
                      <a:r>
                        <a:rPr lang="es-MX" sz="1800" kern="1200">
                          <a:solidFill>
                            <a:schemeClr val="dk1"/>
                          </a:solidFill>
                          <a:latin typeface="+mn-lt"/>
                          <a:ea typeface="+mn-ea"/>
                          <a:cs typeface="+mn-cs"/>
                        </a:rPr>
                        <a:t>7</a:t>
                      </a:r>
                    </a:p>
                  </a:txBody>
                  <a:tcPr anchor="ctr"/>
                </a:tc>
                <a:extLst>
                  <a:ext uri="{0D108BD9-81ED-4DB2-BD59-A6C34878D82A}">
                    <a16:rowId xmlns:a16="http://schemas.microsoft.com/office/drawing/2014/main" val="925417710"/>
                  </a:ext>
                </a:extLst>
              </a:tr>
              <a:tr h="508000">
                <a:tc>
                  <a:txBody>
                    <a:bodyPr/>
                    <a:lstStyle/>
                    <a:p>
                      <a:pPr algn="l"/>
                      <a:r>
                        <a:rPr lang="es-MX" sz="1800" kern="1200" dirty="0">
                          <a:solidFill>
                            <a:schemeClr val="dk1"/>
                          </a:solidFill>
                          <a:latin typeface="+mn-lt"/>
                          <a:ea typeface="+mn-ea"/>
                          <a:cs typeface="+mn-cs"/>
                        </a:rPr>
                        <a:t>Análisis y reporte final</a:t>
                      </a:r>
                    </a:p>
                  </a:txBody>
                  <a:tcPr anchor="ctr"/>
                </a:tc>
                <a:tc>
                  <a:txBody>
                    <a:bodyPr/>
                    <a:lstStyle/>
                    <a:p>
                      <a:pPr algn="ctr"/>
                      <a:r>
                        <a:rPr lang="es-MX" sz="1800" kern="1200" dirty="0">
                          <a:solidFill>
                            <a:schemeClr val="dk1"/>
                          </a:solidFill>
                          <a:latin typeface="+mn-lt"/>
                          <a:ea typeface="+mn-ea"/>
                          <a:cs typeface="+mn-cs"/>
                        </a:rPr>
                        <a:t>28/09/2026</a:t>
                      </a:r>
                    </a:p>
                  </a:txBody>
                  <a:tcPr anchor="ctr"/>
                </a:tc>
                <a:tc>
                  <a:txBody>
                    <a:bodyPr/>
                    <a:lstStyle/>
                    <a:p>
                      <a:pPr algn="ctr"/>
                      <a:r>
                        <a:rPr lang="es-MX" sz="1800" kern="1200" dirty="0">
                          <a:solidFill>
                            <a:schemeClr val="dk1"/>
                          </a:solidFill>
                          <a:latin typeface="+mn-lt"/>
                          <a:ea typeface="+mn-ea"/>
                          <a:cs typeface="+mn-cs"/>
                        </a:rPr>
                        <a:t>11/10/2026</a:t>
                      </a:r>
                    </a:p>
                  </a:txBody>
                  <a:tcPr anchor="ctr"/>
                </a:tc>
                <a:tc>
                  <a:txBody>
                    <a:bodyPr/>
                    <a:lstStyle/>
                    <a:p>
                      <a:pPr algn="ctr"/>
                      <a:r>
                        <a:rPr lang="es-MX" sz="1800" kern="1200" dirty="0">
                          <a:solidFill>
                            <a:schemeClr val="dk1"/>
                          </a:solidFill>
                          <a:latin typeface="+mn-lt"/>
                          <a:ea typeface="+mn-ea"/>
                          <a:cs typeface="+mn-cs"/>
                        </a:rPr>
                        <a:t>14</a:t>
                      </a:r>
                    </a:p>
                  </a:txBody>
                  <a:tcPr anchor="ctr"/>
                </a:tc>
                <a:extLst>
                  <a:ext uri="{0D108BD9-81ED-4DB2-BD59-A6C34878D82A}">
                    <a16:rowId xmlns:a16="http://schemas.microsoft.com/office/drawing/2014/main" val="377197681"/>
                  </a:ext>
                </a:extLst>
              </a:tr>
            </a:tbl>
          </a:graphicData>
        </a:graphic>
      </p:graphicFrame>
    </p:spTree>
    <p:extLst>
      <p:ext uri="{BB962C8B-B14F-4D97-AF65-F5344CB8AC3E}">
        <p14:creationId xmlns:p14="http://schemas.microsoft.com/office/powerpoint/2010/main" val="3250148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5A297E-6972-C50B-BB18-BE2698AE614B}"/>
              </a:ext>
            </a:extLst>
          </p:cNvPr>
          <p:cNvSpPr>
            <a:spLocks noGrp="1"/>
          </p:cNvSpPr>
          <p:nvPr>
            <p:ph type="title"/>
          </p:nvPr>
        </p:nvSpPr>
        <p:spPr/>
        <p:txBody>
          <a:bodyPr>
            <a:normAutofit/>
          </a:bodyPr>
          <a:lstStyle/>
          <a:p>
            <a:r>
              <a:rPr lang="es-MX" sz="3200" b="1">
                <a:solidFill>
                  <a:srgbClr val="4472C4"/>
                </a:solidFill>
              </a:rPr>
              <a:t>Recursos humanos, tecnológicos y materiales</a:t>
            </a:r>
          </a:p>
        </p:txBody>
      </p:sp>
      <p:graphicFrame>
        <p:nvGraphicFramePr>
          <p:cNvPr id="4" name="Tabla 3">
            <a:extLst>
              <a:ext uri="{FF2B5EF4-FFF2-40B4-BE49-F238E27FC236}">
                <a16:creationId xmlns:a16="http://schemas.microsoft.com/office/drawing/2014/main" id="{20AAD184-19A5-4CAA-AC06-5F1F641C289A}"/>
              </a:ext>
            </a:extLst>
          </p:cNvPr>
          <p:cNvGraphicFramePr>
            <a:graphicFrameLocks noGrp="1"/>
          </p:cNvGraphicFramePr>
          <p:nvPr>
            <p:extLst>
              <p:ext uri="{D42A27DB-BD31-4B8C-83A1-F6EECF244321}">
                <p14:modId xmlns:p14="http://schemas.microsoft.com/office/powerpoint/2010/main" val="3742450235"/>
              </p:ext>
            </p:extLst>
          </p:nvPr>
        </p:nvGraphicFramePr>
        <p:xfrm>
          <a:off x="838200" y="1905000"/>
          <a:ext cx="10515600" cy="3606800"/>
        </p:xfrm>
        <a:graphic>
          <a:graphicData uri="http://schemas.openxmlformats.org/drawingml/2006/table">
            <a:tbl>
              <a:tblPr firstRow="1" bandRow="1">
                <a:tableStyleId>{FABFCF23-3B69-468F-B69F-88F6DE6A72F2}</a:tableStyleId>
              </a:tblPr>
              <a:tblGrid>
                <a:gridCol w="1397000">
                  <a:extLst>
                    <a:ext uri="{9D8B030D-6E8A-4147-A177-3AD203B41FA5}">
                      <a16:colId xmlns:a16="http://schemas.microsoft.com/office/drawing/2014/main" val="598150651"/>
                    </a:ext>
                  </a:extLst>
                </a:gridCol>
                <a:gridCol w="3327400">
                  <a:extLst>
                    <a:ext uri="{9D8B030D-6E8A-4147-A177-3AD203B41FA5}">
                      <a16:colId xmlns:a16="http://schemas.microsoft.com/office/drawing/2014/main" val="2378977864"/>
                    </a:ext>
                  </a:extLst>
                </a:gridCol>
                <a:gridCol w="3048000">
                  <a:extLst>
                    <a:ext uri="{9D8B030D-6E8A-4147-A177-3AD203B41FA5}">
                      <a16:colId xmlns:a16="http://schemas.microsoft.com/office/drawing/2014/main" val="3280160395"/>
                    </a:ext>
                  </a:extLst>
                </a:gridCol>
                <a:gridCol w="2743200">
                  <a:extLst>
                    <a:ext uri="{9D8B030D-6E8A-4147-A177-3AD203B41FA5}">
                      <a16:colId xmlns:a16="http://schemas.microsoft.com/office/drawing/2014/main" val="3584398236"/>
                    </a:ext>
                  </a:extLst>
                </a:gridCol>
              </a:tblGrid>
              <a:tr h="889000">
                <a:tc>
                  <a:txBody>
                    <a:bodyPr/>
                    <a:lstStyle/>
                    <a:p>
                      <a:r>
                        <a:rPr lang="es-MX" sz="1800" kern="1200" dirty="0">
                          <a:solidFill>
                            <a:schemeClr val="dk1"/>
                          </a:solidFill>
                          <a:latin typeface="+mn-lt"/>
                          <a:ea typeface="+mn-ea"/>
                          <a:cs typeface="+mn-cs"/>
                        </a:rPr>
                        <a:t>Proyecto</a:t>
                      </a:r>
                    </a:p>
                  </a:txBody>
                  <a:tcPr anchor="ctr"/>
                </a:tc>
                <a:tc>
                  <a:txBody>
                    <a:bodyPr/>
                    <a:lstStyle/>
                    <a:p>
                      <a:r>
                        <a:rPr lang="es-MX" sz="1800" kern="1200">
                          <a:solidFill>
                            <a:schemeClr val="dk1"/>
                          </a:solidFill>
                          <a:latin typeface="+mn-lt"/>
                          <a:ea typeface="+mn-ea"/>
                          <a:cs typeface="+mn-cs"/>
                        </a:rPr>
                        <a:t>Recursos humanos</a:t>
                      </a:r>
                    </a:p>
                  </a:txBody>
                  <a:tcPr anchor="ctr"/>
                </a:tc>
                <a:tc>
                  <a:txBody>
                    <a:bodyPr/>
                    <a:lstStyle/>
                    <a:p>
                      <a:r>
                        <a:rPr lang="es-MX" sz="1800" kern="1200">
                          <a:solidFill>
                            <a:schemeClr val="dk1"/>
                          </a:solidFill>
                          <a:latin typeface="+mn-lt"/>
                          <a:ea typeface="+mn-ea"/>
                          <a:cs typeface="+mn-cs"/>
                        </a:rPr>
                        <a:t>Recursos tecnológicos</a:t>
                      </a:r>
                    </a:p>
                  </a:txBody>
                  <a:tcPr anchor="ctr"/>
                </a:tc>
                <a:tc>
                  <a:txBody>
                    <a:bodyPr/>
                    <a:lstStyle/>
                    <a:p>
                      <a:r>
                        <a:rPr lang="es-MX" sz="1800" kern="1200">
                          <a:solidFill>
                            <a:schemeClr val="dk1"/>
                          </a:solidFill>
                          <a:latin typeface="+mn-lt"/>
                          <a:ea typeface="+mn-ea"/>
                          <a:cs typeface="+mn-cs"/>
                        </a:rPr>
                        <a:t>Materiales</a:t>
                      </a:r>
                    </a:p>
                  </a:txBody>
                  <a:tcPr anchor="ctr"/>
                </a:tc>
                <a:extLst>
                  <a:ext uri="{0D108BD9-81ED-4DB2-BD59-A6C34878D82A}">
                    <a16:rowId xmlns:a16="http://schemas.microsoft.com/office/drawing/2014/main" val="1659410678"/>
                  </a:ext>
                </a:extLst>
              </a:tr>
              <a:tr h="889000">
                <a:tc>
                  <a:txBody>
                    <a:bodyPr/>
                    <a:lstStyle/>
                    <a:p>
                      <a:pPr algn="l"/>
                      <a:r>
                        <a:rPr lang="es-MX" sz="1800" kern="1200" dirty="0">
                          <a:solidFill>
                            <a:schemeClr val="dk1"/>
                          </a:solidFill>
                          <a:latin typeface="+mn-lt"/>
                          <a:ea typeface="+mn-ea"/>
                          <a:cs typeface="+mn-cs"/>
                        </a:rPr>
                        <a:t>Brandon</a:t>
                      </a:r>
                    </a:p>
                  </a:txBody>
                  <a:tcPr anchor="ctr"/>
                </a:tc>
                <a:tc>
                  <a:txBody>
                    <a:bodyPr/>
                    <a:lstStyle/>
                    <a:p>
                      <a:pPr algn="ctr"/>
                      <a:r>
                        <a:rPr lang="es-MX" sz="1800" kern="1200" dirty="0">
                          <a:solidFill>
                            <a:schemeClr val="dk1"/>
                          </a:solidFill>
                          <a:latin typeface="+mn-lt"/>
                          <a:ea typeface="+mn-ea"/>
                          <a:cs typeface="+mn-cs"/>
                        </a:rPr>
                        <a:t>1 recepcionista, 3 mecánicos y 1 supervisor</a:t>
                      </a:r>
                    </a:p>
                  </a:txBody>
                  <a:tcPr anchor="ctr"/>
                </a:tc>
                <a:tc>
                  <a:txBody>
                    <a:bodyPr/>
                    <a:lstStyle/>
                    <a:p>
                      <a:pPr algn="l"/>
                      <a:r>
                        <a:rPr lang="es-MX" sz="1800" kern="1200">
                          <a:solidFill>
                            <a:schemeClr val="dk1"/>
                          </a:solidFill>
                          <a:latin typeface="+mn-lt"/>
                          <a:ea typeface="+mn-ea"/>
                          <a:cs typeface="+mn-cs"/>
                        </a:rPr>
                        <a:t>Computadora, IntelliJ IDEA, Java, Python, SimPy y R</a:t>
                      </a:r>
                    </a:p>
                  </a:txBody>
                  <a:tcPr anchor="ctr"/>
                </a:tc>
                <a:tc>
                  <a:txBody>
                    <a:bodyPr/>
                    <a:lstStyle/>
                    <a:p>
                      <a:pPr algn="l"/>
                      <a:r>
                        <a:rPr lang="es-MX" sz="1800" kern="1200">
                          <a:solidFill>
                            <a:schemeClr val="dk1"/>
                          </a:solidFill>
                          <a:latin typeface="+mn-lt"/>
                          <a:ea typeface="+mn-ea"/>
                          <a:cs typeface="+mn-cs"/>
                        </a:rPr>
                        <a:t>Acta, plan, cuestionario, BPMN y archivos de resultados</a:t>
                      </a:r>
                    </a:p>
                  </a:txBody>
                  <a:tcPr anchor="ctr"/>
                </a:tc>
                <a:extLst>
                  <a:ext uri="{0D108BD9-81ED-4DB2-BD59-A6C34878D82A}">
                    <a16:rowId xmlns:a16="http://schemas.microsoft.com/office/drawing/2014/main" val="1512483524"/>
                  </a:ext>
                </a:extLst>
              </a:tr>
              <a:tr h="889000">
                <a:tc>
                  <a:txBody>
                    <a:bodyPr/>
                    <a:lstStyle/>
                    <a:p>
                      <a:pPr algn="l"/>
                      <a:r>
                        <a:rPr lang="es-MX" sz="1800" kern="1200">
                          <a:solidFill>
                            <a:schemeClr val="dk1"/>
                          </a:solidFill>
                          <a:latin typeface="+mn-lt"/>
                          <a:ea typeface="+mn-ea"/>
                          <a:cs typeface="+mn-cs"/>
                        </a:rPr>
                        <a:t>Josefina</a:t>
                      </a:r>
                    </a:p>
                  </a:txBody>
                  <a:tcPr anchor="ctr"/>
                </a:tc>
                <a:tc>
                  <a:txBody>
                    <a:bodyPr/>
                    <a:lstStyle/>
                    <a:p>
                      <a:pPr algn="ctr"/>
                      <a:r>
                        <a:rPr lang="es-MX" sz="1800" kern="1200" dirty="0">
                          <a:solidFill>
                            <a:schemeClr val="dk1"/>
                          </a:solidFill>
                          <a:latin typeface="+mn-lt"/>
                          <a:ea typeface="+mn-ea"/>
                          <a:cs typeface="+mn-cs"/>
                        </a:rPr>
                        <a:t>5 empleados y una máquina de llenado.</a:t>
                      </a:r>
                    </a:p>
                  </a:txBody>
                  <a:tcPr anchor="ctr"/>
                </a:tc>
                <a:tc>
                  <a:txBody>
                    <a:bodyPr/>
                    <a:lstStyle/>
                    <a:p>
                      <a:pPr algn="l"/>
                      <a:r>
                        <a:rPr lang="es-MX" sz="1800" kern="1200" dirty="0">
                          <a:solidFill>
                            <a:schemeClr val="dk1"/>
                          </a:solidFill>
                          <a:latin typeface="+mn-lt"/>
                          <a:ea typeface="+mn-ea"/>
                          <a:cs typeface="+mn-cs"/>
                        </a:rPr>
                        <a:t>Computadora, Internet y Bizagi </a:t>
                      </a:r>
                      <a:r>
                        <a:rPr lang="es-MX" sz="1800" kern="1200" dirty="0" err="1">
                          <a:solidFill>
                            <a:schemeClr val="dk1"/>
                          </a:solidFill>
                          <a:latin typeface="+mn-lt"/>
                          <a:ea typeface="+mn-ea"/>
                          <a:cs typeface="+mn-cs"/>
                        </a:rPr>
                        <a:t>Modeler</a:t>
                      </a:r>
                      <a:endParaRPr lang="es-MX" sz="1800" kern="1200" dirty="0">
                        <a:solidFill>
                          <a:schemeClr val="dk1"/>
                        </a:solidFill>
                        <a:latin typeface="+mn-lt"/>
                        <a:ea typeface="+mn-ea"/>
                        <a:cs typeface="+mn-cs"/>
                      </a:endParaRPr>
                    </a:p>
                  </a:txBody>
                  <a:tcPr anchor="ctr"/>
                </a:tc>
                <a:tc>
                  <a:txBody>
                    <a:bodyPr/>
                    <a:lstStyle/>
                    <a:p>
                      <a:pPr algn="l"/>
                      <a:r>
                        <a:rPr lang="es-MX" sz="1800" kern="1200">
                          <a:solidFill>
                            <a:schemeClr val="dk1"/>
                          </a:solidFill>
                          <a:latin typeface="+mn-lt"/>
                          <a:ea typeface="+mn-ea"/>
                          <a:cs typeface="+mn-cs"/>
                        </a:rPr>
                        <a:t>Acta, plan, cuestionario, BPM/PDF y capturas</a:t>
                      </a:r>
                    </a:p>
                  </a:txBody>
                  <a:tcPr anchor="ctr"/>
                </a:tc>
                <a:extLst>
                  <a:ext uri="{0D108BD9-81ED-4DB2-BD59-A6C34878D82A}">
                    <a16:rowId xmlns:a16="http://schemas.microsoft.com/office/drawing/2014/main" val="3129329674"/>
                  </a:ext>
                </a:extLst>
              </a:tr>
              <a:tr h="889000">
                <a:tc>
                  <a:txBody>
                    <a:bodyPr/>
                    <a:lstStyle/>
                    <a:p>
                      <a:pPr algn="l"/>
                      <a:r>
                        <a:rPr lang="es-MX" sz="1800" kern="1200">
                          <a:solidFill>
                            <a:schemeClr val="dk1"/>
                          </a:solidFill>
                          <a:latin typeface="+mn-lt"/>
                          <a:ea typeface="+mn-ea"/>
                          <a:cs typeface="+mn-cs"/>
                        </a:rPr>
                        <a:t>Roberto</a:t>
                      </a:r>
                    </a:p>
                  </a:txBody>
                  <a:tcPr anchor="ctr"/>
                </a:tc>
                <a:tc>
                  <a:txBody>
                    <a:bodyPr/>
                    <a:lstStyle/>
                    <a:p>
                      <a:pPr algn="ctr"/>
                      <a:r>
                        <a:rPr lang="es-MX" sz="1800" kern="1200" dirty="0">
                          <a:solidFill>
                            <a:schemeClr val="dk1"/>
                          </a:solidFill>
                          <a:latin typeface="+mn-lt"/>
                          <a:ea typeface="+mn-ea"/>
                          <a:cs typeface="+mn-cs"/>
                        </a:rPr>
                        <a:t>3 técnicos con funciones de recepción, diagnóstico, reparación, calidad y entrega</a:t>
                      </a:r>
                    </a:p>
                  </a:txBody>
                  <a:tcPr anchor="ctr"/>
                </a:tc>
                <a:tc>
                  <a:txBody>
                    <a:bodyPr/>
                    <a:lstStyle/>
                    <a:p>
                      <a:pPr algn="l"/>
                      <a:r>
                        <a:rPr lang="es-MX" sz="1800" kern="1200" dirty="0">
                          <a:solidFill>
                            <a:schemeClr val="dk1"/>
                          </a:solidFill>
                          <a:latin typeface="+mn-lt"/>
                          <a:ea typeface="+mn-ea"/>
                          <a:cs typeface="+mn-cs"/>
                        </a:rPr>
                        <a:t>Computadora, IntelliJ IDEA, </a:t>
                      </a:r>
                      <a:r>
                        <a:rPr lang="es-MX" sz="1800" kern="1200" dirty="0" err="1">
                          <a:solidFill>
                            <a:schemeClr val="dk1"/>
                          </a:solidFill>
                          <a:latin typeface="+mn-lt"/>
                          <a:ea typeface="+mn-ea"/>
                          <a:cs typeface="+mn-cs"/>
                        </a:rPr>
                        <a:t>JavaFX</a:t>
                      </a:r>
                      <a:r>
                        <a:rPr lang="es-MX" sz="1800" kern="1200" dirty="0">
                          <a:solidFill>
                            <a:schemeClr val="dk1"/>
                          </a:solidFill>
                          <a:latin typeface="+mn-lt"/>
                          <a:ea typeface="+mn-ea"/>
                          <a:cs typeface="+mn-cs"/>
                        </a:rPr>
                        <a:t>, </a:t>
                      </a:r>
                      <a:r>
                        <a:rPr lang="es-MX" sz="1800" kern="1200" dirty="0" err="1">
                          <a:solidFill>
                            <a:schemeClr val="dk1"/>
                          </a:solidFill>
                          <a:latin typeface="+mn-lt"/>
                          <a:ea typeface="+mn-ea"/>
                          <a:cs typeface="+mn-cs"/>
                        </a:rPr>
                        <a:t>Scene</a:t>
                      </a:r>
                      <a:r>
                        <a:rPr lang="es-MX" sz="1800" kern="1200" dirty="0">
                          <a:solidFill>
                            <a:schemeClr val="dk1"/>
                          </a:solidFill>
                          <a:latin typeface="+mn-lt"/>
                          <a:ea typeface="+mn-ea"/>
                          <a:cs typeface="+mn-cs"/>
                        </a:rPr>
                        <a:t> </a:t>
                      </a:r>
                      <a:r>
                        <a:rPr lang="es-MX" sz="1800" kern="1200" dirty="0" err="1">
                          <a:solidFill>
                            <a:schemeClr val="dk1"/>
                          </a:solidFill>
                          <a:latin typeface="+mn-lt"/>
                          <a:ea typeface="+mn-ea"/>
                          <a:cs typeface="+mn-cs"/>
                        </a:rPr>
                        <a:t>Builder</a:t>
                      </a:r>
                      <a:r>
                        <a:rPr lang="es-MX" sz="1800" kern="1200" dirty="0">
                          <a:solidFill>
                            <a:schemeClr val="dk1"/>
                          </a:solidFill>
                          <a:latin typeface="+mn-lt"/>
                          <a:ea typeface="+mn-ea"/>
                          <a:cs typeface="+mn-cs"/>
                        </a:rPr>
                        <a:t> y </a:t>
                      </a:r>
                      <a:r>
                        <a:rPr lang="es-MX" dirty="0"/>
                        <a:t>Bizagi </a:t>
                      </a:r>
                      <a:r>
                        <a:rPr lang="es-MX" dirty="0" err="1"/>
                        <a:t>Modeler</a:t>
                      </a:r>
                      <a:endParaRPr lang="es-MX" sz="1800" kern="1200" dirty="0">
                        <a:solidFill>
                          <a:schemeClr val="dk1"/>
                        </a:solidFill>
                        <a:latin typeface="+mn-lt"/>
                        <a:ea typeface="+mn-ea"/>
                        <a:cs typeface="+mn-cs"/>
                      </a:endParaRPr>
                    </a:p>
                  </a:txBody>
                  <a:tcPr anchor="ctr"/>
                </a:tc>
                <a:tc>
                  <a:txBody>
                    <a:bodyPr/>
                    <a:lstStyle/>
                    <a:p>
                      <a:pPr algn="l"/>
                      <a:r>
                        <a:rPr lang="es-MX" sz="1800" kern="1200" dirty="0">
                          <a:solidFill>
                            <a:schemeClr val="dk1"/>
                          </a:solidFill>
                          <a:latin typeface="+mn-lt"/>
                          <a:ea typeface="+mn-ea"/>
                          <a:cs typeface="+mn-cs"/>
                        </a:rPr>
                        <a:t>Acta, plan, cuestionario, BPMN e imagen del proceso</a:t>
                      </a:r>
                    </a:p>
                  </a:txBody>
                  <a:tcPr anchor="ctr"/>
                </a:tc>
                <a:extLst>
                  <a:ext uri="{0D108BD9-81ED-4DB2-BD59-A6C34878D82A}">
                    <a16:rowId xmlns:a16="http://schemas.microsoft.com/office/drawing/2014/main" val="1586105892"/>
                  </a:ext>
                </a:extLst>
              </a:tr>
            </a:tbl>
          </a:graphicData>
        </a:graphic>
      </p:graphicFrame>
    </p:spTree>
    <p:extLst>
      <p:ext uri="{BB962C8B-B14F-4D97-AF65-F5344CB8AC3E}">
        <p14:creationId xmlns:p14="http://schemas.microsoft.com/office/powerpoint/2010/main" val="2781675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BF5061-A98D-8755-224C-B5BF6687D69C}"/>
              </a:ext>
            </a:extLst>
          </p:cNvPr>
          <p:cNvSpPr>
            <a:spLocks noGrp="1"/>
          </p:cNvSpPr>
          <p:nvPr>
            <p:ph type="title"/>
          </p:nvPr>
        </p:nvSpPr>
        <p:spPr/>
        <p:txBody>
          <a:bodyPr>
            <a:normAutofit/>
          </a:bodyPr>
          <a:lstStyle/>
          <a:p>
            <a:r>
              <a:rPr lang="es-MX" sz="3600" b="1">
                <a:solidFill>
                  <a:srgbClr val="4472C4"/>
                </a:solidFill>
              </a:rPr>
              <a:t>Costos estimados y equipo usado</a:t>
            </a:r>
          </a:p>
        </p:txBody>
      </p:sp>
      <p:graphicFrame>
        <p:nvGraphicFramePr>
          <p:cNvPr id="4" name="Tabla 3">
            <a:extLst>
              <a:ext uri="{FF2B5EF4-FFF2-40B4-BE49-F238E27FC236}">
                <a16:creationId xmlns:a16="http://schemas.microsoft.com/office/drawing/2014/main" id="{9A7359F3-6923-4DF0-A791-52E1D30586EF}"/>
              </a:ext>
            </a:extLst>
          </p:cNvPr>
          <p:cNvGraphicFramePr>
            <a:graphicFrameLocks noGrp="1"/>
          </p:cNvGraphicFramePr>
          <p:nvPr>
            <p:extLst>
              <p:ext uri="{D42A27DB-BD31-4B8C-83A1-F6EECF244321}">
                <p14:modId xmlns:p14="http://schemas.microsoft.com/office/powerpoint/2010/main" val="1880562"/>
              </p:ext>
            </p:extLst>
          </p:nvPr>
        </p:nvGraphicFramePr>
        <p:xfrm>
          <a:off x="838200" y="1879600"/>
          <a:ext cx="10515600" cy="2794002"/>
        </p:xfrm>
        <a:graphic>
          <a:graphicData uri="http://schemas.openxmlformats.org/drawingml/2006/table">
            <a:tbl>
              <a:tblPr firstRow="1" bandRow="1">
                <a:tableStyleId>{FABFCF23-3B69-468F-B69F-88F6DE6A72F2}</a:tableStyleId>
              </a:tblPr>
              <a:tblGrid>
                <a:gridCol w="3124200">
                  <a:extLst>
                    <a:ext uri="{9D8B030D-6E8A-4147-A177-3AD203B41FA5}">
                      <a16:colId xmlns:a16="http://schemas.microsoft.com/office/drawing/2014/main" val="3454445435"/>
                    </a:ext>
                  </a:extLst>
                </a:gridCol>
                <a:gridCol w="2463800">
                  <a:extLst>
                    <a:ext uri="{9D8B030D-6E8A-4147-A177-3AD203B41FA5}">
                      <a16:colId xmlns:a16="http://schemas.microsoft.com/office/drawing/2014/main" val="1614700036"/>
                    </a:ext>
                  </a:extLst>
                </a:gridCol>
                <a:gridCol w="2463800">
                  <a:extLst>
                    <a:ext uri="{9D8B030D-6E8A-4147-A177-3AD203B41FA5}">
                      <a16:colId xmlns:a16="http://schemas.microsoft.com/office/drawing/2014/main" val="327124030"/>
                    </a:ext>
                  </a:extLst>
                </a:gridCol>
                <a:gridCol w="2463800">
                  <a:extLst>
                    <a:ext uri="{9D8B030D-6E8A-4147-A177-3AD203B41FA5}">
                      <a16:colId xmlns:a16="http://schemas.microsoft.com/office/drawing/2014/main" val="1737057282"/>
                    </a:ext>
                  </a:extLst>
                </a:gridCol>
              </a:tblGrid>
              <a:tr h="465667">
                <a:tc>
                  <a:txBody>
                    <a:bodyPr/>
                    <a:lstStyle/>
                    <a:p>
                      <a:pPr marL="0" algn="l" defTabSz="914400" rtl="0" eaLnBrk="1" latinLnBrk="0" hangingPunct="1"/>
                      <a:r>
                        <a:rPr lang="es-MX" sz="1800" kern="1200" dirty="0">
                          <a:solidFill>
                            <a:schemeClr val="dk1"/>
                          </a:solidFill>
                          <a:latin typeface="+mn-lt"/>
                          <a:ea typeface="+mn-ea"/>
                          <a:cs typeface="+mn-cs"/>
                        </a:rPr>
                        <a:t>Concepto</a:t>
                      </a:r>
                    </a:p>
                  </a:txBody>
                  <a:tcPr anchor="ctr"/>
                </a:tc>
                <a:tc>
                  <a:txBody>
                    <a:bodyPr/>
                    <a:lstStyle/>
                    <a:p>
                      <a:pPr marL="0" algn="l" defTabSz="914400" rtl="0" eaLnBrk="1" latinLnBrk="0" hangingPunct="1"/>
                      <a:r>
                        <a:rPr lang="es-MX" sz="1800" kern="1200">
                          <a:solidFill>
                            <a:schemeClr val="dk1"/>
                          </a:solidFill>
                          <a:latin typeface="+mn-lt"/>
                          <a:ea typeface="+mn-ea"/>
                          <a:cs typeface="+mn-cs"/>
                        </a:rPr>
                        <a:t>Brandon</a:t>
                      </a:r>
                    </a:p>
                  </a:txBody>
                  <a:tcPr anchor="ctr"/>
                </a:tc>
                <a:tc>
                  <a:txBody>
                    <a:bodyPr/>
                    <a:lstStyle/>
                    <a:p>
                      <a:pPr marL="0" algn="l" defTabSz="914400" rtl="0" eaLnBrk="1" latinLnBrk="0" hangingPunct="1"/>
                      <a:r>
                        <a:rPr lang="es-MX" sz="1800" kern="1200">
                          <a:solidFill>
                            <a:schemeClr val="dk1"/>
                          </a:solidFill>
                          <a:latin typeface="+mn-lt"/>
                          <a:ea typeface="+mn-ea"/>
                          <a:cs typeface="+mn-cs"/>
                        </a:rPr>
                        <a:t>Josefina</a:t>
                      </a:r>
                    </a:p>
                  </a:txBody>
                  <a:tcPr anchor="ctr"/>
                </a:tc>
                <a:tc>
                  <a:txBody>
                    <a:bodyPr/>
                    <a:lstStyle/>
                    <a:p>
                      <a:pPr marL="0" algn="l" defTabSz="914400" rtl="0" eaLnBrk="1" latinLnBrk="0" hangingPunct="1"/>
                      <a:r>
                        <a:rPr lang="es-MX" sz="1800" kern="1200">
                          <a:solidFill>
                            <a:schemeClr val="dk1"/>
                          </a:solidFill>
                          <a:latin typeface="+mn-lt"/>
                          <a:ea typeface="+mn-ea"/>
                          <a:cs typeface="+mn-cs"/>
                        </a:rPr>
                        <a:t>Roberto</a:t>
                      </a:r>
                    </a:p>
                  </a:txBody>
                  <a:tcPr anchor="ctr"/>
                </a:tc>
                <a:extLst>
                  <a:ext uri="{0D108BD9-81ED-4DB2-BD59-A6C34878D82A}">
                    <a16:rowId xmlns:a16="http://schemas.microsoft.com/office/drawing/2014/main" val="1495608373"/>
                  </a:ext>
                </a:extLst>
              </a:tr>
              <a:tr h="465667">
                <a:tc>
                  <a:txBody>
                    <a:bodyPr/>
                    <a:lstStyle/>
                    <a:p>
                      <a:pPr marL="0" algn="l" defTabSz="914400" rtl="0" eaLnBrk="1" latinLnBrk="0" hangingPunct="1"/>
                      <a:r>
                        <a:rPr lang="es-MX" sz="1800" kern="1200" dirty="0">
                          <a:solidFill>
                            <a:schemeClr val="dk1"/>
                          </a:solidFill>
                          <a:latin typeface="+mn-lt"/>
                          <a:ea typeface="+mn-ea"/>
                          <a:cs typeface="+mn-cs"/>
                        </a:rPr>
                        <a:t>Software</a:t>
                      </a:r>
                    </a:p>
                  </a:txBody>
                  <a:tcPr anchor="ctr"/>
                </a:tc>
                <a:tc>
                  <a:txBody>
                    <a:bodyPr/>
                    <a:lstStyle/>
                    <a:p>
                      <a:pPr marL="0" algn="l" defTabSz="914400" rtl="0" eaLnBrk="1" latinLnBrk="0" hangingPunct="1"/>
                      <a:r>
                        <a:rPr lang="es-MX" sz="1800" kern="1200">
                          <a:solidFill>
                            <a:schemeClr val="dk1"/>
                          </a:solidFill>
                          <a:latin typeface="+mn-lt"/>
                          <a:ea typeface="+mn-ea"/>
                          <a:cs typeface="+mn-cs"/>
                        </a:rPr>
                        <a:t>$0 MXN</a:t>
                      </a:r>
                    </a:p>
                  </a:txBody>
                  <a:tcPr anchor="ctr"/>
                </a:tc>
                <a:tc>
                  <a:txBody>
                    <a:bodyPr/>
                    <a:lstStyle/>
                    <a:p>
                      <a:pPr marL="0" algn="l" defTabSz="914400" rtl="0" eaLnBrk="1" latinLnBrk="0" hangingPunct="1"/>
                      <a:r>
                        <a:rPr lang="es-MX" sz="1800" kern="1200">
                          <a:solidFill>
                            <a:schemeClr val="dk1"/>
                          </a:solidFill>
                          <a:latin typeface="+mn-lt"/>
                          <a:ea typeface="+mn-ea"/>
                          <a:cs typeface="+mn-cs"/>
                        </a:rPr>
                        <a:t>$0 MXN</a:t>
                      </a:r>
                    </a:p>
                  </a:txBody>
                  <a:tcPr anchor="ctr"/>
                </a:tc>
                <a:tc>
                  <a:txBody>
                    <a:bodyPr/>
                    <a:lstStyle/>
                    <a:p>
                      <a:pPr marL="0" algn="l" defTabSz="914400" rtl="0" eaLnBrk="1" latinLnBrk="0" hangingPunct="1"/>
                      <a:r>
                        <a:rPr lang="es-MX" sz="1800" kern="1200">
                          <a:solidFill>
                            <a:schemeClr val="dk1"/>
                          </a:solidFill>
                          <a:latin typeface="+mn-lt"/>
                          <a:ea typeface="+mn-ea"/>
                          <a:cs typeface="+mn-cs"/>
                        </a:rPr>
                        <a:t>$0 MXN</a:t>
                      </a:r>
                    </a:p>
                  </a:txBody>
                  <a:tcPr anchor="ctr"/>
                </a:tc>
                <a:extLst>
                  <a:ext uri="{0D108BD9-81ED-4DB2-BD59-A6C34878D82A}">
                    <a16:rowId xmlns:a16="http://schemas.microsoft.com/office/drawing/2014/main" val="520148671"/>
                  </a:ext>
                </a:extLst>
              </a:tr>
              <a:tr h="465667">
                <a:tc>
                  <a:txBody>
                    <a:bodyPr/>
                    <a:lstStyle/>
                    <a:p>
                      <a:pPr marL="0" algn="l" defTabSz="914400" rtl="0" eaLnBrk="1" latinLnBrk="0" hangingPunct="1"/>
                      <a:r>
                        <a:rPr lang="es-MX" sz="1800" kern="1200" dirty="0">
                          <a:solidFill>
                            <a:schemeClr val="dk1"/>
                          </a:solidFill>
                          <a:latin typeface="+mn-lt"/>
                          <a:ea typeface="+mn-ea"/>
                          <a:cs typeface="+mn-cs"/>
                        </a:rPr>
                        <a:t>Equipo de cómputo</a:t>
                      </a:r>
                    </a:p>
                  </a:txBody>
                  <a:tcPr anchor="ctr"/>
                </a:tc>
                <a:tc>
                  <a:txBody>
                    <a:bodyPr/>
                    <a:lstStyle/>
                    <a:p>
                      <a:pPr marL="0" algn="l" defTabSz="914400" rtl="0" eaLnBrk="1" latinLnBrk="0" hangingPunct="1"/>
                      <a:r>
                        <a:rPr lang="es-MX" sz="1800" kern="1200">
                          <a:solidFill>
                            <a:schemeClr val="dk1"/>
                          </a:solidFill>
                          <a:latin typeface="+mn-lt"/>
                          <a:ea typeface="+mn-ea"/>
                          <a:cs typeface="+mn-cs"/>
                        </a:rPr>
                        <a:t>Disponible</a:t>
                      </a:r>
                    </a:p>
                  </a:txBody>
                  <a:tcPr anchor="ctr"/>
                </a:tc>
                <a:tc>
                  <a:txBody>
                    <a:bodyPr/>
                    <a:lstStyle/>
                    <a:p>
                      <a:pPr marL="0" algn="l" defTabSz="914400" rtl="0" eaLnBrk="1" latinLnBrk="0" hangingPunct="1"/>
                      <a:r>
                        <a:rPr lang="es-MX" sz="1800" kern="1200">
                          <a:solidFill>
                            <a:schemeClr val="dk1"/>
                          </a:solidFill>
                          <a:latin typeface="+mn-lt"/>
                          <a:ea typeface="+mn-ea"/>
                          <a:cs typeface="+mn-cs"/>
                        </a:rPr>
                        <a:t>Disponible</a:t>
                      </a:r>
                    </a:p>
                  </a:txBody>
                  <a:tcPr anchor="ctr"/>
                </a:tc>
                <a:tc>
                  <a:txBody>
                    <a:bodyPr/>
                    <a:lstStyle/>
                    <a:p>
                      <a:pPr marL="0" algn="l" defTabSz="914400" rtl="0" eaLnBrk="1" latinLnBrk="0" hangingPunct="1"/>
                      <a:r>
                        <a:rPr lang="es-MX" sz="1800" kern="1200">
                          <a:solidFill>
                            <a:schemeClr val="dk1"/>
                          </a:solidFill>
                          <a:latin typeface="+mn-lt"/>
                          <a:ea typeface="+mn-ea"/>
                          <a:cs typeface="+mn-cs"/>
                        </a:rPr>
                        <a:t>Disponible</a:t>
                      </a:r>
                    </a:p>
                  </a:txBody>
                  <a:tcPr anchor="ctr"/>
                </a:tc>
                <a:extLst>
                  <a:ext uri="{0D108BD9-81ED-4DB2-BD59-A6C34878D82A}">
                    <a16:rowId xmlns:a16="http://schemas.microsoft.com/office/drawing/2014/main" val="507869144"/>
                  </a:ext>
                </a:extLst>
              </a:tr>
              <a:tr h="465667">
                <a:tc>
                  <a:txBody>
                    <a:bodyPr/>
                    <a:lstStyle/>
                    <a:p>
                      <a:pPr marL="0" algn="l" defTabSz="914400" rtl="0" eaLnBrk="1" latinLnBrk="0" hangingPunct="1"/>
                      <a:r>
                        <a:rPr lang="es-MX" sz="1800" kern="1200" dirty="0">
                          <a:solidFill>
                            <a:schemeClr val="dk1"/>
                          </a:solidFill>
                          <a:latin typeface="+mn-lt"/>
                          <a:ea typeface="+mn-ea"/>
                          <a:cs typeface="+mn-cs"/>
                        </a:rPr>
                        <a:t>Internet</a:t>
                      </a:r>
                    </a:p>
                  </a:txBody>
                  <a:tcPr anchor="ctr"/>
                </a:tc>
                <a:tc>
                  <a:txBody>
                    <a:bodyPr/>
                    <a:lstStyle/>
                    <a:p>
                      <a:pPr marL="0" algn="l" defTabSz="914400" rtl="0" eaLnBrk="1" latinLnBrk="0" hangingPunct="1"/>
                      <a:r>
                        <a:rPr lang="es-MX" sz="1800" kern="1200">
                          <a:solidFill>
                            <a:schemeClr val="dk1"/>
                          </a:solidFill>
                          <a:latin typeface="+mn-lt"/>
                          <a:ea typeface="+mn-ea"/>
                          <a:cs typeface="+mn-cs"/>
                        </a:rPr>
                        <a:t>Disponible</a:t>
                      </a:r>
                    </a:p>
                  </a:txBody>
                  <a:tcPr anchor="ctr"/>
                </a:tc>
                <a:tc>
                  <a:txBody>
                    <a:bodyPr/>
                    <a:lstStyle/>
                    <a:p>
                      <a:pPr marL="0" algn="l" defTabSz="914400" rtl="0" eaLnBrk="1" latinLnBrk="0" hangingPunct="1"/>
                      <a:r>
                        <a:rPr lang="es-MX" sz="1800" kern="1200">
                          <a:solidFill>
                            <a:schemeClr val="dk1"/>
                          </a:solidFill>
                          <a:latin typeface="+mn-lt"/>
                          <a:ea typeface="+mn-ea"/>
                          <a:cs typeface="+mn-cs"/>
                        </a:rPr>
                        <a:t>Disponible</a:t>
                      </a:r>
                    </a:p>
                  </a:txBody>
                  <a:tcPr anchor="ctr"/>
                </a:tc>
                <a:tc>
                  <a:txBody>
                    <a:bodyPr/>
                    <a:lstStyle/>
                    <a:p>
                      <a:pPr marL="0" algn="l" defTabSz="914400" rtl="0" eaLnBrk="1" latinLnBrk="0" hangingPunct="1"/>
                      <a:r>
                        <a:rPr lang="es-MX" sz="1800" kern="1200">
                          <a:solidFill>
                            <a:schemeClr val="dk1"/>
                          </a:solidFill>
                          <a:latin typeface="+mn-lt"/>
                          <a:ea typeface="+mn-ea"/>
                          <a:cs typeface="+mn-cs"/>
                        </a:rPr>
                        <a:t>Disponible</a:t>
                      </a:r>
                    </a:p>
                  </a:txBody>
                  <a:tcPr anchor="ctr"/>
                </a:tc>
                <a:extLst>
                  <a:ext uri="{0D108BD9-81ED-4DB2-BD59-A6C34878D82A}">
                    <a16:rowId xmlns:a16="http://schemas.microsoft.com/office/drawing/2014/main" val="1362310188"/>
                  </a:ext>
                </a:extLst>
              </a:tr>
              <a:tr h="465667">
                <a:tc>
                  <a:txBody>
                    <a:bodyPr/>
                    <a:lstStyle/>
                    <a:p>
                      <a:pPr marL="0" algn="l" defTabSz="914400" rtl="0" eaLnBrk="1" latinLnBrk="0" hangingPunct="1"/>
                      <a:r>
                        <a:rPr lang="es-MX" sz="1800" kern="1200">
                          <a:solidFill>
                            <a:schemeClr val="dk1"/>
                          </a:solidFill>
                          <a:latin typeface="+mn-lt"/>
                          <a:ea typeface="+mn-ea"/>
                          <a:cs typeface="+mn-cs"/>
                        </a:rPr>
                        <a:t>Documentación</a:t>
                      </a:r>
                    </a:p>
                  </a:txBody>
                  <a:tcPr anchor="ctr"/>
                </a:tc>
                <a:tc>
                  <a:txBody>
                    <a:bodyPr/>
                    <a:lstStyle/>
                    <a:p>
                      <a:pPr marL="0" algn="l" defTabSz="914400" rtl="0" eaLnBrk="1" latinLnBrk="0" hangingPunct="1"/>
                      <a:r>
                        <a:rPr lang="es-MX" sz="1800" kern="1200" dirty="0">
                          <a:solidFill>
                            <a:schemeClr val="dk1"/>
                          </a:solidFill>
                          <a:latin typeface="+mn-lt"/>
                          <a:ea typeface="+mn-ea"/>
                          <a:cs typeface="+mn-cs"/>
                        </a:rPr>
                        <a:t>Digital</a:t>
                      </a:r>
                    </a:p>
                  </a:txBody>
                  <a:tcPr anchor="ctr"/>
                </a:tc>
                <a:tc>
                  <a:txBody>
                    <a:bodyPr/>
                    <a:lstStyle/>
                    <a:p>
                      <a:pPr marL="0" algn="l" defTabSz="914400" rtl="0" eaLnBrk="1" latinLnBrk="0" hangingPunct="1"/>
                      <a:r>
                        <a:rPr lang="es-MX" sz="1800" kern="1200" dirty="0">
                          <a:solidFill>
                            <a:schemeClr val="dk1"/>
                          </a:solidFill>
                          <a:latin typeface="+mn-lt"/>
                          <a:ea typeface="+mn-ea"/>
                          <a:cs typeface="+mn-cs"/>
                        </a:rPr>
                        <a:t>Digital</a:t>
                      </a:r>
                    </a:p>
                  </a:txBody>
                  <a:tcPr anchor="ctr"/>
                </a:tc>
                <a:tc>
                  <a:txBody>
                    <a:bodyPr/>
                    <a:lstStyle/>
                    <a:p>
                      <a:pPr marL="0" algn="l" defTabSz="914400" rtl="0" eaLnBrk="1" latinLnBrk="0" hangingPunct="1"/>
                      <a:r>
                        <a:rPr lang="es-MX" sz="1800" kern="1200">
                          <a:solidFill>
                            <a:schemeClr val="dk1"/>
                          </a:solidFill>
                          <a:latin typeface="+mn-lt"/>
                          <a:ea typeface="+mn-ea"/>
                          <a:cs typeface="+mn-cs"/>
                        </a:rPr>
                        <a:t>Digital</a:t>
                      </a:r>
                    </a:p>
                  </a:txBody>
                  <a:tcPr anchor="ctr"/>
                </a:tc>
                <a:extLst>
                  <a:ext uri="{0D108BD9-81ED-4DB2-BD59-A6C34878D82A}">
                    <a16:rowId xmlns:a16="http://schemas.microsoft.com/office/drawing/2014/main" val="791510196"/>
                  </a:ext>
                </a:extLst>
              </a:tr>
              <a:tr h="465667">
                <a:tc>
                  <a:txBody>
                    <a:bodyPr/>
                    <a:lstStyle/>
                    <a:p>
                      <a:pPr marL="0" algn="l" defTabSz="914400" rtl="0" eaLnBrk="1" latinLnBrk="0" hangingPunct="1"/>
                      <a:r>
                        <a:rPr lang="es-MX" sz="1800" kern="1200">
                          <a:solidFill>
                            <a:schemeClr val="dk1"/>
                          </a:solidFill>
                          <a:latin typeface="+mn-lt"/>
                          <a:ea typeface="+mn-ea"/>
                          <a:cs typeface="+mn-cs"/>
                        </a:rPr>
                        <a:t>Costo directo total</a:t>
                      </a:r>
                    </a:p>
                  </a:txBody>
                  <a:tcPr anchor="ctr"/>
                </a:tc>
                <a:tc>
                  <a:txBody>
                    <a:bodyPr/>
                    <a:lstStyle/>
                    <a:p>
                      <a:pPr marL="0" algn="l" defTabSz="914400" rtl="0" eaLnBrk="1" latinLnBrk="0" hangingPunct="1"/>
                      <a:r>
                        <a:rPr lang="es-MX" sz="1800" kern="1200" dirty="0">
                          <a:solidFill>
                            <a:schemeClr val="dk1"/>
                          </a:solidFill>
                          <a:latin typeface="+mn-lt"/>
                          <a:ea typeface="+mn-ea"/>
                          <a:cs typeface="+mn-cs"/>
                        </a:rPr>
                        <a:t>$0 MXN</a:t>
                      </a:r>
                    </a:p>
                  </a:txBody>
                  <a:tcPr anchor="ctr"/>
                </a:tc>
                <a:tc>
                  <a:txBody>
                    <a:bodyPr/>
                    <a:lstStyle/>
                    <a:p>
                      <a:pPr marL="0" algn="l" defTabSz="914400" rtl="0" eaLnBrk="1" latinLnBrk="0" hangingPunct="1"/>
                      <a:r>
                        <a:rPr lang="es-MX" sz="1800" kern="1200" dirty="0">
                          <a:solidFill>
                            <a:schemeClr val="dk1"/>
                          </a:solidFill>
                          <a:latin typeface="+mn-lt"/>
                          <a:ea typeface="+mn-ea"/>
                          <a:cs typeface="+mn-cs"/>
                        </a:rPr>
                        <a:t>$0 MXN</a:t>
                      </a:r>
                    </a:p>
                  </a:txBody>
                  <a:tcPr anchor="ctr"/>
                </a:tc>
                <a:tc>
                  <a:txBody>
                    <a:bodyPr/>
                    <a:lstStyle/>
                    <a:p>
                      <a:pPr marL="0" algn="l" defTabSz="914400" rtl="0" eaLnBrk="1" latinLnBrk="0" hangingPunct="1"/>
                      <a:r>
                        <a:rPr lang="es-MX" sz="1800" kern="1200" dirty="0">
                          <a:solidFill>
                            <a:schemeClr val="dk1"/>
                          </a:solidFill>
                          <a:latin typeface="+mn-lt"/>
                          <a:ea typeface="+mn-ea"/>
                          <a:cs typeface="+mn-cs"/>
                        </a:rPr>
                        <a:t>$0 MXN</a:t>
                      </a:r>
                    </a:p>
                  </a:txBody>
                  <a:tcPr anchor="ctr"/>
                </a:tc>
                <a:extLst>
                  <a:ext uri="{0D108BD9-81ED-4DB2-BD59-A6C34878D82A}">
                    <a16:rowId xmlns:a16="http://schemas.microsoft.com/office/drawing/2014/main" val="1285252006"/>
                  </a:ext>
                </a:extLst>
              </a:tr>
            </a:tbl>
          </a:graphicData>
        </a:graphic>
      </p:graphicFrame>
      <p:sp>
        <p:nvSpPr>
          <p:cNvPr id="5" name="CuadroTexto 4">
            <a:extLst>
              <a:ext uri="{FF2B5EF4-FFF2-40B4-BE49-F238E27FC236}">
                <a16:creationId xmlns:a16="http://schemas.microsoft.com/office/drawing/2014/main" id="{4A5F40A4-B5DE-4BE1-AA56-BF861C43C19D}"/>
              </a:ext>
            </a:extLst>
          </p:cNvPr>
          <p:cNvSpPr txBox="1"/>
          <p:nvPr/>
        </p:nvSpPr>
        <p:spPr>
          <a:xfrm>
            <a:off x="838200" y="5080000"/>
            <a:ext cx="10515600" cy="8890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s-MX"/>
            </a:defPPr>
            <a:lvl1pPr algn="just">
              <a:defRPr sz="2400"/>
            </a:lvl1pPr>
          </a:lstStyle>
          <a:p>
            <a:r>
              <a:rPr lang="es-MX" dirty="0"/>
              <a:t>Las personas ejecutoras indicaron que utilizarán equipo y software disponibles o gratuitos. Por ello, el costo monetario directo estimado es de $0 MXN. El tiempo de trabajo constituye un recurso, aunque no se asignó una tarifa económica en los cuestionarios.</a:t>
            </a:r>
          </a:p>
        </p:txBody>
      </p:sp>
    </p:spTree>
    <p:extLst>
      <p:ext uri="{BB962C8B-B14F-4D97-AF65-F5344CB8AC3E}">
        <p14:creationId xmlns:p14="http://schemas.microsoft.com/office/powerpoint/2010/main" val="3847023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61F56C-3949-471C-6AC5-ACDC42F0CC26}"/>
              </a:ext>
            </a:extLst>
          </p:cNvPr>
          <p:cNvSpPr>
            <a:spLocks noGrp="1"/>
          </p:cNvSpPr>
          <p:nvPr>
            <p:ph type="title"/>
          </p:nvPr>
        </p:nvSpPr>
        <p:spPr/>
        <p:txBody>
          <a:bodyPr>
            <a:normAutofit/>
          </a:bodyPr>
          <a:lstStyle/>
          <a:p>
            <a:r>
              <a:rPr lang="es-MX" sz="4000" b="1" dirty="0">
                <a:solidFill>
                  <a:srgbClr val="4472C4"/>
                </a:solidFill>
              </a:rPr>
              <a:t>WBS de Brandon</a:t>
            </a:r>
          </a:p>
        </p:txBody>
      </p:sp>
      <p:sp>
        <p:nvSpPr>
          <p:cNvPr id="3" name="CuadroTexto 2">
            <a:extLst>
              <a:ext uri="{FF2B5EF4-FFF2-40B4-BE49-F238E27FC236}">
                <a16:creationId xmlns:a16="http://schemas.microsoft.com/office/drawing/2014/main" id="{F470F1F3-F594-4A6D-A557-C6EF463258BB}"/>
              </a:ext>
            </a:extLst>
          </p:cNvPr>
          <p:cNvSpPr txBox="1"/>
          <p:nvPr/>
        </p:nvSpPr>
        <p:spPr>
          <a:xfrm>
            <a:off x="745434" y="1378225"/>
            <a:ext cx="2397816" cy="45749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s-MX"/>
            </a:defPPr>
            <a:lvl1pPr algn="just">
              <a:defRPr sz="2400"/>
            </a:lvl1pPr>
          </a:lstStyle>
          <a:p>
            <a:r>
              <a:rPr lang="es-MX" sz="1600" dirty="0"/>
              <a:t>La WBS divide el proyecto de Brandon en etapas y paquetes de trabajo que facilitan su planificación y seguimiento. La estructura comprende el análisis del proceso, el desarrollo de la aplicación en Java, la construcción de la simulación en Python, la evaluación de escenarios y la elaboración del reporte final. Esta organización permite identificar las actividades necesarias y verificar el cumplimiento de cada entregable.</a:t>
            </a:r>
          </a:p>
        </p:txBody>
      </p:sp>
      <p:pic>
        <p:nvPicPr>
          <p:cNvPr id="9" name="Imagen 8">
            <a:extLst>
              <a:ext uri="{FF2B5EF4-FFF2-40B4-BE49-F238E27FC236}">
                <a16:creationId xmlns:a16="http://schemas.microsoft.com/office/drawing/2014/main" id="{2A09D2DF-9BFD-63FA-81EB-263330000D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9926" y="1192396"/>
            <a:ext cx="8830916" cy="4946558"/>
          </a:xfrm>
          <a:prstGeom prst="rect">
            <a:avLst/>
          </a:prstGeom>
        </p:spPr>
      </p:pic>
    </p:spTree>
    <p:extLst>
      <p:ext uri="{BB962C8B-B14F-4D97-AF65-F5344CB8AC3E}">
        <p14:creationId xmlns:p14="http://schemas.microsoft.com/office/powerpoint/2010/main" val="1343097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43844F-553A-52D1-89D4-767CC1A0E524}"/>
              </a:ext>
            </a:extLst>
          </p:cNvPr>
          <p:cNvSpPr>
            <a:spLocks noGrp="1"/>
          </p:cNvSpPr>
          <p:nvPr>
            <p:ph type="title"/>
          </p:nvPr>
        </p:nvSpPr>
        <p:spPr/>
        <p:txBody>
          <a:bodyPr>
            <a:normAutofit/>
          </a:bodyPr>
          <a:lstStyle/>
          <a:p>
            <a:r>
              <a:rPr lang="es-MX" sz="4000" b="1">
                <a:solidFill>
                  <a:srgbClr val="4472C4"/>
                </a:solidFill>
              </a:rPr>
              <a:t>WBS de Josefina</a:t>
            </a:r>
          </a:p>
        </p:txBody>
      </p:sp>
      <p:pic>
        <p:nvPicPr>
          <p:cNvPr id="6" name="Imagen 5">
            <a:extLst>
              <a:ext uri="{FF2B5EF4-FFF2-40B4-BE49-F238E27FC236}">
                <a16:creationId xmlns:a16="http://schemas.microsoft.com/office/drawing/2014/main" id="{223D51BF-5087-AD05-708C-2CBF9A0768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400" y="1550143"/>
            <a:ext cx="8916680" cy="3812432"/>
          </a:xfrm>
          <a:prstGeom prst="rect">
            <a:avLst/>
          </a:prstGeom>
        </p:spPr>
      </p:pic>
      <p:sp>
        <p:nvSpPr>
          <p:cNvPr id="4" name="CuadroTexto 3">
            <a:extLst>
              <a:ext uri="{FF2B5EF4-FFF2-40B4-BE49-F238E27FC236}">
                <a16:creationId xmlns:a16="http://schemas.microsoft.com/office/drawing/2014/main" id="{FDEC90CC-3427-E213-BFEC-40D83178770C}"/>
              </a:ext>
            </a:extLst>
          </p:cNvPr>
          <p:cNvSpPr txBox="1"/>
          <p:nvPr/>
        </p:nvSpPr>
        <p:spPr>
          <a:xfrm>
            <a:off x="752475" y="2146638"/>
            <a:ext cx="2447925" cy="3046988"/>
          </a:xfrm>
          <a:prstGeom prst="rect">
            <a:avLst/>
          </a:prstGeom>
          <a:noFill/>
        </p:spPr>
        <p:txBody>
          <a:bodyPr wrap="square">
            <a:spAutoFit/>
          </a:bodyPr>
          <a:lstStyle/>
          <a:p>
            <a:pPr algn="just">
              <a:buNone/>
            </a:pPr>
            <a:r>
              <a:rPr lang="es-MX" sz="1600" dirty="0"/>
              <a:t>La WBS divide el proyecto de Josefina en etapas y paquetes de trabajo que facilitan su planificación y seguimiento. La estructura comprende la definición de parámetros, el diseño del proceso, la construcción del modelo de simulación, la ejecución de escenarios y el análisis de los resultados. </a:t>
            </a:r>
          </a:p>
        </p:txBody>
      </p:sp>
    </p:spTree>
    <p:extLst>
      <p:ext uri="{BB962C8B-B14F-4D97-AF65-F5344CB8AC3E}">
        <p14:creationId xmlns:p14="http://schemas.microsoft.com/office/powerpoint/2010/main" val="2171615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62F38C-2E02-01C4-787E-BB78389C3396}"/>
              </a:ext>
            </a:extLst>
          </p:cNvPr>
          <p:cNvSpPr>
            <a:spLocks noGrp="1"/>
          </p:cNvSpPr>
          <p:nvPr>
            <p:ph type="title"/>
          </p:nvPr>
        </p:nvSpPr>
        <p:spPr/>
        <p:txBody>
          <a:bodyPr>
            <a:normAutofit/>
          </a:bodyPr>
          <a:lstStyle/>
          <a:p>
            <a:r>
              <a:rPr lang="es-MX" sz="4000" b="1">
                <a:solidFill>
                  <a:srgbClr val="4472C4"/>
                </a:solidFill>
              </a:rPr>
              <a:t>WBS de Roberto</a:t>
            </a:r>
          </a:p>
        </p:txBody>
      </p:sp>
      <p:pic>
        <p:nvPicPr>
          <p:cNvPr id="6" name="Imagen 5">
            <a:extLst>
              <a:ext uri="{FF2B5EF4-FFF2-40B4-BE49-F238E27FC236}">
                <a16:creationId xmlns:a16="http://schemas.microsoft.com/office/drawing/2014/main" id="{78F533B9-EEDD-8BDC-3F0A-DF2FF83372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5200" y="1846585"/>
            <a:ext cx="8610599" cy="3681563"/>
          </a:xfrm>
          <a:prstGeom prst="rect">
            <a:avLst/>
          </a:prstGeom>
        </p:spPr>
      </p:pic>
      <p:sp>
        <p:nvSpPr>
          <p:cNvPr id="4" name="CuadroTexto 3">
            <a:extLst>
              <a:ext uri="{FF2B5EF4-FFF2-40B4-BE49-F238E27FC236}">
                <a16:creationId xmlns:a16="http://schemas.microsoft.com/office/drawing/2014/main" id="{A3E61BE7-5725-0A1F-34C8-3523E3755CDD}"/>
              </a:ext>
            </a:extLst>
          </p:cNvPr>
          <p:cNvSpPr txBox="1"/>
          <p:nvPr/>
        </p:nvSpPr>
        <p:spPr>
          <a:xfrm>
            <a:off x="838200" y="1690687"/>
            <a:ext cx="2476500" cy="3046988"/>
          </a:xfrm>
          <a:prstGeom prst="rect">
            <a:avLst/>
          </a:prstGeom>
          <a:noFill/>
        </p:spPr>
        <p:txBody>
          <a:bodyPr wrap="square">
            <a:spAutoFit/>
          </a:bodyPr>
          <a:lstStyle/>
          <a:p>
            <a:pPr algn="just">
              <a:buNone/>
            </a:pPr>
            <a:r>
              <a:rPr lang="es-MX" sz="1600" dirty="0"/>
              <a:t>La WBS divide el proyecto de Roberto en etapas y paquetes de trabajo que permiten organizar su ejecución. La estructura comprende el diseño del proceso, la selección de la herramienta, la implementación del modelo, la realización de pruebas y la comparación de escenarios.</a:t>
            </a:r>
          </a:p>
        </p:txBody>
      </p:sp>
    </p:spTree>
    <p:extLst>
      <p:ext uri="{BB962C8B-B14F-4D97-AF65-F5344CB8AC3E}">
        <p14:creationId xmlns:p14="http://schemas.microsoft.com/office/powerpoint/2010/main" val="2966656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8AFD44-F93E-9772-100F-D66988B84288}"/>
              </a:ext>
            </a:extLst>
          </p:cNvPr>
          <p:cNvSpPr>
            <a:spLocks noGrp="1"/>
          </p:cNvSpPr>
          <p:nvPr>
            <p:ph type="title"/>
          </p:nvPr>
        </p:nvSpPr>
        <p:spPr/>
        <p:txBody>
          <a:bodyPr>
            <a:normAutofit/>
          </a:bodyPr>
          <a:lstStyle/>
          <a:p>
            <a:r>
              <a:rPr lang="pt-BR" sz="3800" b="1">
                <a:solidFill>
                  <a:srgbClr val="4472C4"/>
                </a:solidFill>
              </a:rPr>
              <a:t>Diagrama de Gantt de Brandon</a:t>
            </a:r>
            <a:endParaRPr lang="es-MX" sz="3800" b="1">
              <a:solidFill>
                <a:srgbClr val="4472C4"/>
              </a:solidFill>
            </a:endParaRPr>
          </a:p>
        </p:txBody>
      </p:sp>
      <p:sp>
        <p:nvSpPr>
          <p:cNvPr id="3" name="CuadroTexto 2">
            <a:extLst>
              <a:ext uri="{FF2B5EF4-FFF2-40B4-BE49-F238E27FC236}">
                <a16:creationId xmlns:a16="http://schemas.microsoft.com/office/drawing/2014/main" id="{8E415B3E-25A6-46CB-A13F-05FFF5DCE636}"/>
              </a:ext>
            </a:extLst>
          </p:cNvPr>
          <p:cNvSpPr txBox="1"/>
          <p:nvPr/>
        </p:nvSpPr>
        <p:spPr>
          <a:xfrm>
            <a:off x="838200" y="1727199"/>
            <a:ext cx="4051852" cy="32026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s-MX"/>
            </a:defPPr>
            <a:lvl1pPr algn="just">
              <a:defRPr sz="2400"/>
            </a:lvl1pPr>
          </a:lstStyle>
          <a:p>
            <a:r>
              <a:rPr lang="es-MX" sz="2000" dirty="0"/>
              <a:t>La posición de cada barra indica la fecha de inicio y su longitud muestra la duración de la actividad en días. El diagrama presenta las actividades del proyecto de Brandon distribuidas durante ocho semanas, del 17 de agosto al 11 de octubre de 2026. La secuencia comienza con el modelo conceptual y el desarrollo en Java, continúa con la simulación y evaluación de escenarios en Python, y finaliza con el análisis de resultados y la elaboración del reporte.</a:t>
            </a:r>
          </a:p>
        </p:txBody>
      </p:sp>
      <p:pic>
        <p:nvPicPr>
          <p:cNvPr id="6" name="Imagen 5">
            <a:extLst>
              <a:ext uri="{FF2B5EF4-FFF2-40B4-BE49-F238E27FC236}">
                <a16:creationId xmlns:a16="http://schemas.microsoft.com/office/drawing/2014/main" id="{A4455235-5190-2A5F-7A24-EEFE6687B2B6}"/>
              </a:ext>
            </a:extLst>
          </p:cNvPr>
          <p:cNvPicPr>
            <a:picLocks noChangeAspect="1"/>
          </p:cNvPicPr>
          <p:nvPr/>
        </p:nvPicPr>
        <p:blipFill>
          <a:blip r:embed="rId2"/>
          <a:stretch>
            <a:fillRect/>
          </a:stretch>
        </p:blipFill>
        <p:spPr>
          <a:xfrm>
            <a:off x="5212080" y="1493988"/>
            <a:ext cx="6522720" cy="3669030"/>
          </a:xfrm>
          <a:prstGeom prst="rect">
            <a:avLst/>
          </a:prstGeom>
        </p:spPr>
      </p:pic>
    </p:spTree>
    <p:extLst>
      <p:ext uri="{BB962C8B-B14F-4D97-AF65-F5344CB8AC3E}">
        <p14:creationId xmlns:p14="http://schemas.microsoft.com/office/powerpoint/2010/main" val="34783238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BF75E4-8975-98BD-4BF4-5183362B1F44}"/>
              </a:ext>
            </a:extLst>
          </p:cNvPr>
          <p:cNvSpPr>
            <a:spLocks noGrp="1"/>
          </p:cNvSpPr>
          <p:nvPr>
            <p:ph type="title"/>
          </p:nvPr>
        </p:nvSpPr>
        <p:spPr/>
        <p:txBody>
          <a:bodyPr>
            <a:normAutofit/>
          </a:bodyPr>
          <a:lstStyle/>
          <a:p>
            <a:r>
              <a:rPr lang="pt-BR" sz="3800" b="1">
                <a:solidFill>
                  <a:srgbClr val="4472C4"/>
                </a:solidFill>
              </a:rPr>
              <a:t>Diagrama de Gantt de Josefina</a:t>
            </a:r>
            <a:endParaRPr lang="es-MX" sz="3800" b="1">
              <a:solidFill>
                <a:srgbClr val="4472C4"/>
              </a:solidFill>
            </a:endParaRPr>
          </a:p>
        </p:txBody>
      </p:sp>
      <p:pic>
        <p:nvPicPr>
          <p:cNvPr id="4" name="Imagen 3">
            <a:extLst>
              <a:ext uri="{FF2B5EF4-FFF2-40B4-BE49-F238E27FC236}">
                <a16:creationId xmlns:a16="http://schemas.microsoft.com/office/drawing/2014/main" id="{C7BF0D6C-9BB0-782A-33E7-9B2DCF5322B4}"/>
              </a:ext>
            </a:extLst>
          </p:cNvPr>
          <p:cNvPicPr>
            <a:picLocks noChangeAspect="1"/>
          </p:cNvPicPr>
          <p:nvPr/>
        </p:nvPicPr>
        <p:blipFill>
          <a:blip r:embed="rId2"/>
          <a:stretch>
            <a:fillRect/>
          </a:stretch>
        </p:blipFill>
        <p:spPr>
          <a:xfrm>
            <a:off x="5181036" y="1594800"/>
            <a:ext cx="6521600" cy="3668400"/>
          </a:xfrm>
          <a:prstGeom prst="rect">
            <a:avLst/>
          </a:prstGeom>
        </p:spPr>
      </p:pic>
      <p:sp>
        <p:nvSpPr>
          <p:cNvPr id="5" name="CuadroTexto 4">
            <a:extLst>
              <a:ext uri="{FF2B5EF4-FFF2-40B4-BE49-F238E27FC236}">
                <a16:creationId xmlns:a16="http://schemas.microsoft.com/office/drawing/2014/main" id="{AE48DA63-0A39-85FB-0990-818394D6797B}"/>
              </a:ext>
            </a:extLst>
          </p:cNvPr>
          <p:cNvSpPr txBox="1"/>
          <p:nvPr/>
        </p:nvSpPr>
        <p:spPr>
          <a:xfrm>
            <a:off x="933450" y="1941463"/>
            <a:ext cx="4105275" cy="3416320"/>
          </a:xfrm>
          <a:prstGeom prst="rect">
            <a:avLst/>
          </a:prstGeom>
          <a:noFill/>
        </p:spPr>
        <p:txBody>
          <a:bodyPr wrap="square">
            <a:spAutoFit/>
          </a:bodyPr>
          <a:lstStyle/>
          <a:p>
            <a:pPr algn="just">
              <a:buNone/>
            </a:pPr>
            <a:r>
              <a:rPr lang="es-MX" dirty="0"/>
              <a:t>La posición de cada barra indica la fecha de inicio y su longitud muestra la duración de la actividad en días. El diagrama presenta las actividades del proyecto de Josefina distribuidas durante ocho semanas, del 17 de agosto al 11 de octubre de 2026. La secuencia inicia con la definición de los parámetros y recursos, continúa con la construcción y las pruebas del modelo, y concluye con la comparación de escenarios, el análisis de resultados y la elaboración del reporte.</a:t>
            </a:r>
          </a:p>
        </p:txBody>
      </p:sp>
    </p:spTree>
    <p:extLst>
      <p:ext uri="{BB962C8B-B14F-4D97-AF65-F5344CB8AC3E}">
        <p14:creationId xmlns:p14="http://schemas.microsoft.com/office/powerpoint/2010/main" val="3812515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CA716-272E-2BCE-63A1-0569D9FC48B7}"/>
              </a:ext>
            </a:extLst>
          </p:cNvPr>
          <p:cNvSpPr>
            <a:spLocks noGrp="1"/>
          </p:cNvSpPr>
          <p:nvPr>
            <p:ph type="title"/>
          </p:nvPr>
        </p:nvSpPr>
        <p:spPr/>
        <p:txBody>
          <a:bodyPr>
            <a:normAutofit/>
          </a:bodyPr>
          <a:lstStyle/>
          <a:p>
            <a:r>
              <a:rPr lang="pt-BR" sz="3800" b="1">
                <a:solidFill>
                  <a:srgbClr val="4472C4"/>
                </a:solidFill>
              </a:rPr>
              <a:t>Diagrama de Gantt de Roberto</a:t>
            </a:r>
            <a:endParaRPr lang="es-MX" sz="3800" b="1">
              <a:solidFill>
                <a:srgbClr val="4472C4"/>
              </a:solidFill>
            </a:endParaRPr>
          </a:p>
        </p:txBody>
      </p:sp>
      <p:pic>
        <p:nvPicPr>
          <p:cNvPr id="4" name="Imagen 3">
            <a:extLst>
              <a:ext uri="{FF2B5EF4-FFF2-40B4-BE49-F238E27FC236}">
                <a16:creationId xmlns:a16="http://schemas.microsoft.com/office/drawing/2014/main" id="{C1A15E91-86CA-BDC6-169F-4E1EB1DE23CD}"/>
              </a:ext>
            </a:extLst>
          </p:cNvPr>
          <p:cNvPicPr>
            <a:picLocks noChangeAspect="1"/>
          </p:cNvPicPr>
          <p:nvPr/>
        </p:nvPicPr>
        <p:blipFill>
          <a:blip r:embed="rId2"/>
          <a:stretch>
            <a:fillRect/>
          </a:stretch>
        </p:blipFill>
        <p:spPr>
          <a:xfrm>
            <a:off x="5207493" y="1800860"/>
            <a:ext cx="6521600" cy="3668400"/>
          </a:xfrm>
          <a:prstGeom prst="rect">
            <a:avLst/>
          </a:prstGeom>
        </p:spPr>
      </p:pic>
      <p:sp>
        <p:nvSpPr>
          <p:cNvPr id="7" name="CuadroTexto 6">
            <a:extLst>
              <a:ext uri="{FF2B5EF4-FFF2-40B4-BE49-F238E27FC236}">
                <a16:creationId xmlns:a16="http://schemas.microsoft.com/office/drawing/2014/main" id="{A52E73E3-67FC-0BC7-D43F-A7F763332170}"/>
              </a:ext>
            </a:extLst>
          </p:cNvPr>
          <p:cNvSpPr txBox="1"/>
          <p:nvPr/>
        </p:nvSpPr>
        <p:spPr>
          <a:xfrm>
            <a:off x="914400" y="2051388"/>
            <a:ext cx="4133850" cy="3139321"/>
          </a:xfrm>
          <a:prstGeom prst="rect">
            <a:avLst/>
          </a:prstGeom>
          <a:noFill/>
        </p:spPr>
        <p:txBody>
          <a:bodyPr wrap="square">
            <a:spAutoFit/>
          </a:bodyPr>
          <a:lstStyle/>
          <a:p>
            <a:pPr algn="just"/>
            <a:r>
              <a:rPr lang="es-MX" dirty="0"/>
              <a:t>La posición de cada barra indica la fecha de inicio y su longitud muestra la duración de la actividad en días. El diagrama presenta siete actividades del proyecto de Roberto distribuidas durante ocho semanas, del 17 de agosto al 11 de octubre de 2026. Las primeras seis actividades tienen una duración de siete días, mientras que el análisis y la elaboración del reporte final abarcan catorce días.</a:t>
            </a:r>
          </a:p>
        </p:txBody>
      </p:sp>
    </p:spTree>
    <p:extLst>
      <p:ext uri="{BB962C8B-B14F-4D97-AF65-F5344CB8AC3E}">
        <p14:creationId xmlns:p14="http://schemas.microsoft.com/office/powerpoint/2010/main" val="14273710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6A30DC-0825-ED4A-F693-0B7A9E82FBC5}"/>
              </a:ext>
            </a:extLst>
          </p:cNvPr>
          <p:cNvSpPr>
            <a:spLocks noGrp="1"/>
          </p:cNvSpPr>
          <p:nvPr>
            <p:ph type="title"/>
          </p:nvPr>
        </p:nvSpPr>
        <p:spPr/>
        <p:txBody>
          <a:bodyPr>
            <a:normAutofit/>
          </a:bodyPr>
          <a:lstStyle/>
          <a:p>
            <a:r>
              <a:rPr lang="es-MX" sz="4000" b="1" dirty="0">
                <a:solidFill>
                  <a:srgbClr val="4472C4"/>
                </a:solidFill>
              </a:rPr>
              <a:t>Procedimiento realizado</a:t>
            </a:r>
          </a:p>
        </p:txBody>
      </p:sp>
      <p:graphicFrame>
        <p:nvGraphicFramePr>
          <p:cNvPr id="4" name="Tabla 3">
            <a:extLst>
              <a:ext uri="{FF2B5EF4-FFF2-40B4-BE49-F238E27FC236}">
                <a16:creationId xmlns:a16="http://schemas.microsoft.com/office/drawing/2014/main" id="{E9D08A5B-4491-4BAD-9B55-D4C27E0632C9}"/>
              </a:ext>
            </a:extLst>
          </p:cNvPr>
          <p:cNvGraphicFramePr>
            <a:graphicFrameLocks noGrp="1"/>
          </p:cNvGraphicFramePr>
          <p:nvPr>
            <p:extLst>
              <p:ext uri="{D42A27DB-BD31-4B8C-83A1-F6EECF244321}">
                <p14:modId xmlns:p14="http://schemas.microsoft.com/office/powerpoint/2010/main" val="1907292784"/>
              </p:ext>
            </p:extLst>
          </p:nvPr>
        </p:nvGraphicFramePr>
        <p:xfrm>
          <a:off x="861391" y="1778000"/>
          <a:ext cx="10515599" cy="3041694"/>
        </p:xfrm>
        <a:graphic>
          <a:graphicData uri="http://schemas.openxmlformats.org/drawingml/2006/table">
            <a:tbl>
              <a:tblPr firstRow="1" bandRow="1">
                <a:tableStyleId>{FABFCF23-3B69-468F-B69F-88F6DE6A72F2}</a:tableStyleId>
              </a:tblPr>
              <a:tblGrid>
                <a:gridCol w="995003">
                  <a:extLst>
                    <a:ext uri="{9D8B030D-6E8A-4147-A177-3AD203B41FA5}">
                      <a16:colId xmlns:a16="http://schemas.microsoft.com/office/drawing/2014/main" val="1754426264"/>
                    </a:ext>
                  </a:extLst>
                </a:gridCol>
                <a:gridCol w="2927456">
                  <a:extLst>
                    <a:ext uri="{9D8B030D-6E8A-4147-A177-3AD203B41FA5}">
                      <a16:colId xmlns:a16="http://schemas.microsoft.com/office/drawing/2014/main" val="1297078651"/>
                    </a:ext>
                  </a:extLst>
                </a:gridCol>
                <a:gridCol w="6593140">
                  <a:extLst>
                    <a:ext uri="{9D8B030D-6E8A-4147-A177-3AD203B41FA5}">
                      <a16:colId xmlns:a16="http://schemas.microsoft.com/office/drawing/2014/main" val="3548241938"/>
                    </a:ext>
                  </a:extLst>
                </a:gridCol>
              </a:tblGrid>
              <a:tr h="332098">
                <a:tc>
                  <a:txBody>
                    <a:bodyPr/>
                    <a:lstStyle/>
                    <a:p>
                      <a:pPr marL="0" algn="l" defTabSz="914400" rtl="0" eaLnBrk="1" latinLnBrk="0" hangingPunct="1"/>
                      <a:r>
                        <a:rPr lang="es-MX" sz="1600" kern="1200" dirty="0">
                          <a:solidFill>
                            <a:schemeClr val="dk1"/>
                          </a:solidFill>
                          <a:latin typeface="+mn-lt"/>
                          <a:ea typeface="+mn-ea"/>
                          <a:cs typeface="+mn-cs"/>
                        </a:rPr>
                        <a:t>Paso</a:t>
                      </a:r>
                    </a:p>
                  </a:txBody>
                  <a:tcPr anchor="ctr"/>
                </a:tc>
                <a:tc>
                  <a:txBody>
                    <a:bodyPr/>
                    <a:lstStyle/>
                    <a:p>
                      <a:pPr marL="0" algn="l" defTabSz="914400" rtl="0" eaLnBrk="1" latinLnBrk="0" hangingPunct="1"/>
                      <a:r>
                        <a:rPr lang="es-MX" sz="1600" kern="1200">
                          <a:solidFill>
                            <a:schemeClr val="dk1"/>
                          </a:solidFill>
                          <a:latin typeface="+mn-lt"/>
                          <a:ea typeface="+mn-ea"/>
                          <a:cs typeface="+mn-cs"/>
                        </a:rPr>
                        <a:t>Actividad</a:t>
                      </a:r>
                    </a:p>
                  </a:txBody>
                  <a:tcPr anchor="ctr"/>
                </a:tc>
                <a:tc>
                  <a:txBody>
                    <a:bodyPr/>
                    <a:lstStyle/>
                    <a:p>
                      <a:pPr marL="0" algn="l" defTabSz="914400" rtl="0" eaLnBrk="1" latinLnBrk="0" hangingPunct="1"/>
                      <a:r>
                        <a:rPr lang="es-MX" sz="1600" kern="1200">
                          <a:solidFill>
                            <a:schemeClr val="dk1"/>
                          </a:solidFill>
                          <a:latin typeface="+mn-lt"/>
                          <a:ea typeface="+mn-ea"/>
                          <a:cs typeface="+mn-cs"/>
                        </a:rPr>
                        <a:t>Descripción</a:t>
                      </a:r>
                    </a:p>
                  </a:txBody>
                  <a:tcPr anchor="ctr"/>
                </a:tc>
                <a:extLst>
                  <a:ext uri="{0D108BD9-81ED-4DB2-BD59-A6C34878D82A}">
                    <a16:rowId xmlns:a16="http://schemas.microsoft.com/office/drawing/2014/main" val="2396138876"/>
                  </a:ext>
                </a:extLst>
              </a:tr>
              <a:tr h="515007">
                <a:tc>
                  <a:txBody>
                    <a:bodyPr/>
                    <a:lstStyle/>
                    <a:p>
                      <a:pPr marL="0" algn="l" defTabSz="914400" rtl="0" eaLnBrk="1" latinLnBrk="0" hangingPunct="1"/>
                      <a:r>
                        <a:rPr lang="es-MX" sz="1600" kern="1200" dirty="0">
                          <a:solidFill>
                            <a:schemeClr val="dk1"/>
                          </a:solidFill>
                          <a:latin typeface="+mn-lt"/>
                          <a:ea typeface="+mn-ea"/>
                          <a:cs typeface="+mn-cs"/>
                        </a:rPr>
                        <a:t>1</a:t>
                      </a:r>
                    </a:p>
                  </a:txBody>
                  <a:tcPr anchor="ctr"/>
                </a:tc>
                <a:tc>
                  <a:txBody>
                    <a:bodyPr/>
                    <a:lstStyle/>
                    <a:p>
                      <a:pPr marL="0" algn="l" defTabSz="914400" rtl="0" eaLnBrk="1" latinLnBrk="0" hangingPunct="1"/>
                      <a:r>
                        <a:rPr lang="es-MX" sz="1600" kern="1200" dirty="0">
                          <a:solidFill>
                            <a:schemeClr val="dk1"/>
                          </a:solidFill>
                          <a:latin typeface="+mn-lt"/>
                          <a:ea typeface="+mn-ea"/>
                          <a:cs typeface="+mn-cs"/>
                        </a:rPr>
                        <a:t>Revisión documental</a:t>
                      </a:r>
                    </a:p>
                  </a:txBody>
                  <a:tcPr anchor="ctr"/>
                </a:tc>
                <a:tc>
                  <a:txBody>
                    <a:bodyPr/>
                    <a:lstStyle/>
                    <a:p>
                      <a:pPr marL="0" algn="l" defTabSz="914400" rtl="0" eaLnBrk="1" latinLnBrk="0" hangingPunct="1"/>
                      <a:r>
                        <a:rPr lang="es-MX" sz="1600" kern="1200">
                          <a:solidFill>
                            <a:schemeClr val="dk1"/>
                          </a:solidFill>
                          <a:latin typeface="+mn-lt"/>
                          <a:ea typeface="+mn-ea"/>
                          <a:cs typeface="+mn-cs"/>
                        </a:rPr>
                        <a:t>Se revisaron actas, planes, cuestionarios y evidencias de los tres proyectos.</a:t>
                      </a:r>
                    </a:p>
                  </a:txBody>
                  <a:tcPr anchor="ctr"/>
                </a:tc>
                <a:extLst>
                  <a:ext uri="{0D108BD9-81ED-4DB2-BD59-A6C34878D82A}">
                    <a16:rowId xmlns:a16="http://schemas.microsoft.com/office/drawing/2014/main" val="422971938"/>
                  </a:ext>
                </a:extLst>
              </a:tr>
              <a:tr h="332098">
                <a:tc>
                  <a:txBody>
                    <a:bodyPr/>
                    <a:lstStyle/>
                    <a:p>
                      <a:pPr marL="0" algn="l" defTabSz="914400" rtl="0" eaLnBrk="1" latinLnBrk="0" hangingPunct="1"/>
                      <a:r>
                        <a:rPr lang="es-MX" sz="1600" kern="1200">
                          <a:solidFill>
                            <a:schemeClr val="dk1"/>
                          </a:solidFill>
                          <a:latin typeface="+mn-lt"/>
                          <a:ea typeface="+mn-ea"/>
                          <a:cs typeface="+mn-cs"/>
                        </a:rPr>
                        <a:t>2</a:t>
                      </a:r>
                    </a:p>
                  </a:txBody>
                  <a:tcPr anchor="ctr"/>
                </a:tc>
                <a:tc>
                  <a:txBody>
                    <a:bodyPr/>
                    <a:lstStyle/>
                    <a:p>
                      <a:pPr marL="0" algn="l" defTabSz="914400" rtl="0" eaLnBrk="1" latinLnBrk="0" hangingPunct="1"/>
                      <a:r>
                        <a:rPr lang="es-MX" sz="1600" kern="1200">
                          <a:solidFill>
                            <a:schemeClr val="dk1"/>
                          </a:solidFill>
                          <a:latin typeface="+mn-lt"/>
                          <a:ea typeface="+mn-ea"/>
                          <a:cs typeface="+mn-cs"/>
                        </a:rPr>
                        <a:t>Definición del alcance</a:t>
                      </a:r>
                    </a:p>
                  </a:txBody>
                  <a:tcPr anchor="ctr"/>
                </a:tc>
                <a:tc>
                  <a:txBody>
                    <a:bodyPr/>
                    <a:lstStyle/>
                    <a:p>
                      <a:pPr marL="0" algn="l" defTabSz="914400" rtl="0" eaLnBrk="1" latinLnBrk="0" hangingPunct="1"/>
                      <a:r>
                        <a:rPr lang="es-MX" sz="1600" kern="1200" dirty="0">
                          <a:solidFill>
                            <a:schemeClr val="dk1"/>
                          </a:solidFill>
                          <a:latin typeface="+mn-lt"/>
                          <a:ea typeface="+mn-ea"/>
                          <a:cs typeface="+mn-cs"/>
                        </a:rPr>
                        <a:t>Se identificaron objetivos, entregables, límites y fechas finales.</a:t>
                      </a:r>
                    </a:p>
                  </a:txBody>
                  <a:tcPr anchor="ctr"/>
                </a:tc>
                <a:extLst>
                  <a:ext uri="{0D108BD9-81ED-4DB2-BD59-A6C34878D82A}">
                    <a16:rowId xmlns:a16="http://schemas.microsoft.com/office/drawing/2014/main" val="1854991472"/>
                  </a:ext>
                </a:extLst>
              </a:tr>
              <a:tr h="332098">
                <a:tc>
                  <a:txBody>
                    <a:bodyPr/>
                    <a:lstStyle/>
                    <a:p>
                      <a:pPr marL="0" algn="l" defTabSz="914400" rtl="0" eaLnBrk="1" latinLnBrk="0" hangingPunct="1"/>
                      <a:r>
                        <a:rPr lang="es-MX" sz="1600" kern="1200">
                          <a:solidFill>
                            <a:schemeClr val="dk1"/>
                          </a:solidFill>
                          <a:latin typeface="+mn-lt"/>
                          <a:ea typeface="+mn-ea"/>
                          <a:cs typeface="+mn-cs"/>
                        </a:rPr>
                        <a:t>3</a:t>
                      </a:r>
                    </a:p>
                  </a:txBody>
                  <a:tcPr anchor="ctr"/>
                </a:tc>
                <a:tc>
                  <a:txBody>
                    <a:bodyPr/>
                    <a:lstStyle/>
                    <a:p>
                      <a:pPr marL="0" algn="l" defTabSz="914400" rtl="0" eaLnBrk="1" latinLnBrk="0" hangingPunct="1"/>
                      <a:r>
                        <a:rPr lang="es-MX" sz="1600" kern="1200">
                          <a:solidFill>
                            <a:schemeClr val="dk1"/>
                          </a:solidFill>
                          <a:latin typeface="+mn-lt"/>
                          <a:ea typeface="+mn-ea"/>
                          <a:cs typeface="+mn-cs"/>
                        </a:rPr>
                        <a:t>Ordenamiento</a:t>
                      </a:r>
                    </a:p>
                  </a:txBody>
                  <a:tcPr anchor="ctr"/>
                </a:tc>
                <a:tc>
                  <a:txBody>
                    <a:bodyPr/>
                    <a:lstStyle/>
                    <a:p>
                      <a:pPr marL="0" algn="l" defTabSz="914400" rtl="0" eaLnBrk="1" latinLnBrk="0" hangingPunct="1"/>
                      <a:r>
                        <a:rPr lang="es-MX" sz="1600" kern="1200" dirty="0">
                          <a:solidFill>
                            <a:schemeClr val="dk1"/>
                          </a:solidFill>
                          <a:latin typeface="+mn-lt"/>
                          <a:ea typeface="+mn-ea"/>
                          <a:cs typeface="+mn-cs"/>
                        </a:rPr>
                        <a:t>Las actividades se organizaron conforme a sus dependencias.</a:t>
                      </a:r>
                    </a:p>
                  </a:txBody>
                  <a:tcPr anchor="ctr"/>
                </a:tc>
                <a:extLst>
                  <a:ext uri="{0D108BD9-81ED-4DB2-BD59-A6C34878D82A}">
                    <a16:rowId xmlns:a16="http://schemas.microsoft.com/office/drawing/2014/main" val="757957882"/>
                  </a:ext>
                </a:extLst>
              </a:tr>
              <a:tr h="332098">
                <a:tc>
                  <a:txBody>
                    <a:bodyPr/>
                    <a:lstStyle/>
                    <a:p>
                      <a:pPr marL="0" algn="l" defTabSz="914400" rtl="0" eaLnBrk="1" latinLnBrk="0" hangingPunct="1"/>
                      <a:r>
                        <a:rPr lang="es-MX" sz="1600" kern="1200">
                          <a:solidFill>
                            <a:schemeClr val="dk1"/>
                          </a:solidFill>
                          <a:latin typeface="+mn-lt"/>
                          <a:ea typeface="+mn-ea"/>
                          <a:cs typeface="+mn-cs"/>
                        </a:rPr>
                        <a:t>4</a:t>
                      </a:r>
                    </a:p>
                  </a:txBody>
                  <a:tcPr anchor="ctr"/>
                </a:tc>
                <a:tc>
                  <a:txBody>
                    <a:bodyPr/>
                    <a:lstStyle/>
                    <a:p>
                      <a:pPr marL="0" algn="l" defTabSz="914400" rtl="0" eaLnBrk="1" latinLnBrk="0" hangingPunct="1"/>
                      <a:r>
                        <a:rPr lang="es-MX" sz="1600" kern="1200">
                          <a:solidFill>
                            <a:schemeClr val="dk1"/>
                          </a:solidFill>
                          <a:latin typeface="+mn-lt"/>
                          <a:ea typeface="+mn-ea"/>
                          <a:cs typeface="+mn-cs"/>
                        </a:rPr>
                        <a:t>Estimación</a:t>
                      </a:r>
                    </a:p>
                  </a:txBody>
                  <a:tcPr anchor="ctr"/>
                </a:tc>
                <a:tc>
                  <a:txBody>
                    <a:bodyPr/>
                    <a:lstStyle/>
                    <a:p>
                      <a:pPr marL="0" algn="l" defTabSz="914400" rtl="0" eaLnBrk="1" latinLnBrk="0" hangingPunct="1"/>
                      <a:r>
                        <a:rPr lang="es-MX" sz="1600" kern="1200" dirty="0">
                          <a:solidFill>
                            <a:schemeClr val="dk1"/>
                          </a:solidFill>
                          <a:latin typeface="+mn-lt"/>
                          <a:ea typeface="+mn-ea"/>
                          <a:cs typeface="+mn-cs"/>
                        </a:rPr>
                        <a:t>Se registraron duraciones, recursos humanos, tecnología y costos.</a:t>
                      </a:r>
                    </a:p>
                  </a:txBody>
                  <a:tcPr anchor="ctr"/>
                </a:tc>
                <a:extLst>
                  <a:ext uri="{0D108BD9-81ED-4DB2-BD59-A6C34878D82A}">
                    <a16:rowId xmlns:a16="http://schemas.microsoft.com/office/drawing/2014/main" val="2890027066"/>
                  </a:ext>
                </a:extLst>
              </a:tr>
              <a:tr h="332098">
                <a:tc>
                  <a:txBody>
                    <a:bodyPr/>
                    <a:lstStyle/>
                    <a:p>
                      <a:pPr marL="0" algn="l" defTabSz="914400" rtl="0" eaLnBrk="1" latinLnBrk="0" hangingPunct="1"/>
                      <a:r>
                        <a:rPr lang="es-MX" sz="1600" kern="1200">
                          <a:solidFill>
                            <a:schemeClr val="dk1"/>
                          </a:solidFill>
                          <a:latin typeface="+mn-lt"/>
                          <a:ea typeface="+mn-ea"/>
                          <a:cs typeface="+mn-cs"/>
                        </a:rPr>
                        <a:t>5</a:t>
                      </a:r>
                    </a:p>
                  </a:txBody>
                  <a:tcPr anchor="ctr"/>
                </a:tc>
                <a:tc>
                  <a:txBody>
                    <a:bodyPr/>
                    <a:lstStyle/>
                    <a:p>
                      <a:pPr marL="0" algn="l" defTabSz="914400" rtl="0" eaLnBrk="1" latinLnBrk="0" hangingPunct="1"/>
                      <a:r>
                        <a:rPr lang="es-MX" sz="1600" kern="1200">
                          <a:solidFill>
                            <a:schemeClr val="dk1"/>
                          </a:solidFill>
                          <a:latin typeface="+mn-lt"/>
                          <a:ea typeface="+mn-ea"/>
                          <a:cs typeface="+mn-cs"/>
                        </a:rPr>
                        <a:t>Representación</a:t>
                      </a:r>
                    </a:p>
                  </a:txBody>
                  <a:tcPr anchor="ctr"/>
                </a:tc>
                <a:tc>
                  <a:txBody>
                    <a:bodyPr/>
                    <a:lstStyle/>
                    <a:p>
                      <a:pPr marL="0" algn="l" defTabSz="914400" rtl="0" eaLnBrk="1" latinLnBrk="0" hangingPunct="1"/>
                      <a:r>
                        <a:rPr lang="es-MX" sz="1600" kern="1200" dirty="0">
                          <a:solidFill>
                            <a:schemeClr val="dk1"/>
                          </a:solidFill>
                          <a:latin typeface="+mn-lt"/>
                          <a:ea typeface="+mn-ea"/>
                          <a:cs typeface="+mn-cs"/>
                        </a:rPr>
                        <a:t>Se elaboraron cronogramas, WBS y diagramas de Gantt.</a:t>
                      </a:r>
                    </a:p>
                  </a:txBody>
                  <a:tcPr anchor="ctr"/>
                </a:tc>
                <a:extLst>
                  <a:ext uri="{0D108BD9-81ED-4DB2-BD59-A6C34878D82A}">
                    <a16:rowId xmlns:a16="http://schemas.microsoft.com/office/drawing/2014/main" val="3211206184"/>
                  </a:ext>
                </a:extLst>
              </a:tr>
              <a:tr h="332098">
                <a:tc>
                  <a:txBody>
                    <a:bodyPr/>
                    <a:lstStyle/>
                    <a:p>
                      <a:pPr marL="0" algn="l" defTabSz="914400" rtl="0" eaLnBrk="1" latinLnBrk="0" hangingPunct="1"/>
                      <a:r>
                        <a:rPr lang="es-MX" sz="1600" kern="1200">
                          <a:solidFill>
                            <a:schemeClr val="dk1"/>
                          </a:solidFill>
                          <a:latin typeface="+mn-lt"/>
                          <a:ea typeface="+mn-ea"/>
                          <a:cs typeface="+mn-cs"/>
                        </a:rPr>
                        <a:t>6</a:t>
                      </a:r>
                    </a:p>
                  </a:txBody>
                  <a:tcPr anchor="ctr"/>
                </a:tc>
                <a:tc>
                  <a:txBody>
                    <a:bodyPr/>
                    <a:lstStyle/>
                    <a:p>
                      <a:pPr marL="0" algn="l" defTabSz="914400" rtl="0" eaLnBrk="1" latinLnBrk="0" hangingPunct="1"/>
                      <a:r>
                        <a:rPr lang="es-MX" sz="1600" kern="1200">
                          <a:solidFill>
                            <a:schemeClr val="dk1"/>
                          </a:solidFill>
                          <a:latin typeface="+mn-lt"/>
                          <a:ea typeface="+mn-ea"/>
                          <a:cs typeface="+mn-cs"/>
                        </a:rPr>
                        <a:t>Seguimiento</a:t>
                      </a:r>
                    </a:p>
                  </a:txBody>
                  <a:tcPr anchor="ctr"/>
                </a:tc>
                <a:tc>
                  <a:txBody>
                    <a:bodyPr/>
                    <a:lstStyle/>
                    <a:p>
                      <a:pPr marL="0" algn="l" defTabSz="914400" rtl="0" eaLnBrk="1" latinLnBrk="0" hangingPunct="1"/>
                      <a:r>
                        <a:rPr lang="es-MX" sz="1600" kern="1200" dirty="0">
                          <a:solidFill>
                            <a:schemeClr val="dk1"/>
                          </a:solidFill>
                          <a:latin typeface="+mn-lt"/>
                          <a:ea typeface="+mn-ea"/>
                          <a:cs typeface="+mn-cs"/>
                        </a:rPr>
                        <a:t>Los estados y evidencias se actualizaron en Monday y  Trello.</a:t>
                      </a:r>
                    </a:p>
                  </a:txBody>
                  <a:tcPr anchor="ctr"/>
                </a:tc>
                <a:extLst>
                  <a:ext uri="{0D108BD9-81ED-4DB2-BD59-A6C34878D82A}">
                    <a16:rowId xmlns:a16="http://schemas.microsoft.com/office/drawing/2014/main" val="2462495618"/>
                  </a:ext>
                </a:extLst>
              </a:tr>
              <a:tr h="515007">
                <a:tc>
                  <a:txBody>
                    <a:bodyPr/>
                    <a:lstStyle/>
                    <a:p>
                      <a:pPr marL="0" algn="l" defTabSz="914400" rtl="0" eaLnBrk="1" latinLnBrk="0" hangingPunct="1"/>
                      <a:r>
                        <a:rPr lang="es-MX" sz="1600" kern="1200">
                          <a:solidFill>
                            <a:schemeClr val="dk1"/>
                          </a:solidFill>
                          <a:latin typeface="+mn-lt"/>
                          <a:ea typeface="+mn-ea"/>
                          <a:cs typeface="+mn-cs"/>
                        </a:rPr>
                        <a:t>7</a:t>
                      </a:r>
                    </a:p>
                  </a:txBody>
                  <a:tcPr anchor="ctr"/>
                </a:tc>
                <a:tc>
                  <a:txBody>
                    <a:bodyPr/>
                    <a:lstStyle/>
                    <a:p>
                      <a:pPr marL="0" algn="l" defTabSz="914400" rtl="0" eaLnBrk="1" latinLnBrk="0" hangingPunct="1"/>
                      <a:r>
                        <a:rPr lang="es-MX" sz="1600" kern="1200">
                          <a:solidFill>
                            <a:schemeClr val="dk1"/>
                          </a:solidFill>
                          <a:latin typeface="+mn-lt"/>
                          <a:ea typeface="+mn-ea"/>
                          <a:cs typeface="+mn-cs"/>
                        </a:rPr>
                        <a:t>Validación</a:t>
                      </a:r>
                    </a:p>
                  </a:txBody>
                  <a:tcPr anchor="ctr"/>
                </a:tc>
                <a:tc>
                  <a:txBody>
                    <a:bodyPr/>
                    <a:lstStyle/>
                    <a:p>
                      <a:pPr marL="0" algn="l" defTabSz="914400" rtl="0" eaLnBrk="1" latinLnBrk="0" hangingPunct="1"/>
                      <a:r>
                        <a:rPr lang="es-MX" sz="1600" dirty="0"/>
                        <a:t>Se verificó que cada elemento coincidiera con la evidencia disponible</a:t>
                      </a:r>
                      <a:endParaRPr lang="es-MX" sz="1600" kern="1200" dirty="0">
                        <a:solidFill>
                          <a:schemeClr val="dk1"/>
                        </a:solidFill>
                        <a:latin typeface="+mn-lt"/>
                        <a:ea typeface="+mn-ea"/>
                        <a:cs typeface="+mn-cs"/>
                      </a:endParaRPr>
                    </a:p>
                  </a:txBody>
                  <a:tcPr anchor="ctr"/>
                </a:tc>
                <a:extLst>
                  <a:ext uri="{0D108BD9-81ED-4DB2-BD59-A6C34878D82A}">
                    <a16:rowId xmlns:a16="http://schemas.microsoft.com/office/drawing/2014/main" val="2052566760"/>
                  </a:ext>
                </a:extLst>
              </a:tr>
            </a:tbl>
          </a:graphicData>
        </a:graphic>
      </p:graphicFrame>
      <p:sp>
        <p:nvSpPr>
          <p:cNvPr id="5" name="CuadroTexto 4">
            <a:extLst>
              <a:ext uri="{FF2B5EF4-FFF2-40B4-BE49-F238E27FC236}">
                <a16:creationId xmlns:a16="http://schemas.microsoft.com/office/drawing/2014/main" id="{0F4BA110-FA35-20A5-F9D8-D91AA53F1F38}"/>
              </a:ext>
            </a:extLst>
          </p:cNvPr>
          <p:cNvSpPr txBox="1"/>
          <p:nvPr/>
        </p:nvSpPr>
        <p:spPr>
          <a:xfrm>
            <a:off x="884581" y="5124494"/>
            <a:ext cx="10492409" cy="1200329"/>
          </a:xfrm>
          <a:prstGeom prst="rect">
            <a:avLst/>
          </a:prstGeom>
          <a:noFill/>
        </p:spPr>
        <p:txBody>
          <a:bodyPr wrap="square">
            <a:spAutoFit/>
          </a:bodyPr>
          <a:lstStyle/>
          <a:p>
            <a:pPr>
              <a:buNone/>
            </a:pPr>
            <a:r>
              <a:rPr lang="es-MX"/>
              <a:t>El procedimiento comenzó con la revisión de las actas, planes, cuestionarios y evidencias disponibles. </a:t>
            </a:r>
            <a:r>
              <a:rPr lang="es-MX" dirty="0"/>
              <a:t>Posteriormente, se definió el alcance, se ordenaron las actividades y se estimaron los recursos, tiempos y costos. Finalmente, se elaboraron los cronogramas, las WBS y los diagramas de Gantt, y se actualizaron los avances en Monday y Trello.</a:t>
            </a:r>
          </a:p>
        </p:txBody>
      </p:sp>
    </p:spTree>
    <p:extLst>
      <p:ext uri="{BB962C8B-B14F-4D97-AF65-F5344CB8AC3E}">
        <p14:creationId xmlns:p14="http://schemas.microsoft.com/office/powerpoint/2010/main" val="39571378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79426-6B7C-BABC-05A1-74D6EB287924}"/>
              </a:ext>
            </a:extLst>
          </p:cNvPr>
          <p:cNvSpPr>
            <a:spLocks noGrp="1"/>
          </p:cNvSpPr>
          <p:nvPr>
            <p:ph type="title"/>
          </p:nvPr>
        </p:nvSpPr>
        <p:spPr/>
        <p:txBody>
          <a:bodyPr vert="horz" lIns="91440" tIns="45720" rIns="91440" bIns="45720" rtlCol="0" anchor="ctr">
            <a:normAutofit/>
          </a:bodyPr>
          <a:lstStyle/>
          <a:p>
            <a:r>
              <a:rPr lang="es-MX" sz="4000" b="1" dirty="0">
                <a:solidFill>
                  <a:srgbClr val="4472C4"/>
                </a:solidFill>
              </a:rPr>
              <a:t>Evidencias de Monday</a:t>
            </a:r>
          </a:p>
        </p:txBody>
      </p:sp>
      <p:pic>
        <p:nvPicPr>
          <p:cNvPr id="7" name="Imagen 6">
            <a:extLst>
              <a:ext uri="{FF2B5EF4-FFF2-40B4-BE49-F238E27FC236}">
                <a16:creationId xmlns:a16="http://schemas.microsoft.com/office/drawing/2014/main" id="{E7525F8D-5A8B-FC94-92F6-5EBC64BBFE7A}"/>
              </a:ext>
            </a:extLst>
          </p:cNvPr>
          <p:cNvPicPr>
            <a:picLocks noChangeAspect="1"/>
          </p:cNvPicPr>
          <p:nvPr/>
        </p:nvPicPr>
        <p:blipFill>
          <a:blip r:embed="rId2"/>
          <a:stretch>
            <a:fillRect/>
          </a:stretch>
        </p:blipFill>
        <p:spPr>
          <a:xfrm>
            <a:off x="7711440" y="2349000"/>
            <a:ext cx="3840000" cy="2160000"/>
          </a:xfrm>
          <a:prstGeom prst="rect">
            <a:avLst/>
          </a:prstGeom>
        </p:spPr>
      </p:pic>
      <p:pic>
        <p:nvPicPr>
          <p:cNvPr id="9" name="Imagen 8">
            <a:extLst>
              <a:ext uri="{FF2B5EF4-FFF2-40B4-BE49-F238E27FC236}">
                <a16:creationId xmlns:a16="http://schemas.microsoft.com/office/drawing/2014/main" id="{8EF45B48-2FF7-AF1E-32BD-CD975D7DC008}"/>
              </a:ext>
            </a:extLst>
          </p:cNvPr>
          <p:cNvPicPr>
            <a:picLocks noChangeAspect="1"/>
          </p:cNvPicPr>
          <p:nvPr/>
        </p:nvPicPr>
        <p:blipFill>
          <a:blip r:embed="rId3"/>
          <a:stretch>
            <a:fillRect/>
          </a:stretch>
        </p:blipFill>
        <p:spPr>
          <a:xfrm>
            <a:off x="7711440" y="4612640"/>
            <a:ext cx="3840000" cy="2160000"/>
          </a:xfrm>
          <a:prstGeom prst="rect">
            <a:avLst/>
          </a:prstGeom>
        </p:spPr>
      </p:pic>
      <p:pic>
        <p:nvPicPr>
          <p:cNvPr id="11" name="Imagen 10">
            <a:extLst>
              <a:ext uri="{FF2B5EF4-FFF2-40B4-BE49-F238E27FC236}">
                <a16:creationId xmlns:a16="http://schemas.microsoft.com/office/drawing/2014/main" id="{FBCF6255-3323-BD47-E909-437A1684E3D0}"/>
              </a:ext>
            </a:extLst>
          </p:cNvPr>
          <p:cNvPicPr>
            <a:picLocks noChangeAspect="1"/>
          </p:cNvPicPr>
          <p:nvPr/>
        </p:nvPicPr>
        <p:blipFill>
          <a:blip r:embed="rId4"/>
          <a:stretch>
            <a:fillRect/>
          </a:stretch>
        </p:blipFill>
        <p:spPr>
          <a:xfrm>
            <a:off x="7711440" y="85360"/>
            <a:ext cx="3840000" cy="2160000"/>
          </a:xfrm>
          <a:prstGeom prst="rect">
            <a:avLst/>
          </a:prstGeom>
        </p:spPr>
      </p:pic>
      <p:sp>
        <p:nvSpPr>
          <p:cNvPr id="4" name="CuadroTexto 3">
            <a:extLst>
              <a:ext uri="{FF2B5EF4-FFF2-40B4-BE49-F238E27FC236}">
                <a16:creationId xmlns:a16="http://schemas.microsoft.com/office/drawing/2014/main" id="{81676903-1DE4-9778-07FE-93995B2B02E5}"/>
              </a:ext>
            </a:extLst>
          </p:cNvPr>
          <p:cNvSpPr txBox="1"/>
          <p:nvPr/>
        </p:nvSpPr>
        <p:spPr>
          <a:xfrm>
            <a:off x="762000" y="2566511"/>
            <a:ext cx="6648450" cy="1631216"/>
          </a:xfrm>
          <a:prstGeom prst="rect">
            <a:avLst/>
          </a:prstGeom>
          <a:noFill/>
        </p:spPr>
        <p:txBody>
          <a:bodyPr wrap="square">
            <a:spAutoFit/>
          </a:bodyPr>
          <a:lstStyle/>
          <a:p>
            <a:pPr algn="just">
              <a:buNone/>
            </a:pPr>
            <a:r>
              <a:rPr lang="es-MX" sz="2000" dirty="0"/>
              <a:t>Las capturas presentan la vista principal de los tableros de Brandon, Josefina y Roberto en Monday. En ellas se observa la organización de las actividades, sus responsables, fechas programadas y estados de avance, lo que permite mantener un seguimiento centralizado de los tres proyectos.</a:t>
            </a:r>
          </a:p>
        </p:txBody>
      </p:sp>
    </p:spTree>
    <p:extLst>
      <p:ext uri="{BB962C8B-B14F-4D97-AF65-F5344CB8AC3E}">
        <p14:creationId xmlns:p14="http://schemas.microsoft.com/office/powerpoint/2010/main" val="3955133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674F71-8F87-4C12-4217-6458B571567C}"/>
              </a:ext>
            </a:extLst>
          </p:cNvPr>
          <p:cNvSpPr>
            <a:spLocks noGrp="1"/>
          </p:cNvSpPr>
          <p:nvPr>
            <p:ph type="title"/>
          </p:nvPr>
        </p:nvSpPr>
        <p:spPr>
          <a:xfrm>
            <a:off x="838200" y="365125"/>
            <a:ext cx="7178040" cy="1325563"/>
          </a:xfrm>
        </p:spPr>
        <p:txBody>
          <a:bodyPr vert="horz" lIns="91440" tIns="45720" rIns="91440" bIns="45720" rtlCol="0" anchor="ctr">
            <a:normAutofit/>
          </a:bodyPr>
          <a:lstStyle/>
          <a:p>
            <a:r>
              <a:rPr lang="es-MX" sz="4000" b="1" dirty="0">
                <a:solidFill>
                  <a:srgbClr val="4472C4"/>
                </a:solidFill>
              </a:rPr>
              <a:t>Actividades y evidencias registradas en Monday</a:t>
            </a:r>
          </a:p>
        </p:txBody>
      </p:sp>
      <p:pic>
        <p:nvPicPr>
          <p:cNvPr id="6" name="Imagen 5">
            <a:extLst>
              <a:ext uri="{FF2B5EF4-FFF2-40B4-BE49-F238E27FC236}">
                <a16:creationId xmlns:a16="http://schemas.microsoft.com/office/drawing/2014/main" id="{E8495F3F-EB18-9837-F4CA-F0A042C547BC}"/>
              </a:ext>
            </a:extLst>
          </p:cNvPr>
          <p:cNvPicPr>
            <a:picLocks noChangeAspect="1"/>
          </p:cNvPicPr>
          <p:nvPr/>
        </p:nvPicPr>
        <p:blipFill>
          <a:blip r:embed="rId2"/>
          <a:stretch>
            <a:fillRect/>
          </a:stretch>
        </p:blipFill>
        <p:spPr>
          <a:xfrm>
            <a:off x="7740793" y="160904"/>
            <a:ext cx="3840000" cy="2160000"/>
          </a:xfrm>
          <a:prstGeom prst="rect">
            <a:avLst/>
          </a:prstGeom>
        </p:spPr>
      </p:pic>
      <p:pic>
        <p:nvPicPr>
          <p:cNvPr id="8" name="Imagen 7">
            <a:extLst>
              <a:ext uri="{FF2B5EF4-FFF2-40B4-BE49-F238E27FC236}">
                <a16:creationId xmlns:a16="http://schemas.microsoft.com/office/drawing/2014/main" id="{B9F4E1AB-BDB0-CD7C-71C2-AFFBDD540411}"/>
              </a:ext>
            </a:extLst>
          </p:cNvPr>
          <p:cNvPicPr>
            <a:picLocks noChangeAspect="1"/>
          </p:cNvPicPr>
          <p:nvPr/>
        </p:nvPicPr>
        <p:blipFill>
          <a:blip r:embed="rId3"/>
          <a:stretch>
            <a:fillRect/>
          </a:stretch>
        </p:blipFill>
        <p:spPr>
          <a:xfrm>
            <a:off x="7740793" y="2349000"/>
            <a:ext cx="3840000" cy="2160000"/>
          </a:xfrm>
          <a:prstGeom prst="rect">
            <a:avLst/>
          </a:prstGeom>
        </p:spPr>
      </p:pic>
      <p:pic>
        <p:nvPicPr>
          <p:cNvPr id="10" name="Imagen 9">
            <a:extLst>
              <a:ext uri="{FF2B5EF4-FFF2-40B4-BE49-F238E27FC236}">
                <a16:creationId xmlns:a16="http://schemas.microsoft.com/office/drawing/2014/main" id="{85446595-6D5B-9714-9E3E-8C605C8E6A35}"/>
              </a:ext>
            </a:extLst>
          </p:cNvPr>
          <p:cNvPicPr>
            <a:picLocks noChangeAspect="1"/>
          </p:cNvPicPr>
          <p:nvPr/>
        </p:nvPicPr>
        <p:blipFill>
          <a:blip r:embed="rId4"/>
          <a:stretch>
            <a:fillRect/>
          </a:stretch>
        </p:blipFill>
        <p:spPr>
          <a:xfrm>
            <a:off x="7740793" y="4606560"/>
            <a:ext cx="3840000" cy="2160000"/>
          </a:xfrm>
          <a:prstGeom prst="rect">
            <a:avLst/>
          </a:prstGeom>
        </p:spPr>
      </p:pic>
      <p:sp>
        <p:nvSpPr>
          <p:cNvPr id="4" name="CuadroTexto 3">
            <a:extLst>
              <a:ext uri="{FF2B5EF4-FFF2-40B4-BE49-F238E27FC236}">
                <a16:creationId xmlns:a16="http://schemas.microsoft.com/office/drawing/2014/main" id="{A9DB276E-3215-122E-2895-30E877B1C4BA}"/>
              </a:ext>
            </a:extLst>
          </p:cNvPr>
          <p:cNvSpPr txBox="1"/>
          <p:nvPr/>
        </p:nvSpPr>
        <p:spPr>
          <a:xfrm>
            <a:off x="971550" y="2690336"/>
            <a:ext cx="6096000" cy="1477328"/>
          </a:xfrm>
          <a:prstGeom prst="rect">
            <a:avLst/>
          </a:prstGeom>
          <a:noFill/>
        </p:spPr>
        <p:txBody>
          <a:bodyPr wrap="square">
            <a:spAutoFit/>
          </a:bodyPr>
          <a:lstStyle/>
          <a:p>
            <a:pPr>
              <a:buNone/>
            </a:pPr>
            <a:r>
              <a:rPr lang="es-MX"/>
              <a:t>Monday permitió registrar el avance de cada actividad, asignar fechas y visualizar su estado actual. </a:t>
            </a:r>
            <a:r>
              <a:rPr lang="es-MX" dirty="0"/>
              <a:t>Las capturas muestran las tareas correspondientes a Brandon, Josefina y Roberto, junto con las evidencias disponibles para comprobar el progreso de sus proyectos.</a:t>
            </a:r>
          </a:p>
        </p:txBody>
      </p:sp>
    </p:spTree>
    <p:extLst>
      <p:ext uri="{BB962C8B-B14F-4D97-AF65-F5344CB8AC3E}">
        <p14:creationId xmlns:p14="http://schemas.microsoft.com/office/powerpoint/2010/main" val="35547392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A70849-BFA2-0C77-4664-597EC04B3723}"/>
              </a:ext>
            </a:extLst>
          </p:cNvPr>
          <p:cNvSpPr>
            <a:spLocks noGrp="1"/>
          </p:cNvSpPr>
          <p:nvPr>
            <p:ph type="title"/>
          </p:nvPr>
        </p:nvSpPr>
        <p:spPr>
          <a:xfrm>
            <a:off x="838200" y="365125"/>
            <a:ext cx="7106920" cy="1325563"/>
          </a:xfrm>
        </p:spPr>
        <p:txBody>
          <a:bodyPr vert="horz" lIns="91440" tIns="45720" rIns="91440" bIns="45720" rtlCol="0" anchor="ctr">
            <a:normAutofit/>
          </a:bodyPr>
          <a:lstStyle/>
          <a:p>
            <a:r>
              <a:rPr lang="es-MX" sz="4000" b="1" dirty="0">
                <a:solidFill>
                  <a:srgbClr val="4472C4"/>
                </a:solidFill>
              </a:rPr>
              <a:t>Vista Gantt de los proyectos en Monday</a:t>
            </a:r>
          </a:p>
        </p:txBody>
      </p:sp>
      <p:pic>
        <p:nvPicPr>
          <p:cNvPr id="6" name="Imagen 5">
            <a:extLst>
              <a:ext uri="{FF2B5EF4-FFF2-40B4-BE49-F238E27FC236}">
                <a16:creationId xmlns:a16="http://schemas.microsoft.com/office/drawing/2014/main" id="{8E30FC5C-D773-3878-9626-29E16A480EB4}"/>
              </a:ext>
            </a:extLst>
          </p:cNvPr>
          <p:cNvPicPr>
            <a:picLocks noChangeAspect="1"/>
          </p:cNvPicPr>
          <p:nvPr/>
        </p:nvPicPr>
        <p:blipFill>
          <a:blip r:embed="rId2"/>
          <a:stretch>
            <a:fillRect/>
          </a:stretch>
        </p:blipFill>
        <p:spPr>
          <a:xfrm>
            <a:off x="8219920" y="2349000"/>
            <a:ext cx="3840000" cy="2160000"/>
          </a:xfrm>
          <a:prstGeom prst="rect">
            <a:avLst/>
          </a:prstGeom>
        </p:spPr>
      </p:pic>
      <p:pic>
        <p:nvPicPr>
          <p:cNvPr id="8" name="Imagen 7">
            <a:extLst>
              <a:ext uri="{FF2B5EF4-FFF2-40B4-BE49-F238E27FC236}">
                <a16:creationId xmlns:a16="http://schemas.microsoft.com/office/drawing/2014/main" id="{65F85843-82CA-1D1C-FFF3-073C912CBDEF}"/>
              </a:ext>
            </a:extLst>
          </p:cNvPr>
          <p:cNvPicPr>
            <a:picLocks noChangeAspect="1"/>
          </p:cNvPicPr>
          <p:nvPr/>
        </p:nvPicPr>
        <p:blipFill>
          <a:blip r:embed="rId3"/>
          <a:stretch>
            <a:fillRect/>
          </a:stretch>
        </p:blipFill>
        <p:spPr>
          <a:xfrm>
            <a:off x="8219920" y="97741"/>
            <a:ext cx="3840000" cy="2160000"/>
          </a:xfrm>
          <a:prstGeom prst="rect">
            <a:avLst/>
          </a:prstGeom>
        </p:spPr>
      </p:pic>
      <p:pic>
        <p:nvPicPr>
          <p:cNvPr id="5" name="Imagen 4">
            <a:extLst>
              <a:ext uri="{FF2B5EF4-FFF2-40B4-BE49-F238E27FC236}">
                <a16:creationId xmlns:a16="http://schemas.microsoft.com/office/drawing/2014/main" id="{B796B516-02B9-89EB-254B-D9D1F26285DE}"/>
              </a:ext>
            </a:extLst>
          </p:cNvPr>
          <p:cNvPicPr>
            <a:picLocks noChangeAspect="1"/>
          </p:cNvPicPr>
          <p:nvPr/>
        </p:nvPicPr>
        <p:blipFill>
          <a:blip r:embed="rId4"/>
          <a:stretch>
            <a:fillRect/>
          </a:stretch>
        </p:blipFill>
        <p:spPr>
          <a:xfrm>
            <a:off x="8219920" y="4600259"/>
            <a:ext cx="3840000" cy="2160000"/>
          </a:xfrm>
          <a:prstGeom prst="rect">
            <a:avLst/>
          </a:prstGeom>
        </p:spPr>
      </p:pic>
      <p:sp>
        <p:nvSpPr>
          <p:cNvPr id="4" name="CuadroTexto 3">
            <a:extLst>
              <a:ext uri="{FF2B5EF4-FFF2-40B4-BE49-F238E27FC236}">
                <a16:creationId xmlns:a16="http://schemas.microsoft.com/office/drawing/2014/main" id="{0E2EA96D-4D1B-F7AA-BA75-48A2C5A2A0EC}"/>
              </a:ext>
            </a:extLst>
          </p:cNvPr>
          <p:cNvSpPr txBox="1"/>
          <p:nvPr/>
        </p:nvSpPr>
        <p:spPr>
          <a:xfrm>
            <a:off x="1152525" y="3019336"/>
            <a:ext cx="6096000" cy="1631216"/>
          </a:xfrm>
          <a:prstGeom prst="rect">
            <a:avLst/>
          </a:prstGeom>
          <a:noFill/>
        </p:spPr>
        <p:txBody>
          <a:bodyPr wrap="square">
            <a:spAutoFit/>
          </a:bodyPr>
          <a:lstStyle/>
          <a:p>
            <a:pPr algn="just">
              <a:buNone/>
            </a:pPr>
            <a:r>
              <a:rPr lang="es-MX" sz="2000" dirty="0"/>
              <a:t>Las vistas Gantt muestran la distribución de las actividades durante las ocho semanas de trabajo. Esta representación permite identificar las fechas de inicio y fin, la duración de cada tarea y la secuencia prevista para completar los tres proyectos.</a:t>
            </a:r>
          </a:p>
        </p:txBody>
      </p:sp>
    </p:spTree>
    <p:extLst>
      <p:ext uri="{BB962C8B-B14F-4D97-AF65-F5344CB8AC3E}">
        <p14:creationId xmlns:p14="http://schemas.microsoft.com/office/powerpoint/2010/main" val="6899119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35E4E8-94C0-F0B1-4E19-558D9EF3BAF4}"/>
              </a:ext>
            </a:extLst>
          </p:cNvPr>
          <p:cNvSpPr>
            <a:spLocks noGrp="1"/>
          </p:cNvSpPr>
          <p:nvPr>
            <p:ph type="title"/>
          </p:nvPr>
        </p:nvSpPr>
        <p:spPr/>
        <p:txBody>
          <a:bodyPr vert="horz" lIns="91440" tIns="45720" rIns="91440" bIns="45720" rtlCol="0" anchor="ctr">
            <a:normAutofit/>
          </a:bodyPr>
          <a:lstStyle/>
          <a:p>
            <a:r>
              <a:rPr lang="es-MX" sz="4000" b="1" dirty="0">
                <a:solidFill>
                  <a:srgbClr val="4472C4"/>
                </a:solidFill>
              </a:rPr>
              <a:t>Seguimiento general en Trello</a:t>
            </a:r>
          </a:p>
        </p:txBody>
      </p:sp>
      <p:pic>
        <p:nvPicPr>
          <p:cNvPr id="4" name="Imagen 3">
            <a:extLst>
              <a:ext uri="{FF2B5EF4-FFF2-40B4-BE49-F238E27FC236}">
                <a16:creationId xmlns:a16="http://schemas.microsoft.com/office/drawing/2014/main" id="{71067562-1134-327E-3673-3B88B2DE8427}"/>
              </a:ext>
            </a:extLst>
          </p:cNvPr>
          <p:cNvPicPr>
            <a:picLocks noChangeAspect="1"/>
          </p:cNvPicPr>
          <p:nvPr/>
        </p:nvPicPr>
        <p:blipFill>
          <a:blip r:embed="rId2"/>
          <a:stretch>
            <a:fillRect/>
          </a:stretch>
        </p:blipFill>
        <p:spPr>
          <a:xfrm>
            <a:off x="6452657" y="2066925"/>
            <a:ext cx="4301067" cy="2419350"/>
          </a:xfrm>
          <a:prstGeom prst="rect">
            <a:avLst/>
          </a:prstGeom>
        </p:spPr>
      </p:pic>
      <p:sp>
        <p:nvSpPr>
          <p:cNvPr id="5" name="CuadroTexto 4">
            <a:extLst>
              <a:ext uri="{FF2B5EF4-FFF2-40B4-BE49-F238E27FC236}">
                <a16:creationId xmlns:a16="http://schemas.microsoft.com/office/drawing/2014/main" id="{019A9AA2-2C91-C2F9-0C18-2FF364362734}"/>
              </a:ext>
            </a:extLst>
          </p:cNvPr>
          <p:cNvSpPr txBox="1"/>
          <p:nvPr/>
        </p:nvSpPr>
        <p:spPr>
          <a:xfrm>
            <a:off x="838200" y="2452211"/>
            <a:ext cx="5429250" cy="1477328"/>
          </a:xfrm>
          <a:prstGeom prst="rect">
            <a:avLst/>
          </a:prstGeom>
          <a:noFill/>
        </p:spPr>
        <p:txBody>
          <a:bodyPr wrap="square">
            <a:spAutoFit/>
          </a:bodyPr>
          <a:lstStyle/>
          <a:p>
            <a:pPr algn="just">
              <a:buNone/>
            </a:pPr>
            <a:r>
              <a:rPr lang="es-MX"/>
              <a:t>Trello se utilizó como una herramienta complementaria para concentrar el seguimiento general de los proyectos. </a:t>
            </a:r>
            <a:r>
              <a:rPr lang="es-MX" dirty="0"/>
              <a:t>El tablero organiza las actividades según su estado y conserva una referencia de los avances, entregables y evidencias registrados durante la práctica.</a:t>
            </a:r>
          </a:p>
        </p:txBody>
      </p:sp>
    </p:spTree>
    <p:extLst>
      <p:ext uri="{BB962C8B-B14F-4D97-AF65-F5344CB8AC3E}">
        <p14:creationId xmlns:p14="http://schemas.microsoft.com/office/powerpoint/2010/main" val="11167630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F0D045-CE79-1B04-5B31-052DF4947EC1}"/>
              </a:ext>
            </a:extLst>
          </p:cNvPr>
          <p:cNvSpPr>
            <a:spLocks noGrp="1"/>
          </p:cNvSpPr>
          <p:nvPr>
            <p:ph type="title"/>
          </p:nvPr>
        </p:nvSpPr>
        <p:spPr/>
        <p:txBody>
          <a:bodyPr>
            <a:normAutofit/>
          </a:bodyPr>
          <a:lstStyle/>
          <a:p>
            <a:r>
              <a:rPr lang="es-MX" sz="4000" b="1">
                <a:solidFill>
                  <a:srgbClr val="4472C4"/>
                </a:solidFill>
              </a:rPr>
              <a:t>Resultados obtenidos</a:t>
            </a:r>
          </a:p>
        </p:txBody>
      </p:sp>
      <p:sp>
        <p:nvSpPr>
          <p:cNvPr id="3" name="CuadroTexto 2">
            <a:extLst>
              <a:ext uri="{FF2B5EF4-FFF2-40B4-BE49-F238E27FC236}">
                <a16:creationId xmlns:a16="http://schemas.microsoft.com/office/drawing/2014/main" id="{6B1AE279-B275-4810-B631-6FD6D84C2A89}"/>
              </a:ext>
            </a:extLst>
          </p:cNvPr>
          <p:cNvSpPr txBox="1"/>
          <p:nvPr/>
        </p:nvSpPr>
        <p:spPr>
          <a:xfrm>
            <a:off x="838200" y="1727199"/>
            <a:ext cx="10770704" cy="19716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s-MX"/>
            </a:defPPr>
            <a:lvl1pPr algn="just">
              <a:defRPr sz="2400"/>
            </a:lvl1pPr>
          </a:lstStyle>
          <a:p>
            <a:r>
              <a:rPr lang="es-MX" dirty="0"/>
              <a:t>La práctica produjo tres cronogramas, tres WBS, tres diagramas de Gantt y una estimación consolidada de recursos y costos. Brandon cuenta con el diagrama y el cuestionario finalizados y continúa con la simulación en Python. Josefina tiene el diagrama aprobado y trabaja en el modelo funcional y las pruebas. Roberto tiene el diagrama aprobado y continúa con el modelo funcional y las pruebas piloto.</a:t>
            </a:r>
          </a:p>
        </p:txBody>
      </p:sp>
      <p:graphicFrame>
        <p:nvGraphicFramePr>
          <p:cNvPr id="5" name="Tabla 4">
            <a:extLst>
              <a:ext uri="{FF2B5EF4-FFF2-40B4-BE49-F238E27FC236}">
                <a16:creationId xmlns:a16="http://schemas.microsoft.com/office/drawing/2014/main" id="{4F0DBBB3-D672-4ABD-8CAF-967D3CA75FC6}"/>
              </a:ext>
            </a:extLst>
          </p:cNvPr>
          <p:cNvGraphicFramePr>
            <a:graphicFrameLocks noGrp="1"/>
          </p:cNvGraphicFramePr>
          <p:nvPr>
            <p:extLst>
              <p:ext uri="{D42A27DB-BD31-4B8C-83A1-F6EECF244321}">
                <p14:modId xmlns:p14="http://schemas.microsoft.com/office/powerpoint/2010/main" val="2447831924"/>
              </p:ext>
            </p:extLst>
          </p:nvPr>
        </p:nvGraphicFramePr>
        <p:xfrm>
          <a:off x="838200" y="3698874"/>
          <a:ext cx="5080000" cy="2794001"/>
        </p:xfrm>
        <a:graphic>
          <a:graphicData uri="http://schemas.openxmlformats.org/drawingml/2006/table">
            <a:tbl>
              <a:tblPr firstRow="1" bandRow="1">
                <a:tableStyleId>{FABFCF23-3B69-468F-B69F-88F6DE6A72F2}</a:tableStyleId>
              </a:tblPr>
              <a:tblGrid>
                <a:gridCol w="3429000">
                  <a:extLst>
                    <a:ext uri="{9D8B030D-6E8A-4147-A177-3AD203B41FA5}">
                      <a16:colId xmlns:a16="http://schemas.microsoft.com/office/drawing/2014/main" val="156317054"/>
                    </a:ext>
                  </a:extLst>
                </a:gridCol>
                <a:gridCol w="1651000">
                  <a:extLst>
                    <a:ext uri="{9D8B030D-6E8A-4147-A177-3AD203B41FA5}">
                      <a16:colId xmlns:a16="http://schemas.microsoft.com/office/drawing/2014/main" val="1834118051"/>
                    </a:ext>
                  </a:extLst>
                </a:gridCol>
              </a:tblGrid>
              <a:tr h="399143">
                <a:tc>
                  <a:txBody>
                    <a:bodyPr/>
                    <a:lstStyle/>
                    <a:p>
                      <a:r>
                        <a:rPr lang="es-MX" sz="1400" b="1">
                          <a:solidFill>
                            <a:srgbClr val="1F3864"/>
                          </a:solidFill>
                        </a:rPr>
                        <a:t>Resultado</a:t>
                      </a:r>
                    </a:p>
                  </a:txBody>
                  <a:tcPr anchor="ctr"/>
                </a:tc>
                <a:tc>
                  <a:txBody>
                    <a:bodyPr/>
                    <a:lstStyle/>
                    <a:p>
                      <a:r>
                        <a:rPr lang="es-MX" sz="1400" b="1">
                          <a:solidFill>
                            <a:srgbClr val="1F3864"/>
                          </a:solidFill>
                        </a:rPr>
                        <a:t>Cantidad</a:t>
                      </a:r>
                    </a:p>
                  </a:txBody>
                  <a:tcPr anchor="ctr"/>
                </a:tc>
                <a:extLst>
                  <a:ext uri="{0D108BD9-81ED-4DB2-BD59-A6C34878D82A}">
                    <a16:rowId xmlns:a16="http://schemas.microsoft.com/office/drawing/2014/main" val="3358919360"/>
                  </a:ext>
                </a:extLst>
              </a:tr>
              <a:tr h="399143">
                <a:tc>
                  <a:txBody>
                    <a:bodyPr/>
                    <a:lstStyle/>
                    <a:p>
                      <a:pPr algn="l"/>
                      <a:r>
                        <a:rPr lang="es-MX" sz="1500">
                          <a:solidFill>
                            <a:srgbClr val="262626"/>
                          </a:solidFill>
                        </a:rPr>
                        <a:t>Proyectos planificados</a:t>
                      </a:r>
                    </a:p>
                  </a:txBody>
                  <a:tcPr anchor="ctr"/>
                </a:tc>
                <a:tc>
                  <a:txBody>
                    <a:bodyPr/>
                    <a:lstStyle/>
                    <a:p>
                      <a:pPr algn="ctr"/>
                      <a:r>
                        <a:rPr lang="es-MX" sz="1500">
                          <a:solidFill>
                            <a:srgbClr val="262626"/>
                          </a:solidFill>
                        </a:rPr>
                        <a:t>3</a:t>
                      </a:r>
                    </a:p>
                  </a:txBody>
                  <a:tcPr anchor="ctr"/>
                </a:tc>
                <a:extLst>
                  <a:ext uri="{0D108BD9-81ED-4DB2-BD59-A6C34878D82A}">
                    <a16:rowId xmlns:a16="http://schemas.microsoft.com/office/drawing/2014/main" val="4173088272"/>
                  </a:ext>
                </a:extLst>
              </a:tr>
              <a:tr h="399143">
                <a:tc>
                  <a:txBody>
                    <a:bodyPr/>
                    <a:lstStyle/>
                    <a:p>
                      <a:pPr algn="l"/>
                      <a:r>
                        <a:rPr lang="es-MX" sz="1500">
                          <a:solidFill>
                            <a:srgbClr val="262626"/>
                          </a:solidFill>
                        </a:rPr>
                        <a:t>Cronogramas elaborados</a:t>
                      </a:r>
                    </a:p>
                  </a:txBody>
                  <a:tcPr anchor="ctr"/>
                </a:tc>
                <a:tc>
                  <a:txBody>
                    <a:bodyPr/>
                    <a:lstStyle/>
                    <a:p>
                      <a:pPr algn="ctr"/>
                      <a:r>
                        <a:rPr lang="es-MX" sz="1500">
                          <a:solidFill>
                            <a:srgbClr val="262626"/>
                          </a:solidFill>
                        </a:rPr>
                        <a:t>3</a:t>
                      </a:r>
                    </a:p>
                  </a:txBody>
                  <a:tcPr anchor="ctr"/>
                </a:tc>
                <a:extLst>
                  <a:ext uri="{0D108BD9-81ED-4DB2-BD59-A6C34878D82A}">
                    <a16:rowId xmlns:a16="http://schemas.microsoft.com/office/drawing/2014/main" val="1744862304"/>
                  </a:ext>
                </a:extLst>
              </a:tr>
              <a:tr h="399143">
                <a:tc>
                  <a:txBody>
                    <a:bodyPr/>
                    <a:lstStyle/>
                    <a:p>
                      <a:pPr algn="l"/>
                      <a:r>
                        <a:rPr lang="es-MX" sz="1500" dirty="0">
                          <a:solidFill>
                            <a:srgbClr val="262626"/>
                          </a:solidFill>
                        </a:rPr>
                        <a:t>WBS elaboradas</a:t>
                      </a:r>
                    </a:p>
                  </a:txBody>
                  <a:tcPr anchor="ctr"/>
                </a:tc>
                <a:tc>
                  <a:txBody>
                    <a:bodyPr/>
                    <a:lstStyle/>
                    <a:p>
                      <a:pPr algn="ctr"/>
                      <a:r>
                        <a:rPr lang="es-MX" sz="1500">
                          <a:solidFill>
                            <a:srgbClr val="262626"/>
                          </a:solidFill>
                        </a:rPr>
                        <a:t>3</a:t>
                      </a:r>
                    </a:p>
                  </a:txBody>
                  <a:tcPr anchor="ctr"/>
                </a:tc>
                <a:extLst>
                  <a:ext uri="{0D108BD9-81ED-4DB2-BD59-A6C34878D82A}">
                    <a16:rowId xmlns:a16="http://schemas.microsoft.com/office/drawing/2014/main" val="1601119322"/>
                  </a:ext>
                </a:extLst>
              </a:tr>
              <a:tr h="399143">
                <a:tc>
                  <a:txBody>
                    <a:bodyPr/>
                    <a:lstStyle/>
                    <a:p>
                      <a:pPr algn="l"/>
                      <a:r>
                        <a:rPr lang="es-MX" sz="1500">
                          <a:solidFill>
                            <a:srgbClr val="262626"/>
                          </a:solidFill>
                        </a:rPr>
                        <a:t>Diagramas de Gantt</a:t>
                      </a:r>
                    </a:p>
                  </a:txBody>
                  <a:tcPr anchor="ctr"/>
                </a:tc>
                <a:tc>
                  <a:txBody>
                    <a:bodyPr/>
                    <a:lstStyle/>
                    <a:p>
                      <a:pPr algn="ctr"/>
                      <a:r>
                        <a:rPr lang="es-MX" sz="1500">
                          <a:solidFill>
                            <a:srgbClr val="262626"/>
                          </a:solidFill>
                        </a:rPr>
                        <a:t>3</a:t>
                      </a:r>
                    </a:p>
                  </a:txBody>
                  <a:tcPr anchor="ctr"/>
                </a:tc>
                <a:extLst>
                  <a:ext uri="{0D108BD9-81ED-4DB2-BD59-A6C34878D82A}">
                    <a16:rowId xmlns:a16="http://schemas.microsoft.com/office/drawing/2014/main" val="4169412377"/>
                  </a:ext>
                </a:extLst>
              </a:tr>
              <a:tr h="399143">
                <a:tc>
                  <a:txBody>
                    <a:bodyPr/>
                    <a:lstStyle/>
                    <a:p>
                      <a:pPr algn="l"/>
                      <a:r>
                        <a:rPr lang="es-MX" sz="1500">
                          <a:solidFill>
                            <a:srgbClr val="262626"/>
                          </a:solidFill>
                        </a:rPr>
                        <a:t>Estimaciones de costos directos</a:t>
                      </a:r>
                    </a:p>
                  </a:txBody>
                  <a:tcPr anchor="ctr"/>
                </a:tc>
                <a:tc>
                  <a:txBody>
                    <a:bodyPr/>
                    <a:lstStyle/>
                    <a:p>
                      <a:pPr algn="ctr"/>
                      <a:r>
                        <a:rPr lang="es-MX" sz="1500" dirty="0">
                          <a:solidFill>
                            <a:srgbClr val="262626"/>
                          </a:solidFill>
                        </a:rPr>
                        <a:t>3</a:t>
                      </a:r>
                    </a:p>
                  </a:txBody>
                  <a:tcPr anchor="ctr"/>
                </a:tc>
                <a:extLst>
                  <a:ext uri="{0D108BD9-81ED-4DB2-BD59-A6C34878D82A}">
                    <a16:rowId xmlns:a16="http://schemas.microsoft.com/office/drawing/2014/main" val="3925072058"/>
                  </a:ext>
                </a:extLst>
              </a:tr>
              <a:tr h="399143">
                <a:tc>
                  <a:txBody>
                    <a:bodyPr/>
                    <a:lstStyle/>
                    <a:p>
                      <a:pPr algn="l"/>
                      <a:r>
                        <a:rPr lang="es-MX" sz="1500">
                          <a:solidFill>
                            <a:srgbClr val="262626"/>
                          </a:solidFill>
                        </a:rPr>
                        <a:t>Plataforma principal de seguimiento</a:t>
                      </a:r>
                    </a:p>
                  </a:txBody>
                  <a:tcPr anchor="ctr"/>
                </a:tc>
                <a:tc>
                  <a:txBody>
                    <a:bodyPr/>
                    <a:lstStyle/>
                    <a:p>
                      <a:pPr algn="l"/>
                      <a:r>
                        <a:rPr lang="es-MX" sz="1500" dirty="0">
                          <a:solidFill>
                            <a:srgbClr val="262626"/>
                          </a:solidFill>
                        </a:rPr>
                        <a:t>Monday</a:t>
                      </a:r>
                    </a:p>
                  </a:txBody>
                  <a:tcPr anchor="ctr"/>
                </a:tc>
                <a:extLst>
                  <a:ext uri="{0D108BD9-81ED-4DB2-BD59-A6C34878D82A}">
                    <a16:rowId xmlns:a16="http://schemas.microsoft.com/office/drawing/2014/main" val="2665303818"/>
                  </a:ext>
                </a:extLst>
              </a:tr>
            </a:tbl>
          </a:graphicData>
        </a:graphic>
      </p:graphicFrame>
      <p:pic>
        <p:nvPicPr>
          <p:cNvPr id="9" name="Imagen 8">
            <a:extLst>
              <a:ext uri="{FF2B5EF4-FFF2-40B4-BE49-F238E27FC236}">
                <a16:creationId xmlns:a16="http://schemas.microsoft.com/office/drawing/2014/main" id="{E50B3D0D-00A7-6AD1-5FFE-07013DE36158}"/>
              </a:ext>
            </a:extLst>
          </p:cNvPr>
          <p:cNvPicPr>
            <a:picLocks noChangeAspect="1"/>
          </p:cNvPicPr>
          <p:nvPr/>
        </p:nvPicPr>
        <p:blipFill>
          <a:blip r:embed="rId2"/>
          <a:stretch>
            <a:fillRect/>
          </a:stretch>
        </p:blipFill>
        <p:spPr>
          <a:xfrm>
            <a:off x="6499576" y="3698874"/>
            <a:ext cx="4967112" cy="2794001"/>
          </a:xfrm>
          <a:prstGeom prst="rect">
            <a:avLst/>
          </a:prstGeom>
        </p:spPr>
      </p:pic>
    </p:spTree>
    <p:extLst>
      <p:ext uri="{BB962C8B-B14F-4D97-AF65-F5344CB8AC3E}">
        <p14:creationId xmlns:p14="http://schemas.microsoft.com/office/powerpoint/2010/main" val="23778889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7AE88-2625-B3DA-4480-1C68396CD645}"/>
              </a:ext>
            </a:extLst>
          </p:cNvPr>
          <p:cNvSpPr>
            <a:spLocks noGrp="1"/>
          </p:cNvSpPr>
          <p:nvPr>
            <p:ph type="title"/>
          </p:nvPr>
        </p:nvSpPr>
        <p:spPr/>
        <p:txBody>
          <a:bodyPr>
            <a:normAutofit/>
          </a:bodyPr>
          <a:lstStyle/>
          <a:p>
            <a:r>
              <a:rPr lang="es-MX" sz="4000" b="1" dirty="0" err="1">
                <a:solidFill>
                  <a:srgbClr val="4472C4"/>
                </a:solidFill>
              </a:rPr>
              <a:t>Conclusion</a:t>
            </a:r>
            <a:endParaRPr lang="es-MX" sz="4000" b="1" dirty="0">
              <a:solidFill>
                <a:srgbClr val="4472C4"/>
              </a:solidFill>
            </a:endParaRPr>
          </a:p>
        </p:txBody>
      </p:sp>
      <p:sp>
        <p:nvSpPr>
          <p:cNvPr id="3" name="CuadroTexto 2">
            <a:extLst>
              <a:ext uri="{FF2B5EF4-FFF2-40B4-BE49-F238E27FC236}">
                <a16:creationId xmlns:a16="http://schemas.microsoft.com/office/drawing/2014/main" id="{33325A07-9515-4B0F-882C-401E11B156FC}"/>
              </a:ext>
            </a:extLst>
          </p:cNvPr>
          <p:cNvSpPr txBox="1"/>
          <p:nvPr/>
        </p:nvSpPr>
        <p:spPr>
          <a:xfrm>
            <a:off x="838200" y="1467678"/>
            <a:ext cx="10515600" cy="41910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s-MX"/>
            </a:defPPr>
            <a:lvl1pPr algn="just">
              <a:defRPr sz="2400"/>
            </a:lvl1pPr>
          </a:lstStyle>
          <a:p>
            <a:r>
              <a:rPr lang="es-MX" dirty="0"/>
              <a:t>La práctica demostró que la planificación integra decisiones sobre alcance, tiempo, recursos y costos. Los cronogramas ordenaron las actividades y permitieron reconocer las dependencias; la WBS mostró el trabajo como una estructura jerárquica; y los diagramas de Gantt facilitaron observar la duración y el solapamiento de las tareas.
Los tres proyectos pueden continuar dentro de sus periodos de trabajo si se mantienen las revisiones y se generan oportunamente las evidencias de los escenarios. El uso de Monday permitió centralizar estados y documentos, mientras que en Trello  se conservo una copia del seguimiento.
Como resultado, se obtuvo una planificación comprensible, verificable y útil para orientar la ejecución hasta la entrega final.</a:t>
            </a:r>
          </a:p>
        </p:txBody>
      </p:sp>
    </p:spTree>
    <p:extLst>
      <p:ext uri="{BB962C8B-B14F-4D97-AF65-F5344CB8AC3E}">
        <p14:creationId xmlns:p14="http://schemas.microsoft.com/office/powerpoint/2010/main" val="9306674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DA0075-23DC-9820-03EC-BB9C50FCF13E}"/>
              </a:ext>
            </a:extLst>
          </p:cNvPr>
          <p:cNvSpPr>
            <a:spLocks noGrp="1"/>
          </p:cNvSpPr>
          <p:nvPr>
            <p:ph type="title"/>
          </p:nvPr>
        </p:nvSpPr>
        <p:spPr/>
        <p:txBody>
          <a:bodyPr vert="horz" lIns="91440" tIns="45720" rIns="91440" bIns="45720" anchor="ctr">
            <a:noAutofit/>
          </a:bodyPr>
          <a:lstStyle/>
          <a:p>
            <a:r>
              <a:rPr lang="es-MX" sz="3600" b="1" noProof="0" dirty="0">
                <a:solidFill>
                  <a:schemeClr val="accent1"/>
                </a:solidFill>
              </a:rPr>
              <a:t>Fuentes de información</a:t>
            </a:r>
          </a:p>
        </p:txBody>
      </p:sp>
      <p:sp>
        <p:nvSpPr>
          <p:cNvPr id="3" name="Marcador de contenido 2">
            <a:extLst>
              <a:ext uri="{FF2B5EF4-FFF2-40B4-BE49-F238E27FC236}">
                <a16:creationId xmlns:a16="http://schemas.microsoft.com/office/drawing/2014/main" id="{EDEDD0C2-4503-5EC0-BBD2-E720A1C3AB4B}"/>
              </a:ext>
            </a:extLst>
          </p:cNvPr>
          <p:cNvSpPr>
            <a:spLocks noGrp="1"/>
          </p:cNvSpPr>
          <p:nvPr>
            <p:ph idx="1"/>
          </p:nvPr>
        </p:nvSpPr>
        <p:spPr/>
        <p:txBody>
          <a:bodyPr>
            <a:normAutofit/>
          </a:bodyPr>
          <a:lstStyle/>
          <a:p>
            <a:pPr marL="0" indent="0">
              <a:buNone/>
            </a:pPr>
            <a:r>
              <a:rPr lang="es-MX" noProof="0" dirty="0"/>
              <a:t>Aquino Villanueva, R. (2026). GPTI [Repositorio de GitHub]. https://github.com/rafaelrav8770/GPTI</a:t>
            </a:r>
          </a:p>
          <a:p>
            <a:pPr marL="0" lvl="0" indent="0">
              <a:buNone/>
            </a:pPr>
            <a:r>
              <a:rPr lang="es-MX" dirty="0"/>
              <a:t>Asana. (2024). Cronograma de proyecto: qué es y cómo crear uno. https://asana.com/es/resources/project-schedule</a:t>
            </a:r>
          </a:p>
          <a:p>
            <a:pPr marL="0" lvl="0" indent="0">
              <a:buNone/>
            </a:pPr>
            <a:r>
              <a:rPr lang="es-MX" dirty="0" err="1"/>
              <a:t>Atlassian</a:t>
            </a:r>
            <a:r>
              <a:rPr lang="es-MX" dirty="0"/>
              <a:t>. (2024). Guía del diagrama de Gantt. https://www.atlassian.com/es/agile/project-management/gantt-chart</a:t>
            </a:r>
          </a:p>
          <a:p>
            <a:pPr marL="0" lvl="0" indent="0">
              <a:buNone/>
            </a:pPr>
            <a:r>
              <a:rPr lang="es-MX" dirty="0"/>
              <a:t>Project Manager. (2024). Work </a:t>
            </a:r>
            <a:r>
              <a:rPr lang="es-MX" dirty="0" err="1"/>
              <a:t>Breakdown</a:t>
            </a:r>
            <a:r>
              <a:rPr lang="es-MX" dirty="0"/>
              <a:t> </a:t>
            </a:r>
            <a:r>
              <a:rPr lang="es-MX" dirty="0" err="1"/>
              <a:t>Structure</a:t>
            </a:r>
            <a:r>
              <a:rPr lang="es-MX" dirty="0"/>
              <a:t> (WBS) in Project Management. https://www.projectmanager.com/guides/work-breakdown-structure</a:t>
            </a:r>
          </a:p>
          <a:p>
            <a:pPr marL="0" indent="0">
              <a:buNone/>
            </a:pPr>
            <a:endParaRPr lang="es-MX" noProof="0" dirty="0"/>
          </a:p>
        </p:txBody>
      </p:sp>
    </p:spTree>
    <p:extLst>
      <p:ext uri="{BB962C8B-B14F-4D97-AF65-F5344CB8AC3E}">
        <p14:creationId xmlns:p14="http://schemas.microsoft.com/office/powerpoint/2010/main" val="323694320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0D1821E-CF15-40AD-89DA-26CE10A34454}">
  <we:reference id="wa200010725" version="1.0.0.1" store="es-ES" storeType="OMEX"/>
  <we:alternateReferences>
    <we:reference id="WA200010725" version="1.0.0.1" store="" storeType="OMEX"/>
  </we:alternateReferences>
  <we:properties>
    <we:property name="claude.fileId" value="&quot;e78c2c7e-1b71-4de1-b1d3-4cbb7b484ae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3509</TotalTime>
  <Words>2324</Words>
  <Application>Microsoft Office PowerPoint</Application>
  <PresentationFormat>Panorámica</PresentationFormat>
  <Paragraphs>278</Paragraphs>
  <Slides>29</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29</vt:i4>
      </vt:variant>
    </vt:vector>
  </HeadingPairs>
  <TitlesOfParts>
    <vt:vector size="33" baseType="lpstr">
      <vt:lpstr>Arial</vt:lpstr>
      <vt:lpstr>Calibri</vt:lpstr>
      <vt:lpstr>Calibri Light</vt:lpstr>
      <vt:lpstr>Tema de Office</vt:lpstr>
      <vt:lpstr>Presentación de PowerPoint</vt:lpstr>
      <vt:lpstr>Presentación de PowerPoint</vt:lpstr>
      <vt:lpstr>Objetivo</vt:lpstr>
      <vt:lpstr>Justificación</vt:lpstr>
      <vt:lpstr>Alcance de la práctica</vt:lpstr>
      <vt:lpstr>Descripción de los proyectos</vt:lpstr>
      <vt:lpstr>Proyecto de Brandon</vt:lpstr>
      <vt:lpstr>Proyecto de Josefina</vt:lpstr>
      <vt:lpstr>Proyecto de Roberto</vt:lpstr>
      <vt:lpstr>Cronograma de actividades</vt:lpstr>
      <vt:lpstr>Cronograma de Brandon</vt:lpstr>
      <vt:lpstr>Cronograma de Josefina</vt:lpstr>
      <vt:lpstr>Cronograma de Roberto</vt:lpstr>
      <vt:lpstr>Recursos humanos, tecnológicos y materiales</vt:lpstr>
      <vt:lpstr>Costos estimados y equipo usado</vt:lpstr>
      <vt:lpstr>WBS de Brandon</vt:lpstr>
      <vt:lpstr>WBS de Josefina</vt:lpstr>
      <vt:lpstr>WBS de Roberto</vt:lpstr>
      <vt:lpstr>Diagrama de Gantt de Brandon</vt:lpstr>
      <vt:lpstr>Diagrama de Gantt de Josefina</vt:lpstr>
      <vt:lpstr>Diagrama de Gantt de Roberto</vt:lpstr>
      <vt:lpstr>Procedimiento realizado</vt:lpstr>
      <vt:lpstr>Evidencias de Monday</vt:lpstr>
      <vt:lpstr>Actividades y evidencias registradas en Monday</vt:lpstr>
      <vt:lpstr>Vista Gantt de los proyectos en Monday</vt:lpstr>
      <vt:lpstr>Seguimiento general en Trello</vt:lpstr>
      <vt:lpstr>Resultados obtenidos</vt:lpstr>
      <vt:lpstr>Conclusion</vt:lpstr>
      <vt:lpstr>Fuentes de información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73</cp:revision>
  <dcterms:created xsi:type="dcterms:W3CDTF">2026-02-14T13:39:49Z</dcterms:created>
  <dcterms:modified xsi:type="dcterms:W3CDTF">2026-09-17T18:26:22Z</dcterms:modified>
</cp:coreProperties>
</file>