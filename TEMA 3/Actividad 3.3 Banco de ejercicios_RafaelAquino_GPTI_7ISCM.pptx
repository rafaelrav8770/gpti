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6" r:id="rId2"/>
    <p:sldId id="263" r:id="rId3"/>
    <p:sldId id="258" r:id="rId4"/>
    <p:sldId id="303" r:id="rId5"/>
    <p:sldId id="261" r:id="rId6"/>
    <p:sldId id="262" r:id="rId7"/>
    <p:sldId id="313" r:id="rId8"/>
    <p:sldId id="314" r:id="rId9"/>
    <p:sldId id="315" r:id="rId10"/>
    <p:sldId id="309" r:id="rId11"/>
    <p:sldId id="265" r:id="rId12"/>
    <p:sldId id="305" r:id="rId13"/>
    <p:sldId id="260" r:id="rId14"/>
    <p:sldId id="266" r:id="rId15"/>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Estilo claro 3 - Acento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FABFCF23-3B69-468F-B69F-88F6DE6A72F2}" styleName="Estilo medio 1 - Énfasis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22838BEF-8BB2-4498-84A7-C5851F593DF1}" styleName="Estilo medio 4 - Énfasis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BDBED569-4797-4DF1-A0F4-6AAB3CD982D8}" styleName="Estilo claro 3 - Acento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80" d="100"/>
          <a:sy n="80" d="100"/>
        </p:scale>
        <p:origin x="782"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E8B5F02-D1F5-4A8C-9E16-879D2FAAE6D2}" type="datetimeFigureOut">
              <a:rPr lang="es-MX" smtClean="0"/>
              <a:t>17/09/2026</a:t>
            </a:fld>
            <a:endParaRPr lang="es-MX"/>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MX"/>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D08E338-237A-4FD6-91E8-AE3330CCA9C3}" type="slidenum">
              <a:rPr lang="es-MX" smtClean="0"/>
              <a:t>‹Nº›</a:t>
            </a:fld>
            <a:endParaRPr lang="es-MX"/>
          </a:p>
        </p:txBody>
      </p:sp>
    </p:spTree>
    <p:extLst>
      <p:ext uri="{BB962C8B-B14F-4D97-AF65-F5344CB8AC3E}">
        <p14:creationId xmlns:p14="http://schemas.microsoft.com/office/powerpoint/2010/main" val="6514339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Repositorio GPTI del usuario.</a:t>
            </a:r>
          </a:p>
          <a:p>
            <a:r>
              <a:t>- Documentos de proyecto y capturas de Monday.com proporcionados por el usuario.</a:t>
            </a:r>
          </a:p>
          <a:p>
            <a:r>
              <a:t>- Material docente y Guía PMBOK 7 utilizada en la materia.</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2797A6B-C8A5-A893-2EB4-EAD802D176BF}"/>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MX"/>
          </a:p>
        </p:txBody>
      </p:sp>
      <p:sp>
        <p:nvSpPr>
          <p:cNvPr id="3" name="Subtítulo 2">
            <a:extLst>
              <a:ext uri="{FF2B5EF4-FFF2-40B4-BE49-F238E27FC236}">
                <a16:creationId xmlns:a16="http://schemas.microsoft.com/office/drawing/2014/main" id="{12E9E8D3-983C-1FBA-F097-D58F78BA921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MX"/>
          </a:p>
        </p:txBody>
      </p:sp>
      <p:sp>
        <p:nvSpPr>
          <p:cNvPr id="4" name="Marcador de fecha 3">
            <a:extLst>
              <a:ext uri="{FF2B5EF4-FFF2-40B4-BE49-F238E27FC236}">
                <a16:creationId xmlns:a16="http://schemas.microsoft.com/office/drawing/2014/main" id="{20900B84-F10B-751B-5908-FC18C6422C01}"/>
              </a:ext>
            </a:extLst>
          </p:cNvPr>
          <p:cNvSpPr>
            <a:spLocks noGrp="1"/>
          </p:cNvSpPr>
          <p:nvPr>
            <p:ph type="dt" sz="half" idx="10"/>
          </p:nvPr>
        </p:nvSpPr>
        <p:spPr/>
        <p:txBody>
          <a:bodyPr/>
          <a:lstStyle/>
          <a:p>
            <a:fld id="{B744A13C-A177-47DD-903A-D74B08377F6A}" type="datetimeFigureOut">
              <a:rPr lang="es-MX" smtClean="0"/>
              <a:t>17/09/2026</a:t>
            </a:fld>
            <a:endParaRPr lang="es-MX"/>
          </a:p>
        </p:txBody>
      </p:sp>
      <p:sp>
        <p:nvSpPr>
          <p:cNvPr id="5" name="Marcador de pie de página 4">
            <a:extLst>
              <a:ext uri="{FF2B5EF4-FFF2-40B4-BE49-F238E27FC236}">
                <a16:creationId xmlns:a16="http://schemas.microsoft.com/office/drawing/2014/main" id="{89A144F6-9197-16C1-A989-50C7A0E4960F}"/>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86DBAAEB-1ABF-E979-BAC2-66927C69E877}"/>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18272842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C953055-0E2B-CB93-6D72-F6BFE456BAAF}"/>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BC4E3AF4-F79F-763A-9DAF-C6C175A55FA4}"/>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A8555DC5-3E01-56E7-631E-04D4A904C314}"/>
              </a:ext>
            </a:extLst>
          </p:cNvPr>
          <p:cNvSpPr>
            <a:spLocks noGrp="1"/>
          </p:cNvSpPr>
          <p:nvPr>
            <p:ph type="dt" sz="half" idx="10"/>
          </p:nvPr>
        </p:nvSpPr>
        <p:spPr/>
        <p:txBody>
          <a:bodyPr/>
          <a:lstStyle/>
          <a:p>
            <a:fld id="{B744A13C-A177-47DD-903A-D74B08377F6A}" type="datetimeFigureOut">
              <a:rPr lang="es-MX" smtClean="0"/>
              <a:t>17/09/2026</a:t>
            </a:fld>
            <a:endParaRPr lang="es-MX"/>
          </a:p>
        </p:txBody>
      </p:sp>
      <p:sp>
        <p:nvSpPr>
          <p:cNvPr id="5" name="Marcador de pie de página 4">
            <a:extLst>
              <a:ext uri="{FF2B5EF4-FFF2-40B4-BE49-F238E27FC236}">
                <a16:creationId xmlns:a16="http://schemas.microsoft.com/office/drawing/2014/main" id="{55B53975-0403-0D44-401F-71EA01B2175C}"/>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763A586F-F27C-248A-D498-ADFFEFE93691}"/>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30642903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8E57E10-4726-7D0A-E1F8-93439BFF20A4}"/>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A7C9CE40-9232-9AC4-A9C6-59A9B847313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D81E2653-A3E2-493F-59D0-04D925E18921}"/>
              </a:ext>
            </a:extLst>
          </p:cNvPr>
          <p:cNvSpPr>
            <a:spLocks noGrp="1"/>
          </p:cNvSpPr>
          <p:nvPr>
            <p:ph type="dt" sz="half" idx="10"/>
          </p:nvPr>
        </p:nvSpPr>
        <p:spPr/>
        <p:txBody>
          <a:bodyPr/>
          <a:lstStyle/>
          <a:p>
            <a:fld id="{B744A13C-A177-47DD-903A-D74B08377F6A}" type="datetimeFigureOut">
              <a:rPr lang="es-MX" smtClean="0"/>
              <a:t>17/09/2026</a:t>
            </a:fld>
            <a:endParaRPr lang="es-MX"/>
          </a:p>
        </p:txBody>
      </p:sp>
      <p:sp>
        <p:nvSpPr>
          <p:cNvPr id="5" name="Marcador de pie de página 4">
            <a:extLst>
              <a:ext uri="{FF2B5EF4-FFF2-40B4-BE49-F238E27FC236}">
                <a16:creationId xmlns:a16="http://schemas.microsoft.com/office/drawing/2014/main" id="{1ADFD983-ED4E-38A6-DCD5-DB9EF6346AC5}"/>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BD502D16-37E0-4D0D-5BB7-68A3BDB4C672}"/>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30220891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C60EA5F-E2E9-67F7-E292-C84FCB6FE5E8}"/>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7F13239D-44F0-8AD1-FF8A-D79A0CA81779}"/>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contenido 3">
            <a:extLst>
              <a:ext uri="{FF2B5EF4-FFF2-40B4-BE49-F238E27FC236}">
                <a16:creationId xmlns:a16="http://schemas.microsoft.com/office/drawing/2014/main" id="{3769FD3F-356E-6F60-6A25-56717337FB98}"/>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fecha 4">
            <a:extLst>
              <a:ext uri="{FF2B5EF4-FFF2-40B4-BE49-F238E27FC236}">
                <a16:creationId xmlns:a16="http://schemas.microsoft.com/office/drawing/2014/main" id="{917C736D-F3D7-D82B-BB73-E65F46C18CBA}"/>
              </a:ext>
            </a:extLst>
          </p:cNvPr>
          <p:cNvSpPr>
            <a:spLocks noGrp="1"/>
          </p:cNvSpPr>
          <p:nvPr>
            <p:ph type="dt" sz="half" idx="10"/>
          </p:nvPr>
        </p:nvSpPr>
        <p:spPr/>
        <p:txBody>
          <a:bodyPr/>
          <a:lstStyle/>
          <a:p>
            <a:fld id="{B744A13C-A177-47DD-903A-D74B08377F6A}" type="datetimeFigureOut">
              <a:rPr lang="es-MX" smtClean="0"/>
              <a:t>17/09/2026</a:t>
            </a:fld>
            <a:endParaRPr lang="es-MX"/>
          </a:p>
        </p:txBody>
      </p:sp>
      <p:sp>
        <p:nvSpPr>
          <p:cNvPr id="6" name="Marcador de pie de página 5">
            <a:extLst>
              <a:ext uri="{FF2B5EF4-FFF2-40B4-BE49-F238E27FC236}">
                <a16:creationId xmlns:a16="http://schemas.microsoft.com/office/drawing/2014/main" id="{C692062B-BCCF-C2B2-D017-588DE122978E}"/>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D0151BE1-2995-E957-66B3-46B9B16082AB}"/>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23249257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81DADCE-63AC-54B1-31D4-48CC1F8280F6}"/>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7BE131CC-B953-9DA0-84D7-342F7661F72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D1ADC272-3617-466E-F6F0-16A81075165E}"/>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texto 4">
            <a:extLst>
              <a:ext uri="{FF2B5EF4-FFF2-40B4-BE49-F238E27FC236}">
                <a16:creationId xmlns:a16="http://schemas.microsoft.com/office/drawing/2014/main" id="{6FDDCA87-61A0-8976-E9D1-03EDE6E1143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350B0352-2822-B688-0216-B6F8FB988F72}"/>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7" name="Marcador de fecha 6">
            <a:extLst>
              <a:ext uri="{FF2B5EF4-FFF2-40B4-BE49-F238E27FC236}">
                <a16:creationId xmlns:a16="http://schemas.microsoft.com/office/drawing/2014/main" id="{DA0D192A-B4AB-FABE-D934-62F9F766DA0D}"/>
              </a:ext>
            </a:extLst>
          </p:cNvPr>
          <p:cNvSpPr>
            <a:spLocks noGrp="1"/>
          </p:cNvSpPr>
          <p:nvPr>
            <p:ph type="dt" sz="half" idx="10"/>
          </p:nvPr>
        </p:nvSpPr>
        <p:spPr/>
        <p:txBody>
          <a:bodyPr/>
          <a:lstStyle/>
          <a:p>
            <a:fld id="{B744A13C-A177-47DD-903A-D74B08377F6A}" type="datetimeFigureOut">
              <a:rPr lang="es-MX" smtClean="0"/>
              <a:t>17/09/2026</a:t>
            </a:fld>
            <a:endParaRPr lang="es-MX"/>
          </a:p>
        </p:txBody>
      </p:sp>
      <p:sp>
        <p:nvSpPr>
          <p:cNvPr id="8" name="Marcador de pie de página 7">
            <a:extLst>
              <a:ext uri="{FF2B5EF4-FFF2-40B4-BE49-F238E27FC236}">
                <a16:creationId xmlns:a16="http://schemas.microsoft.com/office/drawing/2014/main" id="{144D7369-D1D8-1689-1054-CDA289864608}"/>
              </a:ext>
            </a:extLst>
          </p:cNvPr>
          <p:cNvSpPr>
            <a:spLocks noGrp="1"/>
          </p:cNvSpPr>
          <p:nvPr>
            <p:ph type="ftr" sz="quarter" idx="11"/>
          </p:nvPr>
        </p:nvSpPr>
        <p:spPr/>
        <p:txBody>
          <a:bodyPr/>
          <a:lstStyle/>
          <a:p>
            <a:endParaRPr lang="es-MX"/>
          </a:p>
        </p:txBody>
      </p:sp>
      <p:sp>
        <p:nvSpPr>
          <p:cNvPr id="9" name="Marcador de número de diapositiva 8">
            <a:extLst>
              <a:ext uri="{FF2B5EF4-FFF2-40B4-BE49-F238E27FC236}">
                <a16:creationId xmlns:a16="http://schemas.microsoft.com/office/drawing/2014/main" id="{538CB792-19CD-5761-B36C-DC7CC94594B6}"/>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38315431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43624A4-077D-5486-B7D9-11FE3E1CD160}"/>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fecha 2">
            <a:extLst>
              <a:ext uri="{FF2B5EF4-FFF2-40B4-BE49-F238E27FC236}">
                <a16:creationId xmlns:a16="http://schemas.microsoft.com/office/drawing/2014/main" id="{8C9D86B5-34D8-63DA-CA5E-EB64FC37BEA0}"/>
              </a:ext>
            </a:extLst>
          </p:cNvPr>
          <p:cNvSpPr>
            <a:spLocks noGrp="1"/>
          </p:cNvSpPr>
          <p:nvPr>
            <p:ph type="dt" sz="half" idx="10"/>
          </p:nvPr>
        </p:nvSpPr>
        <p:spPr/>
        <p:txBody>
          <a:bodyPr/>
          <a:lstStyle/>
          <a:p>
            <a:fld id="{B744A13C-A177-47DD-903A-D74B08377F6A}" type="datetimeFigureOut">
              <a:rPr lang="es-MX" smtClean="0"/>
              <a:t>17/09/2026</a:t>
            </a:fld>
            <a:endParaRPr lang="es-MX"/>
          </a:p>
        </p:txBody>
      </p:sp>
      <p:sp>
        <p:nvSpPr>
          <p:cNvPr id="4" name="Marcador de pie de página 3">
            <a:extLst>
              <a:ext uri="{FF2B5EF4-FFF2-40B4-BE49-F238E27FC236}">
                <a16:creationId xmlns:a16="http://schemas.microsoft.com/office/drawing/2014/main" id="{9F1CB502-05EE-237F-2E29-626516E35C13}"/>
              </a:ext>
            </a:extLst>
          </p:cNvPr>
          <p:cNvSpPr>
            <a:spLocks noGrp="1"/>
          </p:cNvSpPr>
          <p:nvPr>
            <p:ph type="ftr" sz="quarter" idx="11"/>
          </p:nvPr>
        </p:nvSpPr>
        <p:spPr/>
        <p:txBody>
          <a:bodyPr/>
          <a:lstStyle/>
          <a:p>
            <a:endParaRPr lang="es-MX"/>
          </a:p>
        </p:txBody>
      </p:sp>
      <p:sp>
        <p:nvSpPr>
          <p:cNvPr id="5" name="Marcador de número de diapositiva 4">
            <a:extLst>
              <a:ext uri="{FF2B5EF4-FFF2-40B4-BE49-F238E27FC236}">
                <a16:creationId xmlns:a16="http://schemas.microsoft.com/office/drawing/2014/main" id="{254E0509-4D7E-FE6F-A441-35102690137D}"/>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19341986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13D2BB40-084A-590A-568A-4FBC55A7A4CC}"/>
              </a:ext>
            </a:extLst>
          </p:cNvPr>
          <p:cNvSpPr>
            <a:spLocks noGrp="1"/>
          </p:cNvSpPr>
          <p:nvPr>
            <p:ph type="dt" sz="half" idx="10"/>
          </p:nvPr>
        </p:nvSpPr>
        <p:spPr/>
        <p:txBody>
          <a:bodyPr/>
          <a:lstStyle/>
          <a:p>
            <a:fld id="{B744A13C-A177-47DD-903A-D74B08377F6A}" type="datetimeFigureOut">
              <a:rPr lang="es-MX" smtClean="0"/>
              <a:t>17/09/2026</a:t>
            </a:fld>
            <a:endParaRPr lang="es-MX"/>
          </a:p>
        </p:txBody>
      </p:sp>
      <p:sp>
        <p:nvSpPr>
          <p:cNvPr id="3" name="Marcador de pie de página 2">
            <a:extLst>
              <a:ext uri="{FF2B5EF4-FFF2-40B4-BE49-F238E27FC236}">
                <a16:creationId xmlns:a16="http://schemas.microsoft.com/office/drawing/2014/main" id="{1031945B-3C8A-CC04-90CF-86A6FB926664}"/>
              </a:ext>
            </a:extLst>
          </p:cNvPr>
          <p:cNvSpPr>
            <a:spLocks noGrp="1"/>
          </p:cNvSpPr>
          <p:nvPr>
            <p:ph type="ftr" sz="quarter" idx="11"/>
          </p:nvPr>
        </p:nvSpPr>
        <p:spPr/>
        <p:txBody>
          <a:bodyPr/>
          <a:lstStyle/>
          <a:p>
            <a:endParaRPr lang="es-MX"/>
          </a:p>
        </p:txBody>
      </p:sp>
      <p:sp>
        <p:nvSpPr>
          <p:cNvPr id="4" name="Marcador de número de diapositiva 3">
            <a:extLst>
              <a:ext uri="{FF2B5EF4-FFF2-40B4-BE49-F238E27FC236}">
                <a16:creationId xmlns:a16="http://schemas.microsoft.com/office/drawing/2014/main" id="{0554383D-C3B6-AF0C-D3F1-2DB73EE04BB0}"/>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13353909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C207E4E-5A62-92CA-7ACA-D3C6DC7B5140}"/>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0843F851-D00D-6093-A986-6C5F35C56C8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texto 3">
            <a:extLst>
              <a:ext uri="{FF2B5EF4-FFF2-40B4-BE49-F238E27FC236}">
                <a16:creationId xmlns:a16="http://schemas.microsoft.com/office/drawing/2014/main" id="{A96ECEE2-9260-2C2E-BC65-C11DE6DFFFA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196AE17B-F1FD-90D4-9A7D-49AAC564DEA5}"/>
              </a:ext>
            </a:extLst>
          </p:cNvPr>
          <p:cNvSpPr>
            <a:spLocks noGrp="1"/>
          </p:cNvSpPr>
          <p:nvPr>
            <p:ph type="dt" sz="half" idx="10"/>
          </p:nvPr>
        </p:nvSpPr>
        <p:spPr/>
        <p:txBody>
          <a:bodyPr/>
          <a:lstStyle/>
          <a:p>
            <a:fld id="{B744A13C-A177-47DD-903A-D74B08377F6A}" type="datetimeFigureOut">
              <a:rPr lang="es-MX" smtClean="0"/>
              <a:t>17/09/2026</a:t>
            </a:fld>
            <a:endParaRPr lang="es-MX"/>
          </a:p>
        </p:txBody>
      </p:sp>
      <p:sp>
        <p:nvSpPr>
          <p:cNvPr id="6" name="Marcador de pie de página 5">
            <a:extLst>
              <a:ext uri="{FF2B5EF4-FFF2-40B4-BE49-F238E27FC236}">
                <a16:creationId xmlns:a16="http://schemas.microsoft.com/office/drawing/2014/main" id="{561728C9-30AA-559A-CB48-C6B866313382}"/>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CCF8E15D-A90F-EA63-7DF9-46C7810DE39B}"/>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36893188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E2DD758-F948-B2A7-DC08-B687F91B8D2C}"/>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posición de imagen 2">
            <a:extLst>
              <a:ext uri="{FF2B5EF4-FFF2-40B4-BE49-F238E27FC236}">
                <a16:creationId xmlns:a16="http://schemas.microsoft.com/office/drawing/2014/main" id="{A1C892A9-AD64-6F7D-FEE0-967756CA2CD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a:extLst>
              <a:ext uri="{FF2B5EF4-FFF2-40B4-BE49-F238E27FC236}">
                <a16:creationId xmlns:a16="http://schemas.microsoft.com/office/drawing/2014/main" id="{1D238B53-DBF4-A3CB-9E1A-386EDC4987F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B7447764-59A7-8823-1D1A-CF02217FD75B}"/>
              </a:ext>
            </a:extLst>
          </p:cNvPr>
          <p:cNvSpPr>
            <a:spLocks noGrp="1"/>
          </p:cNvSpPr>
          <p:nvPr>
            <p:ph type="dt" sz="half" idx="10"/>
          </p:nvPr>
        </p:nvSpPr>
        <p:spPr/>
        <p:txBody>
          <a:bodyPr/>
          <a:lstStyle/>
          <a:p>
            <a:fld id="{B744A13C-A177-47DD-903A-D74B08377F6A}" type="datetimeFigureOut">
              <a:rPr lang="es-MX" smtClean="0"/>
              <a:t>17/09/2026</a:t>
            </a:fld>
            <a:endParaRPr lang="es-MX"/>
          </a:p>
        </p:txBody>
      </p:sp>
      <p:sp>
        <p:nvSpPr>
          <p:cNvPr id="6" name="Marcador de pie de página 5">
            <a:extLst>
              <a:ext uri="{FF2B5EF4-FFF2-40B4-BE49-F238E27FC236}">
                <a16:creationId xmlns:a16="http://schemas.microsoft.com/office/drawing/2014/main" id="{80A3D35F-6746-D59D-FB36-01BA85D38818}"/>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765FE247-F7A5-5BF6-7419-4D0C9940C50B}"/>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3493462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23FDA35-B0B4-E787-3D72-F031788E9A72}"/>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E0F0C38B-FF72-ABBA-A9A3-57F2D48A308F}"/>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721F98C5-01BB-732B-11CB-7FADA28975F8}"/>
              </a:ext>
            </a:extLst>
          </p:cNvPr>
          <p:cNvSpPr>
            <a:spLocks noGrp="1"/>
          </p:cNvSpPr>
          <p:nvPr>
            <p:ph type="dt" sz="half" idx="10"/>
          </p:nvPr>
        </p:nvSpPr>
        <p:spPr/>
        <p:txBody>
          <a:bodyPr/>
          <a:lstStyle/>
          <a:p>
            <a:fld id="{B744A13C-A177-47DD-903A-D74B08377F6A}" type="datetimeFigureOut">
              <a:rPr lang="es-MX" smtClean="0"/>
              <a:t>17/09/2026</a:t>
            </a:fld>
            <a:endParaRPr lang="es-MX"/>
          </a:p>
        </p:txBody>
      </p:sp>
      <p:sp>
        <p:nvSpPr>
          <p:cNvPr id="5" name="Marcador de pie de página 4">
            <a:extLst>
              <a:ext uri="{FF2B5EF4-FFF2-40B4-BE49-F238E27FC236}">
                <a16:creationId xmlns:a16="http://schemas.microsoft.com/office/drawing/2014/main" id="{109513AF-E2D8-C50D-31BA-5F9705122FA3}"/>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826C0206-8F5E-04A4-613D-6EC2B5984FC0}"/>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41663017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5FF840C8-6BFA-8DB5-04D9-2FFF606B96AF}"/>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483C22F2-C176-59C9-19E7-C3A94CBB29FE}"/>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D612D9B4-8F58-BE69-EF19-A521A08A9F5A}"/>
              </a:ext>
            </a:extLst>
          </p:cNvPr>
          <p:cNvSpPr>
            <a:spLocks noGrp="1"/>
          </p:cNvSpPr>
          <p:nvPr>
            <p:ph type="dt" sz="half" idx="10"/>
          </p:nvPr>
        </p:nvSpPr>
        <p:spPr/>
        <p:txBody>
          <a:bodyPr/>
          <a:lstStyle/>
          <a:p>
            <a:fld id="{B744A13C-A177-47DD-903A-D74B08377F6A}" type="datetimeFigureOut">
              <a:rPr lang="es-MX" smtClean="0"/>
              <a:t>17/09/2026</a:t>
            </a:fld>
            <a:endParaRPr lang="es-MX"/>
          </a:p>
        </p:txBody>
      </p:sp>
      <p:sp>
        <p:nvSpPr>
          <p:cNvPr id="5" name="Marcador de pie de página 4">
            <a:extLst>
              <a:ext uri="{FF2B5EF4-FFF2-40B4-BE49-F238E27FC236}">
                <a16:creationId xmlns:a16="http://schemas.microsoft.com/office/drawing/2014/main" id="{3DB5D75A-9186-AC95-3F60-D715E515C19F}"/>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1FF889DC-3AEB-704A-0884-C0B1EAD821F5}"/>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33761727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C9D456B8-F474-DC21-CA32-71136C73E13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5776B21C-E071-F827-CAB6-8D305BED3A0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DCD4E7BC-1E44-2D21-548A-97F953824FB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744A13C-A177-47DD-903A-D74B08377F6A}" type="datetimeFigureOut">
              <a:rPr lang="es-MX" smtClean="0"/>
              <a:t>17/09/2026</a:t>
            </a:fld>
            <a:endParaRPr lang="es-MX"/>
          </a:p>
        </p:txBody>
      </p:sp>
      <p:sp>
        <p:nvSpPr>
          <p:cNvPr id="5" name="Marcador de pie de página 4">
            <a:extLst>
              <a:ext uri="{FF2B5EF4-FFF2-40B4-BE49-F238E27FC236}">
                <a16:creationId xmlns:a16="http://schemas.microsoft.com/office/drawing/2014/main" id="{2D6E618A-2674-067F-A9B5-F000F8046AE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MX"/>
          </a:p>
        </p:txBody>
      </p:sp>
      <p:sp>
        <p:nvSpPr>
          <p:cNvPr id="6" name="Marcador de número de diapositiva 5">
            <a:extLst>
              <a:ext uri="{FF2B5EF4-FFF2-40B4-BE49-F238E27FC236}">
                <a16:creationId xmlns:a16="http://schemas.microsoft.com/office/drawing/2014/main" id="{5F06479D-49A2-2EF0-B936-306AEE0B0EF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BDC0401-0789-4F42-8B4F-18107AD06626}" type="slidenum">
              <a:rPr lang="es-MX" smtClean="0"/>
              <a:t>‹Nº›</a:t>
            </a:fld>
            <a:endParaRPr lang="es-MX"/>
          </a:p>
        </p:txBody>
      </p:sp>
    </p:spTree>
    <p:extLst>
      <p:ext uri="{BB962C8B-B14F-4D97-AF65-F5344CB8AC3E}">
        <p14:creationId xmlns:p14="http://schemas.microsoft.com/office/powerpoint/2010/main" val="283225342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Imagen 25">
            <a:extLst>
              <a:ext uri="{FF2B5EF4-FFF2-40B4-BE49-F238E27FC236}">
                <a16:creationId xmlns:a16="http://schemas.microsoft.com/office/drawing/2014/main" id="{13792C0E-56A4-038E-25C8-41619E973B3F}"/>
              </a:ext>
            </a:extLst>
          </p:cNvPr>
          <p:cNvPicPr>
            <a:picLocks noChangeAspect="1"/>
          </p:cNvPicPr>
          <p:nvPr/>
        </p:nvPicPr>
        <p:blipFill>
          <a:blip r:embed="rId2" cstate="print">
            <a:lum bright="70000" contrast="-70000"/>
            <a:extLst>
              <a:ext uri="{BEBA8EAE-BF5A-486C-A8C5-ECC9F3942E4B}">
                <a14:imgProps xmlns:a14="http://schemas.microsoft.com/office/drawing/2010/main">
                  <a14:imgLayer r:embed="rId3">
                    <a14:imgEffect>
                      <a14:sharpenSoften amount="50000"/>
                    </a14:imgEffect>
                    <a14:imgEffect>
                      <a14:colorTemperature colorTemp="4700"/>
                    </a14:imgEffect>
                    <a14:imgEffect>
                      <a14:saturation sat="33000"/>
                    </a14:imgEffect>
                  </a14:imgLayer>
                </a14:imgProps>
              </a:ext>
              <a:ext uri="{28A0092B-C50C-407E-A947-70E740481C1C}">
                <a14:useLocalDpi xmlns:a14="http://schemas.microsoft.com/office/drawing/2010/main"/>
              </a:ext>
            </a:extLst>
          </a:blip>
          <a:stretch>
            <a:fillRect/>
          </a:stretch>
        </p:blipFill>
        <p:spPr>
          <a:xfrm>
            <a:off x="3091815" y="510540"/>
            <a:ext cx="5303520" cy="5836920"/>
          </a:xfrm>
          <a:prstGeom prst="rect">
            <a:avLst/>
          </a:prstGeom>
          <a:noFill/>
        </p:spPr>
      </p:pic>
      <p:pic>
        <p:nvPicPr>
          <p:cNvPr id="11" name="Imagen 10" descr="Logotipo&#10;&#10;Descripción generada automáticamente">
            <a:extLst>
              <a:ext uri="{FF2B5EF4-FFF2-40B4-BE49-F238E27FC236}">
                <a16:creationId xmlns:a16="http://schemas.microsoft.com/office/drawing/2014/main" id="{76F1C2F9-DDFC-CBF2-E48A-E64DE4A37DF6}"/>
              </a:ext>
            </a:extLst>
          </p:cNvPr>
          <p:cNvPicPr>
            <a:picLocks noChangeAspect="1"/>
          </p:cNvPicPr>
          <p:nvPr/>
        </p:nvPicPr>
        <p:blipFill>
          <a:blip r:embed="rId4" cstate="print">
            <a:extLst>
              <a:ext uri="{28A0092B-C50C-407E-A947-70E740481C1C}">
                <a14:useLocalDpi xmlns:a14="http://schemas.microsoft.com/office/drawing/2010/main"/>
              </a:ext>
            </a:extLst>
          </a:blip>
          <a:srcRect/>
          <a:stretch>
            <a:fillRect/>
          </a:stretch>
        </p:blipFill>
        <p:spPr bwMode="auto">
          <a:xfrm>
            <a:off x="9145905" y="46990"/>
            <a:ext cx="2301875" cy="1016000"/>
          </a:xfrm>
          <a:prstGeom prst="rect">
            <a:avLst/>
          </a:prstGeom>
          <a:noFill/>
          <a:ln>
            <a:noFill/>
          </a:ln>
        </p:spPr>
      </p:pic>
      <p:pic>
        <p:nvPicPr>
          <p:cNvPr id="12" name="Imagen 11">
            <a:extLst>
              <a:ext uri="{FF2B5EF4-FFF2-40B4-BE49-F238E27FC236}">
                <a16:creationId xmlns:a16="http://schemas.microsoft.com/office/drawing/2014/main" id="{503E3447-738B-D8B1-B47D-8EBA647E114F}"/>
              </a:ext>
            </a:extLst>
          </p:cNvPr>
          <p:cNvPicPr>
            <a:picLocks noChangeAspect="1"/>
          </p:cNvPicPr>
          <p:nvPr/>
        </p:nvPicPr>
        <p:blipFill rotWithShape="1">
          <a:blip r:embed="rId5" cstate="print">
            <a:extLst>
              <a:ext uri="{28A0092B-C50C-407E-A947-70E740481C1C}">
                <a14:useLocalDpi xmlns:a14="http://schemas.microsoft.com/office/drawing/2010/main"/>
              </a:ext>
            </a:extLst>
          </a:blip>
          <a:srcRect/>
          <a:stretch/>
        </p:blipFill>
        <p:spPr bwMode="auto">
          <a:xfrm>
            <a:off x="277495" y="46990"/>
            <a:ext cx="1516380" cy="1089660"/>
          </a:xfrm>
          <a:prstGeom prst="rect">
            <a:avLst/>
          </a:prstGeom>
          <a:noFill/>
          <a:ln>
            <a:noFill/>
          </a:ln>
          <a:extLst>
            <a:ext uri="{53640926-AAD7-44D8-BBD7-CCE9431645EC}">
              <a14:shadowObscured xmlns:a14="http://schemas.microsoft.com/office/drawing/2010/main"/>
            </a:ext>
          </a:extLst>
        </p:spPr>
      </p:pic>
      <p:sp>
        <p:nvSpPr>
          <p:cNvPr id="14" name="CuadroTexto 13">
            <a:extLst>
              <a:ext uri="{FF2B5EF4-FFF2-40B4-BE49-F238E27FC236}">
                <a16:creationId xmlns:a16="http://schemas.microsoft.com/office/drawing/2014/main" id="{29E7C584-C5C9-2730-50A7-5B38CB386E43}"/>
              </a:ext>
            </a:extLst>
          </p:cNvPr>
          <p:cNvSpPr txBox="1"/>
          <p:nvPr/>
        </p:nvSpPr>
        <p:spPr>
          <a:xfrm>
            <a:off x="1943100" y="374015"/>
            <a:ext cx="7124700" cy="799130"/>
          </a:xfrm>
          <a:prstGeom prst="rect">
            <a:avLst/>
          </a:prstGeom>
          <a:noFill/>
        </p:spPr>
        <p:txBody>
          <a:bodyPr wrap="square">
            <a:spAutoFit/>
          </a:bodyPr>
          <a:lstStyle/>
          <a:p>
            <a:pPr algn="ctr">
              <a:lnSpc>
                <a:spcPct val="107000"/>
              </a:lnSpc>
              <a:spcAft>
                <a:spcPts val="800"/>
              </a:spcAft>
              <a:buNone/>
            </a:pPr>
            <a:r>
              <a:rPr lang="es-MX" sz="2000" b="1" kern="100" noProof="0" dirty="0">
                <a:effectLst/>
                <a:latin typeface="Arial" panose="020B0604020202020204" pitchFamily="34" charset="0"/>
                <a:ea typeface="Calibri" panose="020F0502020204030204" pitchFamily="34" charset="0"/>
                <a:cs typeface="Times New Roman" panose="02020603050405020304" pitchFamily="18" charset="0"/>
              </a:rPr>
              <a:t>TECNOLÓGICO NACIONAL DE MÉXICO</a:t>
            </a:r>
            <a:endParaRPr lang="es-MX" sz="1600" kern="100" noProof="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s-MX" sz="1800" b="1" kern="100" noProof="0" dirty="0">
                <a:effectLst/>
                <a:latin typeface="Arial" panose="020B0604020202020204" pitchFamily="34" charset="0"/>
                <a:ea typeface="Calibri" panose="020F0502020204030204" pitchFamily="34" charset="0"/>
                <a:cs typeface="Times New Roman" panose="02020603050405020304" pitchFamily="18" charset="0"/>
              </a:rPr>
              <a:t>UNIDAD ACADÉMICA VENUSTIANO CARRANZA</a:t>
            </a:r>
            <a:endParaRPr lang="es-MX" sz="1600" kern="100" noProof="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16" name="CuadroTexto 15">
            <a:extLst>
              <a:ext uri="{FF2B5EF4-FFF2-40B4-BE49-F238E27FC236}">
                <a16:creationId xmlns:a16="http://schemas.microsoft.com/office/drawing/2014/main" id="{A4A9E771-2CE9-85CC-E1A4-169697077E49}"/>
              </a:ext>
            </a:extLst>
          </p:cNvPr>
          <p:cNvSpPr txBox="1"/>
          <p:nvPr/>
        </p:nvSpPr>
        <p:spPr>
          <a:xfrm>
            <a:off x="2550694" y="1329363"/>
            <a:ext cx="6096000" cy="367216"/>
          </a:xfrm>
          <a:prstGeom prst="rect">
            <a:avLst/>
          </a:prstGeom>
          <a:noFill/>
        </p:spPr>
        <p:txBody>
          <a:bodyPr wrap="square">
            <a:spAutoFit/>
          </a:bodyPr>
          <a:lstStyle/>
          <a:p>
            <a:pPr algn="ctr">
              <a:lnSpc>
                <a:spcPct val="107000"/>
              </a:lnSpc>
              <a:spcAft>
                <a:spcPts val="800"/>
              </a:spcAft>
              <a:buNone/>
            </a:pPr>
            <a:r>
              <a:rPr lang="es-MX" sz="1800" b="1" kern="0" noProof="0" dirty="0">
                <a:effectLst/>
                <a:latin typeface="Arial" panose="020B0604020202020204" pitchFamily="34" charset="0"/>
                <a:ea typeface="Arial" panose="020B0604020202020204" pitchFamily="34" charset="0"/>
                <a:cs typeface="Arial" panose="020B0604020202020204" pitchFamily="34" charset="0"/>
              </a:rPr>
              <a:t>“</a:t>
            </a:r>
            <a:r>
              <a:rPr lang="es-MX" sz="1800" b="1" kern="0" noProof="0" dirty="0">
                <a:effectLst/>
                <a:latin typeface="Arial" panose="020B0604020202020204" pitchFamily="34" charset="0"/>
                <a:ea typeface="Times New Roman" panose="02020603050405020304" pitchFamily="18" charset="0"/>
                <a:cs typeface="Arial" panose="020B0604020202020204" pitchFamily="34" charset="0"/>
              </a:rPr>
              <a:t>INGENIERÍA EN SISTEMAS COMPUTACIONALES</a:t>
            </a:r>
            <a:r>
              <a:rPr lang="es-MX" sz="1800" b="1" kern="0" noProof="0" dirty="0">
                <a:effectLst/>
                <a:latin typeface="Arial" panose="020B0604020202020204" pitchFamily="34" charset="0"/>
                <a:ea typeface="Arial" panose="020B0604020202020204" pitchFamily="34" charset="0"/>
                <a:cs typeface="Arial" panose="020B0604020202020204" pitchFamily="34" charset="0"/>
              </a:rPr>
              <a:t>”</a:t>
            </a:r>
            <a:endParaRPr lang="es-MX" sz="1800" kern="100" noProof="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18" name="CuadroTexto 17">
            <a:extLst>
              <a:ext uri="{FF2B5EF4-FFF2-40B4-BE49-F238E27FC236}">
                <a16:creationId xmlns:a16="http://schemas.microsoft.com/office/drawing/2014/main" id="{1FA8327A-BF41-1978-27AD-7942D85077F5}"/>
              </a:ext>
            </a:extLst>
          </p:cNvPr>
          <p:cNvSpPr txBox="1"/>
          <p:nvPr/>
        </p:nvSpPr>
        <p:spPr>
          <a:xfrm>
            <a:off x="2550694" y="1824715"/>
            <a:ext cx="6096000" cy="1156920"/>
          </a:xfrm>
          <a:prstGeom prst="rect">
            <a:avLst/>
          </a:prstGeom>
          <a:noFill/>
        </p:spPr>
        <p:txBody>
          <a:bodyPr wrap="square">
            <a:spAutoFit/>
          </a:bodyPr>
          <a:lstStyle/>
          <a:p>
            <a:pPr algn="ctr">
              <a:lnSpc>
                <a:spcPct val="100000"/>
              </a:lnSpc>
              <a:spcAft>
                <a:spcPts val="800"/>
              </a:spcAft>
              <a:buNone/>
            </a:pPr>
            <a:r>
              <a:rPr lang="es-MX" b="1" kern="0" noProof="0" dirty="0">
                <a:latin typeface="Arial" panose="020B0604020202020204" pitchFamily="34" charset="0"/>
                <a:cs typeface="Arial" panose="020B0604020202020204" pitchFamily="34" charset="0"/>
              </a:rPr>
              <a:t>GESTION DE PROYECTOS DE TI</a:t>
            </a:r>
          </a:p>
          <a:p>
            <a:pPr algn="ctr">
              <a:lnSpc>
                <a:spcPct val="100000"/>
              </a:lnSpc>
              <a:spcAft>
                <a:spcPts val="800"/>
              </a:spcAft>
              <a:buNone/>
            </a:pPr>
            <a:r>
              <a:rPr lang="es-MX" sz="1800" b="1" kern="0" noProof="0" dirty="0">
                <a:effectLst/>
                <a:latin typeface="Arial" panose="020B0604020202020204" pitchFamily="34" charset="0"/>
                <a:ea typeface="Arial" panose="020B0604020202020204" pitchFamily="34" charset="0"/>
                <a:cs typeface="Arial" panose="020B0604020202020204" pitchFamily="34" charset="0"/>
              </a:rPr>
              <a:t>ACTIVIDAD  </a:t>
            </a:r>
            <a:endParaRPr lang="es-MX" sz="2000" kern="100" noProof="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s-MX" sz="2000" b="1" kern="0" noProof="0" dirty="0">
                <a:effectLst/>
                <a:latin typeface="Arial" panose="020B0604020202020204" pitchFamily="34" charset="0"/>
                <a:ea typeface="Arial" panose="020B0604020202020204" pitchFamily="34" charset="0"/>
                <a:cs typeface="Arial" panose="020B0604020202020204" pitchFamily="34" charset="0"/>
              </a:rPr>
              <a:t>ACTIVIDAD 3.3 –</a:t>
            </a:r>
            <a:r>
              <a:rPr lang="es-MX" sz="2000" b="1" kern="0" noProof="0" dirty="0">
                <a:latin typeface="Arial" panose="020B0604020202020204" pitchFamily="34" charset="0"/>
                <a:ea typeface="Arial" panose="020B0604020202020204" pitchFamily="34" charset="0"/>
                <a:cs typeface="Arial" panose="020B0604020202020204" pitchFamily="34" charset="0"/>
              </a:rPr>
              <a:t>BANCO DE EJERCICIOS</a:t>
            </a:r>
            <a:endParaRPr lang="es-MX" sz="2000" kern="100" noProof="0" dirty="0">
              <a:effectLst/>
              <a:latin typeface="Arial" panose="020B0604020202020204" pitchFamily="34" charset="0"/>
              <a:ea typeface="Calibri" panose="020F0502020204030204" pitchFamily="34" charset="0"/>
              <a:cs typeface="Times New Roman" panose="02020603050405020304" pitchFamily="18" charset="0"/>
            </a:endParaRPr>
          </a:p>
        </p:txBody>
      </p:sp>
      <p:graphicFrame>
        <p:nvGraphicFramePr>
          <p:cNvPr id="19" name="Tabla 18">
            <a:extLst>
              <a:ext uri="{FF2B5EF4-FFF2-40B4-BE49-F238E27FC236}">
                <a16:creationId xmlns:a16="http://schemas.microsoft.com/office/drawing/2014/main" id="{C3F20D4B-4AB8-951E-96AB-E5F9938ABBDE}"/>
              </a:ext>
            </a:extLst>
          </p:cNvPr>
          <p:cNvGraphicFramePr>
            <a:graphicFrameLocks noGrp="1"/>
          </p:cNvGraphicFramePr>
          <p:nvPr>
            <p:extLst>
              <p:ext uri="{D42A27DB-BD31-4B8C-83A1-F6EECF244321}">
                <p14:modId xmlns:p14="http://schemas.microsoft.com/office/powerpoint/2010/main" val="426429310"/>
              </p:ext>
            </p:extLst>
          </p:nvPr>
        </p:nvGraphicFramePr>
        <p:xfrm>
          <a:off x="3249461" y="3714744"/>
          <a:ext cx="4505960" cy="762000"/>
        </p:xfrm>
        <a:graphic>
          <a:graphicData uri="http://schemas.openxmlformats.org/drawingml/2006/table">
            <a:tbl>
              <a:tblPr firstRow="1" firstCol="1" bandRow="1">
                <a:tableStyleId>{5C22544A-7EE6-4342-B048-85BDC9FD1C3A}</a:tableStyleId>
              </a:tblPr>
              <a:tblGrid>
                <a:gridCol w="2697480">
                  <a:extLst>
                    <a:ext uri="{9D8B030D-6E8A-4147-A177-3AD203B41FA5}">
                      <a16:colId xmlns:a16="http://schemas.microsoft.com/office/drawing/2014/main" val="3511045433"/>
                    </a:ext>
                  </a:extLst>
                </a:gridCol>
                <a:gridCol w="1808480">
                  <a:extLst>
                    <a:ext uri="{9D8B030D-6E8A-4147-A177-3AD203B41FA5}">
                      <a16:colId xmlns:a16="http://schemas.microsoft.com/office/drawing/2014/main" val="2206197710"/>
                    </a:ext>
                  </a:extLst>
                </a:gridCol>
              </a:tblGrid>
              <a:tr h="254000">
                <a:tc>
                  <a:txBody>
                    <a:bodyPr/>
                    <a:lstStyle/>
                    <a:p>
                      <a:pPr marL="0" algn="ctr" defTabSz="914400" rtl="0" eaLnBrk="1" latinLnBrk="0" hangingPunct="1">
                        <a:lnSpc>
                          <a:spcPct val="107000"/>
                        </a:lnSpc>
                        <a:spcAft>
                          <a:spcPts val="800"/>
                        </a:spcAft>
                        <a:buNone/>
                      </a:pPr>
                      <a:r>
                        <a:rPr lang="es-MX" sz="1200" b="1" kern="0" noProof="0" dirty="0">
                          <a:solidFill>
                            <a:schemeClr val="tx1"/>
                          </a:solidFill>
                          <a:effectLst/>
                          <a:latin typeface="+mn-lt"/>
                          <a:ea typeface="+mn-ea"/>
                          <a:cs typeface="+mn-cs"/>
                        </a:rPr>
                        <a:t>SEMESTRE</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lnSpc>
                          <a:spcPct val="107000"/>
                        </a:lnSpc>
                        <a:spcAft>
                          <a:spcPts val="800"/>
                        </a:spcAft>
                        <a:buNone/>
                      </a:pPr>
                      <a:r>
                        <a:rPr lang="es-MX" sz="1200" b="1" kern="0" noProof="0" dirty="0">
                          <a:solidFill>
                            <a:schemeClr val="tx1"/>
                          </a:solidFill>
                          <a:effectLst/>
                          <a:latin typeface="+mn-lt"/>
                          <a:ea typeface="+mn-ea"/>
                          <a:cs typeface="+mn-cs"/>
                        </a:rPr>
                        <a:t>SEPTIMO</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71488426"/>
                  </a:ext>
                </a:extLst>
              </a:tr>
              <a:tr h="254000">
                <a:tc>
                  <a:txBody>
                    <a:bodyPr/>
                    <a:lstStyle/>
                    <a:p>
                      <a:pPr marL="0" algn="ctr" defTabSz="914400" rtl="0" eaLnBrk="1" latinLnBrk="0" hangingPunct="1">
                        <a:lnSpc>
                          <a:spcPct val="107000"/>
                        </a:lnSpc>
                        <a:spcAft>
                          <a:spcPts val="800"/>
                        </a:spcAft>
                        <a:buNone/>
                      </a:pPr>
                      <a:r>
                        <a:rPr lang="es-MX" sz="1200" b="1" kern="0" noProof="0" dirty="0">
                          <a:solidFill>
                            <a:schemeClr val="tx1"/>
                          </a:solidFill>
                          <a:effectLst/>
                          <a:latin typeface="+mn-lt"/>
                          <a:ea typeface="+mn-ea"/>
                          <a:cs typeface="+mn-cs"/>
                        </a:rPr>
                        <a:t>NOMBRE DEL ALUMNO</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lnSpc>
                          <a:spcPct val="107000"/>
                        </a:lnSpc>
                        <a:spcAft>
                          <a:spcPts val="800"/>
                        </a:spcAft>
                        <a:buNone/>
                      </a:pPr>
                      <a:r>
                        <a:rPr lang="es-MX" sz="1200" b="1" kern="0" noProof="0" dirty="0">
                          <a:solidFill>
                            <a:schemeClr val="tx1"/>
                          </a:solidFill>
                          <a:effectLst/>
                          <a:latin typeface="+mn-lt"/>
                          <a:ea typeface="+mn-ea"/>
                          <a:cs typeface="+mn-cs"/>
                        </a:rPr>
                        <a:t>MATRICULA</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19201878"/>
                  </a:ext>
                </a:extLst>
              </a:tr>
              <a:tr h="254000">
                <a:tc>
                  <a:txBody>
                    <a:bodyPr/>
                    <a:lstStyle/>
                    <a:p>
                      <a:pPr marL="0" algn="ctr" defTabSz="914400" rtl="0" eaLnBrk="1" latinLnBrk="0" hangingPunct="1">
                        <a:lnSpc>
                          <a:spcPct val="107000"/>
                        </a:lnSpc>
                        <a:spcAft>
                          <a:spcPts val="800"/>
                        </a:spcAft>
                        <a:buNone/>
                      </a:pPr>
                      <a:r>
                        <a:rPr lang="es-MX" sz="1200" b="1" kern="0" noProof="0" dirty="0">
                          <a:solidFill>
                            <a:schemeClr val="tx1"/>
                          </a:solidFill>
                          <a:effectLst/>
                          <a:latin typeface="+mn-lt"/>
                          <a:ea typeface="+mn-ea"/>
                          <a:cs typeface="+mn-cs"/>
                        </a:rPr>
                        <a:t>Rafael Aquino Villanueva</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lnSpc>
                          <a:spcPct val="107000"/>
                        </a:lnSpc>
                        <a:spcAft>
                          <a:spcPts val="800"/>
                        </a:spcAft>
                        <a:buNone/>
                      </a:pPr>
                      <a:r>
                        <a:rPr lang="es-MX" sz="1200" b="1" kern="0" noProof="0" dirty="0">
                          <a:solidFill>
                            <a:schemeClr val="tx1"/>
                          </a:solidFill>
                          <a:effectLst/>
                          <a:latin typeface="+mn-lt"/>
                          <a:ea typeface="+mn-ea"/>
                          <a:cs typeface="+mn-cs"/>
                        </a:rPr>
                        <a:t>231260073</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98394392"/>
                  </a:ext>
                </a:extLst>
              </a:tr>
            </a:tbl>
          </a:graphicData>
        </a:graphic>
      </p:graphicFrame>
      <p:sp>
        <p:nvSpPr>
          <p:cNvPr id="21" name="CuadroTexto 20">
            <a:extLst>
              <a:ext uri="{FF2B5EF4-FFF2-40B4-BE49-F238E27FC236}">
                <a16:creationId xmlns:a16="http://schemas.microsoft.com/office/drawing/2014/main" id="{2BBA4D31-60C9-991B-3D34-3585F8C8348E}"/>
              </a:ext>
            </a:extLst>
          </p:cNvPr>
          <p:cNvSpPr txBox="1"/>
          <p:nvPr/>
        </p:nvSpPr>
        <p:spPr>
          <a:xfrm>
            <a:off x="4010525" y="3048181"/>
            <a:ext cx="2983833" cy="1165127"/>
          </a:xfrm>
          <a:prstGeom prst="rect">
            <a:avLst/>
          </a:prstGeom>
          <a:noFill/>
        </p:spPr>
        <p:txBody>
          <a:bodyPr wrap="square">
            <a:spAutoFit/>
          </a:bodyPr>
          <a:lstStyle/>
          <a:p>
            <a:pPr algn="ctr">
              <a:lnSpc>
                <a:spcPct val="107000"/>
              </a:lnSpc>
              <a:spcAft>
                <a:spcPts val="800"/>
              </a:spcAft>
              <a:buNone/>
            </a:pPr>
            <a:r>
              <a:rPr lang="es-MX" sz="1800" b="1" kern="0" noProof="0" dirty="0">
                <a:effectLst/>
                <a:latin typeface="Arial" panose="020B0604020202020204" pitchFamily="34" charset="0"/>
                <a:ea typeface="Arial" panose="020B0604020202020204" pitchFamily="34" charset="0"/>
                <a:cs typeface="Arial" panose="020B0604020202020204" pitchFamily="34" charset="0"/>
              </a:rPr>
              <a:t>PRESENTA</a:t>
            </a:r>
            <a:endParaRPr lang="es-MX" sz="2000" kern="100" noProof="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s-MX" sz="1800" b="1" kern="0" noProof="0" dirty="0">
                <a:effectLst/>
                <a:latin typeface="Arial" panose="020B0604020202020204" pitchFamily="34" charset="0"/>
                <a:ea typeface="Arial" panose="020B0604020202020204" pitchFamily="34" charset="0"/>
                <a:cs typeface="Arial" panose="020B0604020202020204" pitchFamily="34" charset="0"/>
              </a:rPr>
              <a:t> </a:t>
            </a:r>
            <a:endParaRPr lang="es-MX" sz="2000" kern="100" noProof="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s-MX" sz="1800" b="1" kern="0" noProof="0" dirty="0">
                <a:effectLst/>
                <a:latin typeface="Arial" panose="020B0604020202020204" pitchFamily="34" charset="0"/>
                <a:ea typeface="Arial" panose="020B0604020202020204" pitchFamily="34" charset="0"/>
                <a:cs typeface="Arial" panose="020B0604020202020204" pitchFamily="34" charset="0"/>
              </a:rPr>
              <a:t> </a:t>
            </a:r>
            <a:endParaRPr lang="es-MX" sz="2000" kern="100" noProof="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23" name="CuadroTexto 22">
            <a:extLst>
              <a:ext uri="{FF2B5EF4-FFF2-40B4-BE49-F238E27FC236}">
                <a16:creationId xmlns:a16="http://schemas.microsoft.com/office/drawing/2014/main" id="{D2284A4D-D83A-881E-63B3-639ACAB1ACB4}"/>
              </a:ext>
            </a:extLst>
          </p:cNvPr>
          <p:cNvSpPr txBox="1"/>
          <p:nvPr/>
        </p:nvSpPr>
        <p:spPr>
          <a:xfrm>
            <a:off x="2550694" y="4809176"/>
            <a:ext cx="6096000" cy="928459"/>
          </a:xfrm>
          <a:prstGeom prst="rect">
            <a:avLst/>
          </a:prstGeom>
          <a:noFill/>
        </p:spPr>
        <p:txBody>
          <a:bodyPr wrap="square">
            <a:spAutoFit/>
          </a:bodyPr>
          <a:lstStyle/>
          <a:p>
            <a:pPr algn="ctr">
              <a:lnSpc>
                <a:spcPct val="150000"/>
              </a:lnSpc>
              <a:spcAft>
                <a:spcPts val="800"/>
              </a:spcAft>
              <a:buNone/>
            </a:pPr>
            <a:r>
              <a:rPr lang="es-MX" sz="1600" b="1" kern="0" noProof="0" dirty="0">
                <a:latin typeface="Arial" panose="020B0604020202020204" pitchFamily="34" charset="0"/>
                <a:ea typeface="Calibri" panose="020F0502020204030204" pitchFamily="34" charset="0"/>
                <a:cs typeface="Arial" panose="020B0604020202020204" pitchFamily="34" charset="0"/>
              </a:rPr>
              <a:t>DOCENTE</a:t>
            </a:r>
            <a:endParaRPr lang="es-MX" sz="1800" kern="100" noProof="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50000"/>
              </a:lnSpc>
              <a:spcAft>
                <a:spcPts val="800"/>
              </a:spcAft>
              <a:buNone/>
            </a:pPr>
            <a:r>
              <a:rPr lang="es-MX" sz="1800" b="1" kern="0" noProof="0" dirty="0">
                <a:effectLst/>
                <a:latin typeface="Arial" panose="020B0604020202020204" pitchFamily="34" charset="0"/>
                <a:ea typeface="Times New Roman" panose="02020603050405020304" pitchFamily="18" charset="0"/>
                <a:cs typeface="Arial" panose="020B0604020202020204" pitchFamily="34" charset="0"/>
              </a:rPr>
              <a:t>ING. FRANCISCO JAVIER MINGO VELAZQUEZ</a:t>
            </a:r>
            <a:endParaRPr lang="es-MX" sz="1800" kern="100" noProof="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25" name="CuadroTexto 24">
            <a:extLst>
              <a:ext uri="{FF2B5EF4-FFF2-40B4-BE49-F238E27FC236}">
                <a16:creationId xmlns:a16="http://schemas.microsoft.com/office/drawing/2014/main" id="{2669DBE5-FAF1-35CF-08F0-D08353CB1B1B}"/>
              </a:ext>
            </a:extLst>
          </p:cNvPr>
          <p:cNvSpPr txBox="1"/>
          <p:nvPr/>
        </p:nvSpPr>
        <p:spPr>
          <a:xfrm>
            <a:off x="1793875" y="6265557"/>
            <a:ext cx="7812505" cy="1078244"/>
          </a:xfrm>
          <a:prstGeom prst="rect">
            <a:avLst/>
          </a:prstGeom>
          <a:noFill/>
        </p:spPr>
        <p:txBody>
          <a:bodyPr wrap="square">
            <a:spAutoFit/>
          </a:bodyPr>
          <a:lstStyle/>
          <a:p>
            <a:pPr algn="r">
              <a:lnSpc>
                <a:spcPct val="107000"/>
              </a:lnSpc>
              <a:spcAft>
                <a:spcPts val="800"/>
              </a:spcAft>
              <a:buNone/>
            </a:pPr>
            <a:r>
              <a:rPr lang="es-MX" sz="2000" b="1" kern="0" noProof="0" dirty="0">
                <a:latin typeface="Arial" panose="020B0604020202020204" pitchFamily="34" charset="0"/>
                <a:ea typeface="Times New Roman" panose="02020603050405020304" pitchFamily="18" charset="0"/>
                <a:cs typeface="Arial" panose="020B0604020202020204" pitchFamily="34" charset="0"/>
              </a:rPr>
              <a:t>27</a:t>
            </a:r>
            <a:r>
              <a:rPr lang="es-MX" sz="2000" b="1" kern="0" noProof="0" dirty="0">
                <a:effectLst/>
                <a:latin typeface="Arial" panose="020B0604020202020204" pitchFamily="34" charset="0"/>
                <a:ea typeface="Times New Roman" panose="02020603050405020304" pitchFamily="18" charset="0"/>
                <a:cs typeface="Arial" panose="020B0604020202020204" pitchFamily="34" charset="0"/>
              </a:rPr>
              <a:t> DE AGOSTO DE 2026</a:t>
            </a:r>
            <a:r>
              <a:rPr lang="es-MX" sz="1800" b="1" kern="0" noProof="0" dirty="0">
                <a:effectLst/>
                <a:latin typeface="Arial" panose="020B0604020202020204" pitchFamily="34" charset="0"/>
                <a:ea typeface="Arial" panose="020B0604020202020204" pitchFamily="34" charset="0"/>
                <a:cs typeface="Arial" panose="020B0604020202020204" pitchFamily="34" charset="0"/>
              </a:rPr>
              <a:t> </a:t>
            </a:r>
            <a:r>
              <a:rPr lang="es-MX" sz="1800" kern="0" noProof="0" dirty="0">
                <a:effectLst/>
                <a:latin typeface="Arial" panose="020B0604020202020204" pitchFamily="34" charset="0"/>
                <a:ea typeface="Arial" panose="020B0604020202020204" pitchFamily="34" charset="0"/>
                <a:cs typeface="Arial" panose="020B0604020202020204" pitchFamily="34" charset="0"/>
              </a:rPr>
              <a:t>VENUSTIANO CARRANZA, CHIAPAS</a:t>
            </a:r>
            <a:endParaRPr lang="es-MX" sz="2000" kern="100" noProof="0" dirty="0">
              <a:effectLst/>
              <a:latin typeface="Arial" panose="020B0604020202020204" pitchFamily="34" charset="0"/>
              <a:ea typeface="Calibri" panose="020F0502020204030204" pitchFamily="34" charset="0"/>
              <a:cs typeface="Times New Roman" panose="02020603050405020304" pitchFamily="18" charset="0"/>
            </a:endParaRPr>
          </a:p>
          <a:p>
            <a:pPr>
              <a:buNone/>
            </a:pPr>
            <a:br>
              <a:rPr lang="es-MX" sz="1800" kern="0" noProof="0" dirty="0">
                <a:effectLst/>
                <a:latin typeface="Arial" panose="020B0604020202020204" pitchFamily="34" charset="0"/>
                <a:ea typeface="Arial" panose="020B0604020202020204" pitchFamily="34" charset="0"/>
              </a:rPr>
            </a:br>
            <a:endParaRPr lang="es-MX" noProof="0" dirty="0"/>
          </a:p>
        </p:txBody>
      </p:sp>
    </p:spTree>
    <p:extLst>
      <p:ext uri="{BB962C8B-B14F-4D97-AF65-F5344CB8AC3E}">
        <p14:creationId xmlns:p14="http://schemas.microsoft.com/office/powerpoint/2010/main" val="40010118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E123D5AD-B34F-94DE-CA8C-4E027E6EDC22}"/>
              </a:ext>
            </a:extLst>
          </p:cNvPr>
          <p:cNvSpPr>
            <a:spLocks noGrp="1"/>
          </p:cNvSpPr>
          <p:nvPr>
            <p:ph idx="1"/>
          </p:nvPr>
        </p:nvSpPr>
        <p:spPr>
          <a:xfrm>
            <a:off x="838200" y="1047750"/>
            <a:ext cx="10515600" cy="5129213"/>
          </a:xfrm>
          <a:ln>
            <a:solidFill>
              <a:schemeClr val="accent5">
                <a:lumMod val="75000"/>
              </a:schemeClr>
            </a:solidFill>
          </a:ln>
        </p:spPr>
        <p:txBody>
          <a:bodyPr>
            <a:normAutofit/>
          </a:bodyPr>
          <a:lstStyle/>
          <a:p>
            <a:pPr marL="0" indent="0">
              <a:buNone/>
            </a:pPr>
            <a:r>
              <a:rPr lang="es-MX" sz="4400" b="1" kern="0" noProof="0" dirty="0">
                <a:solidFill>
                  <a:schemeClr val="accent1"/>
                </a:solidFill>
                <a:latin typeface="+mj-lt"/>
                <a:cs typeface="Arial" panose="020B0604020202020204" pitchFamily="34" charset="0"/>
              </a:rPr>
              <a:t>Introducción</a:t>
            </a:r>
          </a:p>
          <a:p>
            <a:pPr marL="0" indent="0">
              <a:buNone/>
            </a:pPr>
            <a:r>
              <a:rPr lang="es-MX" noProof="0" dirty="0"/>
              <a:t>La planificación de proyectos permite organizar las actividades, los recursos, los costos y los tiempos necesarios para alcanzar un objetivo. En este banco de ejercicios se aplican conceptos de alcance, cronogramas, WBS, diagramas de Gantt y seguimiento a casos prácticos. Los ejercicios relacionan un proyecto de ejemplo con los proyectos académicos de Brandon, Josefina y Roberto, utilizando la información registrada en las actas, planes de trabajo y tableros de Monday.</a:t>
            </a:r>
          </a:p>
          <a:p>
            <a:pPr marL="0" indent="0" algn="just">
              <a:buNone/>
            </a:pPr>
            <a:endParaRPr lang="es-MX" noProof="0" dirty="0"/>
          </a:p>
        </p:txBody>
      </p:sp>
    </p:spTree>
    <p:extLst>
      <p:ext uri="{BB962C8B-B14F-4D97-AF65-F5344CB8AC3E}">
        <p14:creationId xmlns:p14="http://schemas.microsoft.com/office/powerpoint/2010/main" val="21603157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448F6C57-A8B1-DC96-5869-560383E7A005}"/>
              </a:ext>
            </a:extLst>
          </p:cNvPr>
          <p:cNvSpPr>
            <a:spLocks noGrp="1"/>
          </p:cNvSpPr>
          <p:nvPr>
            <p:ph idx="1"/>
          </p:nvPr>
        </p:nvSpPr>
        <p:spPr>
          <a:xfrm>
            <a:off x="838200" y="1253331"/>
            <a:ext cx="10515600" cy="4351338"/>
          </a:xfrm>
        </p:spPr>
        <p:txBody>
          <a:bodyPr/>
          <a:lstStyle/>
          <a:p>
            <a:pPr marL="0" indent="0">
              <a:buNone/>
            </a:pPr>
            <a:r>
              <a:rPr lang="es-MX" sz="4400" b="1" kern="0" noProof="0" dirty="0">
                <a:solidFill>
                  <a:schemeClr val="accent1"/>
                </a:solidFill>
                <a:latin typeface="+mj-lt"/>
                <a:cs typeface="Arial" panose="020B0604020202020204" pitchFamily="34" charset="0"/>
              </a:rPr>
              <a:t>Objetivo</a:t>
            </a:r>
          </a:p>
          <a:p>
            <a:pPr marL="0" indent="0">
              <a:buNone/>
            </a:pPr>
            <a:r>
              <a:rPr lang="es-MX" noProof="0" dirty="0"/>
              <a:t> </a:t>
            </a:r>
          </a:p>
          <a:p>
            <a:pPr marL="0" indent="0" algn="just">
              <a:buNone/>
            </a:pPr>
            <a:r>
              <a:rPr lang="es-MX" noProof="0" dirty="0"/>
              <a:t>Aplicar herramientas de planificación de proyectos mediante ejercicios relacionados con la definición del alcance, la organización de actividades, la estimación de recursos y costos, la elaboración de cronogramas, WBS y diagramas de Gantt, así como el seguimiento de los proyectos académicos de Brandon, Josefina y Roberto.</a:t>
            </a:r>
          </a:p>
        </p:txBody>
      </p:sp>
    </p:spTree>
    <p:extLst>
      <p:ext uri="{BB962C8B-B14F-4D97-AF65-F5344CB8AC3E}">
        <p14:creationId xmlns:p14="http://schemas.microsoft.com/office/powerpoint/2010/main" val="4926627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4D3867A-3E04-8632-141B-8C5FDD171C9C}"/>
              </a:ext>
            </a:extLst>
          </p:cNvPr>
          <p:cNvSpPr>
            <a:spLocks noGrp="1"/>
          </p:cNvSpPr>
          <p:nvPr>
            <p:ph type="title"/>
          </p:nvPr>
        </p:nvSpPr>
        <p:spPr/>
        <p:txBody>
          <a:bodyPr>
            <a:normAutofit/>
          </a:bodyPr>
          <a:lstStyle/>
          <a:p>
            <a:r>
              <a:rPr lang="es-MX" sz="4800" b="1" noProof="0" dirty="0">
                <a:solidFill>
                  <a:schemeClr val="accent1"/>
                </a:solidFill>
              </a:rPr>
              <a:t>justificación</a:t>
            </a:r>
          </a:p>
        </p:txBody>
      </p:sp>
      <p:sp>
        <p:nvSpPr>
          <p:cNvPr id="3" name="Marcador de contenido 2">
            <a:extLst>
              <a:ext uri="{FF2B5EF4-FFF2-40B4-BE49-F238E27FC236}">
                <a16:creationId xmlns:a16="http://schemas.microsoft.com/office/drawing/2014/main" id="{8CEA835B-7257-6BC0-9849-98A1416CE74C}"/>
              </a:ext>
            </a:extLst>
          </p:cNvPr>
          <p:cNvSpPr>
            <a:spLocks noGrp="1"/>
          </p:cNvSpPr>
          <p:nvPr>
            <p:ph idx="1"/>
          </p:nvPr>
        </p:nvSpPr>
        <p:spPr/>
        <p:txBody>
          <a:bodyPr>
            <a:normAutofit/>
          </a:bodyPr>
          <a:lstStyle/>
          <a:p>
            <a:pPr marL="0" indent="0" algn="just">
              <a:buNone/>
            </a:pPr>
            <a:r>
              <a:rPr lang="es-MX" noProof="0" dirty="0"/>
              <a:t>comprender cómo se aplican las herramientas de planificación en situaciones concretas. El análisis del alcance, las actividades, los recursos y los tiempos ayuda a establecer planes verificables y a controlar el avance sin registrar actividades que no ocurrieron. Además, permite relacionar los conceptos estudiados con la información real de los tres proyectos académicos.</a:t>
            </a:r>
          </a:p>
        </p:txBody>
      </p:sp>
    </p:spTree>
    <p:extLst>
      <p:ext uri="{BB962C8B-B14F-4D97-AF65-F5344CB8AC3E}">
        <p14:creationId xmlns:p14="http://schemas.microsoft.com/office/powerpoint/2010/main" val="35272361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EB13985-6EEA-BA16-133C-412FDAA345DC}"/>
              </a:ext>
            </a:extLst>
          </p:cNvPr>
          <p:cNvSpPr>
            <a:spLocks noGrp="1"/>
          </p:cNvSpPr>
          <p:nvPr>
            <p:ph type="title"/>
          </p:nvPr>
        </p:nvSpPr>
        <p:spPr/>
        <p:txBody>
          <a:bodyPr vert="horz" lIns="91440" tIns="45720" rIns="91440" bIns="45720" anchor="ctr">
            <a:noAutofit/>
          </a:bodyPr>
          <a:lstStyle/>
          <a:p>
            <a:r>
              <a:rPr lang="es-MX" sz="3600" b="1" noProof="0" dirty="0">
                <a:solidFill>
                  <a:schemeClr val="accent1"/>
                </a:solidFill>
              </a:rPr>
              <a:t>Estado de cada proyecto</a:t>
            </a:r>
          </a:p>
        </p:txBody>
      </p:sp>
      <p:graphicFrame>
        <p:nvGraphicFramePr>
          <p:cNvPr id="5" name="Marcador de contenido 3"/>
          <p:cNvGraphicFramePr/>
          <p:nvPr>
            <p:extLst>
              <p:ext uri="{D42A27DB-BD31-4B8C-83A1-F6EECF244321}">
                <p14:modId xmlns:p14="http://schemas.microsoft.com/office/powerpoint/2010/main" val="932069027"/>
              </p:ext>
            </p:extLst>
          </p:nvPr>
        </p:nvGraphicFramePr>
        <p:xfrm>
          <a:off x="838200" y="1898174"/>
          <a:ext cx="10515600" cy="2499360"/>
        </p:xfrm>
        <a:graphic>
          <a:graphicData uri="http://schemas.openxmlformats.org/drawingml/2006/table">
            <a:tbl>
              <a:tblPr>
                <a:tableStyleId>{FABFCF23-3B69-468F-B69F-88F6DE6A72F2}</a:tableStyleId>
              </a:tblPr>
              <a:tblGrid>
                <a:gridCol w="2628900">
                  <a:extLst>
                    <a:ext uri="{9D8B030D-6E8A-4147-A177-3AD203B41FA5}">
                      <a16:colId xmlns:a16="http://schemas.microsoft.com/office/drawing/2014/main" val="20000"/>
                    </a:ext>
                  </a:extLst>
                </a:gridCol>
                <a:gridCol w="2628900">
                  <a:extLst>
                    <a:ext uri="{9D8B030D-6E8A-4147-A177-3AD203B41FA5}">
                      <a16:colId xmlns:a16="http://schemas.microsoft.com/office/drawing/2014/main" val="20001"/>
                    </a:ext>
                  </a:extLst>
                </a:gridCol>
                <a:gridCol w="2628900">
                  <a:extLst>
                    <a:ext uri="{9D8B030D-6E8A-4147-A177-3AD203B41FA5}">
                      <a16:colId xmlns:a16="http://schemas.microsoft.com/office/drawing/2014/main" val="20002"/>
                    </a:ext>
                  </a:extLst>
                </a:gridCol>
                <a:gridCol w="2628900">
                  <a:extLst>
                    <a:ext uri="{9D8B030D-6E8A-4147-A177-3AD203B41FA5}">
                      <a16:colId xmlns:a16="http://schemas.microsoft.com/office/drawing/2014/main" val="20003"/>
                    </a:ext>
                  </a:extLst>
                </a:gridCol>
              </a:tblGrid>
              <a:tr h="0">
                <a:tc>
                  <a:txBody>
                    <a:bodyPr/>
                    <a:lstStyle/>
                    <a:p>
                      <a:pPr>
                        <a:buNone/>
                      </a:pPr>
                      <a:r>
                        <a:rPr lang="es-MX" sz="1400" noProof="0" dirty="0"/>
                        <a:t>Proyecto</a:t>
                      </a:r>
                    </a:p>
                  </a:txBody>
                  <a:tcPr anchor="ctr"/>
                </a:tc>
                <a:tc>
                  <a:txBody>
                    <a:bodyPr/>
                    <a:lstStyle/>
                    <a:p>
                      <a:pPr>
                        <a:buNone/>
                      </a:pPr>
                      <a:r>
                        <a:rPr lang="es-MX" sz="1400" noProof="0" dirty="0"/>
                        <a:t>Estado actual</a:t>
                      </a:r>
                    </a:p>
                  </a:txBody>
                  <a:tcPr anchor="ctr"/>
                </a:tc>
                <a:tc>
                  <a:txBody>
                    <a:bodyPr/>
                    <a:lstStyle/>
                    <a:p>
                      <a:pPr>
                        <a:buNone/>
                      </a:pPr>
                      <a:r>
                        <a:rPr lang="es-MX" sz="1400" noProof="0" dirty="0"/>
                        <a:t>Evidencia disponible</a:t>
                      </a:r>
                    </a:p>
                  </a:txBody>
                  <a:tcPr anchor="ctr"/>
                </a:tc>
                <a:tc>
                  <a:txBody>
                    <a:bodyPr/>
                    <a:lstStyle/>
                    <a:p>
                      <a:pPr>
                        <a:buNone/>
                      </a:pPr>
                      <a:r>
                        <a:rPr lang="es-MX" sz="1400" noProof="0" dirty="0"/>
                        <a:t>Acción del Project Manager</a:t>
                      </a:r>
                    </a:p>
                  </a:txBody>
                  <a:tcPr anchor="ctr"/>
                </a:tc>
                <a:extLst>
                  <a:ext uri="{0D108BD9-81ED-4DB2-BD59-A6C34878D82A}">
                    <a16:rowId xmlns:a16="http://schemas.microsoft.com/office/drawing/2014/main" val="10000"/>
                  </a:ext>
                </a:extLst>
              </a:tr>
              <a:tr h="0">
                <a:tc>
                  <a:txBody>
                    <a:bodyPr/>
                    <a:lstStyle/>
                    <a:p>
                      <a:pPr>
                        <a:buNone/>
                      </a:pPr>
                      <a:r>
                        <a:rPr lang="es-MX" sz="1400" noProof="0" dirty="0"/>
                        <a:t>Brandon · Taller mecánico</a:t>
                      </a:r>
                    </a:p>
                  </a:txBody>
                  <a:tcPr anchor="ctr"/>
                </a:tc>
                <a:tc>
                  <a:txBody>
                    <a:bodyPr/>
                    <a:lstStyle/>
                    <a:p>
                      <a:pPr>
                        <a:buNone/>
                      </a:pPr>
                      <a:r>
                        <a:rPr lang="es-MX" sz="1400" noProof="0" dirty="0"/>
                        <a:t>En proceso</a:t>
                      </a:r>
                    </a:p>
                  </a:txBody>
                  <a:tcPr anchor="ctr"/>
                </a:tc>
                <a:tc>
                  <a:txBody>
                    <a:bodyPr/>
                    <a:lstStyle/>
                    <a:p>
                      <a:pPr>
                        <a:buNone/>
                      </a:pPr>
                      <a:r>
                        <a:rPr lang="es-MX" sz="1400" noProof="0" dirty="0"/>
                        <a:t>Cuestionario y BPMN corregidos, aceptados el 10/09; planificación U3 completa</a:t>
                      </a:r>
                    </a:p>
                  </a:txBody>
                  <a:tcPr anchor="ctr"/>
                </a:tc>
                <a:tc>
                  <a:txBody>
                    <a:bodyPr/>
                    <a:lstStyle/>
                    <a:p>
                      <a:pPr>
                        <a:buNone/>
                      </a:pPr>
                      <a:r>
                        <a:rPr lang="es-MX" sz="1400" noProof="0" dirty="0"/>
                        <a:t>Validar requisitos funcionales/no funcionales antes de autorizar el desarrollo en Java, Python y R</a:t>
                      </a:r>
                    </a:p>
                  </a:txBody>
                  <a:tcPr anchor="ctr"/>
                </a:tc>
                <a:extLst>
                  <a:ext uri="{0D108BD9-81ED-4DB2-BD59-A6C34878D82A}">
                    <a16:rowId xmlns:a16="http://schemas.microsoft.com/office/drawing/2014/main" val="10001"/>
                  </a:ext>
                </a:extLst>
              </a:tr>
              <a:tr h="0">
                <a:tc>
                  <a:txBody>
                    <a:bodyPr/>
                    <a:lstStyle/>
                    <a:p>
                      <a:pPr>
                        <a:buNone/>
                      </a:pPr>
                      <a:r>
                        <a:rPr lang="es-MX" sz="1400" noProof="0" dirty="0"/>
                        <a:t>Josefina · Planta embotelladora</a:t>
                      </a:r>
                    </a:p>
                  </a:txBody>
                  <a:tcPr anchor="ctr"/>
                </a:tc>
                <a:tc>
                  <a:txBody>
                    <a:bodyPr/>
                    <a:lstStyle/>
                    <a:p>
                      <a:pPr>
                        <a:buNone/>
                      </a:pPr>
                      <a:r>
                        <a:rPr lang="es-MX" sz="1400" noProof="0" dirty="0"/>
                        <a:t>En proceso</a:t>
                      </a:r>
                    </a:p>
                  </a:txBody>
                  <a:tcPr anchor="ctr"/>
                </a:tc>
                <a:tc>
                  <a:txBody>
                    <a:bodyPr/>
                    <a:lstStyle/>
                    <a:p>
                      <a:pPr>
                        <a:buNone/>
                      </a:pPr>
                      <a:r>
                        <a:rPr lang="es-MX" sz="1400" noProof="0" dirty="0"/>
                        <a:t>Cuestionario aceptado; modelo actualizado (PDF y BPM) recibido el 11/09, en revisión</a:t>
                      </a:r>
                    </a:p>
                  </a:txBody>
                  <a:tcPr anchor="ctr"/>
                </a:tc>
                <a:tc>
                  <a:txBody>
                    <a:bodyPr/>
                    <a:lstStyle/>
                    <a:p>
                      <a:pPr>
                        <a:buNone/>
                      </a:pPr>
                      <a:r>
                        <a:rPr lang="es-MX" sz="1400" noProof="0" dirty="0"/>
                        <a:t>Solicitar unificación del número de empleados y los resultados completos de la simulación</a:t>
                      </a:r>
                    </a:p>
                  </a:txBody>
                  <a:tcPr anchor="ctr"/>
                </a:tc>
                <a:extLst>
                  <a:ext uri="{0D108BD9-81ED-4DB2-BD59-A6C34878D82A}">
                    <a16:rowId xmlns:a16="http://schemas.microsoft.com/office/drawing/2014/main" val="10002"/>
                  </a:ext>
                </a:extLst>
              </a:tr>
              <a:tr h="0">
                <a:tc>
                  <a:txBody>
                    <a:bodyPr/>
                    <a:lstStyle/>
                    <a:p>
                      <a:pPr>
                        <a:buNone/>
                      </a:pPr>
                      <a:r>
                        <a:rPr lang="es-MX" sz="1400" noProof="0" dirty="0"/>
                        <a:t>Roberto · Taller de electrónica</a:t>
                      </a:r>
                    </a:p>
                  </a:txBody>
                  <a:tcPr anchor="ctr"/>
                </a:tc>
                <a:tc>
                  <a:txBody>
                    <a:bodyPr/>
                    <a:lstStyle/>
                    <a:p>
                      <a:pPr>
                        <a:buNone/>
                      </a:pPr>
                      <a:r>
                        <a:rPr lang="es-MX" sz="1400" noProof="0" dirty="0"/>
                        <a:t>En proceso</a:t>
                      </a:r>
                    </a:p>
                  </a:txBody>
                  <a:tcPr anchor="ctr"/>
                </a:tc>
                <a:tc>
                  <a:txBody>
                    <a:bodyPr/>
                    <a:lstStyle/>
                    <a:p>
                      <a:pPr>
                        <a:buNone/>
                      </a:pPr>
                      <a:r>
                        <a:rPr lang="es-MX" sz="1400" noProof="0" dirty="0"/>
                        <a:t>Diagrama y cuestionario aceptados en su estado actual el 15/09; planificación U3 completa</a:t>
                      </a:r>
                    </a:p>
                  </a:txBody>
                  <a:tcPr anchor="ctr"/>
                </a:tc>
                <a:tc>
                  <a:txBody>
                    <a:bodyPr/>
                    <a:lstStyle/>
                    <a:p>
                      <a:pPr>
                        <a:buNone/>
                      </a:pPr>
                      <a:r>
                        <a:rPr lang="es-MX" sz="1400" noProof="0" dirty="0"/>
                        <a:t>Dar seguimiento a la configuración del modelo y a las corridas experimentales</a:t>
                      </a:r>
                    </a:p>
                  </a:txBody>
                  <a:tcPr anchor="ct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7077500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EB13985-6EEA-BA16-133C-412FDAA345DC}"/>
              </a:ext>
            </a:extLst>
          </p:cNvPr>
          <p:cNvSpPr>
            <a:spLocks noGrp="1"/>
          </p:cNvSpPr>
          <p:nvPr>
            <p:ph type="title"/>
          </p:nvPr>
        </p:nvSpPr>
        <p:spPr/>
        <p:txBody>
          <a:bodyPr vert="horz" lIns="91440" tIns="45720" rIns="91440" bIns="45720" anchor="ctr">
            <a:noAutofit/>
          </a:bodyPr>
          <a:lstStyle/>
          <a:p>
            <a:r>
              <a:rPr lang="es-MX" sz="3600" b="1" noProof="0" dirty="0">
                <a:solidFill>
                  <a:schemeClr val="accent1"/>
                </a:solidFill>
              </a:rPr>
              <a:t>Evidencias: seguimiento en Monday.com</a:t>
            </a:r>
          </a:p>
        </p:txBody>
      </p:sp>
      <p:graphicFrame>
        <p:nvGraphicFramePr>
          <p:cNvPr id="5" name="Tabla de evidencias"/>
          <p:cNvGraphicFramePr/>
          <p:nvPr>
            <p:extLst>
              <p:ext uri="{D42A27DB-BD31-4B8C-83A1-F6EECF244321}">
                <p14:modId xmlns:p14="http://schemas.microsoft.com/office/powerpoint/2010/main" val="3887244960"/>
              </p:ext>
            </p:extLst>
          </p:nvPr>
        </p:nvGraphicFramePr>
        <p:xfrm>
          <a:off x="838200" y="1557029"/>
          <a:ext cx="5657852" cy="2592926"/>
        </p:xfrm>
        <a:graphic>
          <a:graphicData uri="http://schemas.openxmlformats.org/drawingml/2006/table">
            <a:tbl>
              <a:tblPr firstRow="1">
                <a:tableStyleId>{FABFCF23-3B69-468F-B69F-88F6DE6A72F2}</a:tableStyleId>
              </a:tblPr>
              <a:tblGrid>
                <a:gridCol w="1414463">
                  <a:extLst>
                    <a:ext uri="{9D8B030D-6E8A-4147-A177-3AD203B41FA5}">
                      <a16:colId xmlns:a16="http://schemas.microsoft.com/office/drawing/2014/main" val="20000"/>
                    </a:ext>
                  </a:extLst>
                </a:gridCol>
                <a:gridCol w="1414463">
                  <a:extLst>
                    <a:ext uri="{9D8B030D-6E8A-4147-A177-3AD203B41FA5}">
                      <a16:colId xmlns:a16="http://schemas.microsoft.com/office/drawing/2014/main" val="20001"/>
                    </a:ext>
                  </a:extLst>
                </a:gridCol>
                <a:gridCol w="1414463">
                  <a:extLst>
                    <a:ext uri="{9D8B030D-6E8A-4147-A177-3AD203B41FA5}">
                      <a16:colId xmlns:a16="http://schemas.microsoft.com/office/drawing/2014/main" val="20002"/>
                    </a:ext>
                  </a:extLst>
                </a:gridCol>
                <a:gridCol w="1414463">
                  <a:extLst>
                    <a:ext uri="{9D8B030D-6E8A-4147-A177-3AD203B41FA5}">
                      <a16:colId xmlns:a16="http://schemas.microsoft.com/office/drawing/2014/main" val="20003"/>
                    </a:ext>
                  </a:extLst>
                </a:gridCol>
              </a:tblGrid>
              <a:tr h="420981">
                <a:tc>
                  <a:txBody>
                    <a:bodyPr/>
                    <a:lstStyle/>
                    <a:p>
                      <a:pPr>
                        <a:buNone/>
                      </a:pPr>
                      <a:r>
                        <a:rPr lang="es-MX" sz="1200" b="1" noProof="0" dirty="0"/>
                        <a:t>Proyecto (tablero)</a:t>
                      </a:r>
                    </a:p>
                  </a:txBody>
                  <a:tcPr anchor="ctr"/>
                </a:tc>
                <a:tc>
                  <a:txBody>
                    <a:bodyPr/>
                    <a:lstStyle/>
                    <a:p>
                      <a:pPr>
                        <a:buNone/>
                      </a:pPr>
                      <a:r>
                        <a:rPr lang="es-MX" sz="1200" b="1" noProof="0" dirty="0"/>
                        <a:t>Grupo Monday.com</a:t>
                      </a:r>
                    </a:p>
                  </a:txBody>
                  <a:tcPr anchor="ctr"/>
                </a:tc>
                <a:tc>
                  <a:txBody>
                    <a:bodyPr/>
                    <a:lstStyle/>
                    <a:p>
                      <a:pPr>
                        <a:buNone/>
                      </a:pPr>
                      <a:r>
                        <a:rPr lang="es-MX" sz="1200" b="1" noProof="0" dirty="0"/>
                        <a:t>Última actualización</a:t>
                      </a:r>
                    </a:p>
                  </a:txBody>
                  <a:tcPr anchor="ctr"/>
                </a:tc>
                <a:tc>
                  <a:txBody>
                    <a:bodyPr/>
                    <a:lstStyle/>
                    <a:p>
                      <a:pPr>
                        <a:buNone/>
                      </a:pPr>
                      <a:r>
                        <a:rPr lang="es-MX" sz="1200" b="1" noProof="0" dirty="0"/>
                        <a:t>Estado registrado</a:t>
                      </a:r>
                    </a:p>
                  </a:txBody>
                  <a:tcPr anchor="ctr"/>
                </a:tc>
                <a:extLst>
                  <a:ext uri="{0D108BD9-81ED-4DB2-BD59-A6C34878D82A}">
                    <a16:rowId xmlns:a16="http://schemas.microsoft.com/office/drawing/2014/main" val="10000"/>
                  </a:ext>
                </a:extLst>
              </a:tr>
              <a:tr h="686863">
                <a:tc>
                  <a:txBody>
                    <a:bodyPr/>
                    <a:lstStyle/>
                    <a:p>
                      <a:pPr>
                        <a:buNone/>
                      </a:pPr>
                      <a:r>
                        <a:rPr lang="es-MX" sz="1100" noProof="0" dirty="0"/>
                        <a:t>ACTA-001 · Brandon (taller mecánico)</a:t>
                      </a:r>
                    </a:p>
                  </a:txBody>
                  <a:tcPr anchor="ctr"/>
                </a:tc>
                <a:tc>
                  <a:txBody>
                    <a:bodyPr/>
                    <a:lstStyle/>
                    <a:p>
                      <a:pPr>
                        <a:buNone/>
                      </a:pPr>
                      <a:r>
                        <a:rPr lang="es-MX" sz="1100" noProof="0" dirty="0"/>
                        <a:t>Monitoreo y Control</a:t>
                      </a:r>
                    </a:p>
                  </a:txBody>
                  <a:tcPr anchor="ctr"/>
                </a:tc>
                <a:tc>
                  <a:txBody>
                    <a:bodyPr/>
                    <a:lstStyle/>
                    <a:p>
                      <a:pPr>
                        <a:buNone/>
                      </a:pPr>
                      <a:r>
                        <a:rPr lang="es-MX" sz="1100" noProof="0" dirty="0"/>
                        <a:t>10/09/2026</a:t>
                      </a:r>
                    </a:p>
                  </a:txBody>
                  <a:tcPr anchor="ctr"/>
                </a:tc>
                <a:tc>
                  <a:txBody>
                    <a:bodyPr/>
                    <a:lstStyle/>
                    <a:p>
                      <a:pPr>
                        <a:buNone/>
                      </a:pPr>
                      <a:r>
                        <a:rPr lang="es-MX" sz="1100" noProof="0" dirty="0"/>
                        <a:t>En proceso — cuestionario y BPMN corregidos aceptados</a:t>
                      </a:r>
                    </a:p>
                  </a:txBody>
                  <a:tcPr anchor="ctr"/>
                </a:tc>
                <a:extLst>
                  <a:ext uri="{0D108BD9-81ED-4DB2-BD59-A6C34878D82A}">
                    <a16:rowId xmlns:a16="http://schemas.microsoft.com/office/drawing/2014/main" val="10001"/>
                  </a:ext>
                </a:extLst>
              </a:tr>
              <a:tr h="686863">
                <a:tc>
                  <a:txBody>
                    <a:bodyPr/>
                    <a:lstStyle/>
                    <a:p>
                      <a:pPr>
                        <a:buNone/>
                      </a:pPr>
                      <a:r>
                        <a:rPr lang="es-MX" sz="1100" noProof="0" dirty="0"/>
                        <a:t>ACTA-002 · Josefina (planta embotelladora)</a:t>
                      </a:r>
                    </a:p>
                  </a:txBody>
                  <a:tcPr anchor="ctr"/>
                </a:tc>
                <a:tc>
                  <a:txBody>
                    <a:bodyPr/>
                    <a:lstStyle/>
                    <a:p>
                      <a:pPr>
                        <a:buNone/>
                      </a:pPr>
                      <a:r>
                        <a:rPr lang="es-MX" sz="1100" noProof="0" dirty="0"/>
                        <a:t>Monitoreo y Control</a:t>
                      </a:r>
                    </a:p>
                  </a:txBody>
                  <a:tcPr anchor="ctr"/>
                </a:tc>
                <a:tc>
                  <a:txBody>
                    <a:bodyPr/>
                    <a:lstStyle/>
                    <a:p>
                      <a:pPr>
                        <a:buNone/>
                      </a:pPr>
                      <a:r>
                        <a:rPr lang="es-MX" sz="1100" noProof="0" dirty="0"/>
                        <a:t>15/09/2026</a:t>
                      </a:r>
                    </a:p>
                  </a:txBody>
                  <a:tcPr anchor="ctr"/>
                </a:tc>
                <a:tc>
                  <a:txBody>
                    <a:bodyPr/>
                    <a:lstStyle/>
                    <a:p>
                      <a:pPr>
                        <a:buNone/>
                      </a:pPr>
                      <a:r>
                        <a:rPr lang="es-MX" sz="1100" noProof="0" dirty="0"/>
                        <a:t>En proceso — modelo actualizado en revisión</a:t>
                      </a:r>
                    </a:p>
                  </a:txBody>
                  <a:tcPr anchor="ctr"/>
                </a:tc>
                <a:extLst>
                  <a:ext uri="{0D108BD9-81ED-4DB2-BD59-A6C34878D82A}">
                    <a16:rowId xmlns:a16="http://schemas.microsoft.com/office/drawing/2014/main" val="10002"/>
                  </a:ext>
                </a:extLst>
              </a:tr>
              <a:tr h="686863">
                <a:tc>
                  <a:txBody>
                    <a:bodyPr/>
                    <a:lstStyle/>
                    <a:p>
                      <a:pPr>
                        <a:buNone/>
                      </a:pPr>
                      <a:r>
                        <a:rPr lang="es-MX" sz="1100" noProof="0" dirty="0"/>
                        <a:t>ACTA-003 · Roberto (taller de electrónica)</a:t>
                      </a:r>
                    </a:p>
                  </a:txBody>
                  <a:tcPr anchor="ctr"/>
                </a:tc>
                <a:tc>
                  <a:txBody>
                    <a:bodyPr/>
                    <a:lstStyle/>
                    <a:p>
                      <a:pPr>
                        <a:buNone/>
                      </a:pPr>
                      <a:r>
                        <a:rPr lang="es-MX" sz="1100" noProof="0" dirty="0"/>
                        <a:t>Monitoreo y Control</a:t>
                      </a:r>
                    </a:p>
                  </a:txBody>
                  <a:tcPr anchor="ctr"/>
                </a:tc>
                <a:tc>
                  <a:txBody>
                    <a:bodyPr/>
                    <a:lstStyle/>
                    <a:p>
                      <a:pPr>
                        <a:buNone/>
                      </a:pPr>
                      <a:r>
                        <a:rPr lang="es-MX" sz="1100" noProof="0" dirty="0"/>
                        <a:t>15/09/2026</a:t>
                      </a:r>
                    </a:p>
                  </a:txBody>
                  <a:tcPr anchor="ctr"/>
                </a:tc>
                <a:tc>
                  <a:txBody>
                    <a:bodyPr/>
                    <a:lstStyle/>
                    <a:p>
                      <a:pPr>
                        <a:buNone/>
                      </a:pPr>
                      <a:r>
                        <a:rPr lang="es-MX" sz="1100" noProof="0" dirty="0"/>
                        <a:t>En proceso — diagrama y cuestionario aceptados</a:t>
                      </a:r>
                    </a:p>
                  </a:txBody>
                  <a:tcPr anchor="ctr"/>
                </a:tc>
                <a:extLst>
                  <a:ext uri="{0D108BD9-81ED-4DB2-BD59-A6C34878D82A}">
                    <a16:rowId xmlns:a16="http://schemas.microsoft.com/office/drawing/2014/main" val="10003"/>
                  </a:ext>
                </a:extLst>
              </a:tr>
            </a:tbl>
          </a:graphicData>
        </a:graphic>
      </p:graphicFrame>
      <p:sp>
        <p:nvSpPr>
          <p:cNvPr id="8" name="CuadroTexto 7"/>
          <p:cNvSpPr txBox="1"/>
          <p:nvPr/>
        </p:nvSpPr>
        <p:spPr>
          <a:xfrm>
            <a:off x="676276" y="4500000"/>
            <a:ext cx="11177902" cy="1477328"/>
          </a:xfrm>
          <a:prstGeom prst="rect">
            <a:avLst/>
          </a:prstGeom>
          <a:noFill/>
        </p:spPr>
        <p:txBody>
          <a:bodyPr wrap="square">
            <a:spAutoFit/>
          </a:bodyPr>
          <a:lstStyle/>
          <a:p>
            <a:pPr algn="just">
              <a:buNone/>
            </a:pPr>
            <a:r>
              <a:rPr lang="es-MX" noProof="0" dirty="0"/>
              <a:t>La tabla anterior se generó a partir de una consulta directa a los tableros de Monday.com de cada proyecto (ACTA-001, ACTA-002 y ACTA-003), en el grupo “Monitoreo y Control” utilizado para el seguimiento del Project Manager. Los datos reflejan la última actualización registrada en cada tablero al 15 de septiembre de 2026.</a:t>
            </a:r>
          </a:p>
          <a:p>
            <a:pPr algn="just">
              <a:buNone/>
            </a:pPr>
            <a:r>
              <a:rPr lang="es-MX" noProof="0" dirty="0"/>
              <a:t>Las capturas complementan la consulta directa a Monday y permiten comprobar el estado registrado en cada tablero al momento de la revisión.</a:t>
            </a:r>
          </a:p>
        </p:txBody>
      </p:sp>
      <p:pic>
        <p:nvPicPr>
          <p:cNvPr id="4" name="Imagen 3">
            <a:extLst>
              <a:ext uri="{FF2B5EF4-FFF2-40B4-BE49-F238E27FC236}">
                <a16:creationId xmlns:a16="http://schemas.microsoft.com/office/drawing/2014/main" id="{9317B8A6-BE7C-33FF-D094-A5D0036BF823}"/>
              </a:ext>
            </a:extLst>
          </p:cNvPr>
          <p:cNvPicPr>
            <a:picLocks noChangeAspect="1"/>
          </p:cNvPicPr>
          <p:nvPr/>
        </p:nvPicPr>
        <p:blipFill>
          <a:blip r:embed="rId3"/>
          <a:stretch>
            <a:fillRect/>
          </a:stretch>
        </p:blipFill>
        <p:spPr>
          <a:xfrm>
            <a:off x="6749413" y="1438274"/>
            <a:ext cx="5198533" cy="2924175"/>
          </a:xfrm>
          <a:prstGeom prst="rect">
            <a:avLst/>
          </a:prstGeom>
        </p:spPr>
      </p:pic>
    </p:spTree>
    <p:extLst>
      <p:ext uri="{BB962C8B-B14F-4D97-AF65-F5344CB8AC3E}">
        <p14:creationId xmlns:p14="http://schemas.microsoft.com/office/powerpoint/2010/main" val="37077500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vert="horz" lIns="91440" tIns="45720" rIns="91440" bIns="45720" anchor="ctr">
            <a:noAutofit/>
          </a:bodyPr>
          <a:lstStyle/>
          <a:p>
            <a:r>
              <a:rPr lang="es-MX" sz="3200" b="1" noProof="0" dirty="0">
                <a:solidFill>
                  <a:schemeClr val="accent1"/>
                </a:solidFill>
              </a:rPr>
              <a:t>Revisión del modelo de simulación de Josefina</a:t>
            </a:r>
          </a:p>
        </p:txBody>
      </p:sp>
      <p:graphicFrame>
        <p:nvGraphicFramePr>
          <p:cNvPr id="5" name="Tabla comparativa"/>
          <p:cNvGraphicFramePr/>
          <p:nvPr>
            <p:extLst>
              <p:ext uri="{D42A27DB-BD31-4B8C-83A1-F6EECF244321}">
                <p14:modId xmlns:p14="http://schemas.microsoft.com/office/powerpoint/2010/main" val="1996139234"/>
              </p:ext>
            </p:extLst>
          </p:nvPr>
        </p:nvGraphicFramePr>
        <p:xfrm>
          <a:off x="838200" y="1650000"/>
          <a:ext cx="10515600" cy="1620000"/>
        </p:xfrm>
        <a:graphic>
          <a:graphicData uri="http://schemas.openxmlformats.org/drawingml/2006/table">
            <a:tbl>
              <a:tblPr firstRow="1">
                <a:tableStyleId>{FABFCF23-3B69-468F-B69F-88F6DE6A72F2}</a:tableStyleId>
              </a:tblPr>
              <a:tblGrid>
                <a:gridCol w="3505200">
                  <a:extLst>
                    <a:ext uri="{9D8B030D-6E8A-4147-A177-3AD203B41FA5}">
                      <a16:colId xmlns:a16="http://schemas.microsoft.com/office/drawing/2014/main" val="20000"/>
                    </a:ext>
                  </a:extLst>
                </a:gridCol>
                <a:gridCol w="2100000">
                  <a:extLst>
                    <a:ext uri="{9D8B030D-6E8A-4147-A177-3AD203B41FA5}">
                      <a16:colId xmlns:a16="http://schemas.microsoft.com/office/drawing/2014/main" val="20001"/>
                    </a:ext>
                  </a:extLst>
                </a:gridCol>
                <a:gridCol w="4910400">
                  <a:extLst>
                    <a:ext uri="{9D8B030D-6E8A-4147-A177-3AD203B41FA5}">
                      <a16:colId xmlns:a16="http://schemas.microsoft.com/office/drawing/2014/main" val="20002"/>
                    </a:ext>
                  </a:extLst>
                </a:gridCol>
              </a:tblGrid>
              <a:tr h="380000">
                <a:tc>
                  <a:txBody>
                    <a:bodyPr/>
                    <a:lstStyle/>
                    <a:p>
                      <a:pPr>
                        <a:buNone/>
                      </a:pPr>
                      <a:r>
                        <a:rPr lang="es-MX" sz="1600" b="1" noProof="0" dirty="0"/>
                        <a:t>Fuente</a:t>
                      </a:r>
                    </a:p>
                  </a:txBody>
                  <a:tcPr anchor="ctr"/>
                </a:tc>
                <a:tc>
                  <a:txBody>
                    <a:bodyPr/>
                    <a:lstStyle/>
                    <a:p>
                      <a:pPr>
                        <a:buNone/>
                      </a:pPr>
                      <a:r>
                        <a:rPr lang="es-MX" sz="1600" b="1" noProof="0" dirty="0"/>
                        <a:t>Empleados</a:t>
                      </a:r>
                    </a:p>
                  </a:txBody>
                  <a:tcPr anchor="ctr"/>
                </a:tc>
                <a:tc>
                  <a:txBody>
                    <a:bodyPr/>
                    <a:lstStyle/>
                    <a:p>
                      <a:pPr>
                        <a:buNone/>
                      </a:pPr>
                      <a:r>
                        <a:rPr lang="es-MX" sz="1600" b="1" noProof="0" dirty="0"/>
                        <a:t>Detalle</a:t>
                      </a:r>
                    </a:p>
                  </a:txBody>
                  <a:tcPr anchor="ctr"/>
                </a:tc>
                <a:extLst>
                  <a:ext uri="{0D108BD9-81ED-4DB2-BD59-A6C34878D82A}">
                    <a16:rowId xmlns:a16="http://schemas.microsoft.com/office/drawing/2014/main" val="10000"/>
                  </a:ext>
                </a:extLst>
              </a:tr>
              <a:tr h="620000">
                <a:tc>
                  <a:txBody>
                    <a:bodyPr/>
                    <a:lstStyle/>
                    <a:p>
                      <a:pPr>
                        <a:buNone/>
                      </a:pPr>
                      <a:r>
                        <a:rPr lang="es-MX" sz="1400" noProof="0" dirty="0"/>
                        <a:t>CUESTIONARIO-002 respondido</a:t>
                      </a:r>
                    </a:p>
                  </a:txBody>
                  <a:tcPr anchor="ctr"/>
                </a:tc>
                <a:tc>
                  <a:txBody>
                    <a:bodyPr/>
                    <a:lstStyle/>
                    <a:p>
                      <a:pPr>
                        <a:buNone/>
                      </a:pPr>
                      <a:r>
                        <a:rPr lang="es-MX" sz="1400" noProof="0" dirty="0"/>
                        <a:t>4 empleados</a:t>
                      </a:r>
                    </a:p>
                  </a:txBody>
                  <a:tcPr anchor="ctr"/>
                </a:tc>
                <a:tc>
                  <a:txBody>
                    <a:bodyPr/>
                    <a:lstStyle/>
                    <a:p>
                      <a:pPr>
                        <a:buNone/>
                      </a:pPr>
                      <a:r>
                        <a:rPr lang="es-MX" sz="1400" dirty="0"/>
                        <a:t>Define las funciones de recepción, lavado, llenado, colocación de tapas y sellos, y traslado</a:t>
                      </a:r>
                      <a:endParaRPr lang="es-MX" sz="1400" noProof="0" dirty="0"/>
                    </a:p>
                  </a:txBody>
                  <a:tcPr anchor="ctr"/>
                </a:tc>
                <a:extLst>
                  <a:ext uri="{0D108BD9-81ED-4DB2-BD59-A6C34878D82A}">
                    <a16:rowId xmlns:a16="http://schemas.microsoft.com/office/drawing/2014/main" val="10001"/>
                  </a:ext>
                </a:extLst>
              </a:tr>
              <a:tr h="620000">
                <a:tc>
                  <a:txBody>
                    <a:bodyPr/>
                    <a:lstStyle/>
                    <a:p>
                      <a:pPr>
                        <a:buNone/>
                      </a:pPr>
                      <a:r>
                        <a:rPr lang="es-MX" sz="1400" noProof="0" dirty="0"/>
                        <a:t>Modelo actualizado</a:t>
                      </a:r>
                    </a:p>
                  </a:txBody>
                  <a:tcPr anchor="ctr"/>
                </a:tc>
                <a:tc>
                  <a:txBody>
                    <a:bodyPr/>
                    <a:lstStyle/>
                    <a:p>
                      <a:pPr>
                        <a:buNone/>
                      </a:pPr>
                      <a:r>
                        <a:rPr lang="es-MX" sz="1400" noProof="0" dirty="0"/>
                        <a:t>Aparece Empleado 5</a:t>
                      </a:r>
                    </a:p>
                  </a:txBody>
                  <a:tcPr anchor="ctr"/>
                </a:tc>
                <a:tc>
                  <a:txBody>
                    <a:bodyPr/>
                    <a:lstStyle/>
                    <a:p>
                      <a:pPr>
                        <a:buNone/>
                      </a:pPr>
                      <a:r>
                        <a:rPr lang="es-MX" sz="1400" noProof="0" dirty="0"/>
                        <a:t>Incorpora el Empleado 5 asignado para apoyar en el proceso</a:t>
                      </a:r>
                    </a:p>
                  </a:txBody>
                  <a:tcPr anchor="ctr"/>
                </a:tc>
                <a:extLst>
                  <a:ext uri="{0D108BD9-81ED-4DB2-BD59-A6C34878D82A}">
                    <a16:rowId xmlns:a16="http://schemas.microsoft.com/office/drawing/2014/main" val="10002"/>
                  </a:ext>
                </a:extLst>
              </a:tr>
            </a:tbl>
          </a:graphicData>
        </a:graphic>
      </p:graphicFrame>
      <p:sp>
        <p:nvSpPr>
          <p:cNvPr id="8" name="CuadroTexto 7"/>
          <p:cNvSpPr txBox="1"/>
          <p:nvPr/>
        </p:nvSpPr>
        <p:spPr>
          <a:xfrm>
            <a:off x="682792" y="4095432"/>
            <a:ext cx="11187427" cy="1938992"/>
          </a:xfrm>
          <a:prstGeom prst="rect">
            <a:avLst/>
          </a:prstGeom>
          <a:noFill/>
        </p:spPr>
        <p:txBody>
          <a:bodyPr wrap="square">
            <a:spAutoFit/>
          </a:bodyPr>
          <a:lstStyle/>
          <a:p>
            <a:pPr algn="just">
              <a:buNone/>
            </a:pPr>
            <a:r>
              <a:rPr lang="es-MX" sz="2000" dirty="0"/>
              <a:t>El CUESTIONARIO-002 respondido por Josefina establece cuatro empleados para el funcionamiento de la planta embotelladora. Sin embargo, el modelo actualizado incorpora al Empleado 5 como recurso adicional. Por esta diferencia, Josefina debe confirmar la cantidad definitiva de empleados y actualizar el cuestionario para que coincida con el modelo. También debe entregar los resultados de las pruebas, incluyendo el tiempo de procesamiento del lote, los tiempos de espera y la utilización de los empleados y de la máquina de llenado.</a:t>
            </a:r>
          </a:p>
        </p:txBody>
      </p:sp>
    </p:spTree>
    <p:extLst>
      <p:ext uri="{BB962C8B-B14F-4D97-AF65-F5344CB8AC3E}">
        <p14:creationId xmlns:p14="http://schemas.microsoft.com/office/powerpoint/2010/main" val="37077500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38200" y="66675"/>
            <a:ext cx="10515600" cy="1285875"/>
          </a:xfrm>
        </p:spPr>
        <p:txBody>
          <a:bodyPr vert="horz" lIns="91440" tIns="45720" rIns="91440" bIns="45720" anchor="ctr">
            <a:noAutofit/>
          </a:bodyPr>
          <a:lstStyle/>
          <a:p>
            <a:r>
              <a:rPr lang="es-MX" sz="3200" b="1" noProof="0" dirty="0">
                <a:solidFill>
                  <a:schemeClr val="accent1"/>
                </a:solidFill>
              </a:rPr>
              <a:t>Comparación de WBS y Gantt</a:t>
            </a:r>
          </a:p>
        </p:txBody>
      </p:sp>
      <p:graphicFrame>
        <p:nvGraphicFramePr>
          <p:cNvPr id="5" name="Tabla comparativa WBS y Gantt"/>
          <p:cNvGraphicFramePr/>
          <p:nvPr>
            <p:extLst>
              <p:ext uri="{D42A27DB-BD31-4B8C-83A1-F6EECF244321}">
                <p14:modId xmlns:p14="http://schemas.microsoft.com/office/powerpoint/2010/main" val="2103344654"/>
              </p:ext>
            </p:extLst>
          </p:nvPr>
        </p:nvGraphicFramePr>
        <p:xfrm>
          <a:off x="1038225" y="1500000"/>
          <a:ext cx="10315575" cy="2407920"/>
        </p:xfrm>
        <a:graphic>
          <a:graphicData uri="http://schemas.openxmlformats.org/drawingml/2006/table">
            <a:tbl>
              <a:tblPr firstRow="1">
                <a:tableStyleId>{FABFCF23-3B69-468F-B69F-88F6DE6A72F2}</a:tableStyleId>
              </a:tblPr>
              <a:tblGrid>
                <a:gridCol w="1099975">
                  <a:extLst>
                    <a:ext uri="{9D8B030D-6E8A-4147-A177-3AD203B41FA5}">
                      <a16:colId xmlns:a16="http://schemas.microsoft.com/office/drawing/2014/main" val="20000"/>
                    </a:ext>
                  </a:extLst>
                </a:gridCol>
                <a:gridCol w="2400000">
                  <a:extLst>
                    <a:ext uri="{9D8B030D-6E8A-4147-A177-3AD203B41FA5}">
                      <a16:colId xmlns:a16="http://schemas.microsoft.com/office/drawing/2014/main" val="20001"/>
                    </a:ext>
                  </a:extLst>
                </a:gridCol>
                <a:gridCol w="2100000">
                  <a:extLst>
                    <a:ext uri="{9D8B030D-6E8A-4147-A177-3AD203B41FA5}">
                      <a16:colId xmlns:a16="http://schemas.microsoft.com/office/drawing/2014/main" val="20002"/>
                    </a:ext>
                  </a:extLst>
                </a:gridCol>
                <a:gridCol w="1700000">
                  <a:extLst>
                    <a:ext uri="{9D8B030D-6E8A-4147-A177-3AD203B41FA5}">
                      <a16:colId xmlns:a16="http://schemas.microsoft.com/office/drawing/2014/main" val="20003"/>
                    </a:ext>
                  </a:extLst>
                </a:gridCol>
                <a:gridCol w="1700000">
                  <a:extLst>
                    <a:ext uri="{9D8B030D-6E8A-4147-A177-3AD203B41FA5}">
                      <a16:colId xmlns:a16="http://schemas.microsoft.com/office/drawing/2014/main" val="20004"/>
                    </a:ext>
                  </a:extLst>
                </a:gridCol>
                <a:gridCol w="1315600">
                  <a:extLst>
                    <a:ext uri="{9D8B030D-6E8A-4147-A177-3AD203B41FA5}">
                      <a16:colId xmlns:a16="http://schemas.microsoft.com/office/drawing/2014/main" val="20005"/>
                    </a:ext>
                  </a:extLst>
                </a:gridCol>
              </a:tblGrid>
              <a:tr h="380000">
                <a:tc>
                  <a:txBody>
                    <a:bodyPr/>
                    <a:lstStyle/>
                    <a:p>
                      <a:pPr>
                        <a:buNone/>
                      </a:pPr>
                      <a:r>
                        <a:rPr lang="es-MX" sz="1400" kern="1200" noProof="0" dirty="0">
                          <a:solidFill>
                            <a:schemeClr val="dk1"/>
                          </a:solidFill>
                          <a:latin typeface="+mn-lt"/>
                          <a:ea typeface="+mn-ea"/>
                          <a:cs typeface="+mn-cs"/>
                        </a:rPr>
                        <a:t>Herramienta</a:t>
                      </a:r>
                    </a:p>
                  </a:txBody>
                  <a:tcPr anchor="ctr"/>
                </a:tc>
                <a:tc>
                  <a:txBody>
                    <a:bodyPr/>
                    <a:lstStyle/>
                    <a:p>
                      <a:pPr>
                        <a:buNone/>
                      </a:pPr>
                      <a:r>
                        <a:rPr lang="es-MX" sz="1400" kern="1200" noProof="0" dirty="0">
                          <a:solidFill>
                            <a:schemeClr val="dk1"/>
                          </a:solidFill>
                          <a:latin typeface="+mn-lt"/>
                          <a:ea typeface="+mn-ea"/>
                          <a:cs typeface="+mn-cs"/>
                        </a:rPr>
                        <a:t>Aplicación en los tres proyectos</a:t>
                      </a:r>
                    </a:p>
                  </a:txBody>
                  <a:tcPr anchor="ctr"/>
                </a:tc>
                <a:tc>
                  <a:txBody>
                    <a:bodyPr/>
                    <a:lstStyle/>
                    <a:p>
                      <a:pPr>
                        <a:buNone/>
                      </a:pPr>
                      <a:r>
                        <a:rPr lang="es-MX" sz="1400" kern="1200" noProof="0" dirty="0">
                          <a:solidFill>
                            <a:schemeClr val="dk1"/>
                          </a:solidFill>
                          <a:latin typeface="+mn-lt"/>
                          <a:ea typeface="+mn-ea"/>
                          <a:cs typeface="+mn-cs"/>
                        </a:rPr>
                        <a:t>Evidencia</a:t>
                      </a:r>
                    </a:p>
                  </a:txBody>
                  <a:tcPr anchor="ctr"/>
                </a:tc>
                <a:tc>
                  <a:txBody>
                    <a:bodyPr/>
                    <a:lstStyle/>
                    <a:p>
                      <a:pPr>
                        <a:buNone/>
                      </a:pPr>
                      <a:r>
                        <a:rPr lang="es-MX" sz="1400" kern="1200" noProof="0" dirty="0">
                          <a:solidFill>
                            <a:schemeClr val="dk1"/>
                          </a:solidFill>
                          <a:latin typeface="+mn-lt"/>
                          <a:ea typeface="+mn-ea"/>
                          <a:cs typeface="+mn-cs"/>
                        </a:rPr>
                        <a:t>Ventaja</a:t>
                      </a:r>
                    </a:p>
                  </a:txBody>
                  <a:tcPr anchor="ctr"/>
                </a:tc>
                <a:tc>
                  <a:txBody>
                    <a:bodyPr/>
                    <a:lstStyle/>
                    <a:p>
                      <a:pPr>
                        <a:buNone/>
                      </a:pPr>
                      <a:r>
                        <a:rPr lang="es-MX" sz="1400" kern="1200" noProof="0" dirty="0">
                          <a:solidFill>
                            <a:schemeClr val="dk1"/>
                          </a:solidFill>
                          <a:latin typeface="+mn-lt"/>
                          <a:ea typeface="+mn-ea"/>
                          <a:cs typeface="+mn-cs"/>
                        </a:rPr>
                        <a:t>Limitación</a:t>
                      </a:r>
                    </a:p>
                  </a:txBody>
                  <a:tcPr anchor="ctr"/>
                </a:tc>
                <a:tc>
                  <a:txBody>
                    <a:bodyPr/>
                    <a:lstStyle/>
                    <a:p>
                      <a:pPr>
                        <a:buNone/>
                      </a:pPr>
                      <a:r>
                        <a:rPr lang="es-MX" sz="1400" kern="1200" noProof="0" dirty="0">
                          <a:solidFill>
                            <a:schemeClr val="dk1"/>
                          </a:solidFill>
                          <a:latin typeface="+mn-lt"/>
                          <a:ea typeface="+mn-ea"/>
                          <a:cs typeface="+mn-cs"/>
                        </a:rPr>
                        <a:t>Resultado</a:t>
                      </a:r>
                    </a:p>
                  </a:txBody>
                  <a:tcPr anchor="ctr"/>
                </a:tc>
                <a:extLst>
                  <a:ext uri="{0D108BD9-81ED-4DB2-BD59-A6C34878D82A}">
                    <a16:rowId xmlns:a16="http://schemas.microsoft.com/office/drawing/2014/main" val="10000"/>
                  </a:ext>
                </a:extLst>
              </a:tr>
              <a:tr h="850000">
                <a:tc>
                  <a:txBody>
                    <a:bodyPr/>
                    <a:lstStyle/>
                    <a:p>
                      <a:pPr>
                        <a:buNone/>
                      </a:pPr>
                      <a:r>
                        <a:rPr lang="es-MX" sz="1400" kern="1200" noProof="0" dirty="0">
                          <a:solidFill>
                            <a:schemeClr val="dk1"/>
                          </a:solidFill>
                          <a:latin typeface="+mn-lt"/>
                          <a:ea typeface="+mn-ea"/>
                          <a:cs typeface="+mn-cs"/>
                        </a:rPr>
                        <a:t>WBS</a:t>
                      </a:r>
                    </a:p>
                  </a:txBody>
                  <a:tcPr anchor="ctr"/>
                </a:tc>
                <a:tc>
                  <a:txBody>
                    <a:bodyPr/>
                    <a:lstStyle/>
                    <a:p>
                      <a:pPr algn="ctr">
                        <a:buNone/>
                      </a:pPr>
                      <a:r>
                        <a:rPr lang="es-MX" sz="1400" kern="1200" noProof="0" dirty="0">
                          <a:solidFill>
                            <a:schemeClr val="dk1"/>
                          </a:solidFill>
                          <a:latin typeface="+mn-lt"/>
                          <a:ea typeface="+mn-ea"/>
                          <a:cs typeface="+mn-cs"/>
                        </a:rPr>
                        <a:t>Desglosa el Proyecto de Brandon, Josefina y </a:t>
                      </a:r>
                      <a:r>
                        <a:rPr lang="es-MX" sz="1400" kern="1200" noProof="0" dirty="0" err="1">
                          <a:solidFill>
                            <a:schemeClr val="dk1"/>
                          </a:solidFill>
                          <a:latin typeface="+mn-lt"/>
                          <a:ea typeface="+mn-ea"/>
                          <a:cs typeface="+mn-cs"/>
                        </a:rPr>
                        <a:t>Robeo</a:t>
                      </a:r>
                      <a:r>
                        <a:rPr lang="es-MX" sz="1400" kern="1200" noProof="0" dirty="0">
                          <a:solidFill>
                            <a:schemeClr val="dk1"/>
                          </a:solidFill>
                          <a:latin typeface="+mn-lt"/>
                          <a:ea typeface="+mn-ea"/>
                          <a:cs typeface="+mn-cs"/>
                        </a:rPr>
                        <a:t> en entregables y paquetes de trabajo</a:t>
                      </a:r>
                    </a:p>
                  </a:txBody>
                  <a:tcPr anchor="ctr"/>
                </a:tc>
                <a:tc>
                  <a:txBody>
                    <a:bodyPr/>
                    <a:lstStyle/>
                    <a:p>
                      <a:pPr>
                        <a:buNone/>
                      </a:pPr>
                      <a:r>
                        <a:rPr lang="es-MX" sz="1400" kern="1200" noProof="0" dirty="0" err="1">
                          <a:solidFill>
                            <a:schemeClr val="dk1"/>
                          </a:solidFill>
                          <a:latin typeface="+mn-lt"/>
                          <a:ea typeface="+mn-ea"/>
                          <a:cs typeface="+mn-cs"/>
                        </a:rPr>
                        <a:t>WBS_Brandon_Josefina_Roberto.drawio</a:t>
                      </a:r>
                      <a:endParaRPr lang="es-MX" sz="1400" kern="1200" noProof="0" dirty="0">
                        <a:solidFill>
                          <a:schemeClr val="dk1"/>
                        </a:solidFill>
                        <a:latin typeface="+mn-lt"/>
                        <a:ea typeface="+mn-ea"/>
                        <a:cs typeface="+mn-cs"/>
                      </a:endParaRPr>
                    </a:p>
                  </a:txBody>
                  <a:tcPr anchor="ctr"/>
                </a:tc>
                <a:tc>
                  <a:txBody>
                    <a:bodyPr/>
                    <a:lstStyle/>
                    <a:p>
                      <a:pPr>
                        <a:buNone/>
                      </a:pPr>
                      <a:r>
                        <a:rPr lang="es-MX" sz="1400" kern="1200" noProof="0" dirty="0">
                          <a:solidFill>
                            <a:schemeClr val="dk1"/>
                          </a:solidFill>
                          <a:latin typeface="+mn-lt"/>
                          <a:ea typeface="+mn-ea"/>
                          <a:cs typeface="+mn-cs"/>
                        </a:rPr>
                        <a:t>Identifica con claridad todos los entregables del Proyecto</a:t>
                      </a:r>
                    </a:p>
                  </a:txBody>
                  <a:tcPr anchor="ctr"/>
                </a:tc>
                <a:tc>
                  <a:txBody>
                    <a:bodyPr/>
                    <a:lstStyle/>
                    <a:p>
                      <a:pPr>
                        <a:buNone/>
                      </a:pPr>
                      <a:r>
                        <a:rPr lang="es-MX" sz="1400" kern="1200" noProof="0" dirty="0">
                          <a:solidFill>
                            <a:schemeClr val="dk1"/>
                          </a:solidFill>
                          <a:latin typeface="+mn-lt"/>
                          <a:ea typeface="+mn-ea"/>
                          <a:cs typeface="+mn-cs"/>
                        </a:rPr>
                        <a:t>No muestra tiempos ni dependencias entre actividades</a:t>
                      </a:r>
                    </a:p>
                  </a:txBody>
                  <a:tcPr anchor="ctr"/>
                </a:tc>
                <a:tc>
                  <a:txBody>
                    <a:bodyPr/>
                    <a:lstStyle/>
                    <a:p>
                      <a:pPr>
                        <a:buNone/>
                      </a:pPr>
                      <a:r>
                        <a:rPr lang="es-MX" sz="1400" kern="1200" noProof="0" dirty="0">
                          <a:solidFill>
                            <a:schemeClr val="dk1"/>
                          </a:solidFill>
                          <a:latin typeface="+mn-lt"/>
                          <a:ea typeface="+mn-ea"/>
                          <a:cs typeface="+mn-cs"/>
                        </a:rPr>
                        <a:t>Base para construir el cronograma</a:t>
                      </a:r>
                    </a:p>
                  </a:txBody>
                  <a:tcPr anchor="ctr"/>
                </a:tc>
                <a:extLst>
                  <a:ext uri="{0D108BD9-81ED-4DB2-BD59-A6C34878D82A}">
                    <a16:rowId xmlns:a16="http://schemas.microsoft.com/office/drawing/2014/main" val="10001"/>
                  </a:ext>
                </a:extLst>
              </a:tr>
              <a:tr h="850000">
                <a:tc>
                  <a:txBody>
                    <a:bodyPr/>
                    <a:lstStyle/>
                    <a:p>
                      <a:pPr>
                        <a:buNone/>
                      </a:pPr>
                      <a:r>
                        <a:rPr lang="es-MX" sz="1400" kern="1200" noProof="0" dirty="0">
                          <a:solidFill>
                            <a:schemeClr val="dk1"/>
                          </a:solidFill>
                          <a:latin typeface="+mn-lt"/>
                          <a:ea typeface="+mn-ea"/>
                          <a:cs typeface="+mn-cs"/>
                        </a:rPr>
                        <a:t>Gantt</a:t>
                      </a:r>
                    </a:p>
                  </a:txBody>
                  <a:tcPr anchor="ctr"/>
                </a:tc>
                <a:tc>
                  <a:txBody>
                    <a:bodyPr/>
                    <a:lstStyle/>
                    <a:p>
                      <a:pPr>
                        <a:buNone/>
                      </a:pPr>
                      <a:r>
                        <a:rPr lang="es-MX" sz="1400" kern="1200" noProof="0" dirty="0">
                          <a:solidFill>
                            <a:schemeClr val="dk1"/>
                          </a:solidFill>
                          <a:latin typeface="+mn-lt"/>
                          <a:ea typeface="+mn-ea"/>
                          <a:cs typeface="+mn-cs"/>
                        </a:rPr>
                        <a:t>Organiza en el tiempo las actividades de los tres proyectos (17/08 al 11/10/2026)</a:t>
                      </a:r>
                    </a:p>
                  </a:txBody>
                  <a:tcPr anchor="ctr"/>
                </a:tc>
                <a:tc>
                  <a:txBody>
                    <a:bodyPr/>
                    <a:lstStyle/>
                    <a:p>
                      <a:pPr>
                        <a:buNone/>
                      </a:pPr>
                      <a:r>
                        <a:rPr lang="es-MX" sz="1400" kern="1200" noProof="0" dirty="0">
                          <a:solidFill>
                            <a:schemeClr val="dk1"/>
                          </a:solidFill>
                          <a:latin typeface="+mn-lt"/>
                          <a:ea typeface="+mn-ea"/>
                          <a:cs typeface="+mn-cs"/>
                        </a:rPr>
                        <a:t>Cronogramas_y_Gantt_Brandon_Josefina_Roberto.xlsx</a:t>
                      </a:r>
                    </a:p>
                  </a:txBody>
                  <a:tcPr anchor="ctr"/>
                </a:tc>
                <a:tc>
                  <a:txBody>
                    <a:bodyPr/>
                    <a:lstStyle/>
                    <a:p>
                      <a:pPr>
                        <a:buNone/>
                      </a:pPr>
                      <a:r>
                        <a:rPr lang="es-MX" sz="1400" kern="1200" noProof="0" dirty="0">
                          <a:solidFill>
                            <a:schemeClr val="dk1"/>
                          </a:solidFill>
                          <a:latin typeface="+mn-lt"/>
                          <a:ea typeface="+mn-ea"/>
                          <a:cs typeface="+mn-cs"/>
                        </a:rPr>
                        <a:t>Visualiza duración, orden y solapamiento de las actividades</a:t>
                      </a:r>
                    </a:p>
                  </a:txBody>
                  <a:tcPr anchor="ctr"/>
                </a:tc>
                <a:tc>
                  <a:txBody>
                    <a:bodyPr/>
                    <a:lstStyle/>
                    <a:p>
                      <a:pPr>
                        <a:buNone/>
                      </a:pPr>
                      <a:r>
                        <a:rPr lang="es-MX" sz="1400" kern="1200" noProof="0" dirty="0">
                          <a:solidFill>
                            <a:schemeClr val="dk1"/>
                          </a:solidFill>
                          <a:latin typeface="+mn-lt"/>
                          <a:ea typeface="+mn-ea"/>
                          <a:cs typeface="+mn-cs"/>
                        </a:rPr>
                        <a:t>No detalla el desglose interno de cada entregable</a:t>
                      </a:r>
                    </a:p>
                  </a:txBody>
                  <a:tcPr anchor="ctr"/>
                </a:tc>
                <a:tc>
                  <a:txBody>
                    <a:bodyPr/>
                    <a:lstStyle/>
                    <a:p>
                      <a:pPr>
                        <a:buNone/>
                      </a:pPr>
                      <a:r>
                        <a:rPr lang="es-MX" sz="1400" kern="1200" noProof="0" dirty="0">
                          <a:solidFill>
                            <a:schemeClr val="dk1"/>
                          </a:solidFill>
                          <a:latin typeface="+mn-lt"/>
                          <a:ea typeface="+mn-ea"/>
                          <a:cs typeface="+mn-cs"/>
                        </a:rPr>
                        <a:t>Permite dar seguimiento a los tiempos planificados</a:t>
                      </a:r>
                    </a:p>
                  </a:txBody>
                  <a:tcPr anchor="ctr"/>
                </a:tc>
                <a:extLst>
                  <a:ext uri="{0D108BD9-81ED-4DB2-BD59-A6C34878D82A}">
                    <a16:rowId xmlns:a16="http://schemas.microsoft.com/office/drawing/2014/main" val="10002"/>
                  </a:ext>
                </a:extLst>
              </a:tr>
            </a:tbl>
          </a:graphicData>
        </a:graphic>
      </p:graphicFrame>
      <p:sp>
        <p:nvSpPr>
          <p:cNvPr id="8" name="CuadroTexto 7"/>
          <p:cNvSpPr txBox="1"/>
          <p:nvPr/>
        </p:nvSpPr>
        <p:spPr>
          <a:xfrm>
            <a:off x="666750" y="4200000"/>
            <a:ext cx="11187427" cy="1477328"/>
          </a:xfrm>
          <a:prstGeom prst="rect">
            <a:avLst/>
          </a:prstGeom>
          <a:noFill/>
        </p:spPr>
        <p:txBody>
          <a:bodyPr wrap="square">
            <a:spAutoFit/>
          </a:bodyPr>
          <a:lstStyle/>
          <a:p>
            <a:pPr algn="just">
              <a:buNone/>
            </a:pPr>
            <a:r>
              <a:rPr lang="es-MX" noProof="0" dirty="0"/>
              <a:t> la WBS y el diagrama de Gantt se complementan dentro de la planificación de la Unidad 3. La WBS responde qué se debe entregar en cada proyecto, descomponiendo el trabajo de Brandon, Josefina y Roberto en paquetes manejables; el Gantt responde cuándo se hará cada actividad, distribuyendo esos mismos paquetes en el periodo del 17 de agosto al 11 de octubre de 2026. Juntas dan al Project Manager una base formal, alineada con PMBOK, para dar seguimiento al avance real de los tres proyectos.</a:t>
            </a:r>
          </a:p>
        </p:txBody>
      </p:sp>
    </p:spTree>
    <p:extLst>
      <p:ext uri="{BB962C8B-B14F-4D97-AF65-F5344CB8AC3E}">
        <p14:creationId xmlns:p14="http://schemas.microsoft.com/office/powerpoint/2010/main" val="37077500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38200" y="66675"/>
            <a:ext cx="10515600" cy="1000000"/>
          </a:xfrm>
        </p:spPr>
        <p:txBody>
          <a:bodyPr vert="horz" lIns="91440" tIns="45720" rIns="91440" bIns="45720" anchor="ctr">
            <a:noAutofit/>
          </a:bodyPr>
          <a:lstStyle/>
          <a:p>
            <a:r>
              <a:rPr lang="es-MX" sz="3000" b="1" noProof="0" dirty="0">
                <a:solidFill>
                  <a:schemeClr val="accent1"/>
                </a:solidFill>
              </a:rPr>
              <a:t>Objetivo SMART y declaración de alcance</a:t>
            </a:r>
          </a:p>
        </p:txBody>
      </p:sp>
      <p:graphicFrame>
        <p:nvGraphicFramePr>
          <p:cNvPr id="5" name="Tabla SMART y alcance"/>
          <p:cNvGraphicFramePr/>
          <p:nvPr>
            <p:extLst>
              <p:ext uri="{D42A27DB-BD31-4B8C-83A1-F6EECF244321}">
                <p14:modId xmlns:p14="http://schemas.microsoft.com/office/powerpoint/2010/main" val="1422570525"/>
              </p:ext>
            </p:extLst>
          </p:nvPr>
        </p:nvGraphicFramePr>
        <p:xfrm>
          <a:off x="838200" y="1200000"/>
          <a:ext cx="10429875" cy="3601280"/>
        </p:xfrm>
        <a:graphic>
          <a:graphicData uri="http://schemas.openxmlformats.org/drawingml/2006/table">
            <a:tbl>
              <a:tblPr firstRow="1">
                <a:tableStyleId>{FABFCF23-3B69-468F-B69F-88F6DE6A72F2}</a:tableStyleId>
              </a:tblPr>
              <a:tblGrid>
                <a:gridCol w="2115600">
                  <a:extLst>
                    <a:ext uri="{9D8B030D-6E8A-4147-A177-3AD203B41FA5}">
                      <a16:colId xmlns:a16="http://schemas.microsoft.com/office/drawing/2014/main" val="20000"/>
                    </a:ext>
                  </a:extLst>
                </a:gridCol>
                <a:gridCol w="4200000">
                  <a:extLst>
                    <a:ext uri="{9D8B030D-6E8A-4147-A177-3AD203B41FA5}">
                      <a16:colId xmlns:a16="http://schemas.microsoft.com/office/drawing/2014/main" val="20001"/>
                    </a:ext>
                  </a:extLst>
                </a:gridCol>
                <a:gridCol w="4114275">
                  <a:extLst>
                    <a:ext uri="{9D8B030D-6E8A-4147-A177-3AD203B41FA5}">
                      <a16:colId xmlns:a16="http://schemas.microsoft.com/office/drawing/2014/main" val="20002"/>
                    </a:ext>
                  </a:extLst>
                </a:gridCol>
              </a:tblGrid>
              <a:tr h="380000">
                <a:tc>
                  <a:txBody>
                    <a:bodyPr/>
                    <a:lstStyle/>
                    <a:p>
                      <a:pPr>
                        <a:buNone/>
                      </a:pPr>
                      <a:r>
                        <a:rPr lang="es-MX" sz="1400" kern="1200" noProof="0" dirty="0">
                          <a:solidFill>
                            <a:schemeClr val="dk1"/>
                          </a:solidFill>
                          <a:latin typeface="+mn-lt"/>
                          <a:ea typeface="+mn-ea"/>
                          <a:cs typeface="+mn-cs"/>
                        </a:rPr>
                        <a:t>Elemento</a:t>
                      </a:r>
                    </a:p>
                  </a:txBody>
                  <a:tcPr anchor="ctr"/>
                </a:tc>
                <a:tc>
                  <a:txBody>
                    <a:bodyPr/>
                    <a:lstStyle/>
                    <a:p>
                      <a:pPr>
                        <a:buNone/>
                      </a:pPr>
                      <a:r>
                        <a:rPr lang="es-MX" sz="1400" kern="1200" noProof="0" dirty="0">
                          <a:solidFill>
                            <a:schemeClr val="dk1"/>
                          </a:solidFill>
                          <a:latin typeface="+mn-lt"/>
                          <a:ea typeface="+mn-ea"/>
                          <a:cs typeface="+mn-cs"/>
                        </a:rPr>
                        <a:t>Ejemplo: App "Moda Local"</a:t>
                      </a:r>
                    </a:p>
                  </a:txBody>
                  <a:tcPr anchor="ctr"/>
                </a:tc>
                <a:tc>
                  <a:txBody>
                    <a:bodyPr/>
                    <a:lstStyle/>
                    <a:p>
                      <a:pPr>
                        <a:buNone/>
                      </a:pPr>
                      <a:r>
                        <a:rPr lang="es-MX" sz="1400" kern="1200" noProof="0" dirty="0">
                          <a:solidFill>
                            <a:schemeClr val="dk1"/>
                          </a:solidFill>
                          <a:latin typeface="+mn-lt"/>
                          <a:ea typeface="+mn-ea"/>
                          <a:cs typeface="+mn-cs"/>
                        </a:rPr>
                        <a:t>Aplicación real en los proyectos GPTI</a:t>
                      </a:r>
                    </a:p>
                  </a:txBody>
                  <a:tcPr anchor="ctr"/>
                </a:tc>
                <a:extLst>
                  <a:ext uri="{0D108BD9-81ED-4DB2-BD59-A6C34878D82A}">
                    <a16:rowId xmlns:a16="http://schemas.microsoft.com/office/drawing/2014/main" val="10000"/>
                  </a:ext>
                </a:extLst>
              </a:tr>
              <a:tr h="700000">
                <a:tc>
                  <a:txBody>
                    <a:bodyPr/>
                    <a:lstStyle/>
                    <a:p>
                      <a:pPr>
                        <a:buNone/>
                      </a:pPr>
                      <a:r>
                        <a:rPr lang="es-MX" sz="1400" kern="1200" noProof="0" dirty="0">
                          <a:solidFill>
                            <a:schemeClr val="dk1"/>
                          </a:solidFill>
                          <a:latin typeface="+mn-lt"/>
                          <a:ea typeface="+mn-ea"/>
                          <a:cs typeface="+mn-cs"/>
                        </a:rPr>
                        <a:t>Objetivo</a:t>
                      </a:r>
                    </a:p>
                  </a:txBody>
                  <a:tcPr anchor="ctr"/>
                </a:tc>
                <a:tc>
                  <a:txBody>
                    <a:bodyPr/>
                    <a:lstStyle/>
                    <a:p>
                      <a:pPr>
                        <a:buNone/>
                      </a:pPr>
                      <a:r>
                        <a:rPr lang="es-MX" sz="1400" kern="1200" noProof="0" dirty="0">
                          <a:solidFill>
                            <a:schemeClr val="dk1"/>
                          </a:solidFill>
                          <a:latin typeface="+mn-lt"/>
                          <a:ea typeface="+mn-ea"/>
                          <a:cs typeface="+mn-cs"/>
                        </a:rPr>
                        <a:t>Diseñar, desarrollar y lanzar la app de "Moda Local" (iOS/Android), con 1,000 descargas y 200 ventas mensuales en 6 meses, con presupuesto máximo de $15,000 USD</a:t>
                      </a:r>
                    </a:p>
                  </a:txBody>
                  <a:tcPr anchor="ctr"/>
                </a:tc>
                <a:tc>
                  <a:txBody>
                    <a:bodyPr/>
                    <a:lstStyle/>
                    <a:p>
                      <a:pPr>
                        <a:buNone/>
                      </a:pPr>
                      <a:r>
                        <a:rPr lang="es-MX" sz="1400" kern="1200" noProof="0" dirty="0">
                          <a:solidFill>
                            <a:schemeClr val="dk1"/>
                          </a:solidFill>
                          <a:latin typeface="+mn-lt"/>
                          <a:ea typeface="+mn-ea"/>
                          <a:cs typeface="+mn-cs"/>
                        </a:rPr>
                        <a:t>Simular la gestión de tres proyectos (taller mecánico, planta embotelladora y taller de electrónica) aplicando Scrum, Kanban y PMBOK, en un periodo de 8 semanas, documentado en ACTA-001/002/003 aprobadas el 28/08/2026</a:t>
                      </a:r>
                    </a:p>
                  </a:txBody>
                  <a:tcPr anchor="ctr"/>
                </a:tc>
                <a:extLst>
                  <a:ext uri="{0D108BD9-81ED-4DB2-BD59-A6C34878D82A}">
                    <a16:rowId xmlns:a16="http://schemas.microsoft.com/office/drawing/2014/main" val="10001"/>
                  </a:ext>
                </a:extLst>
              </a:tr>
              <a:tr h="700000">
                <a:tc>
                  <a:txBody>
                    <a:bodyPr/>
                    <a:lstStyle/>
                    <a:p>
                      <a:pPr>
                        <a:buNone/>
                      </a:pPr>
                      <a:r>
                        <a:rPr lang="es-MX" sz="1400" kern="1200" noProof="0" dirty="0">
                          <a:solidFill>
                            <a:schemeClr val="dk1"/>
                          </a:solidFill>
                          <a:latin typeface="+mn-lt"/>
                          <a:ea typeface="+mn-ea"/>
                          <a:cs typeface="+mn-cs"/>
                        </a:rPr>
                        <a:t>Alcance — incluye</a:t>
                      </a:r>
                    </a:p>
                  </a:txBody>
                  <a:tcPr anchor="ctr"/>
                </a:tc>
                <a:tc>
                  <a:txBody>
                    <a:bodyPr/>
                    <a:lstStyle/>
                    <a:p>
                      <a:pPr>
                        <a:buNone/>
                      </a:pPr>
                      <a:r>
                        <a:rPr lang="es-MX" sz="1400" kern="1200" noProof="0" dirty="0">
                          <a:solidFill>
                            <a:schemeClr val="dk1"/>
                          </a:solidFill>
                          <a:latin typeface="+mn-lt"/>
                          <a:ea typeface="+mn-ea"/>
                          <a:cs typeface="+mn-cs"/>
                        </a:rPr>
                        <a:t>Diseño UI/UX, catálogo sincronizado, pasarela de pagos y publicación en App Store y Google Play</a:t>
                      </a:r>
                    </a:p>
                  </a:txBody>
                  <a:tcPr anchor="ctr"/>
                </a:tc>
                <a:tc>
                  <a:txBody>
                    <a:bodyPr/>
                    <a:lstStyle/>
                    <a:p>
                      <a:pPr>
                        <a:buNone/>
                      </a:pPr>
                      <a:r>
                        <a:rPr lang="es-MX" sz="1400" kern="1200" noProof="0" dirty="0">
                          <a:solidFill>
                            <a:schemeClr val="dk1"/>
                          </a:solidFill>
                          <a:latin typeface="+mn-lt"/>
                          <a:ea typeface="+mn-ea"/>
                          <a:cs typeface="+mn-cs"/>
                        </a:rPr>
                        <a:t>Modelo del proceso, diagrama BPMN, cuestionario de parámetros, cronograma y WBS/Gantt de cada uno de los tres proyectos</a:t>
                      </a:r>
                    </a:p>
                  </a:txBody>
                  <a:tcPr anchor="ctr"/>
                </a:tc>
                <a:extLst>
                  <a:ext uri="{0D108BD9-81ED-4DB2-BD59-A6C34878D82A}">
                    <a16:rowId xmlns:a16="http://schemas.microsoft.com/office/drawing/2014/main" val="10002"/>
                  </a:ext>
                </a:extLst>
              </a:tr>
              <a:tr h="600000">
                <a:tc>
                  <a:txBody>
                    <a:bodyPr/>
                    <a:lstStyle/>
                    <a:p>
                      <a:pPr>
                        <a:buNone/>
                      </a:pPr>
                      <a:r>
                        <a:rPr lang="es-MX" sz="1400" kern="1200" noProof="0" dirty="0">
                          <a:solidFill>
                            <a:schemeClr val="dk1"/>
                          </a:solidFill>
                          <a:latin typeface="+mn-lt"/>
                          <a:ea typeface="+mn-ea"/>
                          <a:cs typeface="+mn-cs"/>
                        </a:rPr>
                        <a:t>Alcance — no incluye</a:t>
                      </a:r>
                    </a:p>
                  </a:txBody>
                  <a:tcPr anchor="ctr"/>
                </a:tc>
                <a:tc>
                  <a:txBody>
                    <a:bodyPr/>
                    <a:lstStyle/>
                    <a:p>
                      <a:pPr>
                        <a:buNone/>
                      </a:pPr>
                      <a:r>
                        <a:rPr lang="es-MX" sz="1400" kern="1200" noProof="0" dirty="0">
                          <a:solidFill>
                            <a:schemeClr val="dk1"/>
                          </a:solidFill>
                          <a:latin typeface="+mn-lt"/>
                          <a:ea typeface="+mn-ea"/>
                          <a:cs typeface="+mn-cs"/>
                        </a:rPr>
                        <a:t>Página web, marketing pagado y fotografía de catálogo</a:t>
                      </a:r>
                    </a:p>
                  </a:txBody>
                  <a:tcPr anchor="ctr"/>
                </a:tc>
                <a:tc>
                  <a:txBody>
                    <a:bodyPr/>
                    <a:lstStyle/>
                    <a:p>
                      <a:pPr>
                        <a:buNone/>
                      </a:pPr>
                      <a:r>
                        <a:rPr lang="es-MX" sz="1400" kern="1200" noProof="0" dirty="0">
                          <a:solidFill>
                            <a:schemeClr val="dk1"/>
                          </a:solidFill>
                          <a:latin typeface="+mn-lt"/>
                          <a:ea typeface="+mn-ea"/>
                          <a:cs typeface="+mn-cs"/>
                        </a:rPr>
                        <a:t>Implementación física real del proceso (es una simulación) y presupuesto financiero real</a:t>
                      </a:r>
                    </a:p>
                  </a:txBody>
                  <a:tcPr anchor="ctr"/>
                </a:tc>
                <a:extLst>
                  <a:ext uri="{0D108BD9-81ED-4DB2-BD59-A6C34878D82A}">
                    <a16:rowId xmlns:a16="http://schemas.microsoft.com/office/drawing/2014/main" val="10003"/>
                  </a:ext>
                </a:extLst>
              </a:tr>
              <a:tr h="500000">
                <a:tc>
                  <a:txBody>
                    <a:bodyPr/>
                    <a:lstStyle/>
                    <a:p>
                      <a:pPr>
                        <a:buNone/>
                      </a:pPr>
                      <a:r>
                        <a:rPr lang="es-MX" sz="1400" kern="1200" noProof="0" dirty="0">
                          <a:solidFill>
                            <a:schemeClr val="dk1"/>
                          </a:solidFill>
                          <a:latin typeface="+mn-lt"/>
                          <a:ea typeface="+mn-ea"/>
                          <a:cs typeface="+mn-cs"/>
                        </a:rPr>
                        <a:t>Documento base</a:t>
                      </a:r>
                    </a:p>
                  </a:txBody>
                  <a:tcPr anchor="ctr"/>
                </a:tc>
                <a:tc>
                  <a:txBody>
                    <a:bodyPr/>
                    <a:lstStyle/>
                    <a:p>
                      <a:pPr>
                        <a:buNone/>
                      </a:pPr>
                      <a:r>
                        <a:rPr lang="es-MX" sz="1400" kern="1200" noProof="0" dirty="0">
                          <a:solidFill>
                            <a:schemeClr val="dk1"/>
                          </a:solidFill>
                          <a:latin typeface="+mn-lt"/>
                          <a:ea typeface="+mn-ea"/>
                          <a:cs typeface="+mn-cs"/>
                        </a:rPr>
                        <a:t>Declaración de alcance del proyecto</a:t>
                      </a:r>
                    </a:p>
                  </a:txBody>
                  <a:tcPr anchor="ctr"/>
                </a:tc>
                <a:tc>
                  <a:txBody>
                    <a:bodyPr/>
                    <a:lstStyle/>
                    <a:p>
                      <a:pPr>
                        <a:buNone/>
                      </a:pPr>
                      <a:r>
                        <a:rPr lang="es-MX" sz="1400" kern="1200" noProof="0" dirty="0">
                          <a:solidFill>
                            <a:schemeClr val="dk1"/>
                          </a:solidFill>
                          <a:latin typeface="+mn-lt"/>
                          <a:ea typeface="+mn-ea"/>
                          <a:cs typeface="+mn-cs"/>
                        </a:rPr>
                        <a:t>ACTA-001/002/003 (acta de inicio) y PLAN-001/002/003 (plan de trabajo: cronograma, entregables, riesgos y criterios de aceptación)</a:t>
                      </a:r>
                    </a:p>
                  </a:txBody>
                  <a:tcPr anchor="ctr"/>
                </a:tc>
                <a:extLst>
                  <a:ext uri="{0D108BD9-81ED-4DB2-BD59-A6C34878D82A}">
                    <a16:rowId xmlns:a16="http://schemas.microsoft.com/office/drawing/2014/main" val="10004"/>
                  </a:ext>
                </a:extLst>
              </a:tr>
            </a:tbl>
          </a:graphicData>
        </a:graphic>
      </p:graphicFrame>
      <p:sp>
        <p:nvSpPr>
          <p:cNvPr id="8" name="CuadroTexto 7"/>
          <p:cNvSpPr txBox="1"/>
          <p:nvPr/>
        </p:nvSpPr>
        <p:spPr>
          <a:xfrm>
            <a:off x="634666" y="5057835"/>
            <a:ext cx="11187427" cy="923330"/>
          </a:xfrm>
          <a:prstGeom prst="rect">
            <a:avLst/>
          </a:prstGeom>
          <a:noFill/>
        </p:spPr>
        <p:txBody>
          <a:bodyPr wrap="square">
            <a:spAutoFit/>
          </a:bodyPr>
          <a:lstStyle/>
          <a:p>
            <a:pPr algn="just">
              <a:buNone/>
            </a:pPr>
            <a:r>
              <a:rPr lang="es-MX" dirty="0"/>
              <a:t>Aunque el objetivo SMART de “Moda Local” incluye metas comerciales, los proyectos GPTI corresponden a simulaciones académicas. Ambos casos siguen la misma lógica: establecer un objetivo específico con una fecha límite y definir claramente lo que se incluye y lo que queda fuera del proyecto.</a:t>
            </a:r>
            <a:endParaRPr lang="es-MX" noProof="0" dirty="0"/>
          </a:p>
        </p:txBody>
      </p:sp>
    </p:spTree>
    <p:extLst>
      <p:ext uri="{BB962C8B-B14F-4D97-AF65-F5344CB8AC3E}">
        <p14:creationId xmlns:p14="http://schemas.microsoft.com/office/powerpoint/2010/main" val="37077500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9462B3D6-FE16-413D-6C27-7F1733392D77}"/>
              </a:ext>
            </a:extLst>
          </p:cNvPr>
          <p:cNvSpPr>
            <a:spLocks noGrp="1"/>
          </p:cNvSpPr>
          <p:nvPr>
            <p:ph type="title"/>
          </p:nvPr>
        </p:nvSpPr>
        <p:spPr>
          <a:xfrm>
            <a:off x="838200" y="66675"/>
            <a:ext cx="10515600" cy="900000"/>
          </a:xfrm>
        </p:spPr>
        <p:txBody>
          <a:bodyPr vert="horz" lIns="91440" tIns="45720" rIns="91440" bIns="45720" anchor="ctr">
            <a:noAutofit/>
          </a:bodyPr>
          <a:lstStyle/>
          <a:p>
            <a:r>
              <a:rPr lang="es-MX" sz="3000" b="1" noProof="0" dirty="0">
                <a:solidFill>
                  <a:schemeClr val="accent1"/>
                </a:solidFill>
              </a:rPr>
              <a:t>Cronograma y secuencia de actividades</a:t>
            </a:r>
          </a:p>
        </p:txBody>
      </p:sp>
      <p:sp>
        <p:nvSpPr>
          <p:cNvPr id="5" name="Subtitulo1">
            <a:extLst>
              <a:ext uri="{FF2B5EF4-FFF2-40B4-BE49-F238E27FC236}">
                <a16:creationId xmlns:a16="http://schemas.microsoft.com/office/drawing/2014/main" id="{B39391E9-9CC1-09F7-1C81-81DFA6853833}"/>
              </a:ext>
            </a:extLst>
          </p:cNvPr>
          <p:cNvSpPr txBox="1"/>
          <p:nvPr/>
        </p:nvSpPr>
        <p:spPr>
          <a:xfrm>
            <a:off x="838200" y="953338"/>
            <a:ext cx="10515600" cy="330000"/>
          </a:xfrm>
          <a:prstGeom prst="rect">
            <a:avLst/>
          </a:prstGeom>
          <a:noFill/>
        </p:spPr>
        <p:txBody>
          <a:bodyPr wrap="square"/>
          <a:lstStyle/>
          <a:p>
            <a:r>
              <a:rPr lang="es-MX" sz="1600" b="1" noProof="0" dirty="0"/>
              <a:t>cronograma de la App "Moda Local" (con dependencias)</a:t>
            </a:r>
          </a:p>
        </p:txBody>
      </p:sp>
      <p:graphicFrame>
        <p:nvGraphicFramePr>
          <p:cNvPr id="6" name="Tabla cronograma Moda Local">
            <a:extLst>
              <a:ext uri="{FF2B5EF4-FFF2-40B4-BE49-F238E27FC236}">
                <a16:creationId xmlns:a16="http://schemas.microsoft.com/office/drawing/2014/main" id="{66F246FE-D6EA-0F81-2FF9-0053BFC65C64}"/>
              </a:ext>
            </a:extLst>
          </p:cNvPr>
          <p:cNvGraphicFramePr/>
          <p:nvPr>
            <p:extLst>
              <p:ext uri="{D42A27DB-BD31-4B8C-83A1-F6EECF244321}">
                <p14:modId xmlns:p14="http://schemas.microsoft.com/office/powerpoint/2010/main" val="362369345"/>
              </p:ext>
            </p:extLst>
          </p:nvPr>
        </p:nvGraphicFramePr>
        <p:xfrm>
          <a:off x="838200" y="1370000"/>
          <a:ext cx="10515600" cy="1235360"/>
        </p:xfrm>
        <a:graphic>
          <a:graphicData uri="http://schemas.openxmlformats.org/drawingml/2006/table">
            <a:tbl>
              <a:tblPr firstRow="1">
                <a:tableStyleId>{FABFCF23-3B69-468F-B69F-88F6DE6A72F2}</a:tableStyleId>
              </a:tblPr>
              <a:tblGrid>
                <a:gridCol w="900000">
                  <a:extLst>
                    <a:ext uri="{9D8B030D-6E8A-4147-A177-3AD203B41FA5}">
                      <a16:colId xmlns:a16="http://schemas.microsoft.com/office/drawing/2014/main" val="20000"/>
                    </a:ext>
                  </a:extLst>
                </a:gridCol>
                <a:gridCol w="3600000">
                  <a:extLst>
                    <a:ext uri="{9D8B030D-6E8A-4147-A177-3AD203B41FA5}">
                      <a16:colId xmlns:a16="http://schemas.microsoft.com/office/drawing/2014/main" val="20001"/>
                    </a:ext>
                  </a:extLst>
                </a:gridCol>
                <a:gridCol w="1800000">
                  <a:extLst>
                    <a:ext uri="{9D8B030D-6E8A-4147-A177-3AD203B41FA5}">
                      <a16:colId xmlns:a16="http://schemas.microsoft.com/office/drawing/2014/main" val="20002"/>
                    </a:ext>
                  </a:extLst>
                </a:gridCol>
                <a:gridCol w="4215600">
                  <a:extLst>
                    <a:ext uri="{9D8B030D-6E8A-4147-A177-3AD203B41FA5}">
                      <a16:colId xmlns:a16="http://schemas.microsoft.com/office/drawing/2014/main" val="20003"/>
                    </a:ext>
                  </a:extLst>
                </a:gridCol>
              </a:tblGrid>
              <a:tr h="260000">
                <a:tc>
                  <a:txBody>
                    <a:bodyPr/>
                    <a:lstStyle/>
                    <a:p>
                      <a:pPr>
                        <a:buNone/>
                      </a:pPr>
                      <a:r>
                        <a:rPr lang="es-MX" sz="1100" b="1" noProof="0" dirty="0"/>
                        <a:t>Código</a:t>
                      </a:r>
                    </a:p>
                  </a:txBody>
                  <a:tcPr anchor="ctr"/>
                </a:tc>
                <a:tc>
                  <a:txBody>
                    <a:bodyPr/>
                    <a:lstStyle/>
                    <a:p>
                      <a:pPr>
                        <a:buNone/>
                      </a:pPr>
                      <a:r>
                        <a:rPr lang="es-MX" sz="1100" b="1" noProof="0" dirty="0"/>
                        <a:t>Tarea / entregable</a:t>
                      </a:r>
                    </a:p>
                  </a:txBody>
                  <a:tcPr anchor="ctr"/>
                </a:tc>
                <a:tc>
                  <a:txBody>
                    <a:bodyPr/>
                    <a:lstStyle/>
                    <a:p>
                      <a:pPr>
                        <a:buNone/>
                      </a:pPr>
                      <a:r>
                        <a:rPr lang="es-MX" sz="1100" b="1" noProof="0" dirty="0"/>
                        <a:t>Duración</a:t>
                      </a:r>
                    </a:p>
                  </a:txBody>
                  <a:tcPr anchor="ctr"/>
                </a:tc>
                <a:tc>
                  <a:txBody>
                    <a:bodyPr/>
                    <a:lstStyle/>
                    <a:p>
                      <a:pPr>
                        <a:buNone/>
                      </a:pPr>
                      <a:r>
                        <a:rPr lang="es-MX" sz="1100" b="1" noProof="0" dirty="0"/>
                        <a:t>Dependencia</a:t>
                      </a:r>
                    </a:p>
                  </a:txBody>
                  <a:tcPr anchor="ctr"/>
                </a:tc>
                <a:extLst>
                  <a:ext uri="{0D108BD9-81ED-4DB2-BD59-A6C34878D82A}">
                    <a16:rowId xmlns:a16="http://schemas.microsoft.com/office/drawing/2014/main" val="10000"/>
                  </a:ext>
                </a:extLst>
              </a:tr>
              <a:tr h="220000">
                <a:tc>
                  <a:txBody>
                    <a:bodyPr/>
                    <a:lstStyle/>
                    <a:p>
                      <a:pPr>
                        <a:buNone/>
                      </a:pPr>
                      <a:r>
                        <a:rPr lang="es-MX" sz="1000" noProof="0" dirty="0"/>
                        <a:t>T1</a:t>
                      </a:r>
                    </a:p>
                  </a:txBody>
                  <a:tcPr anchor="ctr"/>
                </a:tc>
                <a:tc>
                  <a:txBody>
                    <a:bodyPr/>
                    <a:lstStyle/>
                    <a:p>
                      <a:pPr>
                        <a:buNone/>
                      </a:pPr>
                      <a:r>
                        <a:rPr lang="es-MX" sz="1000" noProof="0" dirty="0"/>
                        <a:t>Definir requerimientos técnicos</a:t>
                      </a:r>
                    </a:p>
                  </a:txBody>
                  <a:tcPr anchor="ctr"/>
                </a:tc>
                <a:tc>
                  <a:txBody>
                    <a:bodyPr/>
                    <a:lstStyle/>
                    <a:p>
                      <a:pPr>
                        <a:buNone/>
                      </a:pPr>
                      <a:r>
                        <a:rPr lang="es-MX" sz="1000" noProof="0" dirty="0"/>
                        <a:t>2 semanas</a:t>
                      </a:r>
                    </a:p>
                  </a:txBody>
                  <a:tcPr anchor="ctr"/>
                </a:tc>
                <a:tc>
                  <a:txBody>
                    <a:bodyPr/>
                    <a:lstStyle/>
                    <a:p>
                      <a:pPr>
                        <a:buNone/>
                      </a:pPr>
                      <a:r>
                        <a:rPr lang="es-MX" sz="1000" noProof="0" dirty="0"/>
                        <a:t>Ninguna (inicio del proyecto)</a:t>
                      </a:r>
                    </a:p>
                  </a:txBody>
                  <a:tcPr anchor="ctr"/>
                </a:tc>
                <a:extLst>
                  <a:ext uri="{0D108BD9-81ED-4DB2-BD59-A6C34878D82A}">
                    <a16:rowId xmlns:a16="http://schemas.microsoft.com/office/drawing/2014/main" val="10001"/>
                  </a:ext>
                </a:extLst>
              </a:tr>
              <a:tr h="220000">
                <a:tc>
                  <a:txBody>
                    <a:bodyPr/>
                    <a:lstStyle/>
                    <a:p>
                      <a:pPr>
                        <a:buNone/>
                      </a:pPr>
                      <a:r>
                        <a:rPr lang="es-MX" sz="1000" noProof="0" dirty="0"/>
                        <a:t>T2–T3</a:t>
                      </a:r>
                    </a:p>
                  </a:txBody>
                  <a:tcPr anchor="ctr"/>
                </a:tc>
                <a:tc>
                  <a:txBody>
                    <a:bodyPr/>
                    <a:lstStyle/>
                    <a:p>
                      <a:pPr>
                        <a:buNone/>
                      </a:pPr>
                      <a:r>
                        <a:rPr lang="es-MX" sz="1000" noProof="0" dirty="0"/>
                        <a:t>Prototipo UI/UX; Base de datos y </a:t>
                      </a:r>
                      <a:r>
                        <a:rPr lang="es-MX" sz="1000" noProof="0" dirty="0" err="1"/>
                        <a:t>backend</a:t>
                      </a:r>
                      <a:endParaRPr lang="es-MX" sz="1000" noProof="0" dirty="0"/>
                    </a:p>
                  </a:txBody>
                  <a:tcPr anchor="ctr"/>
                </a:tc>
                <a:tc>
                  <a:txBody>
                    <a:bodyPr/>
                    <a:lstStyle/>
                    <a:p>
                      <a:pPr>
                        <a:buNone/>
                      </a:pPr>
                      <a:r>
                        <a:rPr lang="es-MX" sz="1000" noProof="0" dirty="0"/>
                        <a:t>3 y 4 semanas</a:t>
                      </a:r>
                    </a:p>
                  </a:txBody>
                  <a:tcPr anchor="ctr"/>
                </a:tc>
                <a:tc>
                  <a:txBody>
                    <a:bodyPr/>
                    <a:lstStyle/>
                    <a:p>
                      <a:pPr>
                        <a:buNone/>
                      </a:pPr>
                      <a:r>
                        <a:rPr lang="es-MX" sz="1000" noProof="0" dirty="0"/>
                        <a:t>Requieren que T1 esté terminado</a:t>
                      </a:r>
                    </a:p>
                  </a:txBody>
                  <a:tcPr anchor="ctr"/>
                </a:tc>
                <a:extLst>
                  <a:ext uri="{0D108BD9-81ED-4DB2-BD59-A6C34878D82A}">
                    <a16:rowId xmlns:a16="http://schemas.microsoft.com/office/drawing/2014/main" val="10002"/>
                  </a:ext>
                </a:extLst>
              </a:tr>
              <a:tr h="220000">
                <a:tc>
                  <a:txBody>
                    <a:bodyPr/>
                    <a:lstStyle/>
                    <a:p>
                      <a:pPr>
                        <a:buNone/>
                      </a:pPr>
                      <a:r>
                        <a:rPr lang="es-MX" sz="1000" noProof="0" dirty="0"/>
                        <a:t>T4–T5</a:t>
                      </a:r>
                    </a:p>
                  </a:txBody>
                  <a:tcPr anchor="ctr"/>
                </a:tc>
                <a:tc>
                  <a:txBody>
                    <a:bodyPr/>
                    <a:lstStyle/>
                    <a:p>
                      <a:pPr>
                        <a:buNone/>
                      </a:pPr>
                      <a:r>
                        <a:rPr lang="es-MX" sz="1000" noProof="0" dirty="0" err="1"/>
                        <a:t>Frontend</a:t>
                      </a:r>
                      <a:r>
                        <a:rPr lang="es-MX" sz="1000" noProof="0" dirty="0"/>
                        <a:t>; integración de pasarela de pagos</a:t>
                      </a:r>
                    </a:p>
                  </a:txBody>
                  <a:tcPr anchor="ctr"/>
                </a:tc>
                <a:tc>
                  <a:txBody>
                    <a:bodyPr/>
                    <a:lstStyle/>
                    <a:p>
                      <a:pPr>
                        <a:buNone/>
                      </a:pPr>
                      <a:r>
                        <a:rPr lang="es-MX" sz="1000" noProof="0" dirty="0"/>
                        <a:t>5 y 2 semanas</a:t>
                      </a:r>
                    </a:p>
                  </a:txBody>
                  <a:tcPr anchor="ctr"/>
                </a:tc>
                <a:tc>
                  <a:txBody>
                    <a:bodyPr/>
                    <a:lstStyle/>
                    <a:p>
                      <a:pPr>
                        <a:buNone/>
                      </a:pPr>
                      <a:r>
                        <a:rPr lang="es-MX" sz="1000" noProof="0" dirty="0"/>
                        <a:t>T4 requiere T2 y T3; T5 en paralelo a T4 (requiere T3)</a:t>
                      </a:r>
                    </a:p>
                  </a:txBody>
                  <a:tcPr anchor="ctr"/>
                </a:tc>
                <a:extLst>
                  <a:ext uri="{0D108BD9-81ED-4DB2-BD59-A6C34878D82A}">
                    <a16:rowId xmlns:a16="http://schemas.microsoft.com/office/drawing/2014/main" val="10003"/>
                  </a:ext>
                </a:extLst>
              </a:tr>
              <a:tr h="220000">
                <a:tc>
                  <a:txBody>
                    <a:bodyPr/>
                    <a:lstStyle/>
                    <a:p>
                      <a:pPr>
                        <a:buNone/>
                      </a:pPr>
                      <a:r>
                        <a:rPr lang="es-MX" sz="1000" noProof="0" dirty="0"/>
                        <a:t>T6–T7</a:t>
                      </a:r>
                    </a:p>
                  </a:txBody>
                  <a:tcPr anchor="ctr"/>
                </a:tc>
                <a:tc>
                  <a:txBody>
                    <a:bodyPr/>
                    <a:lstStyle/>
                    <a:p>
                      <a:pPr>
                        <a:buNone/>
                      </a:pPr>
                      <a:r>
                        <a:rPr lang="es-MX" sz="1000" noProof="0" dirty="0"/>
                        <a:t>Pruebas QA; HITO: lanzamiento en tiendas</a:t>
                      </a:r>
                    </a:p>
                  </a:txBody>
                  <a:tcPr anchor="ctr"/>
                </a:tc>
                <a:tc>
                  <a:txBody>
                    <a:bodyPr/>
                    <a:lstStyle/>
                    <a:p>
                      <a:pPr>
                        <a:buNone/>
                      </a:pPr>
                      <a:r>
                        <a:rPr lang="es-MX" sz="1000" noProof="0" dirty="0"/>
                        <a:t>2 semanas; 0 semanas</a:t>
                      </a:r>
                    </a:p>
                  </a:txBody>
                  <a:tcPr anchor="ctr"/>
                </a:tc>
                <a:tc>
                  <a:txBody>
                    <a:bodyPr/>
                    <a:lstStyle/>
                    <a:p>
                      <a:pPr>
                        <a:buNone/>
                      </a:pPr>
                      <a:r>
                        <a:rPr lang="es-MX" sz="1000" noProof="0" dirty="0"/>
                        <a:t>T6 requiere T4 y T5; T7 se activa al terminar T6 con éxito</a:t>
                      </a:r>
                    </a:p>
                  </a:txBody>
                  <a:tcPr anchor="ctr"/>
                </a:tc>
                <a:extLst>
                  <a:ext uri="{0D108BD9-81ED-4DB2-BD59-A6C34878D82A}">
                    <a16:rowId xmlns:a16="http://schemas.microsoft.com/office/drawing/2014/main" val="10004"/>
                  </a:ext>
                </a:extLst>
              </a:tr>
            </a:tbl>
          </a:graphicData>
        </a:graphic>
      </p:graphicFrame>
      <p:sp>
        <p:nvSpPr>
          <p:cNvPr id="7" name="Subtitulo2">
            <a:extLst>
              <a:ext uri="{FF2B5EF4-FFF2-40B4-BE49-F238E27FC236}">
                <a16:creationId xmlns:a16="http://schemas.microsoft.com/office/drawing/2014/main" id="{E6EAE0D4-F70E-963F-4B5C-0C614FD24DD6}"/>
              </a:ext>
            </a:extLst>
          </p:cNvPr>
          <p:cNvSpPr txBox="1"/>
          <p:nvPr/>
        </p:nvSpPr>
        <p:spPr>
          <a:xfrm>
            <a:off x="838200" y="3353748"/>
            <a:ext cx="10515600" cy="330000"/>
          </a:xfrm>
          <a:prstGeom prst="rect">
            <a:avLst/>
          </a:prstGeom>
          <a:noFill/>
        </p:spPr>
        <p:txBody>
          <a:bodyPr wrap="square"/>
          <a:lstStyle/>
          <a:p>
            <a:r>
              <a:rPr lang="es-MX" sz="1600" b="1" noProof="0" dirty="0"/>
              <a:t>Aplicación real: periodo planificado de la Unidad 3 por proyecto</a:t>
            </a:r>
          </a:p>
        </p:txBody>
      </p:sp>
      <p:graphicFrame>
        <p:nvGraphicFramePr>
          <p:cNvPr id="8" name="Tabla cronograma real">
            <a:extLst>
              <a:ext uri="{FF2B5EF4-FFF2-40B4-BE49-F238E27FC236}">
                <a16:creationId xmlns:a16="http://schemas.microsoft.com/office/drawing/2014/main" id="{BF6E2556-A0E0-14FF-3298-41A934E0A1D5}"/>
              </a:ext>
            </a:extLst>
          </p:cNvPr>
          <p:cNvGraphicFramePr/>
          <p:nvPr>
            <p:extLst>
              <p:ext uri="{D42A27DB-BD31-4B8C-83A1-F6EECF244321}">
                <p14:modId xmlns:p14="http://schemas.microsoft.com/office/powerpoint/2010/main" val="3827025927"/>
              </p:ext>
            </p:extLst>
          </p:nvPr>
        </p:nvGraphicFramePr>
        <p:xfrm>
          <a:off x="838200" y="3820000"/>
          <a:ext cx="10515600" cy="1213420"/>
        </p:xfrm>
        <a:graphic>
          <a:graphicData uri="http://schemas.openxmlformats.org/drawingml/2006/table">
            <a:tbl>
              <a:tblPr firstRow="1">
                <a:tableStyleId>{FABFCF23-3B69-468F-B69F-88F6DE6A72F2}</a:tableStyleId>
              </a:tblPr>
              <a:tblGrid>
                <a:gridCol w="2500000">
                  <a:extLst>
                    <a:ext uri="{9D8B030D-6E8A-4147-A177-3AD203B41FA5}">
                      <a16:colId xmlns:a16="http://schemas.microsoft.com/office/drawing/2014/main" val="20000"/>
                    </a:ext>
                  </a:extLst>
                </a:gridCol>
                <a:gridCol w="4000000">
                  <a:extLst>
                    <a:ext uri="{9D8B030D-6E8A-4147-A177-3AD203B41FA5}">
                      <a16:colId xmlns:a16="http://schemas.microsoft.com/office/drawing/2014/main" val="20001"/>
                    </a:ext>
                  </a:extLst>
                </a:gridCol>
                <a:gridCol w="4015600">
                  <a:extLst>
                    <a:ext uri="{9D8B030D-6E8A-4147-A177-3AD203B41FA5}">
                      <a16:colId xmlns:a16="http://schemas.microsoft.com/office/drawing/2014/main" val="20002"/>
                    </a:ext>
                  </a:extLst>
                </a:gridCol>
              </a:tblGrid>
              <a:tr h="260000">
                <a:tc>
                  <a:txBody>
                    <a:bodyPr/>
                    <a:lstStyle/>
                    <a:p>
                      <a:pPr>
                        <a:buNone/>
                      </a:pPr>
                      <a:r>
                        <a:rPr lang="es-MX" sz="1150" b="1" noProof="0" dirty="0"/>
                        <a:t>Proyecto</a:t>
                      </a:r>
                    </a:p>
                  </a:txBody>
                  <a:tcPr anchor="ctr"/>
                </a:tc>
                <a:tc>
                  <a:txBody>
                    <a:bodyPr/>
                    <a:lstStyle/>
                    <a:p>
                      <a:pPr>
                        <a:buNone/>
                      </a:pPr>
                      <a:r>
                        <a:rPr lang="es-MX" sz="1150" b="1" noProof="0" dirty="0"/>
                        <a:t>Periodo planificado (Unidad 3)</a:t>
                      </a:r>
                    </a:p>
                  </a:txBody>
                  <a:tcPr anchor="ctr"/>
                </a:tc>
                <a:tc>
                  <a:txBody>
                    <a:bodyPr/>
                    <a:lstStyle/>
                    <a:p>
                      <a:pPr>
                        <a:buNone/>
                      </a:pPr>
                      <a:r>
                        <a:rPr lang="es-MX" sz="1150" b="1" noProof="0" dirty="0"/>
                        <a:t>Hito documentado</a:t>
                      </a:r>
                    </a:p>
                  </a:txBody>
                  <a:tcPr anchor="ctr"/>
                </a:tc>
                <a:extLst>
                  <a:ext uri="{0D108BD9-81ED-4DB2-BD59-A6C34878D82A}">
                    <a16:rowId xmlns:a16="http://schemas.microsoft.com/office/drawing/2014/main" val="10000"/>
                  </a:ext>
                </a:extLst>
              </a:tr>
              <a:tr h="260000">
                <a:tc>
                  <a:txBody>
                    <a:bodyPr/>
                    <a:lstStyle/>
                    <a:p>
                      <a:pPr>
                        <a:buNone/>
                      </a:pPr>
                      <a:r>
                        <a:rPr lang="es-MX" sz="1100" noProof="0" dirty="0"/>
                        <a:t>Brandon · Taller mecánico</a:t>
                      </a:r>
                    </a:p>
                  </a:txBody>
                  <a:tcPr anchor="ctr"/>
                </a:tc>
                <a:tc>
                  <a:txBody>
                    <a:bodyPr/>
                    <a:lstStyle/>
                    <a:p>
                      <a:pPr>
                        <a:buNone/>
                      </a:pPr>
                      <a:r>
                        <a:rPr lang="es-MX" sz="1100" noProof="0" dirty="0"/>
                        <a:t>17/08/2026 – 11/10/2026</a:t>
                      </a:r>
                    </a:p>
                  </a:txBody>
                  <a:tcPr anchor="ctr"/>
                </a:tc>
                <a:tc>
                  <a:txBody>
                    <a:bodyPr/>
                    <a:lstStyle/>
                    <a:p>
                      <a:pPr>
                        <a:buNone/>
                      </a:pPr>
                      <a:r>
                        <a:rPr lang="es-MX" sz="1100" noProof="0" dirty="0"/>
                        <a:t>Planificación U3 (cronograma, WBS y Gantt) entregada el 15/09/2026</a:t>
                      </a:r>
                    </a:p>
                  </a:txBody>
                  <a:tcPr anchor="ctr"/>
                </a:tc>
                <a:extLst>
                  <a:ext uri="{0D108BD9-81ED-4DB2-BD59-A6C34878D82A}">
                    <a16:rowId xmlns:a16="http://schemas.microsoft.com/office/drawing/2014/main" val="10001"/>
                  </a:ext>
                </a:extLst>
              </a:tr>
              <a:tr h="260000">
                <a:tc>
                  <a:txBody>
                    <a:bodyPr/>
                    <a:lstStyle/>
                    <a:p>
                      <a:pPr>
                        <a:buNone/>
                      </a:pPr>
                      <a:r>
                        <a:rPr lang="es-MX" sz="1100" noProof="0" dirty="0"/>
                        <a:t>Josefina · Planta embotelladora</a:t>
                      </a:r>
                    </a:p>
                  </a:txBody>
                  <a:tcPr anchor="ctr"/>
                </a:tc>
                <a:tc>
                  <a:txBody>
                    <a:bodyPr/>
                    <a:lstStyle/>
                    <a:p>
                      <a:pPr>
                        <a:buNone/>
                      </a:pPr>
                      <a:r>
                        <a:rPr lang="es-MX" sz="1100" noProof="0" dirty="0"/>
                        <a:t>17/08/2026 – 11/10/2026</a:t>
                      </a:r>
                    </a:p>
                  </a:txBody>
                  <a:tcPr anchor="ctr"/>
                </a:tc>
                <a:tc>
                  <a:txBody>
                    <a:bodyPr/>
                    <a:lstStyle/>
                    <a:p>
                      <a:pPr>
                        <a:buNone/>
                      </a:pPr>
                      <a:r>
                        <a:rPr lang="es-MX" sz="1100" noProof="0" dirty="0"/>
                        <a:t>Desglose semanal J01–J08 registrado en Monday.com</a:t>
                      </a:r>
                    </a:p>
                  </a:txBody>
                  <a:tcPr anchor="ctr"/>
                </a:tc>
                <a:extLst>
                  <a:ext uri="{0D108BD9-81ED-4DB2-BD59-A6C34878D82A}">
                    <a16:rowId xmlns:a16="http://schemas.microsoft.com/office/drawing/2014/main" val="10002"/>
                  </a:ext>
                </a:extLst>
              </a:tr>
              <a:tr h="260000">
                <a:tc>
                  <a:txBody>
                    <a:bodyPr/>
                    <a:lstStyle/>
                    <a:p>
                      <a:pPr>
                        <a:buNone/>
                      </a:pPr>
                      <a:r>
                        <a:rPr lang="es-MX" sz="1100" noProof="0" dirty="0"/>
                        <a:t>Roberto · Taller de electrónica</a:t>
                      </a:r>
                    </a:p>
                  </a:txBody>
                  <a:tcPr anchor="ctr"/>
                </a:tc>
                <a:tc>
                  <a:txBody>
                    <a:bodyPr/>
                    <a:lstStyle/>
                    <a:p>
                      <a:pPr>
                        <a:buNone/>
                      </a:pPr>
                      <a:r>
                        <a:rPr lang="es-MX" sz="1100" noProof="0" dirty="0"/>
                        <a:t>17/08/2026 – 11/10/2026</a:t>
                      </a:r>
                    </a:p>
                  </a:txBody>
                  <a:tcPr anchor="ctr"/>
                </a:tc>
                <a:tc>
                  <a:txBody>
                    <a:bodyPr/>
                    <a:lstStyle/>
                    <a:p>
                      <a:pPr>
                        <a:buNone/>
                      </a:pPr>
                      <a:r>
                        <a:rPr lang="es-MX" sz="1100" noProof="0" dirty="0"/>
                        <a:t>Desglose semanal R01–R07 registrado en Monday.com</a:t>
                      </a:r>
                    </a:p>
                  </a:txBody>
                  <a:tcPr anchor="ctr"/>
                </a:tc>
                <a:extLst>
                  <a:ext uri="{0D108BD9-81ED-4DB2-BD59-A6C34878D82A}">
                    <a16:rowId xmlns:a16="http://schemas.microsoft.com/office/drawing/2014/main" val="10003"/>
                  </a:ext>
                </a:extLst>
              </a:tr>
            </a:tbl>
          </a:graphicData>
        </a:graphic>
      </p:graphicFrame>
      <p:sp>
        <p:nvSpPr>
          <p:cNvPr id="9" name="CuadroTexto 8">
            <a:extLst>
              <a:ext uri="{FF2B5EF4-FFF2-40B4-BE49-F238E27FC236}">
                <a16:creationId xmlns:a16="http://schemas.microsoft.com/office/drawing/2014/main" id="{44DA3B21-287E-E945-CD37-C3C7FB105CAA}"/>
              </a:ext>
            </a:extLst>
          </p:cNvPr>
          <p:cNvSpPr txBox="1"/>
          <p:nvPr/>
        </p:nvSpPr>
        <p:spPr>
          <a:xfrm>
            <a:off x="666750" y="5300000"/>
            <a:ext cx="11187427" cy="830997"/>
          </a:xfrm>
          <a:prstGeom prst="rect">
            <a:avLst/>
          </a:prstGeom>
          <a:noFill/>
        </p:spPr>
        <p:txBody>
          <a:bodyPr wrap="square">
            <a:spAutoFit/>
          </a:bodyPr>
          <a:lstStyle/>
          <a:p>
            <a:pPr algn="just">
              <a:buNone/>
            </a:pPr>
            <a:r>
              <a:rPr lang="es-MX" sz="1600" dirty="0"/>
              <a:t>En “Moda Local”, las actividades siguen dependencias propias del desarrollo de una aplicación. En los proyectos GPTI, cada etapa depende de la terminación de la anterior: definición de parámetros, elaboración del diagrama, construcción del modelo, ejecución de pruebas y análisis de resultados.</a:t>
            </a:r>
            <a:endParaRPr lang="es-MX" sz="1600" noProof="0" dirty="0"/>
          </a:p>
        </p:txBody>
      </p:sp>
      <p:sp>
        <p:nvSpPr>
          <p:cNvPr id="3" name="CuadroTexto 2">
            <a:extLst>
              <a:ext uri="{FF2B5EF4-FFF2-40B4-BE49-F238E27FC236}">
                <a16:creationId xmlns:a16="http://schemas.microsoft.com/office/drawing/2014/main" id="{1E34B818-2304-1AD7-BAAD-9EEDCCDBBDEC}"/>
              </a:ext>
            </a:extLst>
          </p:cNvPr>
          <p:cNvSpPr txBox="1"/>
          <p:nvPr/>
        </p:nvSpPr>
        <p:spPr>
          <a:xfrm>
            <a:off x="838199" y="2707417"/>
            <a:ext cx="10515599" cy="400110"/>
          </a:xfrm>
          <a:prstGeom prst="rect">
            <a:avLst/>
          </a:prstGeom>
          <a:noFill/>
        </p:spPr>
        <p:txBody>
          <a:bodyPr wrap="square">
            <a:spAutoFit/>
          </a:bodyPr>
          <a:lstStyle/>
          <a:p>
            <a:r>
              <a:rPr lang="es-MX" sz="2000" dirty="0"/>
              <a:t>Los códigos T1 a T7 identifican las tareas del cronograma. T1 corresponde a la primera tarea</a:t>
            </a:r>
          </a:p>
        </p:txBody>
      </p:sp>
    </p:spTree>
    <p:extLst>
      <p:ext uri="{BB962C8B-B14F-4D97-AF65-F5344CB8AC3E}">
        <p14:creationId xmlns:p14="http://schemas.microsoft.com/office/powerpoint/2010/main" val="17101575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1">
            <a:extLst>
              <a:ext uri="{FF2B5EF4-FFF2-40B4-BE49-F238E27FC236}">
                <a16:creationId xmlns:a16="http://schemas.microsoft.com/office/drawing/2014/main" id="{B278594E-7F25-A997-2523-6F6A36A27094}"/>
              </a:ext>
            </a:extLst>
          </p:cNvPr>
          <p:cNvSpPr>
            <a:spLocks noGrp="1"/>
          </p:cNvSpPr>
          <p:nvPr>
            <p:ph type="title"/>
          </p:nvPr>
        </p:nvSpPr>
        <p:spPr>
          <a:xfrm>
            <a:off x="485274" y="387517"/>
            <a:ext cx="10515600" cy="1000000"/>
          </a:xfrm>
        </p:spPr>
        <p:txBody>
          <a:bodyPr vert="horz" lIns="91440" tIns="45720" rIns="91440" bIns="45720" anchor="ctr">
            <a:noAutofit/>
          </a:bodyPr>
          <a:lstStyle/>
          <a:p>
            <a:r>
              <a:rPr lang="es-MX" sz="3000" b="1" noProof="0" dirty="0">
                <a:solidFill>
                  <a:schemeClr val="accent1"/>
                </a:solidFill>
              </a:rPr>
              <a:t>Recursos y costos</a:t>
            </a:r>
          </a:p>
        </p:txBody>
      </p:sp>
      <p:graphicFrame>
        <p:nvGraphicFramePr>
          <p:cNvPr id="6" name="Tabla recursos y costos">
            <a:extLst>
              <a:ext uri="{FF2B5EF4-FFF2-40B4-BE49-F238E27FC236}">
                <a16:creationId xmlns:a16="http://schemas.microsoft.com/office/drawing/2014/main" id="{98AA926E-A509-BD9D-805E-04A829A151A5}"/>
              </a:ext>
            </a:extLst>
          </p:cNvPr>
          <p:cNvGraphicFramePr/>
          <p:nvPr>
            <p:extLst>
              <p:ext uri="{D42A27DB-BD31-4B8C-83A1-F6EECF244321}">
                <p14:modId xmlns:p14="http://schemas.microsoft.com/office/powerpoint/2010/main" val="2067192857"/>
              </p:ext>
            </p:extLst>
          </p:nvPr>
        </p:nvGraphicFramePr>
        <p:xfrm>
          <a:off x="518861" y="1276141"/>
          <a:ext cx="11087166" cy="3673310"/>
        </p:xfrm>
        <a:graphic>
          <a:graphicData uri="http://schemas.openxmlformats.org/drawingml/2006/table">
            <a:tbl>
              <a:tblPr firstRow="1">
                <a:tableStyleId>{FABFCF23-3B69-468F-B69F-88F6DE6A72F2}</a:tableStyleId>
              </a:tblPr>
              <a:tblGrid>
                <a:gridCol w="2173650">
                  <a:extLst>
                    <a:ext uri="{9D8B030D-6E8A-4147-A177-3AD203B41FA5}">
                      <a16:colId xmlns:a16="http://schemas.microsoft.com/office/drawing/2014/main" val="20000"/>
                    </a:ext>
                  </a:extLst>
                </a:gridCol>
                <a:gridCol w="4456758">
                  <a:extLst>
                    <a:ext uri="{9D8B030D-6E8A-4147-A177-3AD203B41FA5}">
                      <a16:colId xmlns:a16="http://schemas.microsoft.com/office/drawing/2014/main" val="20001"/>
                    </a:ext>
                  </a:extLst>
                </a:gridCol>
                <a:gridCol w="4456758">
                  <a:extLst>
                    <a:ext uri="{9D8B030D-6E8A-4147-A177-3AD203B41FA5}">
                      <a16:colId xmlns:a16="http://schemas.microsoft.com/office/drawing/2014/main" val="20002"/>
                    </a:ext>
                  </a:extLst>
                </a:gridCol>
              </a:tblGrid>
              <a:tr h="320510">
                <a:tc>
                  <a:txBody>
                    <a:bodyPr/>
                    <a:lstStyle/>
                    <a:p>
                      <a:pPr marL="0" algn="l" defTabSz="914400" rtl="0" eaLnBrk="1" latinLnBrk="0" hangingPunct="1">
                        <a:buNone/>
                      </a:pPr>
                      <a:r>
                        <a:rPr lang="es-MX" sz="1400" b="1" kern="1200" noProof="0" dirty="0">
                          <a:solidFill>
                            <a:schemeClr val="dk1"/>
                          </a:solidFill>
                          <a:latin typeface="+mn-lt"/>
                          <a:ea typeface="+mn-ea"/>
                          <a:cs typeface="+mn-cs"/>
                        </a:rPr>
                        <a:t>Elemento</a:t>
                      </a:r>
                    </a:p>
                  </a:txBody>
                  <a:tcPr anchor="ctr"/>
                </a:tc>
                <a:tc>
                  <a:txBody>
                    <a:bodyPr/>
                    <a:lstStyle/>
                    <a:p>
                      <a:pPr marL="0" algn="l" defTabSz="914400" rtl="0" eaLnBrk="1" latinLnBrk="0" hangingPunct="1">
                        <a:buNone/>
                      </a:pPr>
                      <a:r>
                        <a:rPr lang="es-MX" sz="1400" b="1" kern="1200" noProof="0" dirty="0">
                          <a:solidFill>
                            <a:schemeClr val="dk1"/>
                          </a:solidFill>
                          <a:latin typeface="+mn-lt"/>
                          <a:ea typeface="+mn-ea"/>
                          <a:cs typeface="+mn-cs"/>
                        </a:rPr>
                        <a:t>Ejemplo: App "Moda Local"</a:t>
                      </a:r>
                    </a:p>
                  </a:txBody>
                  <a:tcPr anchor="ctr"/>
                </a:tc>
                <a:tc>
                  <a:txBody>
                    <a:bodyPr/>
                    <a:lstStyle/>
                    <a:p>
                      <a:pPr marL="0" algn="l" defTabSz="914400" rtl="0" eaLnBrk="1" latinLnBrk="0" hangingPunct="1">
                        <a:buNone/>
                      </a:pPr>
                      <a:r>
                        <a:rPr lang="es-MX" sz="1400" b="1" kern="1200" noProof="0" dirty="0">
                          <a:solidFill>
                            <a:schemeClr val="dk1"/>
                          </a:solidFill>
                          <a:latin typeface="+mn-lt"/>
                          <a:ea typeface="+mn-ea"/>
                          <a:cs typeface="+mn-cs"/>
                        </a:rPr>
                        <a:t>Aplicación real en los proyectos GPTI</a:t>
                      </a:r>
                    </a:p>
                  </a:txBody>
                  <a:tcPr anchor="ctr"/>
                </a:tc>
                <a:extLst>
                  <a:ext uri="{0D108BD9-81ED-4DB2-BD59-A6C34878D82A}">
                    <a16:rowId xmlns:a16="http://schemas.microsoft.com/office/drawing/2014/main" val="10000"/>
                  </a:ext>
                </a:extLst>
              </a:tr>
              <a:tr h="833987">
                <a:tc>
                  <a:txBody>
                    <a:bodyPr/>
                    <a:lstStyle/>
                    <a:p>
                      <a:pPr marL="0" algn="l" defTabSz="914400" rtl="0" eaLnBrk="1" latinLnBrk="0" hangingPunct="1">
                        <a:buNone/>
                      </a:pPr>
                      <a:r>
                        <a:rPr lang="es-MX" sz="1400" b="0" kern="1200" noProof="0" dirty="0">
                          <a:solidFill>
                            <a:schemeClr val="dk1"/>
                          </a:solidFill>
                          <a:latin typeface="+mn-lt"/>
                          <a:ea typeface="+mn-ea"/>
                          <a:cs typeface="+mn-cs"/>
                        </a:rPr>
                        <a:t>Recursos humanos</a:t>
                      </a:r>
                    </a:p>
                  </a:txBody>
                  <a:tcPr anchor="ctr"/>
                </a:tc>
                <a:tc>
                  <a:txBody>
                    <a:bodyPr/>
                    <a:lstStyle/>
                    <a:p>
                      <a:pPr marL="0" algn="l" defTabSz="914400" rtl="0" eaLnBrk="1" latinLnBrk="0" hangingPunct="1">
                        <a:buNone/>
                      </a:pPr>
                      <a:r>
                        <a:rPr lang="es-MX" sz="1400" b="0" kern="1200" noProof="0" dirty="0">
                          <a:solidFill>
                            <a:schemeClr val="dk1"/>
                          </a:solidFill>
                          <a:latin typeface="+mn-lt"/>
                          <a:ea typeface="+mn-ea"/>
                          <a:cs typeface="+mn-cs"/>
                        </a:rPr>
                        <a:t>1 Líder de Proyecto ($4,000), 1 Diseñador UI/UX ($2,500) y 2 Desarrolladores full-</a:t>
                      </a:r>
                      <a:r>
                        <a:rPr lang="es-MX" sz="1400" b="0" kern="1200" noProof="0" dirty="0" err="1">
                          <a:solidFill>
                            <a:schemeClr val="dk1"/>
                          </a:solidFill>
                          <a:latin typeface="+mn-lt"/>
                          <a:ea typeface="+mn-ea"/>
                          <a:cs typeface="+mn-cs"/>
                        </a:rPr>
                        <a:t>stack</a:t>
                      </a:r>
                      <a:r>
                        <a:rPr lang="es-MX" sz="1400" b="0" kern="1200" noProof="0" dirty="0">
                          <a:solidFill>
                            <a:schemeClr val="dk1"/>
                          </a:solidFill>
                          <a:latin typeface="+mn-lt"/>
                          <a:ea typeface="+mn-ea"/>
                          <a:cs typeface="+mn-cs"/>
                        </a:rPr>
                        <a:t> ($6,000)</a:t>
                      </a:r>
                    </a:p>
                  </a:txBody>
                  <a:tcPr anchor="ctr"/>
                </a:tc>
                <a:tc>
                  <a:txBody>
                    <a:bodyPr/>
                    <a:lstStyle/>
                    <a:p>
                      <a:pPr marL="0" algn="l" defTabSz="914400" rtl="0" eaLnBrk="1" latinLnBrk="0" hangingPunct="1">
                        <a:buNone/>
                      </a:pPr>
                      <a:r>
                        <a:rPr lang="es-MX" sz="1400" b="0" kern="1200" noProof="0" dirty="0">
                          <a:solidFill>
                            <a:schemeClr val="dk1"/>
                          </a:solidFill>
                          <a:latin typeface="+mn-lt"/>
                          <a:ea typeface="+mn-ea"/>
                          <a:cs typeface="+mn-cs"/>
                        </a:rPr>
                        <a:t>Rafael aquino villanueva como Project Manager y tres desarrolladores (Brandon, Josefina, Roberto), sin remuneración monetaria por tratarse de un proyecto académico</a:t>
                      </a:r>
                    </a:p>
                  </a:txBody>
                  <a:tcPr anchor="ctr"/>
                </a:tc>
                <a:extLst>
                  <a:ext uri="{0D108BD9-81ED-4DB2-BD59-A6C34878D82A}">
                    <a16:rowId xmlns:a16="http://schemas.microsoft.com/office/drawing/2014/main" val="10001"/>
                  </a:ext>
                </a:extLst>
              </a:tr>
              <a:tr h="833987">
                <a:tc>
                  <a:txBody>
                    <a:bodyPr/>
                    <a:lstStyle/>
                    <a:p>
                      <a:pPr marL="0" algn="l" defTabSz="914400" rtl="0" eaLnBrk="1" latinLnBrk="0" hangingPunct="1">
                        <a:buNone/>
                      </a:pPr>
                      <a:r>
                        <a:rPr lang="es-MX" sz="1400" b="0" kern="1200" noProof="0" dirty="0">
                          <a:solidFill>
                            <a:schemeClr val="dk1"/>
                          </a:solidFill>
                          <a:latin typeface="+mn-lt"/>
                          <a:ea typeface="+mn-ea"/>
                          <a:cs typeface="+mn-cs"/>
                        </a:rPr>
                        <a:t>Recursos materiales</a:t>
                      </a:r>
                    </a:p>
                  </a:txBody>
                  <a:tcPr anchor="ctr"/>
                </a:tc>
                <a:tc>
                  <a:txBody>
                    <a:bodyPr/>
                    <a:lstStyle/>
                    <a:p>
                      <a:pPr marL="0" algn="l" defTabSz="914400" rtl="0" eaLnBrk="1" latinLnBrk="0" hangingPunct="1">
                        <a:buNone/>
                      </a:pPr>
                      <a:r>
                        <a:rPr lang="es-MX" sz="1400" b="0" kern="1200" noProof="0" dirty="0">
                          <a:solidFill>
                            <a:schemeClr val="dk1"/>
                          </a:solidFill>
                          <a:latin typeface="+mn-lt"/>
                          <a:ea typeface="+mn-ea"/>
                          <a:cs typeface="+mn-cs"/>
                        </a:rPr>
                        <a:t>Licencias de software y servidores ($500) y cuentas de desarrollador Apple/Google ($124)</a:t>
                      </a:r>
                    </a:p>
                  </a:txBody>
                  <a:tcPr anchor="ctr"/>
                </a:tc>
                <a:tc>
                  <a:txBody>
                    <a:bodyPr/>
                    <a:lstStyle/>
                    <a:p>
                      <a:pPr marL="0" algn="l" defTabSz="914400" rtl="0" eaLnBrk="1" latinLnBrk="0" hangingPunct="1">
                        <a:buNone/>
                      </a:pPr>
                      <a:r>
                        <a:rPr lang="es-MX" sz="1400" dirty="0"/>
                        <a:t>Computadora, internet, Bizagi </a:t>
                      </a:r>
                      <a:r>
                        <a:rPr lang="es-MX" sz="1400" dirty="0" err="1"/>
                        <a:t>Modeler</a:t>
                      </a:r>
                      <a:r>
                        <a:rPr lang="es-MX" sz="1400" dirty="0"/>
                        <a:t> para elaborar los diagramas de procesos, Monday para el seguimiento y las herramientas de simulación correspondientes a cada proyecto</a:t>
                      </a:r>
                      <a:endParaRPr lang="es-MX" sz="1400" b="0" kern="1200" noProof="0" dirty="0">
                        <a:solidFill>
                          <a:schemeClr val="dk1"/>
                        </a:solidFill>
                        <a:latin typeface="+mn-lt"/>
                        <a:ea typeface="+mn-ea"/>
                        <a:cs typeface="+mn-cs"/>
                      </a:endParaRPr>
                    </a:p>
                  </a:txBody>
                  <a:tcPr anchor="ctr"/>
                </a:tc>
                <a:extLst>
                  <a:ext uri="{0D108BD9-81ED-4DB2-BD59-A6C34878D82A}">
                    <a16:rowId xmlns:a16="http://schemas.microsoft.com/office/drawing/2014/main" val="10002"/>
                  </a:ext>
                </a:extLst>
              </a:tr>
              <a:tr h="645667">
                <a:tc>
                  <a:txBody>
                    <a:bodyPr/>
                    <a:lstStyle/>
                    <a:p>
                      <a:pPr marL="0" algn="l" defTabSz="914400" rtl="0" eaLnBrk="1" latinLnBrk="0" hangingPunct="1">
                        <a:buNone/>
                      </a:pPr>
                      <a:r>
                        <a:rPr lang="es-MX" sz="1400" b="0" kern="1200" noProof="0" dirty="0">
                          <a:solidFill>
                            <a:schemeClr val="dk1"/>
                          </a:solidFill>
                          <a:latin typeface="+mn-lt"/>
                          <a:ea typeface="+mn-ea"/>
                          <a:cs typeface="+mn-cs"/>
                        </a:rPr>
                        <a:t>Costo total</a:t>
                      </a:r>
                    </a:p>
                  </a:txBody>
                  <a:tcPr anchor="ctr"/>
                </a:tc>
                <a:tc>
                  <a:txBody>
                    <a:bodyPr/>
                    <a:lstStyle/>
                    <a:p>
                      <a:pPr marL="0" algn="l" defTabSz="914400" rtl="0" eaLnBrk="1" latinLnBrk="0" hangingPunct="1">
                        <a:buNone/>
                      </a:pPr>
                      <a:r>
                        <a:rPr lang="es-MX" sz="1400" b="0" kern="1200" noProof="0" dirty="0">
                          <a:solidFill>
                            <a:schemeClr val="dk1"/>
                          </a:solidFill>
                          <a:latin typeface="+mn-lt"/>
                          <a:ea typeface="+mn-ea"/>
                          <a:cs typeface="+mn-cs"/>
                        </a:rPr>
                        <a:t>$15,000 USD (presupuesto máximo del proyecto)</a:t>
                      </a:r>
                    </a:p>
                  </a:txBody>
                  <a:tcPr anchor="ctr"/>
                </a:tc>
                <a:tc>
                  <a:txBody>
                    <a:bodyPr/>
                    <a:lstStyle/>
                    <a:p>
                      <a:pPr marL="0" algn="l" defTabSz="914400" rtl="0" eaLnBrk="1" latinLnBrk="0" hangingPunct="1">
                        <a:buNone/>
                      </a:pPr>
                      <a:r>
                        <a:rPr lang="es-MX" sz="1400" b="0" kern="1200" noProof="0" dirty="0">
                          <a:solidFill>
                            <a:schemeClr val="dk1"/>
                          </a:solidFill>
                          <a:latin typeface="+mn-lt"/>
                          <a:ea typeface="+mn-ea"/>
                          <a:cs typeface="+mn-cs"/>
                        </a:rPr>
                        <a:t>Costo estimado de $0 MXN, confirmado por Josefina en el CUESTIONARIO-002: proyecto de simulación académica sin presupuesto financiero real</a:t>
                      </a:r>
                    </a:p>
                  </a:txBody>
                  <a:tcPr anchor="ctr"/>
                </a:tc>
                <a:extLst>
                  <a:ext uri="{0D108BD9-81ED-4DB2-BD59-A6C34878D82A}">
                    <a16:rowId xmlns:a16="http://schemas.microsoft.com/office/drawing/2014/main" val="10003"/>
                  </a:ext>
                </a:extLst>
              </a:tr>
              <a:tr h="645667">
                <a:tc>
                  <a:txBody>
                    <a:bodyPr/>
                    <a:lstStyle/>
                    <a:p>
                      <a:pPr marL="0" algn="l" defTabSz="914400" rtl="0" eaLnBrk="1" latinLnBrk="0" hangingPunct="1">
                        <a:buNone/>
                      </a:pPr>
                      <a:r>
                        <a:rPr lang="es-MX" sz="1400" b="0" kern="1200" noProof="0" dirty="0">
                          <a:solidFill>
                            <a:schemeClr val="dk1"/>
                          </a:solidFill>
                          <a:latin typeface="+mn-lt"/>
                          <a:ea typeface="+mn-ea"/>
                          <a:cs typeface="+mn-cs"/>
                        </a:rPr>
                        <a:t>Contingencia</a:t>
                      </a:r>
                    </a:p>
                  </a:txBody>
                  <a:tcPr anchor="ctr"/>
                </a:tc>
                <a:tc>
                  <a:txBody>
                    <a:bodyPr/>
                    <a:lstStyle/>
                    <a:p>
                      <a:pPr marL="0" algn="l" defTabSz="914400" rtl="0" eaLnBrk="1" latinLnBrk="0" hangingPunct="1">
                        <a:buNone/>
                      </a:pPr>
                      <a:r>
                        <a:rPr lang="es-MX" sz="1400" b="0" kern="1200" noProof="0" dirty="0">
                          <a:solidFill>
                            <a:schemeClr val="dk1"/>
                          </a:solidFill>
                          <a:latin typeface="+mn-lt"/>
                          <a:ea typeface="+mn-ea"/>
                          <a:cs typeface="+mn-cs"/>
                        </a:rPr>
                        <a:t>Fondo de emergencia del 12% ($1,876 USD)</a:t>
                      </a:r>
                    </a:p>
                  </a:txBody>
                  <a:tcPr anchor="ctr"/>
                </a:tc>
                <a:tc>
                  <a:txBody>
                    <a:bodyPr/>
                    <a:lstStyle/>
                    <a:p>
                      <a:pPr marL="0" algn="l" defTabSz="914400" rtl="0" eaLnBrk="1" latinLnBrk="0" hangingPunct="1">
                        <a:buNone/>
                      </a:pPr>
                      <a:r>
                        <a:rPr lang="es-MX" sz="1400" b="0" kern="1200" noProof="0" dirty="0">
                          <a:solidFill>
                            <a:schemeClr val="dk1"/>
                          </a:solidFill>
                          <a:latin typeface="+mn-lt"/>
                          <a:ea typeface="+mn-ea"/>
                          <a:cs typeface="+mn-cs"/>
                        </a:rPr>
                        <a:t>No aplica; los riesgos se gestionan mediante seguimiento en Monday.com y los criterios de aceptación del PLAN-00X, no con reserva financiera</a:t>
                      </a:r>
                    </a:p>
                  </a:txBody>
                  <a:tcPr anchor="ctr"/>
                </a:tc>
                <a:extLst>
                  <a:ext uri="{0D108BD9-81ED-4DB2-BD59-A6C34878D82A}">
                    <a16:rowId xmlns:a16="http://schemas.microsoft.com/office/drawing/2014/main" val="10004"/>
                  </a:ext>
                </a:extLst>
              </a:tr>
            </a:tbl>
          </a:graphicData>
        </a:graphic>
      </p:graphicFrame>
      <p:sp>
        <p:nvSpPr>
          <p:cNvPr id="7" name="CuadroTexto 6">
            <a:extLst>
              <a:ext uri="{FF2B5EF4-FFF2-40B4-BE49-F238E27FC236}">
                <a16:creationId xmlns:a16="http://schemas.microsoft.com/office/drawing/2014/main" id="{7DD26AB9-089F-950E-9009-8D358E1037D4}"/>
              </a:ext>
            </a:extLst>
          </p:cNvPr>
          <p:cNvSpPr txBox="1"/>
          <p:nvPr/>
        </p:nvSpPr>
        <p:spPr>
          <a:xfrm>
            <a:off x="418600" y="5099411"/>
            <a:ext cx="11187427" cy="1477328"/>
          </a:xfrm>
          <a:prstGeom prst="rect">
            <a:avLst/>
          </a:prstGeom>
          <a:noFill/>
        </p:spPr>
        <p:txBody>
          <a:bodyPr wrap="square">
            <a:spAutoFit/>
          </a:bodyPr>
          <a:lstStyle/>
          <a:p>
            <a:pPr algn="just">
              <a:buNone/>
            </a:pPr>
            <a:r>
              <a:rPr lang="es-MX" noProof="0" dirty="0"/>
              <a:t>la diferencia principal entre ambos casos es que "Moda Local" es un proyecto real con presupuesto financiero (equipo pagado, licencias y reserva de contingencia en dinero), mientras que los proyectos GPTI son simulaciones académicas: el CUESTIONARIO-002 de Josefina confirma un costo estimado de $0 MXN. Aun así, ambos aplican la misma lógica de la triple restricción: alcance, tiempo y recursos siguen relacionados, solo que en GPTI el "recurso" crítico es el tiempo del desarrollador y la herramienta de simulación, no el dinero.</a:t>
            </a:r>
          </a:p>
        </p:txBody>
      </p:sp>
    </p:spTree>
    <p:extLst>
      <p:ext uri="{BB962C8B-B14F-4D97-AF65-F5344CB8AC3E}">
        <p14:creationId xmlns:p14="http://schemas.microsoft.com/office/powerpoint/2010/main" val="4000213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2D717D5-60D9-4B1A-449E-9E1B6F8ABA69}"/>
              </a:ext>
            </a:extLst>
          </p:cNvPr>
          <p:cNvSpPr>
            <a:spLocks noGrp="1"/>
          </p:cNvSpPr>
          <p:nvPr>
            <p:ph type="title"/>
          </p:nvPr>
        </p:nvSpPr>
        <p:spPr>
          <a:xfrm>
            <a:off x="800100" y="432902"/>
            <a:ext cx="10515600" cy="819150"/>
          </a:xfrm>
        </p:spPr>
        <p:txBody>
          <a:bodyPr vert="horz" lIns="91440" tIns="45720" rIns="91440" bIns="45720" anchor="ctr">
            <a:noAutofit/>
          </a:bodyPr>
          <a:lstStyle/>
          <a:p>
            <a:r>
              <a:rPr lang="es-MX" sz="3600" b="1" noProof="0" dirty="0">
                <a:solidFill>
                  <a:schemeClr val="accent1"/>
                </a:solidFill>
              </a:rPr>
              <a:t>Bitácora de seguimiento</a:t>
            </a:r>
          </a:p>
        </p:txBody>
      </p:sp>
      <p:graphicFrame>
        <p:nvGraphicFramePr>
          <p:cNvPr id="3" name="Marcador de contenido 3">
            <a:extLst>
              <a:ext uri="{FF2B5EF4-FFF2-40B4-BE49-F238E27FC236}">
                <a16:creationId xmlns:a16="http://schemas.microsoft.com/office/drawing/2014/main" id="{BAB6D51E-4D50-29B7-033E-A9541E3517C3}"/>
              </a:ext>
            </a:extLst>
          </p:cNvPr>
          <p:cNvGraphicFramePr/>
          <p:nvPr>
            <p:extLst>
              <p:ext uri="{D42A27DB-BD31-4B8C-83A1-F6EECF244321}">
                <p14:modId xmlns:p14="http://schemas.microsoft.com/office/powerpoint/2010/main" val="3772006778"/>
              </p:ext>
            </p:extLst>
          </p:nvPr>
        </p:nvGraphicFramePr>
        <p:xfrm>
          <a:off x="866775" y="1512133"/>
          <a:ext cx="10525125" cy="4172480"/>
        </p:xfrm>
        <a:graphic>
          <a:graphicData uri="http://schemas.openxmlformats.org/drawingml/2006/table">
            <a:tbl>
              <a:tblPr>
                <a:tableStyleId>{FABFCF23-3B69-468F-B69F-88F6DE6A72F2}</a:tableStyleId>
              </a:tblPr>
              <a:tblGrid>
                <a:gridCol w="1133325">
                  <a:extLst>
                    <a:ext uri="{9D8B030D-6E8A-4147-A177-3AD203B41FA5}">
                      <a16:colId xmlns:a16="http://schemas.microsoft.com/office/drawing/2014/main" val="20000"/>
                    </a:ext>
                  </a:extLst>
                </a:gridCol>
                <a:gridCol w="1700000">
                  <a:extLst>
                    <a:ext uri="{9D8B030D-6E8A-4147-A177-3AD203B41FA5}">
                      <a16:colId xmlns:a16="http://schemas.microsoft.com/office/drawing/2014/main" val="20001"/>
                    </a:ext>
                  </a:extLst>
                </a:gridCol>
                <a:gridCol w="3800000">
                  <a:extLst>
                    <a:ext uri="{9D8B030D-6E8A-4147-A177-3AD203B41FA5}">
                      <a16:colId xmlns:a16="http://schemas.microsoft.com/office/drawing/2014/main" val="20002"/>
                    </a:ext>
                  </a:extLst>
                </a:gridCol>
                <a:gridCol w="2600000">
                  <a:extLst>
                    <a:ext uri="{9D8B030D-6E8A-4147-A177-3AD203B41FA5}">
                      <a16:colId xmlns:a16="http://schemas.microsoft.com/office/drawing/2014/main" val="20003"/>
                    </a:ext>
                  </a:extLst>
                </a:gridCol>
                <a:gridCol w="1291800">
                  <a:extLst>
                    <a:ext uri="{9D8B030D-6E8A-4147-A177-3AD203B41FA5}">
                      <a16:colId xmlns:a16="http://schemas.microsoft.com/office/drawing/2014/main" val="20004"/>
                    </a:ext>
                  </a:extLst>
                </a:gridCol>
              </a:tblGrid>
              <a:tr h="260000">
                <a:tc>
                  <a:txBody>
                    <a:bodyPr/>
                    <a:lstStyle/>
                    <a:p>
                      <a:pPr>
                        <a:buNone/>
                      </a:pPr>
                      <a:r>
                        <a:rPr lang="es-MX" sz="1400" b="1" kern="1200" noProof="0" dirty="0">
                          <a:solidFill>
                            <a:schemeClr val="dk1"/>
                          </a:solidFill>
                        </a:rPr>
                        <a:t>Fecha</a:t>
                      </a:r>
                      <a:endParaRPr lang="es-MX" sz="1400" b="1" kern="1200" noProof="0" dirty="0">
                        <a:solidFill>
                          <a:schemeClr val="dk1"/>
                        </a:solidFill>
                        <a:latin typeface="+mn-lt"/>
                        <a:ea typeface="+mn-ea"/>
                        <a:cs typeface="+mn-cs"/>
                      </a:endParaRPr>
                    </a:p>
                  </a:txBody>
                  <a:tcPr marL="27432" marR="27432" marT="4000" marB="4000" anchor="ctr">
                    <a:solidFill>
                      <a:schemeClr val="accent5"/>
                    </a:solidFill>
                  </a:tcPr>
                </a:tc>
                <a:tc>
                  <a:txBody>
                    <a:bodyPr/>
                    <a:lstStyle/>
                    <a:p>
                      <a:pPr marL="0" algn="l" defTabSz="914400" rtl="0" eaLnBrk="1" latinLnBrk="0" hangingPunct="1">
                        <a:buNone/>
                      </a:pPr>
                      <a:r>
                        <a:rPr lang="es-MX" sz="1400" b="1" kern="1200" noProof="0" dirty="0">
                          <a:solidFill>
                            <a:schemeClr val="dk1"/>
                          </a:solidFill>
                        </a:rPr>
                        <a:t>Proyecto</a:t>
                      </a:r>
                      <a:endParaRPr lang="es-MX" sz="1400" b="1" kern="1200" noProof="0" dirty="0">
                        <a:solidFill>
                          <a:schemeClr val="dk1"/>
                        </a:solidFill>
                        <a:latin typeface="+mn-lt"/>
                        <a:ea typeface="+mn-ea"/>
                        <a:cs typeface="+mn-cs"/>
                      </a:endParaRPr>
                    </a:p>
                  </a:txBody>
                  <a:tcPr marL="27432" marR="27432" marT="4000" marB="4000" anchor="ctr">
                    <a:solidFill>
                      <a:schemeClr val="accent5"/>
                    </a:solidFill>
                  </a:tcPr>
                </a:tc>
                <a:tc>
                  <a:txBody>
                    <a:bodyPr/>
                    <a:lstStyle/>
                    <a:p>
                      <a:pPr marL="0" algn="l" defTabSz="914400" rtl="0" eaLnBrk="1" latinLnBrk="0" hangingPunct="1">
                        <a:buNone/>
                      </a:pPr>
                      <a:r>
                        <a:rPr lang="es-MX" sz="1400" b="1" kern="1200" noProof="0" dirty="0">
                          <a:solidFill>
                            <a:schemeClr val="dk1"/>
                          </a:solidFill>
                        </a:rPr>
                        <a:t>Actividad realizada</a:t>
                      </a:r>
                      <a:endParaRPr lang="es-MX" sz="1400" b="1" kern="1200" noProof="0" dirty="0">
                        <a:solidFill>
                          <a:schemeClr val="dk1"/>
                        </a:solidFill>
                        <a:latin typeface="+mn-lt"/>
                        <a:ea typeface="+mn-ea"/>
                        <a:cs typeface="+mn-cs"/>
                      </a:endParaRPr>
                    </a:p>
                  </a:txBody>
                  <a:tcPr marL="27432" marR="27432" marT="4000" marB="4000" anchor="ctr">
                    <a:solidFill>
                      <a:schemeClr val="accent5"/>
                    </a:solidFill>
                  </a:tcPr>
                </a:tc>
                <a:tc>
                  <a:txBody>
                    <a:bodyPr/>
                    <a:lstStyle/>
                    <a:p>
                      <a:pPr>
                        <a:buNone/>
                      </a:pPr>
                      <a:r>
                        <a:rPr lang="es-MX" sz="1400" b="1" kern="1200" noProof="0" dirty="0">
                          <a:solidFill>
                            <a:schemeClr val="dk1"/>
                          </a:solidFill>
                        </a:rPr>
                        <a:t>Evidencia o resultado</a:t>
                      </a:r>
                      <a:endParaRPr lang="es-MX" sz="1400" b="1" kern="1200" noProof="0" dirty="0">
                        <a:solidFill>
                          <a:schemeClr val="dk1"/>
                        </a:solidFill>
                        <a:latin typeface="+mn-lt"/>
                        <a:ea typeface="+mn-ea"/>
                        <a:cs typeface="+mn-cs"/>
                      </a:endParaRPr>
                    </a:p>
                  </a:txBody>
                  <a:tcPr marL="27432" marR="27432" marT="4000" marB="4000" anchor="ctr">
                    <a:solidFill>
                      <a:schemeClr val="accent5"/>
                    </a:solidFill>
                  </a:tcPr>
                </a:tc>
                <a:tc>
                  <a:txBody>
                    <a:bodyPr/>
                    <a:lstStyle/>
                    <a:p>
                      <a:pPr>
                        <a:buNone/>
                      </a:pPr>
                      <a:r>
                        <a:rPr lang="es-MX" sz="1400" b="1" kern="1200" noProof="0" dirty="0">
                          <a:solidFill>
                            <a:schemeClr val="dk1"/>
                          </a:solidFill>
                        </a:rPr>
                        <a:t>Estado</a:t>
                      </a:r>
                      <a:endParaRPr lang="es-MX" sz="1400" b="1" kern="1200" noProof="0" dirty="0">
                        <a:solidFill>
                          <a:schemeClr val="dk1"/>
                        </a:solidFill>
                        <a:latin typeface="+mn-lt"/>
                        <a:ea typeface="+mn-ea"/>
                        <a:cs typeface="+mn-cs"/>
                      </a:endParaRPr>
                    </a:p>
                  </a:txBody>
                  <a:tcPr marL="27432" marR="27432" marT="4000" marB="4000" anchor="ctr">
                    <a:solidFill>
                      <a:schemeClr val="accent5"/>
                    </a:solidFill>
                  </a:tcPr>
                </a:tc>
                <a:extLst>
                  <a:ext uri="{0D108BD9-81ED-4DB2-BD59-A6C34878D82A}">
                    <a16:rowId xmlns:a16="http://schemas.microsoft.com/office/drawing/2014/main" val="10000"/>
                  </a:ext>
                </a:extLst>
              </a:tr>
              <a:tr h="260000">
                <a:tc>
                  <a:txBody>
                    <a:bodyPr/>
                    <a:lstStyle/>
                    <a:p>
                      <a:pPr>
                        <a:buNone/>
                      </a:pPr>
                      <a:r>
                        <a:rPr lang="es-MX" sz="1400" b="0" kern="1200" noProof="0" dirty="0">
                          <a:solidFill>
                            <a:schemeClr val="dk1"/>
                          </a:solidFill>
                        </a:rPr>
                        <a:t>01/09/2026</a:t>
                      </a:r>
                      <a:endParaRPr lang="es-MX" sz="1400" b="0" kern="1200" noProof="0" dirty="0">
                        <a:solidFill>
                          <a:schemeClr val="dk1"/>
                        </a:solidFill>
                        <a:latin typeface="+mn-lt"/>
                        <a:ea typeface="+mn-ea"/>
                        <a:cs typeface="+mn-cs"/>
                      </a:endParaRPr>
                    </a:p>
                  </a:txBody>
                  <a:tcPr marL="27432" marR="27432" marT="4000" marB="4000" anchor="ctr"/>
                </a:tc>
                <a:tc>
                  <a:txBody>
                    <a:bodyPr/>
                    <a:lstStyle/>
                    <a:p>
                      <a:pPr>
                        <a:buNone/>
                      </a:pPr>
                      <a:r>
                        <a:rPr lang="es-MX" sz="1400" b="0" kern="1200" noProof="0" dirty="0">
                          <a:solidFill>
                            <a:schemeClr val="dk1"/>
                          </a:solidFill>
                        </a:rPr>
                        <a:t>Josefina</a:t>
                      </a:r>
                      <a:endParaRPr lang="es-MX" sz="1400" b="0" kern="1200" noProof="0" dirty="0">
                        <a:solidFill>
                          <a:schemeClr val="dk1"/>
                        </a:solidFill>
                        <a:latin typeface="+mn-lt"/>
                        <a:ea typeface="+mn-ea"/>
                        <a:cs typeface="+mn-cs"/>
                      </a:endParaRPr>
                    </a:p>
                  </a:txBody>
                  <a:tcPr marL="27432" marR="27432" marT="4000" marB="4000" anchor="ctr"/>
                </a:tc>
                <a:tc>
                  <a:txBody>
                    <a:bodyPr/>
                    <a:lstStyle/>
                    <a:p>
                      <a:pPr>
                        <a:buNone/>
                      </a:pPr>
                      <a:r>
                        <a:rPr lang="es-MX" sz="1400" b="0" kern="1200" noProof="0" dirty="0">
                          <a:solidFill>
                            <a:schemeClr val="dk1"/>
                          </a:solidFill>
                        </a:rPr>
                        <a:t>Aclaración de dudas sobre tiempos, cola y escenarios</a:t>
                      </a:r>
                      <a:endParaRPr lang="es-MX" sz="1400" b="0" kern="1200" noProof="0" dirty="0">
                        <a:solidFill>
                          <a:schemeClr val="dk1"/>
                        </a:solidFill>
                        <a:latin typeface="+mn-lt"/>
                        <a:ea typeface="+mn-ea"/>
                        <a:cs typeface="+mn-cs"/>
                      </a:endParaRPr>
                    </a:p>
                  </a:txBody>
                  <a:tcPr marL="27432" marR="27432" marT="4000" marB="4000" anchor="ctr"/>
                </a:tc>
                <a:tc>
                  <a:txBody>
                    <a:bodyPr/>
                    <a:lstStyle/>
                    <a:p>
                      <a:pPr>
                        <a:buNone/>
                      </a:pPr>
                      <a:r>
                        <a:rPr lang="es-MX" sz="1400" b="0" kern="1200" noProof="0" dirty="0">
                          <a:solidFill>
                            <a:schemeClr val="dk1"/>
                          </a:solidFill>
                        </a:rPr>
                        <a:t>Registro de seguimiento</a:t>
                      </a:r>
                      <a:endParaRPr lang="es-MX" sz="1400" b="0" kern="1200" noProof="0" dirty="0">
                        <a:solidFill>
                          <a:schemeClr val="dk1"/>
                        </a:solidFill>
                        <a:latin typeface="+mn-lt"/>
                        <a:ea typeface="+mn-ea"/>
                        <a:cs typeface="+mn-cs"/>
                      </a:endParaRPr>
                    </a:p>
                  </a:txBody>
                  <a:tcPr marL="27432" marR="27432" marT="4000" marB="4000" anchor="ctr"/>
                </a:tc>
                <a:tc>
                  <a:txBody>
                    <a:bodyPr/>
                    <a:lstStyle/>
                    <a:p>
                      <a:pPr>
                        <a:buNone/>
                      </a:pPr>
                      <a:r>
                        <a:rPr lang="es-MX" sz="1400" b="0" kern="1200" noProof="0" dirty="0">
                          <a:solidFill>
                            <a:schemeClr val="dk1"/>
                          </a:solidFill>
                        </a:rPr>
                        <a:t>Completado</a:t>
                      </a:r>
                      <a:endParaRPr lang="es-MX" sz="1400" b="0" kern="1200" noProof="0" dirty="0">
                        <a:solidFill>
                          <a:schemeClr val="dk1"/>
                        </a:solidFill>
                        <a:latin typeface="+mn-lt"/>
                        <a:ea typeface="+mn-ea"/>
                        <a:cs typeface="+mn-cs"/>
                      </a:endParaRPr>
                    </a:p>
                  </a:txBody>
                  <a:tcPr marL="27432" marR="27432" marT="4000" marB="4000" anchor="ctr"/>
                </a:tc>
                <a:extLst>
                  <a:ext uri="{0D108BD9-81ED-4DB2-BD59-A6C34878D82A}">
                    <a16:rowId xmlns:a16="http://schemas.microsoft.com/office/drawing/2014/main" val="10001"/>
                  </a:ext>
                </a:extLst>
              </a:tr>
              <a:tr h="260000">
                <a:tc>
                  <a:txBody>
                    <a:bodyPr/>
                    <a:lstStyle/>
                    <a:p>
                      <a:pPr>
                        <a:buNone/>
                      </a:pPr>
                      <a:r>
                        <a:rPr lang="es-MX" sz="1400" b="0" kern="1200" noProof="0" dirty="0">
                          <a:solidFill>
                            <a:schemeClr val="dk1"/>
                          </a:solidFill>
                        </a:rPr>
                        <a:t>02/09/2026</a:t>
                      </a:r>
                      <a:endParaRPr lang="es-MX" sz="1400" b="0" kern="1200" noProof="0" dirty="0">
                        <a:solidFill>
                          <a:schemeClr val="dk1"/>
                        </a:solidFill>
                        <a:latin typeface="+mn-lt"/>
                        <a:ea typeface="+mn-ea"/>
                        <a:cs typeface="+mn-cs"/>
                      </a:endParaRPr>
                    </a:p>
                  </a:txBody>
                  <a:tcPr marL="27432" marR="27432" marT="4000" marB="4000" anchor="ctr"/>
                </a:tc>
                <a:tc>
                  <a:txBody>
                    <a:bodyPr/>
                    <a:lstStyle/>
                    <a:p>
                      <a:pPr>
                        <a:buNone/>
                      </a:pPr>
                      <a:r>
                        <a:rPr lang="es-MX" sz="1400" b="0" kern="1200" noProof="0" dirty="0">
                          <a:solidFill>
                            <a:schemeClr val="dk1"/>
                          </a:solidFill>
                        </a:rPr>
                        <a:t>Josefina</a:t>
                      </a:r>
                      <a:endParaRPr lang="es-MX" sz="1400" b="0" kern="1200" noProof="0" dirty="0">
                        <a:solidFill>
                          <a:schemeClr val="dk1"/>
                        </a:solidFill>
                        <a:latin typeface="+mn-lt"/>
                        <a:ea typeface="+mn-ea"/>
                        <a:cs typeface="+mn-cs"/>
                      </a:endParaRPr>
                    </a:p>
                  </a:txBody>
                  <a:tcPr marL="27432" marR="27432" marT="4000" marB="4000" anchor="ctr"/>
                </a:tc>
                <a:tc>
                  <a:txBody>
                    <a:bodyPr/>
                    <a:lstStyle/>
                    <a:p>
                      <a:pPr>
                        <a:buNone/>
                      </a:pPr>
                      <a:r>
                        <a:rPr lang="es-MX" sz="1400" b="0" kern="1200" noProof="0" dirty="0">
                          <a:solidFill>
                            <a:schemeClr val="dk1"/>
                          </a:solidFill>
                        </a:rPr>
                        <a:t>Recepción de reporte de avances y diagrama para revisión</a:t>
                      </a:r>
                      <a:endParaRPr lang="es-MX" sz="1400" b="0" kern="1200" noProof="0" dirty="0">
                        <a:solidFill>
                          <a:schemeClr val="dk1"/>
                        </a:solidFill>
                        <a:latin typeface="+mn-lt"/>
                        <a:ea typeface="+mn-ea"/>
                        <a:cs typeface="+mn-cs"/>
                      </a:endParaRPr>
                    </a:p>
                  </a:txBody>
                  <a:tcPr marL="27432" marR="27432" marT="4000" marB="4000" anchor="ctr"/>
                </a:tc>
                <a:tc>
                  <a:txBody>
                    <a:bodyPr/>
                    <a:lstStyle/>
                    <a:p>
                      <a:pPr>
                        <a:buNone/>
                      </a:pPr>
                      <a:r>
                        <a:rPr lang="es-MX" sz="1400" b="0" kern="1200" noProof="0" dirty="0">
                          <a:solidFill>
                            <a:schemeClr val="dk1"/>
                          </a:solidFill>
                        </a:rPr>
                        <a:t>Avances 2da semana.pdf y SimulcionPlantaP.png</a:t>
                      </a:r>
                      <a:endParaRPr lang="es-MX" sz="1400" b="0" kern="1200" noProof="0" dirty="0">
                        <a:solidFill>
                          <a:schemeClr val="dk1"/>
                        </a:solidFill>
                        <a:latin typeface="+mn-lt"/>
                        <a:ea typeface="+mn-ea"/>
                        <a:cs typeface="+mn-cs"/>
                      </a:endParaRPr>
                    </a:p>
                  </a:txBody>
                  <a:tcPr marL="27432" marR="27432" marT="4000" marB="4000" anchor="ctr"/>
                </a:tc>
                <a:tc>
                  <a:txBody>
                    <a:bodyPr/>
                    <a:lstStyle/>
                    <a:p>
                      <a:pPr>
                        <a:buNone/>
                      </a:pPr>
                      <a:r>
                        <a:rPr lang="es-MX" sz="1400" b="0" kern="1200" noProof="0" dirty="0">
                          <a:solidFill>
                            <a:schemeClr val="dk1"/>
                          </a:solidFill>
                        </a:rPr>
                        <a:t>Completado</a:t>
                      </a:r>
                      <a:endParaRPr lang="es-MX" sz="1400" b="0" kern="1200" noProof="0" dirty="0">
                        <a:solidFill>
                          <a:schemeClr val="dk1"/>
                        </a:solidFill>
                        <a:latin typeface="+mn-lt"/>
                        <a:ea typeface="+mn-ea"/>
                        <a:cs typeface="+mn-cs"/>
                      </a:endParaRPr>
                    </a:p>
                  </a:txBody>
                  <a:tcPr marL="27432" marR="27432" marT="4000" marB="4000" anchor="ctr"/>
                </a:tc>
                <a:extLst>
                  <a:ext uri="{0D108BD9-81ED-4DB2-BD59-A6C34878D82A}">
                    <a16:rowId xmlns:a16="http://schemas.microsoft.com/office/drawing/2014/main" val="10002"/>
                  </a:ext>
                </a:extLst>
              </a:tr>
              <a:tr h="260000">
                <a:tc>
                  <a:txBody>
                    <a:bodyPr/>
                    <a:lstStyle/>
                    <a:p>
                      <a:pPr>
                        <a:buNone/>
                      </a:pPr>
                      <a:r>
                        <a:rPr lang="es-MX" sz="1400" b="0" kern="1200" noProof="0" dirty="0">
                          <a:solidFill>
                            <a:schemeClr val="dk1"/>
                          </a:solidFill>
                        </a:rPr>
                        <a:t>03/09/2026</a:t>
                      </a:r>
                      <a:endParaRPr lang="es-MX" sz="1400" b="0" kern="1200" noProof="0" dirty="0">
                        <a:solidFill>
                          <a:schemeClr val="dk1"/>
                        </a:solidFill>
                        <a:latin typeface="+mn-lt"/>
                        <a:ea typeface="+mn-ea"/>
                        <a:cs typeface="+mn-cs"/>
                      </a:endParaRPr>
                    </a:p>
                  </a:txBody>
                  <a:tcPr marL="27432" marR="27432" marT="4000" marB="4000" anchor="ctr"/>
                </a:tc>
                <a:tc>
                  <a:txBody>
                    <a:bodyPr/>
                    <a:lstStyle/>
                    <a:p>
                      <a:pPr>
                        <a:buNone/>
                      </a:pPr>
                      <a:r>
                        <a:rPr lang="es-MX" sz="1400" b="0" kern="1200" noProof="0" dirty="0">
                          <a:solidFill>
                            <a:schemeClr val="dk1"/>
                          </a:solidFill>
                        </a:rPr>
                        <a:t>Roberto</a:t>
                      </a:r>
                      <a:endParaRPr lang="es-MX" sz="1400" b="0" kern="1200" noProof="0" dirty="0">
                        <a:solidFill>
                          <a:schemeClr val="dk1"/>
                        </a:solidFill>
                        <a:latin typeface="+mn-lt"/>
                        <a:ea typeface="+mn-ea"/>
                        <a:cs typeface="+mn-cs"/>
                      </a:endParaRPr>
                    </a:p>
                  </a:txBody>
                  <a:tcPr marL="27432" marR="27432" marT="4000" marB="4000" anchor="ctr"/>
                </a:tc>
                <a:tc>
                  <a:txBody>
                    <a:bodyPr/>
                    <a:lstStyle/>
                    <a:p>
                      <a:pPr>
                        <a:buNone/>
                      </a:pPr>
                      <a:r>
                        <a:rPr lang="es-MX" sz="1400" b="0" kern="1200" noProof="0" dirty="0">
                          <a:solidFill>
                            <a:schemeClr val="dk1"/>
                          </a:solidFill>
                        </a:rPr>
                        <a:t>Aclaración de duda sobre el diagrama vía WhatsApp</a:t>
                      </a:r>
                      <a:endParaRPr lang="es-MX" sz="1400" b="0" kern="1200" noProof="0" dirty="0">
                        <a:solidFill>
                          <a:schemeClr val="dk1"/>
                        </a:solidFill>
                        <a:latin typeface="+mn-lt"/>
                        <a:ea typeface="+mn-ea"/>
                        <a:cs typeface="+mn-cs"/>
                      </a:endParaRPr>
                    </a:p>
                  </a:txBody>
                  <a:tcPr marL="27432" marR="27432" marT="4000" marB="4000" anchor="ctr"/>
                </a:tc>
                <a:tc>
                  <a:txBody>
                    <a:bodyPr/>
                    <a:lstStyle/>
                    <a:p>
                      <a:pPr>
                        <a:buNone/>
                      </a:pPr>
                      <a:r>
                        <a:rPr lang="es-MX" sz="1400" b="0" kern="1200" noProof="0" dirty="0">
                          <a:solidFill>
                            <a:schemeClr val="dk1"/>
                          </a:solidFill>
                        </a:rPr>
                        <a:t>Captura de conversación</a:t>
                      </a:r>
                      <a:endParaRPr lang="es-MX" sz="1400" b="0" kern="1200" noProof="0" dirty="0">
                        <a:solidFill>
                          <a:schemeClr val="dk1"/>
                        </a:solidFill>
                        <a:latin typeface="+mn-lt"/>
                        <a:ea typeface="+mn-ea"/>
                        <a:cs typeface="+mn-cs"/>
                      </a:endParaRPr>
                    </a:p>
                  </a:txBody>
                  <a:tcPr marL="27432" marR="27432" marT="4000" marB="4000" anchor="ctr"/>
                </a:tc>
                <a:tc>
                  <a:txBody>
                    <a:bodyPr/>
                    <a:lstStyle/>
                    <a:p>
                      <a:pPr>
                        <a:buNone/>
                      </a:pPr>
                      <a:r>
                        <a:rPr lang="es-MX" sz="1400" b="0" kern="1200" noProof="0" dirty="0">
                          <a:solidFill>
                            <a:schemeClr val="dk1"/>
                          </a:solidFill>
                        </a:rPr>
                        <a:t>Completado</a:t>
                      </a:r>
                      <a:endParaRPr lang="es-MX" sz="1400" b="0" kern="1200" noProof="0" dirty="0">
                        <a:solidFill>
                          <a:schemeClr val="dk1"/>
                        </a:solidFill>
                        <a:latin typeface="+mn-lt"/>
                        <a:ea typeface="+mn-ea"/>
                        <a:cs typeface="+mn-cs"/>
                      </a:endParaRPr>
                    </a:p>
                  </a:txBody>
                  <a:tcPr marL="27432" marR="27432" marT="4000" marB="4000" anchor="ctr"/>
                </a:tc>
                <a:extLst>
                  <a:ext uri="{0D108BD9-81ED-4DB2-BD59-A6C34878D82A}">
                    <a16:rowId xmlns:a16="http://schemas.microsoft.com/office/drawing/2014/main" val="10003"/>
                  </a:ext>
                </a:extLst>
              </a:tr>
              <a:tr h="260000">
                <a:tc>
                  <a:txBody>
                    <a:bodyPr/>
                    <a:lstStyle/>
                    <a:p>
                      <a:pPr>
                        <a:buNone/>
                      </a:pPr>
                      <a:r>
                        <a:rPr lang="es-MX" sz="1400" b="0" kern="1200" noProof="0" dirty="0">
                          <a:solidFill>
                            <a:schemeClr val="dk1"/>
                          </a:solidFill>
                        </a:rPr>
                        <a:t>03/09/2026</a:t>
                      </a:r>
                      <a:endParaRPr lang="es-MX" sz="1400" b="0" kern="1200" noProof="0" dirty="0">
                        <a:solidFill>
                          <a:schemeClr val="dk1"/>
                        </a:solidFill>
                        <a:latin typeface="+mn-lt"/>
                        <a:ea typeface="+mn-ea"/>
                        <a:cs typeface="+mn-cs"/>
                      </a:endParaRPr>
                    </a:p>
                  </a:txBody>
                  <a:tcPr marL="27432" marR="27432" marT="4000" marB="4000" anchor="ctr"/>
                </a:tc>
                <a:tc>
                  <a:txBody>
                    <a:bodyPr/>
                    <a:lstStyle/>
                    <a:p>
                      <a:pPr>
                        <a:buNone/>
                      </a:pPr>
                      <a:r>
                        <a:rPr lang="es-MX" sz="1400" b="0" kern="1200" noProof="0" dirty="0">
                          <a:solidFill>
                            <a:schemeClr val="dk1"/>
                          </a:solidFill>
                        </a:rPr>
                        <a:t>Tres proyectos</a:t>
                      </a:r>
                      <a:endParaRPr lang="es-MX" sz="1400" b="0" kern="1200" noProof="0" dirty="0">
                        <a:solidFill>
                          <a:schemeClr val="dk1"/>
                        </a:solidFill>
                        <a:latin typeface="+mn-lt"/>
                        <a:ea typeface="+mn-ea"/>
                        <a:cs typeface="+mn-cs"/>
                      </a:endParaRPr>
                    </a:p>
                  </a:txBody>
                  <a:tcPr marL="27432" marR="27432" marT="4000" marB="4000" anchor="ctr"/>
                </a:tc>
                <a:tc>
                  <a:txBody>
                    <a:bodyPr/>
                    <a:lstStyle/>
                    <a:p>
                      <a:pPr>
                        <a:buNone/>
                      </a:pPr>
                      <a:r>
                        <a:rPr lang="es-MX" sz="1400" b="0" kern="1200" noProof="0" dirty="0">
                          <a:solidFill>
                            <a:schemeClr val="dk1"/>
                          </a:solidFill>
                        </a:rPr>
                        <a:t>Recepción de CUESTIONARIO-001, 002 y 003 para revisión</a:t>
                      </a:r>
                      <a:endParaRPr lang="es-MX" sz="1400" b="0" kern="1200" noProof="0" dirty="0">
                        <a:solidFill>
                          <a:schemeClr val="dk1"/>
                        </a:solidFill>
                        <a:latin typeface="+mn-lt"/>
                        <a:ea typeface="+mn-ea"/>
                        <a:cs typeface="+mn-cs"/>
                      </a:endParaRPr>
                    </a:p>
                  </a:txBody>
                  <a:tcPr marL="27432" marR="27432" marT="4000" marB="4000" anchor="ctr"/>
                </a:tc>
                <a:tc>
                  <a:txBody>
                    <a:bodyPr/>
                    <a:lstStyle/>
                    <a:p>
                      <a:pPr>
                        <a:buNone/>
                      </a:pPr>
                      <a:r>
                        <a:rPr lang="es-MX" sz="1400" b="0" kern="1200" noProof="0" dirty="0">
                          <a:solidFill>
                            <a:schemeClr val="dk1"/>
                          </a:solidFill>
                        </a:rPr>
                        <a:t>Cuestionarios respondidos</a:t>
                      </a:r>
                      <a:endParaRPr lang="es-MX" sz="1400" b="0" kern="1200" noProof="0" dirty="0">
                        <a:solidFill>
                          <a:schemeClr val="dk1"/>
                        </a:solidFill>
                        <a:latin typeface="+mn-lt"/>
                        <a:ea typeface="+mn-ea"/>
                        <a:cs typeface="+mn-cs"/>
                      </a:endParaRPr>
                    </a:p>
                  </a:txBody>
                  <a:tcPr marL="27432" marR="27432" marT="4000" marB="4000" anchor="ctr"/>
                </a:tc>
                <a:tc>
                  <a:txBody>
                    <a:bodyPr/>
                    <a:lstStyle/>
                    <a:p>
                      <a:pPr>
                        <a:buNone/>
                      </a:pPr>
                      <a:r>
                        <a:rPr lang="es-MX" sz="1400" b="0" kern="1200" noProof="0" dirty="0">
                          <a:solidFill>
                            <a:schemeClr val="dk1"/>
                          </a:solidFill>
                        </a:rPr>
                        <a:t>En revisión</a:t>
                      </a:r>
                      <a:endParaRPr lang="es-MX" sz="1400" b="0" kern="1200" noProof="0" dirty="0">
                        <a:solidFill>
                          <a:schemeClr val="dk1"/>
                        </a:solidFill>
                        <a:latin typeface="+mn-lt"/>
                        <a:ea typeface="+mn-ea"/>
                        <a:cs typeface="+mn-cs"/>
                      </a:endParaRPr>
                    </a:p>
                  </a:txBody>
                  <a:tcPr marL="27432" marR="27432" marT="4000" marB="4000" anchor="ctr"/>
                </a:tc>
                <a:extLst>
                  <a:ext uri="{0D108BD9-81ED-4DB2-BD59-A6C34878D82A}">
                    <a16:rowId xmlns:a16="http://schemas.microsoft.com/office/drawing/2014/main" val="10004"/>
                  </a:ext>
                </a:extLst>
              </a:tr>
              <a:tr h="260000">
                <a:tc>
                  <a:txBody>
                    <a:bodyPr/>
                    <a:lstStyle/>
                    <a:p>
                      <a:pPr>
                        <a:buNone/>
                      </a:pPr>
                      <a:r>
                        <a:rPr lang="es-MX" sz="1400" b="0" kern="1200" noProof="0" dirty="0">
                          <a:solidFill>
                            <a:schemeClr val="dk1"/>
                          </a:solidFill>
                        </a:rPr>
                        <a:t>08/09/2026</a:t>
                      </a:r>
                      <a:endParaRPr lang="es-MX" sz="1400" b="0" kern="1200" noProof="0" dirty="0">
                        <a:solidFill>
                          <a:schemeClr val="dk1"/>
                        </a:solidFill>
                        <a:latin typeface="+mn-lt"/>
                        <a:ea typeface="+mn-ea"/>
                        <a:cs typeface="+mn-cs"/>
                      </a:endParaRPr>
                    </a:p>
                  </a:txBody>
                  <a:tcPr marL="27432" marR="27432" marT="4000" marB="4000" anchor="ctr"/>
                </a:tc>
                <a:tc>
                  <a:txBody>
                    <a:bodyPr/>
                    <a:lstStyle/>
                    <a:p>
                      <a:pPr>
                        <a:buNone/>
                      </a:pPr>
                      <a:r>
                        <a:rPr lang="es-MX" sz="1400" b="0" kern="1200" noProof="0" dirty="0">
                          <a:solidFill>
                            <a:schemeClr val="dk1"/>
                          </a:solidFill>
                        </a:rPr>
                        <a:t>Josefina y Roberto</a:t>
                      </a:r>
                      <a:endParaRPr lang="es-MX" sz="1400" b="0" kern="1200" noProof="0" dirty="0">
                        <a:solidFill>
                          <a:schemeClr val="dk1"/>
                        </a:solidFill>
                        <a:latin typeface="+mn-lt"/>
                        <a:ea typeface="+mn-ea"/>
                        <a:cs typeface="+mn-cs"/>
                      </a:endParaRPr>
                    </a:p>
                  </a:txBody>
                  <a:tcPr marL="27432" marR="27432" marT="4000" marB="4000" anchor="ctr"/>
                </a:tc>
                <a:tc>
                  <a:txBody>
                    <a:bodyPr/>
                    <a:lstStyle/>
                    <a:p>
                      <a:pPr>
                        <a:buNone/>
                      </a:pPr>
                      <a:r>
                        <a:rPr lang="es-MX" sz="1400" b="0" kern="1200" noProof="0" dirty="0">
                          <a:solidFill>
                            <a:schemeClr val="dk1"/>
                          </a:solidFill>
                        </a:rPr>
                        <a:t>Recordatorio enviado; sin respuesta a solicitudes pendientes</a:t>
                      </a:r>
                      <a:endParaRPr lang="es-MX" sz="1400" b="0" kern="1200" noProof="0" dirty="0">
                        <a:solidFill>
                          <a:schemeClr val="dk1"/>
                        </a:solidFill>
                        <a:latin typeface="+mn-lt"/>
                        <a:ea typeface="+mn-ea"/>
                        <a:cs typeface="+mn-cs"/>
                      </a:endParaRPr>
                    </a:p>
                  </a:txBody>
                  <a:tcPr marL="27432" marR="27432" marT="4000" marB="4000" anchor="ctr"/>
                </a:tc>
                <a:tc>
                  <a:txBody>
                    <a:bodyPr/>
                    <a:lstStyle/>
                    <a:p>
                      <a:pPr>
                        <a:buNone/>
                      </a:pPr>
                      <a:r>
                        <a:rPr lang="es-MX" sz="1400" b="0" kern="1200" noProof="0" dirty="0">
                          <a:solidFill>
                            <a:schemeClr val="dk1"/>
                          </a:solidFill>
                        </a:rPr>
                        <a:t>Mensajes de WhatsApp sin respuesta</a:t>
                      </a:r>
                      <a:endParaRPr lang="es-MX" sz="1400" b="0" kern="1200" noProof="0" dirty="0">
                        <a:solidFill>
                          <a:schemeClr val="dk1"/>
                        </a:solidFill>
                        <a:latin typeface="+mn-lt"/>
                        <a:ea typeface="+mn-ea"/>
                        <a:cs typeface="+mn-cs"/>
                      </a:endParaRPr>
                    </a:p>
                  </a:txBody>
                  <a:tcPr marL="27432" marR="27432" marT="4000" marB="4000" anchor="ctr"/>
                </a:tc>
                <a:tc>
                  <a:txBody>
                    <a:bodyPr/>
                    <a:lstStyle/>
                    <a:p>
                      <a:pPr>
                        <a:buNone/>
                      </a:pPr>
                      <a:r>
                        <a:rPr lang="es-MX" sz="1400" dirty="0"/>
                        <a:t>Pendiente de respuesta</a:t>
                      </a:r>
                      <a:endParaRPr lang="es-MX" sz="1400" b="0" kern="1200" noProof="0" dirty="0">
                        <a:solidFill>
                          <a:schemeClr val="dk1"/>
                        </a:solidFill>
                        <a:latin typeface="+mn-lt"/>
                        <a:ea typeface="+mn-ea"/>
                        <a:cs typeface="+mn-cs"/>
                      </a:endParaRPr>
                    </a:p>
                  </a:txBody>
                  <a:tcPr marL="27432" marR="27432" marT="4000" marB="4000" anchor="ctr"/>
                </a:tc>
                <a:extLst>
                  <a:ext uri="{0D108BD9-81ED-4DB2-BD59-A6C34878D82A}">
                    <a16:rowId xmlns:a16="http://schemas.microsoft.com/office/drawing/2014/main" val="10005"/>
                  </a:ext>
                </a:extLst>
              </a:tr>
              <a:tr h="260000">
                <a:tc>
                  <a:txBody>
                    <a:bodyPr/>
                    <a:lstStyle/>
                    <a:p>
                      <a:pPr>
                        <a:buNone/>
                      </a:pPr>
                      <a:r>
                        <a:rPr lang="es-MX" sz="1400" b="0" kern="1200" noProof="0" dirty="0">
                          <a:solidFill>
                            <a:schemeClr val="dk1"/>
                          </a:solidFill>
                        </a:rPr>
                        <a:t>10/09/2026</a:t>
                      </a:r>
                      <a:endParaRPr lang="es-MX" sz="1400" b="0" kern="1200" noProof="0" dirty="0">
                        <a:solidFill>
                          <a:schemeClr val="dk1"/>
                        </a:solidFill>
                        <a:latin typeface="+mn-lt"/>
                        <a:ea typeface="+mn-ea"/>
                        <a:cs typeface="+mn-cs"/>
                      </a:endParaRPr>
                    </a:p>
                  </a:txBody>
                  <a:tcPr marL="27432" marR="27432" marT="4000" marB="4000" anchor="ctr"/>
                </a:tc>
                <a:tc>
                  <a:txBody>
                    <a:bodyPr/>
                    <a:lstStyle/>
                    <a:p>
                      <a:pPr>
                        <a:buNone/>
                      </a:pPr>
                      <a:r>
                        <a:rPr lang="es-MX" sz="1400" b="0" kern="1200" noProof="0" dirty="0">
                          <a:solidFill>
                            <a:schemeClr val="dk1"/>
                          </a:solidFill>
                        </a:rPr>
                        <a:t>Brandon</a:t>
                      </a:r>
                      <a:endParaRPr lang="es-MX" sz="1400" b="0" kern="1200" noProof="0" dirty="0">
                        <a:solidFill>
                          <a:schemeClr val="dk1"/>
                        </a:solidFill>
                        <a:latin typeface="+mn-lt"/>
                        <a:ea typeface="+mn-ea"/>
                        <a:cs typeface="+mn-cs"/>
                      </a:endParaRPr>
                    </a:p>
                  </a:txBody>
                  <a:tcPr marL="27432" marR="27432" marT="4000" marB="4000" anchor="ctr"/>
                </a:tc>
                <a:tc>
                  <a:txBody>
                    <a:bodyPr/>
                    <a:lstStyle/>
                    <a:p>
                      <a:pPr>
                        <a:buNone/>
                      </a:pPr>
                      <a:r>
                        <a:rPr lang="es-MX" sz="1400" b="0" kern="1200" noProof="0" dirty="0">
                          <a:solidFill>
                            <a:schemeClr val="dk1"/>
                          </a:solidFill>
                        </a:rPr>
                        <a:t>Recepción y aceptación de cuestionario y BPMN corregidos</a:t>
                      </a:r>
                      <a:endParaRPr lang="es-MX" sz="1400" b="0" kern="1200" noProof="0" dirty="0">
                        <a:solidFill>
                          <a:schemeClr val="dk1"/>
                        </a:solidFill>
                        <a:latin typeface="+mn-lt"/>
                        <a:ea typeface="+mn-ea"/>
                        <a:cs typeface="+mn-cs"/>
                      </a:endParaRPr>
                    </a:p>
                  </a:txBody>
                  <a:tcPr marL="27432" marR="27432" marT="4000" marB="4000" anchor="ctr"/>
                </a:tc>
                <a:tc>
                  <a:txBody>
                    <a:bodyPr/>
                    <a:lstStyle/>
                    <a:p>
                      <a:pPr>
                        <a:buNone/>
                      </a:pPr>
                      <a:r>
                        <a:rPr lang="es-MX" sz="1400" b="0" kern="1200" noProof="0" dirty="0">
                          <a:solidFill>
                            <a:schemeClr val="dk1"/>
                          </a:solidFill>
                        </a:rPr>
                        <a:t>Documentos aceptados</a:t>
                      </a:r>
                      <a:endParaRPr lang="es-MX" sz="1400" b="0" kern="1200" noProof="0" dirty="0">
                        <a:solidFill>
                          <a:schemeClr val="dk1"/>
                        </a:solidFill>
                        <a:latin typeface="+mn-lt"/>
                        <a:ea typeface="+mn-ea"/>
                        <a:cs typeface="+mn-cs"/>
                      </a:endParaRPr>
                    </a:p>
                  </a:txBody>
                  <a:tcPr marL="27432" marR="27432" marT="4000" marB="4000" anchor="ctr"/>
                </a:tc>
                <a:tc>
                  <a:txBody>
                    <a:bodyPr/>
                    <a:lstStyle/>
                    <a:p>
                      <a:pPr>
                        <a:buNone/>
                      </a:pPr>
                      <a:r>
                        <a:rPr lang="es-MX" sz="1400" b="0" kern="1200" noProof="0" dirty="0">
                          <a:solidFill>
                            <a:schemeClr val="dk1"/>
                          </a:solidFill>
                        </a:rPr>
                        <a:t>Completado</a:t>
                      </a:r>
                      <a:endParaRPr lang="es-MX" sz="1400" b="0" kern="1200" noProof="0" dirty="0">
                        <a:solidFill>
                          <a:schemeClr val="dk1"/>
                        </a:solidFill>
                        <a:latin typeface="+mn-lt"/>
                        <a:ea typeface="+mn-ea"/>
                        <a:cs typeface="+mn-cs"/>
                      </a:endParaRPr>
                    </a:p>
                  </a:txBody>
                  <a:tcPr marL="27432" marR="27432" marT="4000" marB="4000" anchor="ctr"/>
                </a:tc>
                <a:extLst>
                  <a:ext uri="{0D108BD9-81ED-4DB2-BD59-A6C34878D82A}">
                    <a16:rowId xmlns:a16="http://schemas.microsoft.com/office/drawing/2014/main" val="10006"/>
                  </a:ext>
                </a:extLst>
              </a:tr>
              <a:tr h="260000">
                <a:tc>
                  <a:txBody>
                    <a:bodyPr/>
                    <a:lstStyle/>
                    <a:p>
                      <a:pPr>
                        <a:buNone/>
                      </a:pPr>
                      <a:r>
                        <a:rPr lang="es-MX" sz="1400" b="0" kern="1200" noProof="0" dirty="0">
                          <a:solidFill>
                            <a:schemeClr val="dk1"/>
                          </a:solidFill>
                        </a:rPr>
                        <a:t>11/09/2026</a:t>
                      </a:r>
                      <a:endParaRPr lang="es-MX" sz="1400" b="0" kern="1200" noProof="0" dirty="0">
                        <a:solidFill>
                          <a:schemeClr val="dk1"/>
                        </a:solidFill>
                        <a:latin typeface="+mn-lt"/>
                        <a:ea typeface="+mn-ea"/>
                        <a:cs typeface="+mn-cs"/>
                      </a:endParaRPr>
                    </a:p>
                  </a:txBody>
                  <a:tcPr marL="27432" marR="27432" marT="4000" marB="4000" anchor="ctr"/>
                </a:tc>
                <a:tc>
                  <a:txBody>
                    <a:bodyPr/>
                    <a:lstStyle/>
                    <a:p>
                      <a:pPr>
                        <a:buNone/>
                      </a:pPr>
                      <a:r>
                        <a:rPr lang="es-MX" sz="1400" b="0" kern="1200" noProof="0" dirty="0">
                          <a:solidFill>
                            <a:schemeClr val="dk1"/>
                          </a:solidFill>
                        </a:rPr>
                        <a:t>Josefina</a:t>
                      </a:r>
                      <a:endParaRPr lang="es-MX" sz="1400" b="0" kern="1200" noProof="0" dirty="0">
                        <a:solidFill>
                          <a:schemeClr val="dk1"/>
                        </a:solidFill>
                        <a:latin typeface="+mn-lt"/>
                        <a:ea typeface="+mn-ea"/>
                        <a:cs typeface="+mn-cs"/>
                      </a:endParaRPr>
                    </a:p>
                  </a:txBody>
                  <a:tcPr marL="27432" marR="27432" marT="4000" marB="4000" anchor="ctr"/>
                </a:tc>
                <a:tc>
                  <a:txBody>
                    <a:bodyPr/>
                    <a:lstStyle/>
                    <a:p>
                      <a:pPr>
                        <a:buNone/>
                      </a:pPr>
                      <a:r>
                        <a:rPr lang="es-MX" sz="1400" b="0" kern="1200" noProof="0" dirty="0">
                          <a:solidFill>
                            <a:schemeClr val="dk1"/>
                          </a:solidFill>
                        </a:rPr>
                        <a:t>Recepción de cuestionario y modelo actualizado</a:t>
                      </a:r>
                      <a:endParaRPr lang="es-MX" sz="1400" b="0" kern="1200" noProof="0" dirty="0">
                        <a:solidFill>
                          <a:schemeClr val="dk1"/>
                        </a:solidFill>
                        <a:latin typeface="+mn-lt"/>
                        <a:ea typeface="+mn-ea"/>
                        <a:cs typeface="+mn-cs"/>
                      </a:endParaRPr>
                    </a:p>
                  </a:txBody>
                  <a:tcPr marL="27432" marR="27432" marT="4000" marB="4000" anchor="ctr"/>
                </a:tc>
                <a:tc>
                  <a:txBody>
                    <a:bodyPr/>
                    <a:lstStyle/>
                    <a:p>
                      <a:pPr>
                        <a:buNone/>
                      </a:pPr>
                      <a:r>
                        <a:rPr lang="es-MX" sz="1400" b="0" kern="1200" noProof="0" dirty="0">
                          <a:solidFill>
                            <a:schemeClr val="dk1"/>
                          </a:solidFill>
                        </a:rPr>
                        <a:t>CUESTIONARIO-002, PDF y BPM recibidos</a:t>
                      </a:r>
                      <a:endParaRPr lang="es-MX" sz="1400" b="0" kern="1200" noProof="0" dirty="0">
                        <a:solidFill>
                          <a:schemeClr val="dk1"/>
                        </a:solidFill>
                        <a:latin typeface="+mn-lt"/>
                        <a:ea typeface="+mn-ea"/>
                        <a:cs typeface="+mn-cs"/>
                      </a:endParaRPr>
                    </a:p>
                  </a:txBody>
                  <a:tcPr marL="27432" marR="27432" marT="4000" marB="4000" anchor="ctr"/>
                </a:tc>
                <a:tc>
                  <a:txBody>
                    <a:bodyPr/>
                    <a:lstStyle/>
                    <a:p>
                      <a:pPr>
                        <a:buNone/>
                      </a:pPr>
                      <a:r>
                        <a:rPr lang="es-MX" sz="1400" b="0" kern="1200" noProof="0" dirty="0">
                          <a:solidFill>
                            <a:schemeClr val="dk1"/>
                          </a:solidFill>
                        </a:rPr>
                        <a:t>En revisión</a:t>
                      </a:r>
                      <a:endParaRPr lang="es-MX" sz="1400" b="0" kern="1200" noProof="0" dirty="0">
                        <a:solidFill>
                          <a:schemeClr val="dk1"/>
                        </a:solidFill>
                        <a:latin typeface="+mn-lt"/>
                        <a:ea typeface="+mn-ea"/>
                        <a:cs typeface="+mn-cs"/>
                      </a:endParaRPr>
                    </a:p>
                  </a:txBody>
                  <a:tcPr marL="27432" marR="27432" marT="4000" marB="4000" anchor="ctr"/>
                </a:tc>
                <a:extLst>
                  <a:ext uri="{0D108BD9-81ED-4DB2-BD59-A6C34878D82A}">
                    <a16:rowId xmlns:a16="http://schemas.microsoft.com/office/drawing/2014/main" val="10007"/>
                  </a:ext>
                </a:extLst>
              </a:tr>
              <a:tr h="260000">
                <a:tc>
                  <a:txBody>
                    <a:bodyPr/>
                    <a:lstStyle/>
                    <a:p>
                      <a:pPr>
                        <a:buNone/>
                      </a:pPr>
                      <a:r>
                        <a:rPr lang="es-MX" sz="1400" b="0" kern="1200" noProof="0" dirty="0">
                          <a:solidFill>
                            <a:schemeClr val="dk1"/>
                          </a:solidFill>
                        </a:rPr>
                        <a:t>15/09/2026</a:t>
                      </a:r>
                      <a:endParaRPr lang="es-MX" sz="1400" b="0" kern="1200" noProof="0" dirty="0">
                        <a:solidFill>
                          <a:schemeClr val="dk1"/>
                        </a:solidFill>
                        <a:latin typeface="+mn-lt"/>
                        <a:ea typeface="+mn-ea"/>
                        <a:cs typeface="+mn-cs"/>
                      </a:endParaRPr>
                    </a:p>
                  </a:txBody>
                  <a:tcPr marL="27432" marR="27432" marT="4000" marB="4000" anchor="ctr"/>
                </a:tc>
                <a:tc>
                  <a:txBody>
                    <a:bodyPr/>
                    <a:lstStyle/>
                    <a:p>
                      <a:pPr>
                        <a:buNone/>
                      </a:pPr>
                      <a:r>
                        <a:rPr lang="es-MX" sz="1400" b="0" kern="1200" noProof="0" dirty="0">
                          <a:solidFill>
                            <a:schemeClr val="dk1"/>
                          </a:solidFill>
                        </a:rPr>
                        <a:t>Roberto</a:t>
                      </a:r>
                      <a:endParaRPr lang="es-MX" sz="1400" b="0" kern="1200" noProof="0" dirty="0">
                        <a:solidFill>
                          <a:schemeClr val="dk1"/>
                        </a:solidFill>
                        <a:latin typeface="+mn-lt"/>
                        <a:ea typeface="+mn-ea"/>
                        <a:cs typeface="+mn-cs"/>
                      </a:endParaRPr>
                    </a:p>
                  </a:txBody>
                  <a:tcPr marL="27432" marR="27432" marT="4000" marB="4000" anchor="ctr"/>
                </a:tc>
                <a:tc>
                  <a:txBody>
                    <a:bodyPr/>
                    <a:lstStyle/>
                    <a:p>
                      <a:pPr>
                        <a:buNone/>
                      </a:pPr>
                      <a:r>
                        <a:rPr lang="es-MX" sz="1400" b="0" kern="1200" noProof="0" dirty="0">
                          <a:solidFill>
                            <a:schemeClr val="dk1"/>
                          </a:solidFill>
                        </a:rPr>
                        <a:t>Aceptación de diagrama y cuestionario en su estado actual</a:t>
                      </a:r>
                      <a:endParaRPr lang="es-MX" sz="1400" b="0" kern="1200" noProof="0" dirty="0">
                        <a:solidFill>
                          <a:schemeClr val="dk1"/>
                        </a:solidFill>
                        <a:latin typeface="+mn-lt"/>
                        <a:ea typeface="+mn-ea"/>
                        <a:cs typeface="+mn-cs"/>
                      </a:endParaRPr>
                    </a:p>
                  </a:txBody>
                  <a:tcPr marL="27432" marR="27432" marT="4000" marB="4000" anchor="ctr"/>
                </a:tc>
                <a:tc>
                  <a:txBody>
                    <a:bodyPr/>
                    <a:lstStyle/>
                    <a:p>
                      <a:pPr>
                        <a:buNone/>
                      </a:pPr>
                      <a:r>
                        <a:rPr lang="es-MX" sz="1400" b="0" kern="1200" noProof="0" dirty="0">
                          <a:solidFill>
                            <a:schemeClr val="dk1"/>
                          </a:solidFill>
                        </a:rPr>
                        <a:t>Entregables aceptados</a:t>
                      </a:r>
                      <a:endParaRPr lang="es-MX" sz="1400" b="0" kern="1200" noProof="0" dirty="0">
                        <a:solidFill>
                          <a:schemeClr val="dk1"/>
                        </a:solidFill>
                        <a:latin typeface="+mn-lt"/>
                        <a:ea typeface="+mn-ea"/>
                        <a:cs typeface="+mn-cs"/>
                      </a:endParaRPr>
                    </a:p>
                  </a:txBody>
                  <a:tcPr marL="27432" marR="27432" marT="4000" marB="4000" anchor="ctr"/>
                </a:tc>
                <a:tc>
                  <a:txBody>
                    <a:bodyPr/>
                    <a:lstStyle/>
                    <a:p>
                      <a:pPr>
                        <a:buNone/>
                      </a:pPr>
                      <a:r>
                        <a:rPr lang="es-MX" sz="1400" b="0" kern="1200" noProof="0" dirty="0">
                          <a:solidFill>
                            <a:schemeClr val="dk1"/>
                          </a:solidFill>
                        </a:rPr>
                        <a:t>Completado</a:t>
                      </a:r>
                      <a:endParaRPr lang="es-MX" sz="1400" b="0" kern="1200" noProof="0" dirty="0">
                        <a:solidFill>
                          <a:schemeClr val="dk1"/>
                        </a:solidFill>
                        <a:latin typeface="+mn-lt"/>
                        <a:ea typeface="+mn-ea"/>
                        <a:cs typeface="+mn-cs"/>
                      </a:endParaRPr>
                    </a:p>
                  </a:txBody>
                  <a:tcPr marL="27432" marR="27432" marT="4000" marB="4000" anchor="ctr"/>
                </a:tc>
                <a:extLst>
                  <a:ext uri="{0D108BD9-81ED-4DB2-BD59-A6C34878D82A}">
                    <a16:rowId xmlns:a16="http://schemas.microsoft.com/office/drawing/2014/main" val="10008"/>
                  </a:ext>
                </a:extLst>
              </a:tr>
              <a:tr h="260000">
                <a:tc>
                  <a:txBody>
                    <a:bodyPr/>
                    <a:lstStyle/>
                    <a:p>
                      <a:pPr>
                        <a:buNone/>
                      </a:pPr>
                      <a:r>
                        <a:rPr lang="es-MX" sz="1400" b="0" kern="1200" noProof="0" dirty="0">
                          <a:solidFill>
                            <a:schemeClr val="dk1"/>
                          </a:solidFill>
                        </a:rPr>
                        <a:t>15/09/2026</a:t>
                      </a:r>
                      <a:endParaRPr lang="es-MX" sz="1400" b="0" kern="1200" noProof="0" dirty="0">
                        <a:solidFill>
                          <a:schemeClr val="dk1"/>
                        </a:solidFill>
                        <a:latin typeface="+mn-lt"/>
                        <a:ea typeface="+mn-ea"/>
                        <a:cs typeface="+mn-cs"/>
                      </a:endParaRPr>
                    </a:p>
                  </a:txBody>
                  <a:tcPr marL="27432" marR="27432" marT="4000" marB="4000" anchor="ctr"/>
                </a:tc>
                <a:tc>
                  <a:txBody>
                    <a:bodyPr/>
                    <a:lstStyle/>
                    <a:p>
                      <a:pPr>
                        <a:buNone/>
                      </a:pPr>
                      <a:r>
                        <a:rPr lang="es-MX" sz="1400" b="0" kern="1200" noProof="0" dirty="0">
                          <a:solidFill>
                            <a:schemeClr val="dk1"/>
                          </a:solidFill>
                        </a:rPr>
                        <a:t>Tres proyectos</a:t>
                      </a:r>
                      <a:endParaRPr lang="es-MX" sz="1400" b="0" kern="1200" noProof="0" dirty="0">
                        <a:solidFill>
                          <a:schemeClr val="dk1"/>
                        </a:solidFill>
                        <a:latin typeface="+mn-lt"/>
                        <a:ea typeface="+mn-ea"/>
                        <a:cs typeface="+mn-cs"/>
                      </a:endParaRPr>
                    </a:p>
                  </a:txBody>
                  <a:tcPr marL="27432" marR="27432" marT="4000" marB="4000" anchor="ctr"/>
                </a:tc>
                <a:tc>
                  <a:txBody>
                    <a:bodyPr/>
                    <a:lstStyle/>
                    <a:p>
                      <a:pPr>
                        <a:buNone/>
                      </a:pPr>
                      <a:r>
                        <a:rPr lang="es-MX" sz="1400"/>
                        <a:t>Elaboración de la planificación de la Unidad 3: cronogramas, WBS y diagramas de Gantt</a:t>
                      </a:r>
                      <a:endParaRPr lang="es-MX" sz="1400" b="0" kern="1200" noProof="0" dirty="0">
                        <a:solidFill>
                          <a:schemeClr val="dk1"/>
                        </a:solidFill>
                        <a:latin typeface="+mn-lt"/>
                        <a:ea typeface="+mn-ea"/>
                        <a:cs typeface="+mn-cs"/>
                      </a:endParaRPr>
                    </a:p>
                  </a:txBody>
                  <a:tcPr marL="27432" marR="27432" marT="4000" marB="4000" anchor="ctr"/>
                </a:tc>
                <a:tc>
                  <a:txBody>
                    <a:bodyPr/>
                    <a:lstStyle/>
                    <a:p>
                      <a:pPr>
                        <a:buNone/>
                      </a:pPr>
                      <a:r>
                        <a:rPr lang="es-MX" sz="1400" b="0" kern="1200" noProof="0" dirty="0">
                          <a:solidFill>
                            <a:schemeClr val="dk1"/>
                          </a:solidFill>
                        </a:rPr>
                        <a:t>Reporte y anexos entregados</a:t>
                      </a:r>
                      <a:endParaRPr lang="es-MX" sz="1400" b="0" kern="1200" noProof="0" dirty="0">
                        <a:solidFill>
                          <a:schemeClr val="dk1"/>
                        </a:solidFill>
                        <a:latin typeface="+mn-lt"/>
                        <a:ea typeface="+mn-ea"/>
                        <a:cs typeface="+mn-cs"/>
                      </a:endParaRPr>
                    </a:p>
                  </a:txBody>
                  <a:tcPr marL="27432" marR="27432" marT="4000" marB="4000" anchor="ctr"/>
                </a:tc>
                <a:tc>
                  <a:txBody>
                    <a:bodyPr/>
                    <a:lstStyle/>
                    <a:p>
                      <a:pPr>
                        <a:buNone/>
                      </a:pPr>
                      <a:r>
                        <a:rPr lang="es-MX" sz="1400" b="0" kern="1200" noProof="0" dirty="0">
                          <a:solidFill>
                            <a:schemeClr val="dk1"/>
                          </a:solidFill>
                        </a:rPr>
                        <a:t>Completado</a:t>
                      </a:r>
                      <a:endParaRPr lang="es-MX" sz="1400" b="0" kern="1200" noProof="0" dirty="0">
                        <a:solidFill>
                          <a:schemeClr val="dk1"/>
                        </a:solidFill>
                        <a:latin typeface="+mn-lt"/>
                        <a:ea typeface="+mn-ea"/>
                        <a:cs typeface="+mn-cs"/>
                      </a:endParaRPr>
                    </a:p>
                  </a:txBody>
                  <a:tcPr marL="27432" marR="27432" marT="4000" marB="4000" anchor="ct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39427153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130AC5D9-9FD1-99B5-CB0C-FC5B34DE4F9B}"/>
              </a:ext>
            </a:extLst>
          </p:cNvPr>
          <p:cNvSpPr>
            <a:spLocks noGrp="1"/>
          </p:cNvSpPr>
          <p:nvPr>
            <p:ph idx="1"/>
          </p:nvPr>
        </p:nvSpPr>
        <p:spPr>
          <a:xfrm>
            <a:off x="838200" y="968375"/>
            <a:ext cx="10515600" cy="4351338"/>
          </a:xfrm>
        </p:spPr>
        <p:txBody>
          <a:bodyPr>
            <a:normAutofit/>
          </a:bodyPr>
          <a:lstStyle/>
          <a:p>
            <a:pPr marL="0" indent="0">
              <a:buNone/>
            </a:pPr>
            <a:r>
              <a:rPr lang="es-MX" sz="4400" b="1" noProof="0" dirty="0">
                <a:solidFill>
                  <a:schemeClr val="accent1"/>
                </a:solidFill>
                <a:latin typeface="+mj-lt"/>
              </a:rPr>
              <a:t>Conclusión</a:t>
            </a:r>
          </a:p>
          <a:p>
            <a:pPr marL="0" indent="0">
              <a:buNone/>
            </a:pPr>
            <a:endParaRPr lang="es-MX" noProof="0" dirty="0"/>
          </a:p>
          <a:p>
            <a:pPr marL="0" indent="0" algn="just">
              <a:buNone/>
            </a:pPr>
            <a:r>
              <a:rPr lang="es-MX" dirty="0"/>
              <a:t>los conceptos de planificación a casos prácticos y a los proyectos de Brandon, Josefina y Roberto. Mediante la definición del alcance, la organización de actividades, la estimación de recursos y costos, y el uso de WBS y diagramas de Gantt, se estableció una estructura clara para el seguimiento. </a:t>
            </a:r>
            <a:r>
              <a:rPr lang="es-MX"/>
              <a:t>También se comprobó la importancia de mantener consistencia entre los documentos, los modelos entregados y la información registrada en Monday.</a:t>
            </a:r>
            <a:endParaRPr lang="es-MX" noProof="0" dirty="0"/>
          </a:p>
        </p:txBody>
      </p:sp>
    </p:spTree>
    <p:extLst>
      <p:ext uri="{BB962C8B-B14F-4D97-AF65-F5344CB8AC3E}">
        <p14:creationId xmlns:p14="http://schemas.microsoft.com/office/powerpoint/2010/main" val="41559223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8DA0075-23DC-9820-03EC-BB9C50FCF13E}"/>
              </a:ext>
            </a:extLst>
          </p:cNvPr>
          <p:cNvSpPr>
            <a:spLocks noGrp="1"/>
          </p:cNvSpPr>
          <p:nvPr>
            <p:ph type="title"/>
          </p:nvPr>
        </p:nvSpPr>
        <p:spPr/>
        <p:txBody>
          <a:bodyPr vert="horz" lIns="91440" tIns="45720" rIns="91440" bIns="45720" anchor="ctr">
            <a:noAutofit/>
          </a:bodyPr>
          <a:lstStyle/>
          <a:p>
            <a:r>
              <a:rPr lang="es-MX" sz="3600" b="1" noProof="0" dirty="0">
                <a:solidFill>
                  <a:schemeClr val="accent1"/>
                </a:solidFill>
              </a:rPr>
              <a:t>Fuentes de información</a:t>
            </a:r>
          </a:p>
        </p:txBody>
      </p:sp>
      <p:sp>
        <p:nvSpPr>
          <p:cNvPr id="5" name="Marcador de contenido 2">
            <a:extLst>
              <a:ext uri="{FF2B5EF4-FFF2-40B4-BE49-F238E27FC236}">
                <a16:creationId xmlns:a16="http://schemas.microsoft.com/office/drawing/2014/main" id="{E41A2AAA-DB39-235E-62EC-0429C48A2ADA}"/>
              </a:ext>
            </a:extLst>
          </p:cNvPr>
          <p:cNvSpPr>
            <a:spLocks noGrp="1"/>
          </p:cNvSpPr>
          <p:nvPr>
            <p:ph idx="1"/>
          </p:nvPr>
        </p:nvSpPr>
        <p:spPr>
          <a:xfrm>
            <a:off x="838200" y="1825625"/>
            <a:ext cx="10515600" cy="4351338"/>
          </a:xfrm>
        </p:spPr>
        <p:txBody>
          <a:bodyPr>
            <a:normAutofit/>
          </a:bodyPr>
          <a:lstStyle/>
          <a:p>
            <a:pPr marL="0" indent="0">
              <a:buNone/>
            </a:pPr>
            <a:r>
              <a:rPr lang="es-MX" noProof="0" dirty="0"/>
              <a:t>Aquino Villanueva, R. (2026). GPTI [Repositorio de GitHub]. https://github.com/rafaelrav8770/GPTI</a:t>
            </a:r>
          </a:p>
          <a:p>
            <a:pPr marL="0" lvl="0" indent="0">
              <a:buNone/>
            </a:pPr>
            <a:r>
              <a:rPr lang="es-MX" dirty="0"/>
              <a:t>Asana. (2024). Cronograma de proyecto: qué es y cómo crear uno. https://asana.com/es/resources/project-schedule</a:t>
            </a:r>
          </a:p>
          <a:p>
            <a:pPr marL="0" lvl="0" indent="0">
              <a:buNone/>
            </a:pPr>
            <a:r>
              <a:rPr lang="es-MX" dirty="0" err="1"/>
              <a:t>Atlassian</a:t>
            </a:r>
            <a:r>
              <a:rPr lang="es-MX" dirty="0"/>
              <a:t>. (2024). Guía del diagrama de Gantt. https://www.atlassian.com/es/agile/project-management/gantt-chart</a:t>
            </a:r>
          </a:p>
          <a:p>
            <a:pPr marL="0" lvl="0" indent="0">
              <a:buNone/>
            </a:pPr>
            <a:r>
              <a:rPr lang="es-MX" dirty="0"/>
              <a:t>Project Manager. (2024). Work </a:t>
            </a:r>
            <a:r>
              <a:rPr lang="es-MX" dirty="0" err="1"/>
              <a:t>Breakdown</a:t>
            </a:r>
            <a:r>
              <a:rPr lang="es-MX" dirty="0"/>
              <a:t> </a:t>
            </a:r>
            <a:r>
              <a:rPr lang="es-MX" dirty="0" err="1"/>
              <a:t>Structure</a:t>
            </a:r>
            <a:r>
              <a:rPr lang="es-MX" dirty="0"/>
              <a:t> (WBS) in Project Management. https://www.projectmanager.com/guides/work-breakdown-structure</a:t>
            </a:r>
          </a:p>
          <a:p>
            <a:pPr marL="0" indent="0">
              <a:buNone/>
            </a:pPr>
            <a:endParaRPr lang="es-MX" noProof="0" dirty="0"/>
          </a:p>
        </p:txBody>
      </p:sp>
    </p:spTree>
    <p:extLst>
      <p:ext uri="{BB962C8B-B14F-4D97-AF65-F5344CB8AC3E}">
        <p14:creationId xmlns:p14="http://schemas.microsoft.com/office/powerpoint/2010/main" val="3236943203"/>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4352</TotalTime>
  <Words>2039</Words>
  <Application>Microsoft Office PowerPoint</Application>
  <PresentationFormat>Panorámica</PresentationFormat>
  <Paragraphs>228</Paragraphs>
  <Slides>14</Slides>
  <Notes>5</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14</vt:i4>
      </vt:variant>
    </vt:vector>
  </HeadingPairs>
  <TitlesOfParts>
    <vt:vector size="18" baseType="lpstr">
      <vt:lpstr>Arial</vt:lpstr>
      <vt:lpstr>Calibri</vt:lpstr>
      <vt:lpstr>Calibri Light</vt:lpstr>
      <vt:lpstr>Tema de Office</vt:lpstr>
      <vt:lpstr>Presentación de PowerPoint</vt:lpstr>
      <vt:lpstr>Presentación de PowerPoint</vt:lpstr>
      <vt:lpstr>Presentación de PowerPoint</vt:lpstr>
      <vt:lpstr>justificación</vt:lpstr>
      <vt:lpstr>Estado de cada proyecto</vt:lpstr>
      <vt:lpstr>Evidencias: seguimiento en Monday.com</vt:lpstr>
      <vt:lpstr>Revisión del modelo de simulación de Josefina</vt:lpstr>
      <vt:lpstr>Comparación de WBS y Gantt</vt:lpstr>
      <vt:lpstr>Objetivo SMART y declaración de alcance</vt:lpstr>
      <vt:lpstr>Cronograma y secuencia de actividades</vt:lpstr>
      <vt:lpstr>Recursos y costos</vt:lpstr>
      <vt:lpstr>Bitácora de seguimiento</vt:lpstr>
      <vt:lpstr>Presentación de PowerPoint</vt:lpstr>
      <vt:lpstr>Fuentes de información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rafael aquino villanueva</dc:creator>
  <cp:lastModifiedBy>rafael aquino villanueva</cp:lastModifiedBy>
  <cp:revision>54</cp:revision>
  <dcterms:created xsi:type="dcterms:W3CDTF">2026-02-14T13:39:49Z</dcterms:created>
  <dcterms:modified xsi:type="dcterms:W3CDTF">2026-09-17T18:26:35Z</dcterms:modified>
</cp:coreProperties>
</file>