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75" r:id="rId5"/>
    <p:sldId id="274" r:id="rId6"/>
    <p:sldId id="276" r:id="rId7"/>
    <p:sldId id="265" r:id="rId8"/>
    <p:sldId id="277" r:id="rId9"/>
    <p:sldId id="267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D587B1-E8B2-E0E6-4BCB-AA966F8A98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798309-5347-5A91-CF8F-A5D0F7C107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877AE3-16B6-37B7-15C3-DD34F417F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5BCF2-6BF6-49EF-B414-14803346D0E9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FD9C29-9B06-4C83-C31A-6B3E2D40A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CCEDB9-38B7-8285-ADE9-3A2F1572E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AAFF-D68F-4121-8B3B-074E95E74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188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BA7B9-8D46-8859-3683-03B9DE1B5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7FD966-D241-D911-1D3A-C6A8E89B3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9C63C6-31C0-6ED6-FED4-2B1DB852C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5BCF2-6BF6-49EF-B414-14803346D0E9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41673A-4E14-1177-4132-E2CBB0B77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10F26C-CC65-BAAC-8C56-20C4BC41A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AAFF-D68F-4121-8B3B-074E95E74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7315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53FC4D-7CCE-91CC-13DD-0F3752AAF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0CD2C0-3CDD-0301-13CE-F5A2C2BFA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1E491B-CC68-24B6-3FA3-1C9DDDEAD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5BCF2-6BF6-49EF-B414-14803346D0E9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4CA235-F889-2B2A-2298-25E5C4477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70F911-14CA-AAFD-E3CF-C44E5E56C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AAFF-D68F-4121-8B3B-074E95E74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60531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2E6684-C59F-5E59-01AF-9ED3FD975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E60845-63CD-5BDD-CF9B-147F36F4B8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0F5661-2239-D0FC-FF14-93BA529B7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6B9749-C929-7370-54B4-2BB952F04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5BCF2-6BF6-49EF-B414-14803346D0E9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BB17D0-1B67-0846-756E-1DAE2733D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B16819-4ACF-B99E-D308-E8B4FAB18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AAFF-D68F-4121-8B3B-074E95E74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7834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BF35C-4E20-F5A8-DA9B-C50BB4CDA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073374-2A69-D1C0-8D54-B5113D259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EAB82B-4446-D60E-D6F2-8B614B8F6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58D0633-9C35-F6B6-EC2D-195F7A6937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C82BD21-D5BC-5C46-9EE2-D2EB877D66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F40C72B-1F88-F538-5549-BFB8418BF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5BCF2-6BF6-49EF-B414-14803346D0E9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1CC47FD-02E7-1546-EDF0-18F378280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0F541D-7E91-618E-EAB2-F79A4ED60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AAFF-D68F-4121-8B3B-074E95E74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73870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A93FBC-8641-B96B-D5A4-6A04BDC23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DFC748F-9FF5-AEA3-711E-44CA4E93C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5BCF2-6BF6-49EF-B414-14803346D0E9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E21DB35-359E-BD00-1C60-B1DC5817B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75A7812-C5DF-6D26-A937-5568FAA6D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AAFF-D68F-4121-8B3B-074E95E74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9146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B21E301-2DB0-AC3E-BB75-B0D926FE8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5BCF2-6BF6-49EF-B414-14803346D0E9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BD0E40D-13A4-9D29-BCA8-6498777E3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926BE2C-C3C8-BF9B-CB3E-2190ADC8E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AAFF-D68F-4121-8B3B-074E95E74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1003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1EEFE-72F4-A571-94AA-101E6709D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B4A3CF-309D-7CDA-CF48-1743C2CD4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0B0A0F7-D799-4842-A466-B57A504CA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DCE7E7-3315-13FB-27C5-7A324EEF9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5BCF2-6BF6-49EF-B414-14803346D0E9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B7804C-A082-5A29-F87F-56B699FDA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3362E6-A5E2-E5CD-E26B-2D1BBDC5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AAFF-D68F-4121-8B3B-074E95E74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1349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77B9B6-DDC5-2B8F-479E-54B6E3F3B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02F7306-A6E0-E6BB-4CC9-41B263EFD7B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A5F01F-5864-D1D5-4D7E-B02436D99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53A96C-9827-22F0-99F6-14A1252F4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5BCF2-6BF6-49EF-B414-14803346D0E9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845603-BFFA-13D7-4C8B-8BD7FB970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5E61ED-C1D6-0CC5-8B61-D17222DB6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AAFF-D68F-4121-8B3B-074E95E74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61426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A9892-DF41-3058-31D3-585900FB8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DFF871E-B3F7-E962-D7C5-44CCE900D7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F4BA53-9285-21C2-177E-0EB80F197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5BCF2-6BF6-49EF-B414-14803346D0E9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16FC6B-2E37-A654-216E-B143C5D29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F8E198-50C0-E4E7-8C0B-907F89D93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AAFF-D68F-4121-8B3B-074E95E74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9769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8278E6B-E0D7-9828-0AC5-037BF2AA17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EAEB23C-A470-6DEE-07A2-890373CD1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825CCB-E7FE-7089-9669-033F79127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5BCF2-6BF6-49EF-B414-14803346D0E9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37C3BE-B995-64A5-561E-8A1FEE617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6549CB-4CA1-A8E6-B5D4-A652FF71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AAFF-D68F-4121-8B3B-074E95E74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8975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8BA0DC1-407E-F17A-E95E-F69EC0F4C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E2139F-9CA6-F381-823B-E0D2696BA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F8B6BB-64DC-4999-9C48-6C04B2E38C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F5BCF2-6BF6-49EF-B414-14803346D0E9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11D0EF-08A5-2204-0C6A-02908B5F3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4B61F1-41A5-3F55-7188-C22837C340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C4AAFF-D68F-4121-8B3B-074E95E74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701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13792C0E-56A4-038E-25C8-41619E973B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1815" y="510540"/>
            <a:ext cx="5303520" cy="5836920"/>
          </a:xfrm>
          <a:prstGeom prst="rect">
            <a:avLst/>
          </a:prstGeom>
          <a:noFill/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76F1C2F9-DDFC-CBF2-E48A-E64DE4A37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5905" y="46990"/>
            <a:ext cx="2301875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03E3447-738B-D8B1-B47D-8EBA647E114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7495" y="46990"/>
            <a:ext cx="1516380" cy="10896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9E7C584-C5C9-2730-50A7-5B38CB386E43}"/>
              </a:ext>
            </a:extLst>
          </p:cNvPr>
          <p:cNvSpPr txBox="1"/>
          <p:nvPr/>
        </p:nvSpPr>
        <p:spPr>
          <a:xfrm>
            <a:off x="1943100" y="374015"/>
            <a:ext cx="7124700" cy="799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TECNOLÓGICO NACIONAL DE MÉXICO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UNIDAD ACADÉMICA VENUSTIANO CARRANZA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A9E771-2CE9-85CC-E1A4-169697077E49}"/>
              </a:ext>
            </a:extLst>
          </p:cNvPr>
          <p:cNvSpPr txBox="1"/>
          <p:nvPr/>
        </p:nvSpPr>
        <p:spPr>
          <a:xfrm>
            <a:off x="2550694" y="1329363"/>
            <a:ext cx="6096000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FA8327A-BF41-1978-27AD-7942D85077F5}"/>
              </a:ext>
            </a:extLst>
          </p:cNvPr>
          <p:cNvSpPr txBox="1"/>
          <p:nvPr/>
        </p:nvSpPr>
        <p:spPr>
          <a:xfrm>
            <a:off x="2550694" y="1824715"/>
            <a:ext cx="6096000" cy="777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s-MX" b="1" kern="0" dirty="0">
                <a:latin typeface="Arial" panose="020B0604020202020204" pitchFamily="34" charset="0"/>
                <a:cs typeface="Arial" panose="020B0604020202020204" pitchFamily="34" charset="0"/>
              </a:rPr>
              <a:t>GESTION DE PROYECTOS DE TI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AVANCE DE GESTIÓN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C3F20D4B-4AB8-951E-96AB-E5F9938ABBDE}"/>
              </a:ext>
            </a:extLst>
          </p:cNvPr>
          <p:cNvGraphicFramePr>
            <a:graphicFrameLocks noGrp="1"/>
          </p:cNvGraphicFramePr>
          <p:nvPr/>
        </p:nvGraphicFramePr>
        <p:xfrm>
          <a:off x="3249461" y="3714744"/>
          <a:ext cx="4505960" cy="76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3511045433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220619771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SEMESTRE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SEPTIMO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48842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NOMBRE DEL ALUMNO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MATRICULA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20187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Rafael Aquino Villanueva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231260073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394392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2BBA4D31-60C9-991B-3D34-3585F8C8348E}"/>
              </a:ext>
            </a:extLst>
          </p:cNvPr>
          <p:cNvSpPr txBox="1"/>
          <p:nvPr/>
        </p:nvSpPr>
        <p:spPr>
          <a:xfrm>
            <a:off x="4010525" y="3048181"/>
            <a:ext cx="2983833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PRESENTA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2284A4D-D83A-881E-63B3-639ACAB1ACB4}"/>
              </a:ext>
            </a:extLst>
          </p:cNvPr>
          <p:cNvSpPr txBox="1"/>
          <p:nvPr/>
        </p:nvSpPr>
        <p:spPr>
          <a:xfrm>
            <a:off x="2550694" y="4809176"/>
            <a:ext cx="609600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b="1" kern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DOCENTE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ING. FRANCISCO JAVIER MINGO VELAZQUEZ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669DBE5-FAF1-35CF-08F0-D08353CB1B1B}"/>
              </a:ext>
            </a:extLst>
          </p:cNvPr>
          <p:cNvSpPr txBox="1"/>
          <p:nvPr/>
        </p:nvSpPr>
        <p:spPr>
          <a:xfrm>
            <a:off x="1793875" y="6265557"/>
            <a:ext cx="7812505" cy="107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15 DE SEPTIEMBRE DE 2026, </a:t>
            </a:r>
            <a: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VENUSTIANO CARRANZA, CHIAPAS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23018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BA9FC0-5441-B661-98BD-57DA6D113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>
                <a:solidFill>
                  <a:srgbClr val="4472C4"/>
                </a:solidFill>
              </a:rPr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AF1C28-378D-0281-3CF0-9C198FA5D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El reporte presenta el avance del seguimiento de tres proyectos académicos de simulación.
La documentación y el control de actividades se llevan en Monday, y la ejecución diaria se administra en un tablero Kanban de Trello.
Se muestran evidencias de organización, métricas de avance y planificación del proyecto.</a:t>
            </a:r>
          </a:p>
        </p:txBody>
      </p:sp>
    </p:spTree>
    <p:extLst>
      <p:ext uri="{BB962C8B-B14F-4D97-AF65-F5344CB8AC3E}">
        <p14:creationId xmlns:p14="http://schemas.microsoft.com/office/powerpoint/2010/main" val="3033751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CA87E-0791-E762-AB41-032265D34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>
                <a:solidFill>
                  <a:srgbClr val="4472C4"/>
                </a:solidFill>
              </a:rPr>
              <a:t>Objetivo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E90530-2D62-85C1-614A-00F4F72B9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s-MX" dirty="0"/>
              <a:t>Presentar el avance general de la gestión de los tres proyectos, apoyado en las evidencias de Monday y Trello, para identificar qué está cerrado y qué falta por validar.</a:t>
            </a:r>
          </a:p>
        </p:txBody>
      </p:sp>
    </p:spTree>
    <p:extLst>
      <p:ext uri="{BB962C8B-B14F-4D97-AF65-F5344CB8AC3E}">
        <p14:creationId xmlns:p14="http://schemas.microsoft.com/office/powerpoint/2010/main" val="2634989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6613DE-54EA-EDBE-6F4D-FFDE95887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>
                <a:solidFill>
                  <a:srgbClr val="4472C4"/>
                </a:solidFill>
              </a:rPr>
              <a:t>Espacio de trabajo en Monday</a:t>
            </a:r>
          </a:p>
        </p:txBody>
      </p:sp>
      <p:sp>
        <p:nvSpPr>
          <p:cNvPr id="3" name="Comentario">
            <a:extLst>
              <a:ext uri="{FF2B5EF4-FFF2-40B4-BE49-F238E27FC236}">
                <a16:creationId xmlns:a16="http://schemas.microsoft.com/office/drawing/2014/main" id="{CC8AAAD8-DACE-464D-9918-6CAC0221CE0B}"/>
              </a:ext>
            </a:extLst>
          </p:cNvPr>
          <p:cNvSpPr txBox="1"/>
          <p:nvPr/>
        </p:nvSpPr>
        <p:spPr>
          <a:xfrm>
            <a:off x="838200" y="2153920"/>
            <a:ext cx="4381500" cy="283154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>
              <a:spcAft>
                <a:spcPts val="600"/>
              </a:spcAft>
              <a:buNone/>
            </a:pPr>
            <a:r>
              <a:rPr lang="es-MX" sz="2800" dirty="0"/>
              <a:t>Avance </a:t>
            </a:r>
          </a:p>
          <a:p>
            <a:pPr algn="just">
              <a:spcAft>
                <a:spcPts val="600"/>
              </a:spcAft>
              <a:buNone/>
            </a:pPr>
            <a:r>
              <a:rPr lang="es-MX" sz="2800" dirty="0"/>
              <a:t>Activos registrados: actas, cronograma, tablero e informes.</a:t>
            </a:r>
          </a:p>
          <a:p>
            <a:pPr algn="just">
              <a:spcAft>
                <a:spcPts val="600"/>
              </a:spcAft>
            </a:pPr>
            <a:r>
              <a:rPr lang="es-MX" sz="2800" dirty="0"/>
              <a:t>Evidencias localizables por proyecto, sin duplicados.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083C5AF-C64C-70AE-655C-B5AC0319B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380" y="2153920"/>
            <a:ext cx="6028099" cy="339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54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A2517E-DB99-32BE-B503-069F2239C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>
                <a:solidFill>
                  <a:srgbClr val="4472C4"/>
                </a:solidFill>
              </a:rPr>
              <a:t>Estado general de tareas</a:t>
            </a:r>
            <a:endParaRPr lang="es-MX" sz="4000" b="1" dirty="0">
              <a:solidFill>
                <a:srgbClr val="4472C4"/>
              </a:solidFill>
            </a:endParaRPr>
          </a:p>
        </p:txBody>
      </p:sp>
      <p:sp>
        <p:nvSpPr>
          <p:cNvPr id="3" name="Comentario">
            <a:extLst>
              <a:ext uri="{FF2B5EF4-FFF2-40B4-BE49-F238E27FC236}">
                <a16:creationId xmlns:a16="http://schemas.microsoft.com/office/drawing/2014/main" id="{DA2E4B91-1357-4346-8EEB-64959208B735}"/>
              </a:ext>
            </a:extLst>
          </p:cNvPr>
          <p:cNvSpPr txBox="1"/>
          <p:nvPr/>
        </p:nvSpPr>
        <p:spPr>
          <a:xfrm>
            <a:off x="749300" y="1905000"/>
            <a:ext cx="4168140" cy="3926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MX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dirty="0"/>
              <a:t>Datos</a:t>
            </a:r>
          </a:p>
          <a:p>
            <a:r>
              <a:rPr lang="es-MX" dirty="0"/>
              <a:t>Completado: 68.2%</a:t>
            </a:r>
          </a:p>
          <a:p>
            <a:r>
              <a:rPr lang="es-MX" dirty="0"/>
              <a:t>En proceso: 12.1%</a:t>
            </a:r>
          </a:p>
          <a:p>
            <a:r>
              <a:rPr lang="es-MX" dirty="0"/>
              <a:t>Pendiente: 12.1%</a:t>
            </a:r>
          </a:p>
          <a:p>
            <a:r>
              <a:rPr lang="es-MX" dirty="0"/>
              <a:t>En revisión: 4.5%</a:t>
            </a:r>
          </a:p>
          <a:p>
            <a:r>
              <a:rPr lang="es-MX" dirty="0"/>
              <a:t>El resto se concentra en ejecución, revisión y cierre.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2B0B7E0-1FB8-F0A3-C345-8E434EC10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960" y="2042160"/>
            <a:ext cx="6339840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01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89C6B-3305-EF5B-8E75-6A356C376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>
                <a:solidFill>
                  <a:srgbClr val="4472C4"/>
                </a:solidFill>
              </a:rPr>
              <a:t>Seguimiento en Trello</a:t>
            </a:r>
            <a:endParaRPr lang="es-MX" sz="4000" b="1" dirty="0">
              <a:solidFill>
                <a:srgbClr val="4472C4"/>
              </a:solidFill>
            </a:endParaRPr>
          </a:p>
        </p:txBody>
      </p:sp>
      <p:sp>
        <p:nvSpPr>
          <p:cNvPr id="3" name="Comentario">
            <a:extLst>
              <a:ext uri="{FF2B5EF4-FFF2-40B4-BE49-F238E27FC236}">
                <a16:creationId xmlns:a16="http://schemas.microsoft.com/office/drawing/2014/main" id="{2F6BCEBF-BF6A-4FD9-B898-A587CCD3ADF1}"/>
              </a:ext>
            </a:extLst>
          </p:cNvPr>
          <p:cNvSpPr txBox="1"/>
          <p:nvPr/>
        </p:nvSpPr>
        <p:spPr>
          <a:xfrm>
            <a:off x="1008944" y="1883325"/>
            <a:ext cx="4787336" cy="343170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>
            <a:defPPr>
              <a:defRPr lang="es-MX"/>
            </a:defPPr>
            <a:lvl1pPr algn="just">
              <a:spcAft>
                <a:spcPts val="600"/>
              </a:spcAft>
              <a:buNone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sz="2400" dirty="0"/>
              <a:t>Distribución actual</a:t>
            </a:r>
          </a:p>
          <a:p>
            <a:r>
              <a:rPr lang="es-MX" sz="2400" dirty="0"/>
              <a:t>Por hacer: 6</a:t>
            </a:r>
          </a:p>
          <a:p>
            <a:r>
              <a:rPr lang="es-MX" sz="2400" dirty="0"/>
              <a:t>En curso: 8</a:t>
            </a:r>
          </a:p>
          <a:p>
            <a:r>
              <a:rPr lang="es-MX" sz="2400" dirty="0"/>
              <a:t>En revisión: 3</a:t>
            </a:r>
          </a:p>
          <a:p>
            <a:r>
              <a:rPr lang="es-MX" sz="2400" dirty="0"/>
              <a:t>Finalizado: 46</a:t>
            </a:r>
          </a:p>
          <a:p>
            <a:r>
              <a:rPr lang="es-MX" sz="2400" dirty="0"/>
              <a:t>Las tarjetas separan los proyectos de Brandon, Josefina y Roberto por PMBOK, Kanban y planificación.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A8A5449-3A28-D8CF-66B4-D73048F29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4976" y="2204720"/>
            <a:ext cx="4958080" cy="278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859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86ADF4-3E0F-8714-53C7-55D28C2BE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>
                <a:solidFill>
                  <a:srgbClr val="4472C4"/>
                </a:solidFill>
              </a:rPr>
              <a:t>Estructura WBS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BAC03AA-0563-962C-FBA5-920E5E2A1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258" y="1956117"/>
            <a:ext cx="6357902" cy="357632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33D7995-6993-091A-5858-80AE9419D6BE}"/>
              </a:ext>
            </a:extLst>
          </p:cNvPr>
          <p:cNvSpPr txBox="1"/>
          <p:nvPr/>
        </p:nvSpPr>
        <p:spPr>
          <a:xfrm>
            <a:off x="733425" y="2505670"/>
            <a:ext cx="41814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Se definió la secuencia de actividades del proyecto de Brandon mediante una Estructura de Desglose del Trabajo (WBS), organizando el proyecto en cinco etapas: inicio, planificación, desarrollo, validación y cierre.</a:t>
            </a:r>
          </a:p>
        </p:txBody>
      </p:sp>
    </p:spTree>
    <p:extLst>
      <p:ext uri="{BB962C8B-B14F-4D97-AF65-F5344CB8AC3E}">
        <p14:creationId xmlns:p14="http://schemas.microsoft.com/office/powerpoint/2010/main" val="1253291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448022-1D1B-9597-4FEB-A553869BB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>
                <a:solidFill>
                  <a:srgbClr val="4472C4"/>
                </a:solidFill>
              </a:rPr>
              <a:t>Cronograma de Gantt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CE4ED6-DEE1-46C7-6A60-122D2862B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458" y="1402080"/>
            <a:ext cx="6683022" cy="37592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29E99B0-06AF-35F9-4984-49EC4B365A45}"/>
              </a:ext>
            </a:extLst>
          </p:cNvPr>
          <p:cNvSpPr txBox="1"/>
          <p:nvPr/>
        </p:nvSpPr>
        <p:spPr>
          <a:xfrm>
            <a:off x="1314450" y="2605385"/>
            <a:ext cx="35242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secuencia de las actividades del proyecto de Brandon mediante un diagrama de Gantt, definiendo fechas de inicio y término para cada etapa</a:t>
            </a:r>
          </a:p>
        </p:txBody>
      </p:sp>
    </p:spTree>
    <p:extLst>
      <p:ext uri="{BB962C8B-B14F-4D97-AF65-F5344CB8AC3E}">
        <p14:creationId xmlns:p14="http://schemas.microsoft.com/office/powerpoint/2010/main" val="280461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C6608-4F11-93C2-DB2E-E86D5C684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>
                <a:solidFill>
                  <a:srgbClr val="4472C4"/>
                </a:solidFill>
              </a:rPr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27FC11-205A-A815-4F61-B14BD6C5E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32296"/>
          </a:xfrm>
          <a:noFill/>
        </p:spPr>
        <p:txBody>
          <a:bodyPr vertOverflow="overflow" vert="horz" wrap="square" rtlCol="0" anchor="t">
            <a:spAutoFit/>
          </a:bodyPr>
          <a:lstStyle/>
          <a:p>
            <a:pPr marL="0" algn="just">
              <a:spcAft>
                <a:spcPts val="600"/>
              </a:spcAft>
              <a:buNone/>
            </a:pPr>
            <a:r>
              <a:rPr lang="es-MX" sz="2400" dirty="0"/>
              <a:t>El seguimiento ya cuenta con estructura, evidencias y tableros de control.
El avance se concentra en tareas finalizadas; el resto está en ejecución, revisión y cierre.
</a:t>
            </a:r>
          </a:p>
        </p:txBody>
      </p:sp>
    </p:spTree>
    <p:extLst>
      <p:ext uri="{BB962C8B-B14F-4D97-AF65-F5344CB8AC3E}">
        <p14:creationId xmlns:p14="http://schemas.microsoft.com/office/powerpoint/2010/main" val="8725449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AD8D392-99B7-46EA-959C-258425A10993}">
  <we:reference id="wa200010725" version="1.0.0.1" store="es-ES" storeType="OMEX"/>
  <we:alternateReferences>
    <we:reference id="WA200010725" version="1.0.0.1" store="" storeType="OMEX"/>
  </we:alternateReferences>
  <we:properties>
    <we:property name="claude.fileId" value="&quot;90457ee9-1519-41b9-974c-aa8e570b1c4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339</Words>
  <Application>Microsoft Office PowerPoint</Application>
  <PresentationFormat>Panorámica</PresentationFormat>
  <Paragraphs>46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Presentación de PowerPoint</vt:lpstr>
      <vt:lpstr>Introducción</vt:lpstr>
      <vt:lpstr>Objetivo</vt:lpstr>
      <vt:lpstr>Espacio de trabajo en Monday</vt:lpstr>
      <vt:lpstr>Estado general de tareas</vt:lpstr>
      <vt:lpstr>Seguimiento en Trello</vt:lpstr>
      <vt:lpstr>Estructura WBS </vt:lpstr>
      <vt:lpstr>Cronograma de Gantt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aquino villanueva</dc:creator>
  <cp:lastModifiedBy>rafael aquino villanueva</cp:lastModifiedBy>
  <cp:revision>3</cp:revision>
  <dcterms:created xsi:type="dcterms:W3CDTF">2026-09-15T16:45:26Z</dcterms:created>
  <dcterms:modified xsi:type="dcterms:W3CDTF">2026-09-15T17:13:20Z</dcterms:modified>
</cp:coreProperties>
</file>