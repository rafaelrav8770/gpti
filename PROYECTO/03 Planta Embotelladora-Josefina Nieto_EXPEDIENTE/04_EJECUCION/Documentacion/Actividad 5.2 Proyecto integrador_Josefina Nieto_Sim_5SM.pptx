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5" r:id="rId3"/>
    <p:sldId id="406" r:id="rId4"/>
    <p:sldId id="505" r:id="rId5"/>
    <p:sldId id="408" r:id="rId6"/>
    <p:sldId id="273" r:id="rId7"/>
    <p:sldId id="506" r:id="rId8"/>
    <p:sldId id="343" r:id="rId9"/>
    <p:sldId id="335" r:id="rId10"/>
    <p:sldId id="507" r:id="rId11"/>
    <p:sldId id="524" r:id="rId12"/>
    <p:sldId id="525" r:id="rId13"/>
    <p:sldId id="526" r:id="rId14"/>
    <p:sldId id="508" r:id="rId15"/>
    <p:sldId id="527" r:id="rId16"/>
    <p:sldId id="528" r:id="rId17"/>
    <p:sldId id="529" r:id="rId18"/>
    <p:sldId id="530" r:id="rId19"/>
    <p:sldId id="531" r:id="rId20"/>
    <p:sldId id="532" r:id="rId21"/>
    <p:sldId id="533" r:id="rId22"/>
    <p:sldId id="509" r:id="rId23"/>
    <p:sldId id="534" r:id="rId24"/>
    <p:sldId id="535" r:id="rId25"/>
    <p:sldId id="536" r:id="rId26"/>
    <p:sldId id="537" r:id="rId27"/>
    <p:sldId id="538" r:id="rId28"/>
    <p:sldId id="510" r:id="rId29"/>
    <p:sldId id="539" r:id="rId30"/>
    <p:sldId id="540" r:id="rId31"/>
    <p:sldId id="511" r:id="rId32"/>
    <p:sldId id="541" r:id="rId33"/>
    <p:sldId id="542" r:id="rId34"/>
    <p:sldId id="543" r:id="rId35"/>
    <p:sldId id="544" r:id="rId36"/>
    <p:sldId id="546" r:id="rId37"/>
    <p:sldId id="512" r:id="rId38"/>
    <p:sldId id="547" r:id="rId39"/>
    <p:sldId id="549" r:id="rId40"/>
    <p:sldId id="548" r:id="rId41"/>
    <p:sldId id="550" r:id="rId42"/>
    <p:sldId id="551" r:id="rId43"/>
    <p:sldId id="552" r:id="rId44"/>
    <p:sldId id="553" r:id="rId45"/>
    <p:sldId id="554" r:id="rId46"/>
    <p:sldId id="513" r:id="rId47"/>
    <p:sldId id="555" r:id="rId48"/>
    <p:sldId id="556" r:id="rId49"/>
    <p:sldId id="557" r:id="rId50"/>
    <p:sldId id="558" r:id="rId51"/>
    <p:sldId id="559" r:id="rId52"/>
    <p:sldId id="560" r:id="rId53"/>
    <p:sldId id="561" r:id="rId54"/>
    <p:sldId id="563" r:id="rId55"/>
    <p:sldId id="564" r:id="rId56"/>
    <p:sldId id="562" r:id="rId57"/>
    <p:sldId id="565" r:id="rId58"/>
    <p:sldId id="566" r:id="rId59"/>
    <p:sldId id="515" r:id="rId60"/>
    <p:sldId id="567" r:id="rId61"/>
    <p:sldId id="568" r:id="rId62"/>
    <p:sldId id="482" r:id="rId63"/>
    <p:sldId id="409"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42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88" autoAdjust="0"/>
    <p:restoredTop sz="92523" autoAdjust="0"/>
  </p:normalViewPr>
  <p:slideViewPr>
    <p:cSldViewPr snapToGrid="0">
      <p:cViewPr varScale="1">
        <p:scale>
          <a:sx n="66" d="100"/>
          <a:sy n="66" d="100"/>
        </p:scale>
        <p:origin x="672"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74425" y="802300"/>
            <a:ext cx="8637073" cy="2920713"/>
          </a:xfrm>
        </p:spPr>
        <p:txBody>
          <a:bodyPr bIns="0" anchor="b">
            <a:normAutofit/>
          </a:bodyPr>
          <a:lstStyle>
            <a:lvl1pPr algn="ctr">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74424" y="3724076"/>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a:xfrm>
            <a:off x="1451579" y="329309"/>
            <a:ext cx="5626775" cy="309201"/>
          </a:xfrm>
        </p:spPr>
        <p:txBody>
          <a:bodyPr/>
          <a:lstStyle/>
          <a:p>
            <a:endParaRPr lang="es-MX"/>
          </a:p>
        </p:txBody>
      </p:sp>
      <p:sp>
        <p:nvSpPr>
          <p:cNvPr id="6" name="Slide Number Placeholder 5"/>
          <p:cNvSpPr>
            <a:spLocks noGrp="1"/>
          </p:cNvSpPr>
          <p:nvPr>
            <p:ph type="sldNum" sz="quarter" idx="12"/>
          </p:nvPr>
        </p:nvSpPr>
        <p:spPr>
          <a:xfrm>
            <a:off x="476835" y="798973"/>
            <a:ext cx="811019" cy="503578"/>
          </a:xfrm>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490982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53272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2"/>
            <a:ext cx="8643155" cy="1969007"/>
          </a:xfrm>
        </p:spPr>
        <p:txBody>
          <a:bodyPr anchor="b">
            <a:normAutofit/>
          </a:bodyPr>
          <a:lstStyle>
            <a:lvl1pPr algn="ct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74423" y="3725139"/>
            <a:ext cx="8643155"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1059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9218" y="804891"/>
            <a:ext cx="9293577"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7331" y="2010879"/>
            <a:ext cx="4488655" cy="344859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54141" y="2017343"/>
            <a:ext cx="4488655" cy="344152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632575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5"/>
            <a:ext cx="9295603"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7191" y="2019551"/>
            <a:ext cx="4488795"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447191" y="2824271"/>
            <a:ext cx="4488795" cy="2644457"/>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56025" y="2023005"/>
            <a:ext cx="4488795"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256025" y="2821491"/>
            <a:ext cx="4488795" cy="263737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8529D4-5FC4-4118-980B-6BA2E9F9D5BC}"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4880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8529D4-5FC4-4118-980B-6BA2E9F9D5BC}"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29474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529D4-5FC4-4118-980B-6BA2E9F9D5BC}"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15320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44673" y="798973"/>
            <a:ext cx="2961967" cy="2406518"/>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30324" y="798974"/>
            <a:ext cx="6012471" cy="4658826"/>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44673" y="3205493"/>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6391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7477388" y="482172"/>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7" y="1129513"/>
            <a:ext cx="5532328" cy="1922299"/>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4"/>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s-ES"/>
              <a:t>Haga clic en el icono para agregar una imagen</a:t>
            </a:r>
            <a:endParaRPr lang="en-US" dirty="0"/>
          </a:p>
        </p:txBody>
      </p:sp>
      <p:sp>
        <p:nvSpPr>
          <p:cNvPr id="4" name="Text Placeholder 3"/>
          <p:cNvSpPr>
            <a:spLocks noGrp="1"/>
          </p:cNvSpPr>
          <p:nvPr>
            <p:ph type="body" sz="half" idx="2"/>
          </p:nvPr>
        </p:nvSpPr>
        <p:spPr>
          <a:xfrm>
            <a:off x="1450330"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1447383" y="5469858"/>
            <a:ext cx="5527351" cy="320123"/>
          </a:xfrm>
        </p:spPr>
        <p:txBody>
          <a:bodyPr/>
          <a:lstStyle>
            <a:lvl1pPr algn="l">
              <a:defRPr/>
            </a:lvl1p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a:xfrm>
            <a:off x="1447383" y="318642"/>
            <a:ext cx="5541004" cy="320931"/>
          </a:xfrm>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75823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532570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3" y="798975"/>
            <a:ext cx="1615743"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4673" y="798975"/>
            <a:ext cx="7518655" cy="4659889"/>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4271742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80" y="804521"/>
            <a:ext cx="9291215" cy="104923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1580" y="2015734"/>
            <a:ext cx="929121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42080"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48529D4-5FC4-4118-980B-6BA2E9F9D5BC}" type="datetimeFigureOut">
              <a:rPr lang="es-MX" smtClean="0"/>
              <a:t>02/10/2026</a:t>
            </a:fld>
            <a:endParaRPr lang="es-MX"/>
          </a:p>
        </p:txBody>
      </p:sp>
      <p:sp>
        <p:nvSpPr>
          <p:cNvPr id="5" name="Footer Placeholder 4"/>
          <p:cNvSpPr>
            <a:spLocks noGrp="1"/>
          </p:cNvSpPr>
          <p:nvPr>
            <p:ph type="ftr" sz="quarter" idx="3"/>
          </p:nvPr>
        </p:nvSpPr>
        <p:spPr>
          <a:xfrm>
            <a:off x="1451579" y="329309"/>
            <a:ext cx="5626775"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480061"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FA0C201-36CB-49AF-8CE6-AD02CF2FB89E}" type="slidenum">
              <a:rPr lang="es-MX" smtClean="0"/>
              <a:t>‹Nº›</a:t>
            </a:fld>
            <a:endParaRPr lang="es-MX"/>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9038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youtube.com/watch?v=gNwhSmQlVH8&amp;t=8s" TargetMode="External"/><Relationship Id="rId7" Type="http://schemas.openxmlformats.org/officeDocument/2006/relationships/hyperlink" Target="https://www.youtube.com/watch?v=6iB1-EsrQF0&amp;t=21s" TargetMode="External"/><Relationship Id="rId2" Type="http://schemas.openxmlformats.org/officeDocument/2006/relationships/hyperlink" Target="https://www.youtube.com/watch?v=_hcjZO0il9E" TargetMode="External"/><Relationship Id="rId1" Type="http://schemas.openxmlformats.org/officeDocument/2006/relationships/slideLayout" Target="../slideLayouts/slideLayout2.xml"/><Relationship Id="rId6" Type="http://schemas.openxmlformats.org/officeDocument/2006/relationships/hyperlink" Target="https://www.w3schools.com/java/java_enums.asp" TargetMode="External"/><Relationship Id="rId5" Type="http://schemas.openxmlformats.org/officeDocument/2006/relationships/hyperlink" Target="https://openjfx.io/javadoc/11/javafx.graphics/javafx/scene/doc-files/cssref.html" TargetMode="External"/><Relationship Id="rId4" Type="http://schemas.openxmlformats.org/officeDocument/2006/relationships/hyperlink" Target="https://www.youtube.com/watch?v=GVZPPxwkPL8"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uadroTexto 3"/>
          <p:cNvSpPr txBox="1"/>
          <p:nvPr/>
        </p:nvSpPr>
        <p:spPr>
          <a:xfrm>
            <a:off x="2000174" y="1280905"/>
            <a:ext cx="8098179" cy="4401205"/>
          </a:xfrm>
          <a:prstGeom prst="rect">
            <a:avLst/>
          </a:prstGeom>
          <a:noFill/>
        </p:spPr>
        <p:txBody>
          <a:bodyPr wrap="square" rtlCol="0">
            <a:spAutoFit/>
          </a:bodyPr>
          <a:lstStyle/>
          <a:p>
            <a:pPr algn="ctr"/>
            <a:r>
              <a:rPr lang="es-MX" b="1" dirty="0">
                <a:solidFill>
                  <a:schemeClr val="bg1">
                    <a:lumMod val="95000"/>
                    <a:lumOff val="5000"/>
                  </a:schemeClr>
                </a:solidFill>
              </a:rPr>
              <a:t>“INGENIERÍA EN SISTEMAS COMPUTACIONALES”</a:t>
            </a:r>
          </a:p>
          <a:p>
            <a:pPr algn="ctr"/>
            <a:endParaRPr lang="es-MX" b="1" dirty="0"/>
          </a:p>
          <a:p>
            <a:pPr algn="ctr"/>
            <a:r>
              <a:rPr lang="es-MX" sz="2000" b="1" dirty="0">
                <a:solidFill>
                  <a:srgbClr val="002060"/>
                </a:solidFill>
              </a:rPr>
              <a:t>Materia:</a:t>
            </a:r>
          </a:p>
          <a:p>
            <a:pPr algn="ctr"/>
            <a:r>
              <a:rPr lang="es-MX" b="1" dirty="0">
                <a:solidFill>
                  <a:schemeClr val="bg1">
                    <a:lumMod val="95000"/>
                    <a:lumOff val="5000"/>
                  </a:schemeClr>
                </a:solidFill>
              </a:rPr>
              <a:t>Simulación.</a:t>
            </a:r>
          </a:p>
          <a:p>
            <a:pPr algn="ctr"/>
            <a:r>
              <a:rPr lang="es-MX" b="1" dirty="0"/>
              <a:t> </a:t>
            </a:r>
          </a:p>
          <a:p>
            <a:pPr algn="ctr"/>
            <a:r>
              <a:rPr lang="es-MX" sz="2000" b="1" dirty="0">
                <a:solidFill>
                  <a:srgbClr val="002060"/>
                </a:solidFill>
              </a:rPr>
              <a:t>Actividad:</a:t>
            </a:r>
          </a:p>
          <a:p>
            <a:pPr algn="ctr"/>
            <a:r>
              <a:rPr lang="es-ES" b="1" dirty="0">
                <a:solidFill>
                  <a:schemeClr val="bg1">
                    <a:lumMod val="95000"/>
                    <a:lumOff val="5000"/>
                  </a:schemeClr>
                </a:solidFill>
              </a:rPr>
              <a:t>“5.2 Proyecto integrador”.</a:t>
            </a:r>
            <a:endParaRPr lang="es-MX" b="1" dirty="0">
              <a:solidFill>
                <a:schemeClr val="bg1">
                  <a:lumMod val="95000"/>
                  <a:lumOff val="5000"/>
                </a:schemeClr>
              </a:solidFill>
            </a:endParaRPr>
          </a:p>
          <a:p>
            <a:pPr algn="ctr"/>
            <a:r>
              <a:rPr lang="es-MX" b="1" dirty="0"/>
              <a:t> </a:t>
            </a:r>
          </a:p>
          <a:p>
            <a:pPr algn="ctr"/>
            <a:r>
              <a:rPr lang="es-MX" sz="2000" b="1" dirty="0">
                <a:solidFill>
                  <a:srgbClr val="002060"/>
                </a:solidFill>
              </a:rPr>
              <a:t>Docente:</a:t>
            </a:r>
          </a:p>
          <a:p>
            <a:pPr algn="ctr"/>
            <a:r>
              <a:rPr lang="es-MX" b="1" dirty="0">
                <a:solidFill>
                  <a:schemeClr val="bg1">
                    <a:lumMod val="95000"/>
                    <a:lumOff val="5000"/>
                  </a:schemeClr>
                </a:solidFill>
              </a:rPr>
              <a:t>Ing. Francisco Javier Mingo Velázquez</a:t>
            </a:r>
          </a:p>
          <a:p>
            <a:pPr algn="ctr"/>
            <a:endParaRPr lang="es-MX" b="1" dirty="0">
              <a:solidFill>
                <a:srgbClr val="002060"/>
              </a:solidFill>
            </a:endParaRPr>
          </a:p>
          <a:p>
            <a:pPr algn="ctr"/>
            <a:r>
              <a:rPr lang="es-MX" sz="2000" b="1" dirty="0">
                <a:solidFill>
                  <a:srgbClr val="002060"/>
                </a:solidFill>
              </a:rPr>
              <a:t>Alumno:</a:t>
            </a:r>
          </a:p>
          <a:p>
            <a:pPr algn="ctr"/>
            <a:endParaRPr lang="es-MX" sz="2000" b="1" dirty="0">
              <a:solidFill>
                <a:schemeClr val="bg1">
                  <a:lumMod val="95000"/>
                  <a:lumOff val="5000"/>
                </a:schemeClr>
              </a:solidFill>
            </a:endParaRPr>
          </a:p>
          <a:p>
            <a:pPr algn="ctr"/>
            <a:r>
              <a:rPr lang="es-MX" b="1" dirty="0">
                <a:solidFill>
                  <a:schemeClr val="bg1">
                    <a:lumMod val="95000"/>
                    <a:lumOff val="5000"/>
                  </a:schemeClr>
                </a:solidFill>
              </a:rPr>
              <a:t>Josefina Nieto Hernández.</a:t>
            </a:r>
            <a:endParaRPr lang="es-MX" dirty="0">
              <a:solidFill>
                <a:schemeClr val="bg1">
                  <a:lumMod val="95000"/>
                  <a:lumOff val="5000"/>
                </a:schemeClr>
              </a:solidFill>
            </a:endParaRPr>
          </a:p>
          <a:p>
            <a:endParaRPr lang="es-MX" dirty="0"/>
          </a:p>
        </p:txBody>
      </p:sp>
      <p:pic>
        <p:nvPicPr>
          <p:cNvPr id="5" name="Imagen 4" descr="Logotipo&#10;&#10;Descripción generada automáticamente"/>
          <p:cNvPicPr/>
          <p:nvPr/>
        </p:nvPicPr>
        <p:blipFill>
          <a:blip r:embed="rId2" cstate="email">
            <a:extLst>
              <a:ext uri="{28A0092B-C50C-407E-A947-70E740481C1C}">
                <a14:useLocalDpi xmlns:a14="http://schemas.microsoft.com/office/drawing/2010/main"/>
              </a:ext>
            </a:extLst>
          </a:blip>
          <a:srcRect/>
          <a:stretch>
            <a:fillRect/>
          </a:stretch>
        </p:blipFill>
        <p:spPr bwMode="auto">
          <a:xfrm>
            <a:off x="9533394" y="322476"/>
            <a:ext cx="2301875" cy="1016000"/>
          </a:xfrm>
          <a:prstGeom prst="rect">
            <a:avLst/>
          </a:prstGeom>
          <a:noFill/>
          <a:ln>
            <a:noFill/>
          </a:ln>
        </p:spPr>
      </p:pic>
      <p:pic>
        <p:nvPicPr>
          <p:cNvPr id="6" name="Imagen 5" descr="Diagrama, Forma, Flecha&#10;&#10;Descripción generada automáticamente"/>
          <p:cNvPicPr/>
          <p:nvPr/>
        </p:nvPicPr>
        <p:blipFill>
          <a:blip r:embed="rId3" cstate="email">
            <a:extLst>
              <a:ext uri="{28A0092B-C50C-407E-A947-70E740481C1C}">
                <a14:useLocalDpi xmlns:a14="http://schemas.microsoft.com/office/drawing/2010/main"/>
              </a:ext>
            </a:extLst>
          </a:blip>
          <a:stretch>
            <a:fillRect/>
          </a:stretch>
        </p:blipFill>
        <p:spPr bwMode="auto">
          <a:xfrm>
            <a:off x="463752" y="322477"/>
            <a:ext cx="2055233" cy="1116180"/>
          </a:xfrm>
          <a:prstGeom prst="rect">
            <a:avLst/>
          </a:prstGeom>
          <a:noFill/>
        </p:spPr>
      </p:pic>
      <p:sp>
        <p:nvSpPr>
          <p:cNvPr id="7" name="CuadroTexto 6"/>
          <p:cNvSpPr txBox="1"/>
          <p:nvPr/>
        </p:nvSpPr>
        <p:spPr>
          <a:xfrm>
            <a:off x="8187908" y="6055761"/>
            <a:ext cx="3820886" cy="584775"/>
          </a:xfrm>
          <a:prstGeom prst="rect">
            <a:avLst/>
          </a:prstGeom>
          <a:noFill/>
        </p:spPr>
        <p:txBody>
          <a:bodyPr wrap="square" rtlCol="0">
            <a:spAutoFit/>
          </a:bodyPr>
          <a:lstStyle/>
          <a:p>
            <a:pPr algn="r"/>
            <a:r>
              <a:rPr lang="es-MX" sz="1600" b="1">
                <a:solidFill>
                  <a:schemeClr val="bg1">
                    <a:lumMod val="95000"/>
                    <a:lumOff val="5000"/>
                  </a:schemeClr>
                </a:solidFill>
              </a:rPr>
              <a:t>4 </a:t>
            </a:r>
            <a:r>
              <a:rPr lang="es-MX" sz="1600" b="1" dirty="0">
                <a:solidFill>
                  <a:schemeClr val="bg1">
                    <a:lumMod val="95000"/>
                    <a:lumOff val="5000"/>
                  </a:schemeClr>
                </a:solidFill>
              </a:rPr>
              <a:t>de octubre del 2026.</a:t>
            </a:r>
          </a:p>
          <a:p>
            <a:pPr algn="r"/>
            <a:r>
              <a:rPr lang="es-MX" sz="1600" b="1" dirty="0">
                <a:solidFill>
                  <a:schemeClr val="bg1">
                    <a:lumMod val="95000"/>
                    <a:lumOff val="5000"/>
                  </a:schemeClr>
                </a:solidFill>
              </a:rPr>
              <a:t>Venustiano Carranza; Chiapas.</a:t>
            </a:r>
          </a:p>
        </p:txBody>
      </p:sp>
      <p:sp>
        <p:nvSpPr>
          <p:cNvPr id="8" name="CuadroTexto 7"/>
          <p:cNvSpPr txBox="1"/>
          <p:nvPr/>
        </p:nvSpPr>
        <p:spPr>
          <a:xfrm>
            <a:off x="2273940" y="141903"/>
            <a:ext cx="7824413" cy="738664"/>
          </a:xfrm>
          <a:prstGeom prst="rect">
            <a:avLst/>
          </a:prstGeom>
          <a:noFill/>
        </p:spPr>
        <p:txBody>
          <a:bodyPr wrap="square" rtlCol="0">
            <a:spAutoFit/>
          </a:bodyPr>
          <a:lstStyle/>
          <a:p>
            <a:pPr algn="ctr"/>
            <a:r>
              <a:rPr lang="es-MX" sz="2400" b="1" dirty="0">
                <a:solidFill>
                  <a:schemeClr val="bg1">
                    <a:lumMod val="95000"/>
                    <a:lumOff val="5000"/>
                  </a:schemeClr>
                </a:solidFill>
                <a:latin typeface="Arial" panose="020B0604020202020204" pitchFamily="34" charset="0"/>
                <a:ea typeface="Arial" panose="020B0604020202020204" pitchFamily="34" charset="0"/>
              </a:rPr>
              <a:t>TECNOLÓGICO NACIONAL DE MÉXICO</a:t>
            </a:r>
            <a:endParaRPr lang="es-MX" sz="1600" dirty="0">
              <a:solidFill>
                <a:schemeClr val="bg1">
                  <a:lumMod val="95000"/>
                  <a:lumOff val="5000"/>
                </a:schemeClr>
              </a:solidFill>
              <a:latin typeface="Arial" panose="020B0604020202020204" pitchFamily="34" charset="0"/>
              <a:ea typeface="Arial" panose="020B0604020202020204" pitchFamily="34" charset="0"/>
            </a:endParaRPr>
          </a:p>
          <a:p>
            <a:pPr algn="ctr"/>
            <a:r>
              <a:rPr lang="es-MX" b="1" dirty="0">
                <a:solidFill>
                  <a:schemeClr val="bg1">
                    <a:lumMod val="95000"/>
                    <a:lumOff val="5000"/>
                  </a:schemeClr>
                </a:solidFill>
                <a:latin typeface="Arial" panose="020B0604020202020204" pitchFamily="34" charset="0"/>
                <a:ea typeface="Arial" panose="020B0604020202020204" pitchFamily="34" charset="0"/>
              </a:rPr>
              <a:t>INSTITUTO TECNOLÓGICO DE FRONTERA COMALAPA</a:t>
            </a:r>
            <a:endParaRPr lang="es-MX" dirty="0">
              <a:solidFill>
                <a:schemeClr val="bg1">
                  <a:lumMod val="95000"/>
                  <a:lumOff val="5000"/>
                </a:schemeClr>
              </a:solidFill>
            </a:endParaRPr>
          </a:p>
        </p:txBody>
      </p:sp>
      <p:pic>
        <p:nvPicPr>
          <p:cNvPr id="9" name="Imagen 8">
            <a:extLst>
              <a:ext uri="{FF2B5EF4-FFF2-40B4-BE49-F238E27FC236}">
                <a16:creationId xmlns:a16="http://schemas.microsoft.com/office/drawing/2014/main" id="{4A351671-C586-4F77-B35D-ED43534C392C}"/>
              </a:ext>
            </a:extLst>
          </p:cNvPr>
          <p:cNvPicPr>
            <a:picLocks noChangeAspect="1"/>
          </p:cNvPicPr>
          <p:nvPr/>
        </p:nvPicPr>
        <p:blipFill rotWithShape="1">
          <a:blip r:embed="rId4"/>
          <a:srcRect r="41669"/>
          <a:stretch/>
        </p:blipFill>
        <p:spPr>
          <a:xfrm rot="10800000">
            <a:off x="93473" y="3429000"/>
            <a:ext cx="2000174" cy="3429000"/>
          </a:xfrm>
          <a:prstGeom prst="rect">
            <a:avLst/>
          </a:prstGeom>
        </p:spPr>
      </p:pic>
      <p:pic>
        <p:nvPicPr>
          <p:cNvPr id="11" name="Imagen 10">
            <a:extLst>
              <a:ext uri="{FF2B5EF4-FFF2-40B4-BE49-F238E27FC236}">
                <a16:creationId xmlns:a16="http://schemas.microsoft.com/office/drawing/2014/main" id="{EA08FBD6-0B86-4EAF-BD11-4483E02CDB97}"/>
              </a:ext>
            </a:extLst>
          </p:cNvPr>
          <p:cNvPicPr>
            <a:picLocks noChangeAspect="1"/>
          </p:cNvPicPr>
          <p:nvPr/>
        </p:nvPicPr>
        <p:blipFill rotWithShape="1">
          <a:blip r:embed="rId4"/>
          <a:srcRect r="41669"/>
          <a:stretch/>
        </p:blipFill>
        <p:spPr>
          <a:xfrm>
            <a:off x="10191826" y="52507"/>
            <a:ext cx="2000174" cy="3429000"/>
          </a:xfrm>
          <a:prstGeom prst="rect">
            <a:avLst/>
          </a:prstGeom>
        </p:spPr>
      </p:pic>
    </p:spTree>
    <p:extLst>
      <p:ext uri="{BB962C8B-B14F-4D97-AF65-F5344CB8AC3E}">
        <p14:creationId xmlns:p14="http://schemas.microsoft.com/office/powerpoint/2010/main" val="428822273"/>
      </p:ext>
    </p:extLst>
  </p:cSld>
  <p:clrMapOvr>
    <a:masterClrMapping/>
  </p:clrMapOvr>
  <mc:AlternateContent xmlns:mc="http://schemas.openxmlformats.org/markup-compatibility/2006" xmlns:p14="http://schemas.microsoft.com/office/powerpoint/2010/main">
    <mc:Choice Requires="p14">
      <p:transition spd="slow" p14:dur="2000" advTm="16663"/>
    </mc:Choice>
    <mc:Fallback xmlns="">
      <p:transition spd="slow" advTm="16663"/>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Título 18">
            <a:extLst>
              <a:ext uri="{FF2B5EF4-FFF2-40B4-BE49-F238E27FC236}">
                <a16:creationId xmlns:a16="http://schemas.microsoft.com/office/drawing/2014/main" id="{622C38E7-AB3A-4467-9E91-9B1FCD14C009}"/>
              </a:ext>
            </a:extLst>
          </p:cNvPr>
          <p:cNvSpPr>
            <a:spLocks noGrp="1"/>
          </p:cNvSpPr>
          <p:nvPr>
            <p:ph type="title"/>
          </p:nvPr>
        </p:nvSpPr>
        <p:spPr>
          <a:xfrm>
            <a:off x="791225" y="258183"/>
            <a:ext cx="9418320" cy="1177424"/>
          </a:xfrm>
        </p:spPr>
        <p:txBody>
          <a:bodyPr anchor="ctr">
            <a:normAutofit/>
          </a:bodyPr>
          <a:lstStyle/>
          <a:p>
            <a:pPr algn="just"/>
            <a:r>
              <a:rPr lang="es-MX" sz="4000" dirty="0">
                <a:latin typeface="Arial Rounded MT Bold" panose="020F0704030504030204" pitchFamily="34" charset="0"/>
              </a:rPr>
              <a:t>Introducción</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1"/>
          </p:nvPr>
        </p:nvSpPr>
        <p:spPr>
          <a:xfrm>
            <a:off x="518984" y="1219020"/>
            <a:ext cx="11154032" cy="5380797"/>
          </a:xfrm>
        </p:spPr>
        <p:txBody>
          <a:bodyPr>
            <a:noAutofit/>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 simulación de procesos permite representar el comportamiento de un sistema real mediante un modelo computacional, con el propósito de analizar su funcionamiento bajo diferentes condiciones sin intervenir directamente en la operación real.</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proyecto Agua Cero consiste en el desarrollo de un simulador de una planta embotelladora de agua, en el cual se representa el recorrido de los garrafones a través de las diferentes etapas del proceso productivo, desde su recepción hasta la obtención del producto terminado. El sistema considera tiempos de procesamiento, disponibilidad y asignación de recursos humanos, formación de colas, capacidad de los procesos y costos de operación. Esto permite evaluar distintos escenarios e identificar condiciones que puedan afectar el desempeño general de la planta.</a:t>
            </a:r>
          </a:p>
        </p:txBody>
      </p:sp>
      <p:sp>
        <p:nvSpPr>
          <p:cNvPr id="4" name="Título 18">
            <a:extLst>
              <a:ext uri="{FF2B5EF4-FFF2-40B4-BE49-F238E27FC236}">
                <a16:creationId xmlns:a16="http://schemas.microsoft.com/office/drawing/2014/main" id="{A97A72C7-E094-4E43-9491-DEEF32EFBA6D}"/>
              </a:ext>
            </a:extLst>
          </p:cNvPr>
          <p:cNvSpPr txBox="1">
            <a:spLocks/>
          </p:cNvSpPr>
          <p:nvPr/>
        </p:nvSpPr>
        <p:spPr>
          <a:xfrm>
            <a:off x="1386840" y="202782"/>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Introducción</a:t>
            </a:r>
          </a:p>
        </p:txBody>
      </p:sp>
      <p:pic>
        <p:nvPicPr>
          <p:cNvPr id="5" name="Imagen 4">
            <a:extLst>
              <a:ext uri="{FF2B5EF4-FFF2-40B4-BE49-F238E27FC236}">
                <a16:creationId xmlns:a16="http://schemas.microsoft.com/office/drawing/2014/main" id="{B731F2A4-D1DC-4981-9FEA-DCBEFD1E0A19}"/>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722755390"/>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449593"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Justificación</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484094" y="1546412"/>
            <a:ext cx="11349318" cy="4800600"/>
          </a:xfrm>
        </p:spPr>
        <p:txBody>
          <a:bodyPr>
            <a:normAutofit/>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desarrollo del simulador </a:t>
            </a:r>
            <a:r>
              <a:rPr lang="es-MX" b="1" dirty="0">
                <a:solidFill>
                  <a:schemeClr val="bg1">
                    <a:lumMod val="95000"/>
                    <a:lumOff val="5000"/>
                  </a:schemeClr>
                </a:solidFill>
                <a:latin typeface="Arial" panose="020B0604020202020204" pitchFamily="34" charset="0"/>
                <a:cs typeface="Arial" panose="020B0604020202020204" pitchFamily="34" charset="0"/>
              </a:rPr>
              <a:t>Agua Cero </a:t>
            </a:r>
            <a:r>
              <a:rPr lang="es-MX" dirty="0">
                <a:solidFill>
                  <a:schemeClr val="bg1">
                    <a:lumMod val="95000"/>
                    <a:lumOff val="5000"/>
                  </a:schemeClr>
                </a:solidFill>
                <a:latin typeface="Arial" panose="020B0604020202020204" pitchFamily="34" charset="0"/>
                <a:cs typeface="Arial" panose="020B0604020202020204" pitchFamily="34" charset="0"/>
              </a:rPr>
              <a:t>se justifica por la necesidad de contar con una herramienta que permita analizar el comportamiento de una planta embotelladora de agua sin realizar modificaciones directamente sobre el sistema real.</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Mediante la simulación es posible representar las diferentes etapas del proceso productivo y evaluar la interacción entre tiempos de procesamiento, capacidad de los recursos, asignación de empleados, formación de colas y costos de operación.</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 implementación del modelo permite experimentar con diferentes escenarios, como modificar la cantidad de trabajadores o su asignación dentro del proceso, y observar el efecto generado sobre el desempeño del sistema. De esta manera, la simulación constituye una herramienta de apoyo para identificar posibles restricciones operativas y analizar alternativas de mejora antes de aplicarlas en un entorno real.</a:t>
            </a:r>
          </a:p>
        </p:txBody>
      </p:sp>
      <p:pic>
        <p:nvPicPr>
          <p:cNvPr id="4" name="Imagen 3">
            <a:extLst>
              <a:ext uri="{FF2B5EF4-FFF2-40B4-BE49-F238E27FC236}">
                <a16:creationId xmlns:a16="http://schemas.microsoft.com/office/drawing/2014/main" id="{215391AD-3D12-496A-B52C-966EF1A04DE3}"/>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81254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386840"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Planteamiento del problema</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484094" y="1546412"/>
            <a:ext cx="11349318" cy="4800600"/>
          </a:xfrm>
        </p:spPr>
        <p:txBody>
          <a:bodyPr>
            <a:normAutofit lnSpcReduction="10000"/>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En una planta embotelladora de agua, el desempeño del proceso productivo depende de la coordinación entre las diferentes actividades, los tiempos de procesamiento, la capacidad de los equipos y la disponibilidad de los recursos humanos.</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En el proceso representado por </a:t>
            </a:r>
            <a:r>
              <a:rPr lang="es-MX" b="1" dirty="0">
                <a:solidFill>
                  <a:schemeClr val="bg1">
                    <a:lumMod val="95000"/>
                    <a:lumOff val="5000"/>
                  </a:schemeClr>
                </a:solidFill>
                <a:latin typeface="Arial" panose="020B0604020202020204" pitchFamily="34" charset="0"/>
                <a:cs typeface="Arial" panose="020B0604020202020204" pitchFamily="34" charset="0"/>
              </a:rPr>
              <a:t>Agua Cero</a:t>
            </a:r>
            <a:r>
              <a:rPr lang="es-MX" dirty="0">
                <a:solidFill>
                  <a:schemeClr val="bg1">
                    <a:lumMod val="95000"/>
                    <a:lumOff val="5000"/>
                  </a:schemeClr>
                </a:solidFill>
                <a:latin typeface="Arial" panose="020B0604020202020204" pitchFamily="34" charset="0"/>
                <a:cs typeface="Arial" panose="020B0604020202020204" pitchFamily="34" charset="0"/>
              </a:rPr>
              <a:t>, los garrafones deben recorrer distintas etapas: descarga, recepción, clasificación, lavado, formación de la cola de llenado, llenado, tapado y sellado, traslado y producto terminado. Cada operación requiere determinados tiempos y recursos, por lo que un retraso o una asignación inadecuada de empleados puede generar tiempos de espera, acumulación de garrafones y posibles cuellos de botella.</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Ante esta situación, surge la necesidad de analizar el comportamiento integral del proceso para determinar cómo la distribución y cantidad de recursos humanos, los tiempos de operación y la capacidad de las etapas influyen en la productividad y en los costos del sistema.</a:t>
            </a:r>
          </a:p>
        </p:txBody>
      </p:sp>
      <p:pic>
        <p:nvPicPr>
          <p:cNvPr id="4" name="Imagen 3">
            <a:extLst>
              <a:ext uri="{FF2B5EF4-FFF2-40B4-BE49-F238E27FC236}">
                <a16:creationId xmlns:a16="http://schemas.microsoft.com/office/drawing/2014/main" id="{215391AD-3D12-496A-B52C-966EF1A04DE3}"/>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771363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556200" y="342094"/>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Objetivo general</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898801" y="1795989"/>
            <a:ext cx="10733118" cy="4719917"/>
          </a:xfrm>
        </p:spPr>
        <p:txBody>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Desarrollar un sistema de simulación computacional para representar y analizar el proceso productivo de la planta embotelladora </a:t>
            </a:r>
            <a:r>
              <a:rPr lang="es-MX" b="1" dirty="0">
                <a:solidFill>
                  <a:schemeClr val="bg1">
                    <a:lumMod val="95000"/>
                    <a:lumOff val="5000"/>
                  </a:schemeClr>
                </a:solidFill>
                <a:latin typeface="Arial" panose="020B0604020202020204" pitchFamily="34" charset="0"/>
                <a:cs typeface="Arial" panose="020B0604020202020204" pitchFamily="34" charset="0"/>
              </a:rPr>
              <a:t>Agua Cero</a:t>
            </a:r>
            <a:r>
              <a:rPr lang="es-MX" dirty="0">
                <a:solidFill>
                  <a:schemeClr val="bg1">
                    <a:lumMod val="95000"/>
                    <a:lumOff val="5000"/>
                  </a:schemeClr>
                </a:solidFill>
                <a:latin typeface="Arial" panose="020B0604020202020204" pitchFamily="34" charset="0"/>
                <a:cs typeface="Arial" panose="020B0604020202020204" pitchFamily="34" charset="0"/>
              </a:rPr>
              <a:t>, considerando los tiempos de operación, flujo de garrafones, capacidad de los procesos, utilización y asignación de recursos humanos y costos asociados, con la finalidad de evaluar diferentes escenarios operativos e identificar posibles cuellos de botella y oportunidades de mejora en el desempeño del sistema..</a:t>
            </a:r>
          </a:p>
        </p:txBody>
      </p:sp>
      <p:pic>
        <p:nvPicPr>
          <p:cNvPr id="4" name="Imagen 3">
            <a:extLst>
              <a:ext uri="{FF2B5EF4-FFF2-40B4-BE49-F238E27FC236}">
                <a16:creationId xmlns:a16="http://schemas.microsoft.com/office/drawing/2014/main" id="{352A9942-3EB1-40E2-BF86-0F3D0F62010A}"/>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619425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971146"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Objetivo especifico</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791225" y="1546412"/>
            <a:ext cx="9778163" cy="4719917"/>
          </a:xfrm>
        </p:spPr>
        <p:txBody>
          <a:bodyPr>
            <a:normAutofit fontScale="92500" lnSpcReduction="10000"/>
          </a:bodyPr>
          <a:lstStyle/>
          <a:p>
            <a:pPr marL="342900" indent="-342900" algn="just">
              <a:lnSpc>
                <a:spcPct val="150000"/>
              </a:lnSpc>
              <a:buClr>
                <a:schemeClr val="bg2">
                  <a:lumMod val="75000"/>
                </a:schemeClr>
              </a:buClr>
              <a:buFont typeface="Wingdings" panose="05000000000000000000" pitchFamily="2" charset="2"/>
              <a:buChar char="q"/>
            </a:pPr>
            <a:r>
              <a:rPr lang="es-MX" b="1" dirty="0">
                <a:solidFill>
                  <a:schemeClr val="bg1">
                    <a:lumMod val="95000"/>
                    <a:lumOff val="5000"/>
                  </a:schemeClr>
                </a:solidFill>
                <a:latin typeface="Arial" panose="020B0604020202020204" pitchFamily="34" charset="0"/>
                <a:cs typeface="Arial" panose="020B0604020202020204" pitchFamily="34" charset="0"/>
              </a:rPr>
              <a:t>Modelar</a:t>
            </a:r>
            <a:r>
              <a:rPr lang="es-MX" dirty="0">
                <a:solidFill>
                  <a:schemeClr val="bg1">
                    <a:lumMod val="95000"/>
                    <a:lumOff val="5000"/>
                  </a:schemeClr>
                </a:solidFill>
                <a:latin typeface="Arial" panose="020B0604020202020204" pitchFamily="34" charset="0"/>
                <a:cs typeface="Arial" panose="020B0604020202020204" pitchFamily="34" charset="0"/>
              </a:rPr>
              <a:t> las etapas que conforman el proceso productivo de Agua Cero, desde la descarga y recepción de los garrafones hasta la obtención del producto terminado.</a:t>
            </a:r>
          </a:p>
          <a:p>
            <a:pPr marL="342900" indent="-342900" algn="just">
              <a:lnSpc>
                <a:spcPct val="150000"/>
              </a:lnSpc>
              <a:buClr>
                <a:schemeClr val="bg2">
                  <a:lumMod val="75000"/>
                </a:schemeClr>
              </a:buClr>
              <a:buFont typeface="Wingdings" panose="05000000000000000000" pitchFamily="2" charset="2"/>
              <a:buChar char="q"/>
            </a:pPr>
            <a:r>
              <a:rPr lang="es-MX" b="1" dirty="0">
                <a:solidFill>
                  <a:schemeClr val="bg1">
                    <a:lumMod val="95000"/>
                    <a:lumOff val="5000"/>
                  </a:schemeClr>
                </a:solidFill>
                <a:latin typeface="Arial" panose="020B0604020202020204" pitchFamily="34" charset="0"/>
                <a:cs typeface="Arial" panose="020B0604020202020204" pitchFamily="34" charset="0"/>
              </a:rPr>
              <a:t>Implementar</a:t>
            </a:r>
            <a:r>
              <a:rPr lang="es-MX" dirty="0">
                <a:solidFill>
                  <a:schemeClr val="bg1">
                    <a:lumMod val="95000"/>
                    <a:lumOff val="5000"/>
                  </a:schemeClr>
                </a:solidFill>
                <a:latin typeface="Arial" panose="020B0604020202020204" pitchFamily="34" charset="0"/>
                <a:cs typeface="Arial" panose="020B0604020202020204" pitchFamily="34" charset="0"/>
              </a:rPr>
              <a:t> un motor de simulación que represente los tiempos de procesamiento, formación de colas, capacidad de los procesos y disponibilidad de los recursos involucrados.</a:t>
            </a:r>
          </a:p>
          <a:p>
            <a:pPr marL="342900" indent="-342900" algn="just">
              <a:lnSpc>
                <a:spcPct val="150000"/>
              </a:lnSpc>
              <a:buClr>
                <a:schemeClr val="bg2">
                  <a:lumMod val="75000"/>
                </a:schemeClr>
              </a:buClr>
              <a:buFont typeface="Wingdings" panose="05000000000000000000" pitchFamily="2" charset="2"/>
              <a:buChar char="q"/>
            </a:pPr>
            <a:r>
              <a:rPr lang="es-MX" b="1" dirty="0">
                <a:solidFill>
                  <a:schemeClr val="bg1">
                    <a:lumMod val="95000"/>
                    <a:lumOff val="5000"/>
                  </a:schemeClr>
                </a:solidFill>
                <a:latin typeface="Arial" panose="020B0604020202020204" pitchFamily="34" charset="0"/>
                <a:cs typeface="Arial" panose="020B0604020202020204" pitchFamily="34" charset="0"/>
              </a:rPr>
              <a:t>Analiza</a:t>
            </a:r>
            <a:r>
              <a:rPr lang="es-MX" dirty="0">
                <a:solidFill>
                  <a:schemeClr val="bg1">
                    <a:lumMod val="95000"/>
                    <a:lumOff val="5000"/>
                  </a:schemeClr>
                </a:solidFill>
                <a:latin typeface="Arial" panose="020B0604020202020204" pitchFamily="34" charset="0"/>
                <a:cs typeface="Arial" panose="020B0604020202020204" pitchFamily="34" charset="0"/>
              </a:rPr>
              <a:t>r la utilización y asignación de los recursos humanos durante el proceso productivo, considerando las actividades realizadas por cada empleado.</a:t>
            </a:r>
          </a:p>
          <a:p>
            <a:pPr marL="342900" indent="-342900" algn="just">
              <a:lnSpc>
                <a:spcPct val="150000"/>
              </a:lnSpc>
              <a:buClr>
                <a:schemeClr val="bg2">
                  <a:lumMod val="75000"/>
                </a:schemeClr>
              </a:buClr>
              <a:buFont typeface="Wingdings" panose="05000000000000000000" pitchFamily="2" charset="2"/>
              <a:buChar char="q"/>
            </a:pPr>
            <a:r>
              <a:rPr lang="es-MX" b="1" dirty="0">
                <a:solidFill>
                  <a:schemeClr val="bg1">
                    <a:lumMod val="95000"/>
                    <a:lumOff val="5000"/>
                  </a:schemeClr>
                </a:solidFill>
                <a:latin typeface="Arial" panose="020B0604020202020204" pitchFamily="34" charset="0"/>
                <a:cs typeface="Arial" panose="020B0604020202020204" pitchFamily="34" charset="0"/>
              </a:rPr>
              <a:t>Evaluar</a:t>
            </a:r>
            <a:r>
              <a:rPr lang="es-MX" dirty="0">
                <a:solidFill>
                  <a:schemeClr val="bg1">
                    <a:lumMod val="95000"/>
                    <a:lumOff val="5000"/>
                  </a:schemeClr>
                </a:solidFill>
                <a:latin typeface="Arial" panose="020B0604020202020204" pitchFamily="34" charset="0"/>
                <a:cs typeface="Arial" panose="020B0604020202020204" pitchFamily="34" charset="0"/>
              </a:rPr>
              <a:t> diferentes escenarios operativos mediante la modificación de parámetros y recursos humanos, identificando su efecto sobre la productividad, los tiempos de espera y los costos de operación.</a:t>
            </a:r>
          </a:p>
          <a:p>
            <a:pPr marL="342900" indent="-342900" algn="just">
              <a:lnSpc>
                <a:spcPct val="150000"/>
              </a:lnSpc>
              <a:buClr>
                <a:schemeClr val="bg2">
                  <a:lumMod val="75000"/>
                </a:schemeClr>
              </a:buClr>
              <a:buFont typeface="Wingdings" panose="05000000000000000000" pitchFamily="2" charset="2"/>
              <a:buChar char="q"/>
            </a:pPr>
            <a:r>
              <a:rPr lang="es-MX" b="1" dirty="0">
                <a:solidFill>
                  <a:schemeClr val="bg1">
                    <a:lumMod val="95000"/>
                    <a:lumOff val="5000"/>
                  </a:schemeClr>
                </a:solidFill>
                <a:latin typeface="Arial" panose="020B0604020202020204" pitchFamily="34" charset="0"/>
                <a:cs typeface="Arial" panose="020B0604020202020204" pitchFamily="34" charset="0"/>
              </a:rPr>
              <a:t>Generar</a:t>
            </a:r>
            <a:r>
              <a:rPr lang="es-MX" dirty="0">
                <a:solidFill>
                  <a:schemeClr val="bg1">
                    <a:lumMod val="95000"/>
                    <a:lumOff val="5000"/>
                  </a:schemeClr>
                </a:solidFill>
                <a:latin typeface="Arial" panose="020B0604020202020204" pitchFamily="34" charset="0"/>
                <a:cs typeface="Arial" panose="020B0604020202020204" pitchFamily="34" charset="0"/>
              </a:rPr>
              <a:t> indicadores de desempeño que permitan identificar posibles cuellos de botella, niveles de utilización de los recursos y oportunidades de mejora dentro del sistema simulado.</a:t>
            </a:r>
          </a:p>
        </p:txBody>
      </p:sp>
      <p:pic>
        <p:nvPicPr>
          <p:cNvPr id="4" name="Imagen 3">
            <a:extLst>
              <a:ext uri="{FF2B5EF4-FFF2-40B4-BE49-F238E27FC236}">
                <a16:creationId xmlns:a16="http://schemas.microsoft.com/office/drawing/2014/main" id="{11C67E2A-3CC8-4C43-BD47-E14A7D3998EF}"/>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221941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556200" y="342094"/>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Alcance del proyecto</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898801" y="1519518"/>
            <a:ext cx="10733118" cy="4719917"/>
          </a:xfrm>
        </p:spPr>
        <p:txBody>
          <a:bodyPr>
            <a:normAutofit fontScale="92500" lnSpcReduction="10000"/>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proyecto </a:t>
            </a:r>
            <a:r>
              <a:rPr lang="es-MX" b="1" dirty="0">
                <a:solidFill>
                  <a:schemeClr val="bg1">
                    <a:lumMod val="95000"/>
                    <a:lumOff val="5000"/>
                  </a:schemeClr>
                </a:solidFill>
                <a:latin typeface="Arial" panose="020B0604020202020204" pitchFamily="34" charset="0"/>
                <a:cs typeface="Arial" panose="020B0604020202020204" pitchFamily="34" charset="0"/>
              </a:rPr>
              <a:t>Agua Cero </a:t>
            </a:r>
            <a:r>
              <a:rPr lang="es-MX" dirty="0">
                <a:solidFill>
                  <a:schemeClr val="bg1">
                    <a:lumMod val="95000"/>
                    <a:lumOff val="5000"/>
                  </a:schemeClr>
                </a:solidFill>
                <a:latin typeface="Arial" panose="020B0604020202020204" pitchFamily="34" charset="0"/>
                <a:cs typeface="Arial" panose="020B0604020202020204" pitchFamily="34" charset="0"/>
              </a:rPr>
              <a:t>comprende el desarrollo de un sistema de simulación computacional orientado a representar y analizar el proceso operativo de una planta embotelladora de agua durante una jornada laboral.</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modelo contempla las etapas de descarga, recepción, clasificación, lavado simple y profundo, traslado a la cola de llenado, carga y llenado, descarga de la máquina, tapado y sellado, traslado y producto terminado, considerando los tiempos y recursos necesarios para cada actividad.</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 simulación incorpora la participación de los recursos humanos, permitiendo configurar su asignación, disponibilidad y costo, así como evaluar la incorporación de empleados adicionales en diferentes actividades del proceso.</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sistema permite ejecutar diferentes escenarios de simulación y obtener indicadores relacionados con producción, tiempos de espera, formación de colas, utilización de recursos y costos de operación, proporcionando información para el análisis comparativo del desempeño del sistema.</a:t>
            </a:r>
          </a:p>
        </p:txBody>
      </p:sp>
      <p:pic>
        <p:nvPicPr>
          <p:cNvPr id="4" name="Imagen 3">
            <a:extLst>
              <a:ext uri="{FF2B5EF4-FFF2-40B4-BE49-F238E27FC236}">
                <a16:creationId xmlns:a16="http://schemas.microsoft.com/office/drawing/2014/main" id="{352A9942-3EB1-40E2-BF86-0F3D0F62010A}"/>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362646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Herramientas de desarrollo</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3946345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Herramientas de desarrollo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1666736"/>
            <a:ext cx="10764596" cy="4719917"/>
          </a:xfrm>
          <a:prstGeom prst="rect">
            <a:avLst/>
          </a:prstGeom>
        </p:spPr>
        <p:txBody>
          <a:bodyPr vert="horz" lIns="91440" tIns="45720" rIns="91440" bIns="45720" rtlCol="0">
            <a:normAutofit fontScale="62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Para el desarrollo del simulador </a:t>
            </a:r>
            <a:r>
              <a:rPr lang="es-MX" b="1" dirty="0">
                <a:solidFill>
                  <a:schemeClr val="bg1"/>
                </a:solidFill>
                <a:latin typeface="Arial" panose="020B0604020202020204" pitchFamily="34" charset="0"/>
                <a:cs typeface="Arial" panose="020B0604020202020204" pitchFamily="34" charset="0"/>
              </a:rPr>
              <a:t>Agua Cero </a:t>
            </a:r>
            <a:r>
              <a:rPr lang="es-MX" dirty="0">
                <a:solidFill>
                  <a:schemeClr val="bg1"/>
                </a:solidFill>
                <a:latin typeface="Arial" panose="020B0604020202020204" pitchFamily="34" charset="0"/>
                <a:cs typeface="Arial" panose="020B0604020202020204" pitchFamily="34" charset="0"/>
              </a:rPr>
              <a:t>se utilizaron diferentes herramientas y tecnologías orientadas a la programación, diseño de interfaces, administración de dependencias y modelado del proceso.</a:t>
            </a:r>
          </a:p>
          <a:p>
            <a:pPr marL="0" indent="0" algn="just">
              <a:lnSpc>
                <a:spcPct val="150000"/>
              </a:lnSpc>
              <a:buNone/>
            </a:pPr>
            <a:r>
              <a:rPr lang="es-MX" b="1" dirty="0">
                <a:solidFill>
                  <a:schemeClr val="bg1"/>
                </a:solidFill>
                <a:latin typeface="Arial" panose="020B0604020202020204" pitchFamily="34" charset="0"/>
                <a:cs typeface="Arial" panose="020B0604020202020204" pitchFamily="34" charset="0"/>
              </a:rPr>
              <a:t>Java: </a:t>
            </a:r>
            <a:r>
              <a:rPr lang="es-MX" dirty="0">
                <a:solidFill>
                  <a:schemeClr val="bg1"/>
                </a:solidFill>
                <a:latin typeface="Arial" panose="020B0604020202020204" pitchFamily="34" charset="0"/>
                <a:cs typeface="Arial" panose="020B0604020202020204" pitchFamily="34" charset="0"/>
              </a:rPr>
              <a:t>Lenguaje de programación utilizado para implementar la lógica del sistema, las clases del modelo, la gestión de recursos y el motor de simulación.</a:t>
            </a:r>
          </a:p>
          <a:p>
            <a:pPr marL="0" indent="0" algn="just">
              <a:lnSpc>
                <a:spcPct val="150000"/>
              </a:lnSpc>
              <a:buNone/>
            </a:pPr>
            <a:r>
              <a:rPr lang="es-MX" b="1" dirty="0" err="1">
                <a:solidFill>
                  <a:schemeClr val="bg1"/>
                </a:solidFill>
                <a:latin typeface="Arial" panose="020B0604020202020204" pitchFamily="34" charset="0"/>
                <a:cs typeface="Arial" panose="020B0604020202020204" pitchFamily="34" charset="0"/>
              </a:rPr>
              <a:t>JavaFX</a:t>
            </a:r>
            <a:r>
              <a:rPr lang="es-MX" b="1" dirty="0">
                <a:solidFill>
                  <a:schemeClr val="bg1"/>
                </a:solidFill>
                <a:latin typeface="Arial" panose="020B0604020202020204" pitchFamily="34" charset="0"/>
                <a:cs typeface="Arial" panose="020B0604020202020204" pitchFamily="34" charset="0"/>
              </a:rPr>
              <a:t>: </a:t>
            </a:r>
            <a:r>
              <a:rPr lang="es-MX" dirty="0">
                <a:solidFill>
                  <a:schemeClr val="bg1"/>
                </a:solidFill>
                <a:latin typeface="Arial" panose="020B0604020202020204" pitchFamily="34" charset="0"/>
                <a:cs typeface="Arial" panose="020B0604020202020204" pitchFamily="34" charset="0"/>
              </a:rPr>
              <a:t>Framework utilizado para desarrollar la interfaz gráfica y representar visualmente la configuración, ejecución y resultados de la simulación.</a:t>
            </a:r>
          </a:p>
          <a:p>
            <a:pPr marL="0" indent="0" algn="just">
              <a:lnSpc>
                <a:spcPct val="150000"/>
              </a:lnSpc>
              <a:buNone/>
            </a:pPr>
            <a:r>
              <a:rPr lang="es-MX" b="1" dirty="0">
                <a:solidFill>
                  <a:schemeClr val="bg1"/>
                </a:solidFill>
                <a:latin typeface="Arial" panose="020B0604020202020204" pitchFamily="34" charset="0"/>
                <a:cs typeface="Arial" panose="020B0604020202020204" pitchFamily="34" charset="0"/>
              </a:rPr>
              <a:t>IntelliJ IDEA: </a:t>
            </a:r>
            <a:r>
              <a:rPr lang="es-MX" dirty="0">
                <a:solidFill>
                  <a:schemeClr val="bg1"/>
                </a:solidFill>
                <a:latin typeface="Arial" panose="020B0604020202020204" pitchFamily="34" charset="0"/>
                <a:cs typeface="Arial" panose="020B0604020202020204" pitchFamily="34" charset="0"/>
              </a:rPr>
              <a:t>Entorno de desarrollo integrado (IDE) utilizado para la creación, organización, edición, ejecución y depuración del código fuente del proyecto.</a:t>
            </a:r>
          </a:p>
          <a:p>
            <a:pPr marL="0" indent="0" algn="just">
              <a:lnSpc>
                <a:spcPct val="150000"/>
              </a:lnSpc>
              <a:buNone/>
            </a:pPr>
            <a:r>
              <a:rPr lang="es-MX" b="1" dirty="0" err="1">
                <a:solidFill>
                  <a:schemeClr val="bg1"/>
                </a:solidFill>
                <a:latin typeface="Arial" panose="020B0604020202020204" pitchFamily="34" charset="0"/>
                <a:cs typeface="Arial" panose="020B0604020202020204" pitchFamily="34" charset="0"/>
              </a:rPr>
              <a:t>Scene</a:t>
            </a:r>
            <a:r>
              <a:rPr lang="es-MX" b="1" dirty="0">
                <a:solidFill>
                  <a:schemeClr val="bg1"/>
                </a:solidFill>
                <a:latin typeface="Arial" panose="020B0604020202020204" pitchFamily="34" charset="0"/>
                <a:cs typeface="Arial" panose="020B0604020202020204" pitchFamily="34" charset="0"/>
              </a:rPr>
              <a:t> </a:t>
            </a:r>
            <a:r>
              <a:rPr lang="es-MX" b="1" dirty="0" err="1">
                <a:solidFill>
                  <a:schemeClr val="bg1"/>
                </a:solidFill>
                <a:latin typeface="Arial" panose="020B0604020202020204" pitchFamily="34" charset="0"/>
                <a:cs typeface="Arial" panose="020B0604020202020204" pitchFamily="34" charset="0"/>
              </a:rPr>
              <a:t>Builder</a:t>
            </a:r>
            <a:r>
              <a:rPr lang="es-MX" dirty="0">
                <a:solidFill>
                  <a:schemeClr val="bg1"/>
                </a:solidFill>
                <a:latin typeface="Arial" panose="020B0604020202020204" pitchFamily="34" charset="0"/>
                <a:cs typeface="Arial" panose="020B0604020202020204" pitchFamily="34" charset="0"/>
              </a:rPr>
              <a:t>: Herramienta empleada para apoyar el diseño visual de las interfaces </a:t>
            </a:r>
            <a:r>
              <a:rPr lang="es-MX" dirty="0" err="1">
                <a:solidFill>
                  <a:schemeClr val="bg1"/>
                </a:solidFill>
                <a:latin typeface="Arial" panose="020B0604020202020204" pitchFamily="34" charset="0"/>
                <a:cs typeface="Arial" panose="020B0604020202020204" pitchFamily="34" charset="0"/>
              </a:rPr>
              <a:t>JavaFX</a:t>
            </a:r>
            <a:r>
              <a:rPr lang="es-MX" dirty="0">
                <a:solidFill>
                  <a:schemeClr val="bg1"/>
                </a:solidFill>
                <a:latin typeface="Arial" panose="020B0604020202020204" pitchFamily="34" charset="0"/>
                <a:cs typeface="Arial" panose="020B0604020202020204" pitchFamily="34" charset="0"/>
              </a:rPr>
              <a:t> mediante archivos FXML y la organización de sus componentes gráficos.</a:t>
            </a:r>
          </a:p>
          <a:p>
            <a:pPr marL="0" indent="0" algn="just">
              <a:lnSpc>
                <a:spcPct val="150000"/>
              </a:lnSpc>
              <a:buNone/>
            </a:pPr>
            <a:r>
              <a:rPr lang="es-MX" b="1" dirty="0">
                <a:solidFill>
                  <a:schemeClr val="bg1"/>
                </a:solidFill>
                <a:latin typeface="Arial" panose="020B0604020202020204" pitchFamily="34" charset="0"/>
                <a:cs typeface="Arial" panose="020B0604020202020204" pitchFamily="34" charset="0"/>
              </a:rPr>
              <a:t>Maven: </a:t>
            </a:r>
            <a:r>
              <a:rPr lang="es-MX" dirty="0">
                <a:solidFill>
                  <a:schemeClr val="bg1"/>
                </a:solidFill>
                <a:latin typeface="Arial" panose="020B0604020202020204" pitchFamily="34" charset="0"/>
                <a:cs typeface="Arial" panose="020B0604020202020204" pitchFamily="34" charset="0"/>
              </a:rPr>
              <a:t>Herramienta utilizada para administrar la estructura del proyecto, dependencias y librerías necesarias para la ejecución de </a:t>
            </a:r>
            <a:r>
              <a:rPr lang="es-MX" dirty="0" err="1">
                <a:solidFill>
                  <a:schemeClr val="bg1"/>
                </a:solidFill>
                <a:latin typeface="Arial" panose="020B0604020202020204" pitchFamily="34" charset="0"/>
                <a:cs typeface="Arial" panose="020B0604020202020204" pitchFamily="34" charset="0"/>
              </a:rPr>
              <a:t>JavaFX</a:t>
            </a:r>
            <a:r>
              <a:rPr lang="es-MX" dirty="0">
                <a:solidFill>
                  <a:schemeClr val="bg1"/>
                </a:solidFill>
                <a:latin typeface="Arial" panose="020B0604020202020204" pitchFamily="34" charset="0"/>
                <a:cs typeface="Arial" panose="020B0604020202020204" pitchFamily="34" charset="0"/>
              </a:rPr>
              <a:t>.</a:t>
            </a:r>
          </a:p>
          <a:p>
            <a:pPr marL="0" indent="0" algn="just">
              <a:lnSpc>
                <a:spcPct val="150000"/>
              </a:lnSpc>
              <a:buNone/>
            </a:pPr>
            <a:r>
              <a:rPr lang="es-MX" b="1" dirty="0">
                <a:solidFill>
                  <a:schemeClr val="bg1"/>
                </a:solidFill>
                <a:latin typeface="Arial" panose="020B0604020202020204" pitchFamily="34" charset="0"/>
                <a:cs typeface="Arial" panose="020B0604020202020204" pitchFamily="34" charset="0"/>
              </a:rPr>
              <a:t>Bizagi </a:t>
            </a:r>
            <a:r>
              <a:rPr lang="es-MX" b="1" dirty="0" err="1">
                <a:solidFill>
                  <a:schemeClr val="bg1"/>
                </a:solidFill>
                <a:latin typeface="Arial" panose="020B0604020202020204" pitchFamily="34" charset="0"/>
                <a:cs typeface="Arial" panose="020B0604020202020204" pitchFamily="34" charset="0"/>
              </a:rPr>
              <a:t>Modeler</a:t>
            </a:r>
            <a:r>
              <a:rPr lang="es-MX" b="1" dirty="0">
                <a:solidFill>
                  <a:schemeClr val="bg1"/>
                </a:solidFill>
                <a:latin typeface="Arial" panose="020B0604020202020204" pitchFamily="34" charset="0"/>
                <a:cs typeface="Arial" panose="020B0604020202020204" pitchFamily="34" charset="0"/>
              </a:rPr>
              <a:t>: </a:t>
            </a:r>
            <a:r>
              <a:rPr lang="es-MX" dirty="0">
                <a:solidFill>
                  <a:schemeClr val="bg1"/>
                </a:solidFill>
                <a:latin typeface="Arial" panose="020B0604020202020204" pitchFamily="34" charset="0"/>
                <a:cs typeface="Arial" panose="020B0604020202020204" pitchFamily="34" charset="0"/>
              </a:rPr>
              <a:t>Herramienta empleada para modelar y representar gráficamente el flujo del proceso productivo de Agua Cero antes de su implementación en el simulador.</a:t>
            </a:r>
          </a:p>
        </p:txBody>
      </p:sp>
      <p:pic>
        <p:nvPicPr>
          <p:cNvPr id="4" name="Imagen 3">
            <a:extLst>
              <a:ext uri="{FF2B5EF4-FFF2-40B4-BE49-F238E27FC236}">
                <a16:creationId xmlns:a16="http://schemas.microsoft.com/office/drawing/2014/main" id="{08200BA5-BA8D-42B4-9F0C-198F79F903C5}"/>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55344231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Modelado del sistema</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190956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Modelado del sistema en Bizagi</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1666736"/>
            <a:ext cx="10764596" cy="4719917"/>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El modelado del sistema se realizó a partir de la identificación de las principales etapas, recursos, tiempos y reglas de operación que intervienen en el proceso productivo de Agua Cero.</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Inicialmente, el flujo fue representado mediante un modelo de procesos en Bizagi </a:t>
            </a:r>
            <a:r>
              <a:rPr lang="es-MX" dirty="0" err="1">
                <a:solidFill>
                  <a:schemeClr val="bg1"/>
                </a:solidFill>
                <a:latin typeface="Arial" panose="020B0604020202020204" pitchFamily="34" charset="0"/>
                <a:cs typeface="Arial" panose="020B0604020202020204" pitchFamily="34" charset="0"/>
              </a:rPr>
              <a:t>Modeler</a:t>
            </a:r>
            <a:r>
              <a:rPr lang="es-MX" dirty="0">
                <a:solidFill>
                  <a:schemeClr val="bg1"/>
                </a:solidFill>
                <a:latin typeface="Arial" panose="020B0604020202020204" pitchFamily="34" charset="0"/>
                <a:cs typeface="Arial" panose="020B0604020202020204" pitchFamily="34" charset="0"/>
              </a:rPr>
              <a:t>, permitiendo establecer la secuencia de actividades y la participación de los recursos humanos. Posteriormente, esta representación fue trasladada a un modelo computacional desarrollado en Java.</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Dentro de la simulación, cada garrafón se considera una entidad que avanza a través del sistema, mientras que los empleados y la máquina de llenado representan recursos con capacidad y disponibilidad limitada. Las diferentes operaciones poseen tiempos de procesamiento definidos y determinadas condiciones para permitir el avance de los garrafones.</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El modelo también contempla la formación de colas y tiempos de espera cuando un recurso o proceso no se encuentra disponible, permitiendo representar el comportamiento dinámico del sistema durante la ejecución de la simulación.</a:t>
            </a:r>
          </a:p>
        </p:txBody>
      </p:sp>
      <p:pic>
        <p:nvPicPr>
          <p:cNvPr id="4" name="Imagen 3">
            <a:extLst>
              <a:ext uri="{FF2B5EF4-FFF2-40B4-BE49-F238E27FC236}">
                <a16:creationId xmlns:a16="http://schemas.microsoft.com/office/drawing/2014/main" id="{A5ECDB23-29DD-4EFF-8570-EA80B45E0BD2}"/>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26810542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Modelado del sistema en Bizagi</a:t>
            </a:r>
          </a:p>
        </p:txBody>
      </p:sp>
      <p:pic>
        <p:nvPicPr>
          <p:cNvPr id="3" name="Imagen 2">
            <a:extLst>
              <a:ext uri="{FF2B5EF4-FFF2-40B4-BE49-F238E27FC236}">
                <a16:creationId xmlns:a16="http://schemas.microsoft.com/office/drawing/2014/main" id="{D4315EC4-A94A-436B-979B-049994398214}"/>
              </a:ext>
            </a:extLst>
          </p:cNvPr>
          <p:cNvPicPr>
            <a:picLocks noChangeAspect="1"/>
          </p:cNvPicPr>
          <p:nvPr/>
        </p:nvPicPr>
        <p:blipFill rotWithShape="1">
          <a:blip r:embed="rId2"/>
          <a:srcRect l="5845" t="20354" r="26986"/>
          <a:stretch/>
        </p:blipFill>
        <p:spPr>
          <a:xfrm>
            <a:off x="3043517" y="1973340"/>
            <a:ext cx="6104965" cy="3857977"/>
          </a:xfrm>
          <a:prstGeom prst="rect">
            <a:avLst/>
          </a:prstGeom>
        </p:spPr>
      </p:pic>
      <p:pic>
        <p:nvPicPr>
          <p:cNvPr id="4" name="Imagen 3">
            <a:extLst>
              <a:ext uri="{FF2B5EF4-FFF2-40B4-BE49-F238E27FC236}">
                <a16:creationId xmlns:a16="http://schemas.microsoft.com/office/drawing/2014/main" id="{FAD75F05-E8D2-4D24-A0DE-8DDF5FDE5CB6}"/>
              </a:ext>
            </a:extLst>
          </p:cNvPr>
          <p:cNvPicPr>
            <a:picLocks noChangeAspect="1"/>
          </p:cNvPicPr>
          <p:nvPr/>
        </p:nvPicPr>
        <p:blipFill rotWithShape="1">
          <a:blip r:embed="rId3"/>
          <a:srcRect r="41669"/>
          <a:stretch/>
        </p:blipFill>
        <p:spPr>
          <a:xfrm>
            <a:off x="10191826" y="52507"/>
            <a:ext cx="2000174" cy="3429000"/>
          </a:xfrm>
          <a:prstGeom prst="rect">
            <a:avLst/>
          </a:prstGeom>
        </p:spPr>
      </p:pic>
    </p:spTree>
    <p:extLst>
      <p:ext uri="{BB962C8B-B14F-4D97-AF65-F5344CB8AC3E}">
        <p14:creationId xmlns:p14="http://schemas.microsoft.com/office/powerpoint/2010/main" val="36643178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Modelado del sistema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2204620"/>
            <a:ext cx="10764596"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Durante las etapas iniciales se realizaron pruebas de modelado con </a:t>
            </a:r>
            <a:r>
              <a:rPr lang="es-MX" dirty="0" err="1">
                <a:solidFill>
                  <a:schemeClr val="bg1"/>
                </a:solidFill>
                <a:latin typeface="Arial" panose="020B0604020202020204" pitchFamily="34" charset="0"/>
                <a:cs typeface="Arial" panose="020B0604020202020204" pitchFamily="34" charset="0"/>
              </a:rPr>
              <a:t>Camunda</a:t>
            </a:r>
            <a:r>
              <a:rPr lang="es-MX" dirty="0">
                <a:solidFill>
                  <a:schemeClr val="bg1"/>
                </a:solidFill>
                <a:latin typeface="Arial" panose="020B0604020202020204" pitchFamily="34" charset="0"/>
                <a:cs typeface="Arial" panose="020B0604020202020204" pitchFamily="34" charset="0"/>
              </a:rPr>
              <a:t> y Bonita; sin embargo, estas herramientas no fueron incorporadas en la implementación final, debido a que el proyecto evolucionó hacia un simulador desarrollado directamente en </a:t>
            </a:r>
            <a:r>
              <a:rPr lang="es-MX" dirty="0" err="1">
                <a:solidFill>
                  <a:schemeClr val="bg1"/>
                </a:solidFill>
                <a:latin typeface="Arial" panose="020B0604020202020204" pitchFamily="34" charset="0"/>
                <a:cs typeface="Arial" panose="020B0604020202020204" pitchFamily="34" charset="0"/>
              </a:rPr>
              <a:t>JavaFX</a:t>
            </a:r>
            <a:r>
              <a:rPr lang="es-MX" dirty="0">
                <a:solidFill>
                  <a:schemeClr val="bg1"/>
                </a:solidFill>
                <a:latin typeface="Arial" panose="020B0604020202020204" pitchFamily="34" charset="0"/>
                <a:cs typeface="Arial" panose="020B0604020202020204" pitchFamily="34" charset="0"/>
              </a:rPr>
              <a:t>.</a:t>
            </a:r>
          </a:p>
        </p:txBody>
      </p:sp>
      <p:pic>
        <p:nvPicPr>
          <p:cNvPr id="4" name="Imagen 3">
            <a:extLst>
              <a:ext uri="{FF2B5EF4-FFF2-40B4-BE49-F238E27FC236}">
                <a16:creationId xmlns:a16="http://schemas.microsoft.com/office/drawing/2014/main" id="{4D4EEB07-1A4B-43C8-B69A-1E26B9D2DD3A}"/>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92104615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Flujo operativo de Agua Cero</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511623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Flujo operativo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2204620"/>
            <a:ext cx="10764596" cy="3873452"/>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El flujo operativo de Agua Cero representa la secuencia de actividades que sigue cada garrafón desde su ingreso al sistema hasta convertirse en producto terminado. El proceso considera la participación de recursos humanos, equipos, tiempos de operación y condiciones de disponibilidad en cada etapa.</a:t>
            </a:r>
          </a:p>
          <a:p>
            <a:pPr marL="457200" indent="-457200" algn="just">
              <a:lnSpc>
                <a:spcPct val="150000"/>
              </a:lnSpc>
              <a:buClr>
                <a:schemeClr val="bg1"/>
              </a:buClr>
              <a:buFont typeface="+mj-lt"/>
              <a:buAutoNum type="arabicPeriod"/>
            </a:pPr>
            <a:r>
              <a:rPr lang="es-MX" b="1" dirty="0">
                <a:solidFill>
                  <a:schemeClr val="bg1"/>
                </a:solidFill>
                <a:latin typeface="Arial" panose="020B0604020202020204" pitchFamily="34" charset="0"/>
                <a:cs typeface="Arial" panose="020B0604020202020204" pitchFamily="34" charset="0"/>
              </a:rPr>
              <a:t>Descarga y recepción: </a:t>
            </a:r>
            <a:r>
              <a:rPr lang="es-MX" dirty="0">
                <a:solidFill>
                  <a:schemeClr val="bg1"/>
                </a:solidFill>
                <a:latin typeface="Arial" panose="020B0604020202020204" pitchFamily="34" charset="0"/>
                <a:cs typeface="Arial" panose="020B0604020202020204" pitchFamily="34" charset="0"/>
              </a:rPr>
              <a:t>Los garrafones ingresan al sistema mediante la descarga del camión y posteriormente quedan disponibles para iniciar el proceso.</a:t>
            </a:r>
          </a:p>
          <a:p>
            <a:pPr marL="457200" indent="-457200" algn="just">
              <a:lnSpc>
                <a:spcPct val="150000"/>
              </a:lnSpc>
              <a:buClr>
                <a:schemeClr val="bg1"/>
              </a:buClr>
              <a:buFont typeface="+mj-lt"/>
              <a:buAutoNum type="arabicPeriod"/>
            </a:pPr>
            <a:r>
              <a:rPr lang="es-MX" b="1" dirty="0">
                <a:solidFill>
                  <a:schemeClr val="bg1"/>
                </a:solidFill>
                <a:latin typeface="Arial" panose="020B0604020202020204" pitchFamily="34" charset="0"/>
                <a:cs typeface="Arial" panose="020B0604020202020204" pitchFamily="34" charset="0"/>
              </a:rPr>
              <a:t>Clasificación:</a:t>
            </a:r>
            <a:r>
              <a:rPr lang="es-MX" dirty="0">
                <a:solidFill>
                  <a:schemeClr val="bg1"/>
                </a:solidFill>
                <a:latin typeface="Arial" panose="020B0604020202020204" pitchFamily="34" charset="0"/>
                <a:cs typeface="Arial" panose="020B0604020202020204" pitchFamily="34" charset="0"/>
              </a:rPr>
              <a:t> Los garrafones son clasificados de acuerdo con su condición para determinar el tipo de lavado requerido.</a:t>
            </a:r>
          </a:p>
          <a:p>
            <a:pPr marL="457200" indent="-457200" algn="just">
              <a:lnSpc>
                <a:spcPct val="150000"/>
              </a:lnSpc>
              <a:buClr>
                <a:schemeClr val="bg1"/>
              </a:buClr>
              <a:buFont typeface="+mj-lt"/>
              <a:buAutoNum type="arabicPeriod"/>
            </a:pPr>
            <a:r>
              <a:rPr lang="es-MX" b="1" dirty="0">
                <a:solidFill>
                  <a:schemeClr val="bg1"/>
                </a:solidFill>
                <a:latin typeface="Arial" panose="020B0604020202020204" pitchFamily="34" charset="0"/>
                <a:cs typeface="Arial" panose="020B0604020202020204" pitchFamily="34" charset="0"/>
              </a:rPr>
              <a:t>Lavado simple o profundo: </a:t>
            </a:r>
            <a:r>
              <a:rPr lang="es-MX" dirty="0">
                <a:solidFill>
                  <a:schemeClr val="bg1"/>
                </a:solidFill>
                <a:latin typeface="Arial" panose="020B0604020202020204" pitchFamily="34" charset="0"/>
                <a:cs typeface="Arial" panose="020B0604020202020204" pitchFamily="34" charset="0"/>
              </a:rPr>
              <a:t>Los garrafones siguen una de dos rutas: lavado simple o lavado profundo. Una vez finalizado el lavado, ambas rutas convergen nuevamente hacia el proceso de llenado.</a:t>
            </a:r>
          </a:p>
        </p:txBody>
      </p:sp>
      <p:pic>
        <p:nvPicPr>
          <p:cNvPr id="4" name="Imagen 3">
            <a:extLst>
              <a:ext uri="{FF2B5EF4-FFF2-40B4-BE49-F238E27FC236}">
                <a16:creationId xmlns:a16="http://schemas.microsoft.com/office/drawing/2014/main" id="{4F64A26B-6038-4E6F-A19D-04CD9F6A1B0E}"/>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74494725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Flujo operativo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13702" y="2204620"/>
            <a:ext cx="10764596" cy="3873452"/>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457200" indent="-457200" algn="just">
              <a:lnSpc>
                <a:spcPct val="150000"/>
              </a:lnSpc>
              <a:buClr>
                <a:schemeClr val="bg1"/>
              </a:buClr>
              <a:buFont typeface="+mj-lt"/>
              <a:buAutoNum type="arabicPeriod" startAt="4"/>
            </a:pPr>
            <a:r>
              <a:rPr lang="es-MX" b="1" dirty="0">
                <a:solidFill>
                  <a:schemeClr val="bg1"/>
                </a:solidFill>
                <a:latin typeface="Arial" panose="020B0604020202020204" pitchFamily="34" charset="0"/>
                <a:cs typeface="Arial" panose="020B0604020202020204" pitchFamily="34" charset="0"/>
              </a:rPr>
              <a:t>Cola de llenado: </a:t>
            </a:r>
            <a:r>
              <a:rPr lang="es-MX" dirty="0">
                <a:solidFill>
                  <a:schemeClr val="bg1"/>
                </a:solidFill>
                <a:latin typeface="Arial" panose="020B0604020202020204" pitchFamily="34" charset="0"/>
                <a:cs typeface="Arial" panose="020B0604020202020204" pitchFamily="34" charset="0"/>
              </a:rPr>
              <a:t>Los garrafones lavados son trasladados y permanecen en espera hasta cumplir las condiciones necesarias para ingresar a la máquina de llenado.</a:t>
            </a:r>
          </a:p>
          <a:p>
            <a:pPr marL="457200" indent="-457200" algn="just">
              <a:lnSpc>
                <a:spcPct val="150000"/>
              </a:lnSpc>
              <a:buClr>
                <a:schemeClr val="bg1"/>
              </a:buClr>
              <a:buFont typeface="+mj-lt"/>
              <a:buAutoNum type="arabicPeriod" startAt="4"/>
            </a:pPr>
            <a:r>
              <a:rPr lang="es-MX" b="1" dirty="0">
                <a:solidFill>
                  <a:schemeClr val="bg1"/>
                </a:solidFill>
                <a:latin typeface="Arial" panose="020B0604020202020204" pitchFamily="34" charset="0"/>
                <a:cs typeface="Arial" panose="020B0604020202020204" pitchFamily="34" charset="0"/>
              </a:rPr>
              <a:t>Llenado: </a:t>
            </a:r>
            <a:r>
              <a:rPr lang="es-MX" dirty="0">
                <a:solidFill>
                  <a:schemeClr val="bg1"/>
                </a:solidFill>
                <a:latin typeface="Arial" panose="020B0604020202020204" pitchFamily="34" charset="0"/>
                <a:cs typeface="Arial" panose="020B0604020202020204" pitchFamily="34" charset="0"/>
              </a:rPr>
              <a:t>La máquina procesa los garrafones en grupos de cuatro, considerando su capacidad y la disponibilidad de los empleados involucrados en las operaciones de carga y descarga.</a:t>
            </a:r>
          </a:p>
          <a:p>
            <a:pPr marL="457200" indent="-457200" algn="just">
              <a:lnSpc>
                <a:spcPct val="150000"/>
              </a:lnSpc>
              <a:buClr>
                <a:schemeClr val="bg1"/>
              </a:buClr>
              <a:buFont typeface="+mj-lt"/>
              <a:buAutoNum type="arabicPeriod" startAt="4"/>
            </a:pPr>
            <a:r>
              <a:rPr lang="es-MX" b="1" dirty="0">
                <a:solidFill>
                  <a:schemeClr val="bg1"/>
                </a:solidFill>
                <a:latin typeface="Arial" panose="020B0604020202020204" pitchFamily="34" charset="0"/>
                <a:cs typeface="Arial" panose="020B0604020202020204" pitchFamily="34" charset="0"/>
              </a:rPr>
              <a:t>Tapado y sellado: </a:t>
            </a:r>
            <a:r>
              <a:rPr lang="es-MX" dirty="0">
                <a:solidFill>
                  <a:schemeClr val="bg1"/>
                </a:solidFill>
                <a:latin typeface="Arial" panose="020B0604020202020204" pitchFamily="34" charset="0"/>
                <a:cs typeface="Arial" panose="020B0604020202020204" pitchFamily="34" charset="0"/>
              </a:rPr>
              <a:t>Después del llenado, los garrafones continúan al proceso de colocación de tapa y sello.</a:t>
            </a:r>
          </a:p>
          <a:p>
            <a:pPr marL="457200" indent="-457200" algn="just">
              <a:lnSpc>
                <a:spcPct val="150000"/>
              </a:lnSpc>
              <a:buClr>
                <a:schemeClr val="bg1"/>
              </a:buClr>
              <a:buFont typeface="+mj-lt"/>
              <a:buAutoNum type="arabicPeriod" startAt="4"/>
            </a:pPr>
            <a:r>
              <a:rPr lang="es-MX" b="1" dirty="0">
                <a:solidFill>
                  <a:schemeClr val="bg1"/>
                </a:solidFill>
                <a:latin typeface="Arial" panose="020B0604020202020204" pitchFamily="34" charset="0"/>
                <a:cs typeface="Arial" panose="020B0604020202020204" pitchFamily="34" charset="0"/>
              </a:rPr>
              <a:t>Traslado y producto terminado: </a:t>
            </a:r>
            <a:r>
              <a:rPr lang="es-MX" dirty="0">
                <a:solidFill>
                  <a:schemeClr val="bg1"/>
                </a:solidFill>
                <a:latin typeface="Arial" panose="020B0604020202020204" pitchFamily="34" charset="0"/>
                <a:cs typeface="Arial" panose="020B0604020202020204" pitchFamily="34" charset="0"/>
              </a:rPr>
              <a:t>Finalmente, los garrafones son trasladados al área de despacho, registrándose como unidades terminadas dentro de la simulación.</a:t>
            </a:r>
          </a:p>
        </p:txBody>
      </p:sp>
      <p:pic>
        <p:nvPicPr>
          <p:cNvPr id="4" name="Imagen 3">
            <a:extLst>
              <a:ext uri="{FF2B5EF4-FFF2-40B4-BE49-F238E27FC236}">
                <a16:creationId xmlns:a16="http://schemas.microsoft.com/office/drawing/2014/main" id="{F53298AE-2909-493D-9608-D4A919A5DF51}"/>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427116654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Flujo operativo de Agua Cero.</a:t>
            </a:r>
          </a:p>
        </p:txBody>
      </p:sp>
      <p:pic>
        <p:nvPicPr>
          <p:cNvPr id="3" name="Imagen 2">
            <a:extLst>
              <a:ext uri="{FF2B5EF4-FFF2-40B4-BE49-F238E27FC236}">
                <a16:creationId xmlns:a16="http://schemas.microsoft.com/office/drawing/2014/main" id="{054A6A38-BE0C-44CB-B588-CA93D0959AC5}"/>
              </a:ext>
            </a:extLst>
          </p:cNvPr>
          <p:cNvPicPr>
            <a:picLocks noChangeAspect="1"/>
          </p:cNvPicPr>
          <p:nvPr/>
        </p:nvPicPr>
        <p:blipFill>
          <a:blip r:embed="rId2"/>
          <a:stretch>
            <a:fillRect/>
          </a:stretch>
        </p:blipFill>
        <p:spPr>
          <a:xfrm>
            <a:off x="860612" y="1912614"/>
            <a:ext cx="6303757" cy="3322624"/>
          </a:xfrm>
          <a:prstGeom prst="rect">
            <a:avLst/>
          </a:prstGeom>
        </p:spPr>
      </p:pic>
      <p:sp>
        <p:nvSpPr>
          <p:cNvPr id="4" name="CuadroTexto 3">
            <a:extLst>
              <a:ext uri="{FF2B5EF4-FFF2-40B4-BE49-F238E27FC236}">
                <a16:creationId xmlns:a16="http://schemas.microsoft.com/office/drawing/2014/main" id="{7FDE1174-9055-457C-B916-0F880FEC23AE}"/>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a:t>
            </a:r>
          </a:p>
        </p:txBody>
      </p:sp>
      <p:sp>
        <p:nvSpPr>
          <p:cNvPr id="7" name="Marcador de texto 19">
            <a:extLst>
              <a:ext uri="{FF2B5EF4-FFF2-40B4-BE49-F238E27FC236}">
                <a16:creationId xmlns:a16="http://schemas.microsoft.com/office/drawing/2014/main" id="{A434D28E-75AA-496F-9BBF-16E60BD4B793}"/>
              </a:ext>
            </a:extLst>
          </p:cNvPr>
          <p:cNvSpPr txBox="1">
            <a:spLocks/>
          </p:cNvSpPr>
          <p:nvPr/>
        </p:nvSpPr>
        <p:spPr>
          <a:xfrm>
            <a:off x="7678270" y="2252034"/>
            <a:ext cx="4007224" cy="254219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1. Inicio del flujo operativo de Agua Cero.</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Interfaz del simulador que representa la etapa inicial de descarga del camión. En esta fase se registra el ingreso del lote de 40 garrafones al sistema y la participación de los empleados asignados a la operación.</a:t>
            </a:r>
          </a:p>
        </p:txBody>
      </p:sp>
      <p:pic>
        <p:nvPicPr>
          <p:cNvPr id="8" name="Imagen 7">
            <a:extLst>
              <a:ext uri="{FF2B5EF4-FFF2-40B4-BE49-F238E27FC236}">
                <a16:creationId xmlns:a16="http://schemas.microsoft.com/office/drawing/2014/main" id="{45D53BA0-1BEF-47EE-9833-C128F16F0A0A}"/>
              </a:ext>
            </a:extLst>
          </p:cNvPr>
          <p:cNvPicPr>
            <a:picLocks noChangeAspect="1"/>
          </p:cNvPicPr>
          <p:nvPr/>
        </p:nvPicPr>
        <p:blipFill rotWithShape="1">
          <a:blip r:embed="rId3"/>
          <a:srcRect r="41669"/>
          <a:stretch/>
        </p:blipFill>
        <p:spPr>
          <a:xfrm>
            <a:off x="10191826" y="52507"/>
            <a:ext cx="2000174" cy="3429000"/>
          </a:xfrm>
          <a:prstGeom prst="rect">
            <a:avLst/>
          </a:prstGeom>
        </p:spPr>
      </p:pic>
    </p:spTree>
    <p:extLst>
      <p:ext uri="{BB962C8B-B14F-4D97-AF65-F5344CB8AC3E}">
        <p14:creationId xmlns:p14="http://schemas.microsoft.com/office/powerpoint/2010/main" val="416914908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Flujo operativo de Agua Cero.</a:t>
            </a:r>
          </a:p>
        </p:txBody>
      </p:sp>
      <p:sp>
        <p:nvSpPr>
          <p:cNvPr id="4" name="CuadroTexto 3">
            <a:extLst>
              <a:ext uri="{FF2B5EF4-FFF2-40B4-BE49-F238E27FC236}">
                <a16:creationId xmlns:a16="http://schemas.microsoft.com/office/drawing/2014/main" id="{7FDE1174-9055-457C-B916-0F880FEC23AE}"/>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a:t>
            </a:r>
          </a:p>
        </p:txBody>
      </p:sp>
      <p:sp>
        <p:nvSpPr>
          <p:cNvPr id="7" name="Marcador de texto 19">
            <a:extLst>
              <a:ext uri="{FF2B5EF4-FFF2-40B4-BE49-F238E27FC236}">
                <a16:creationId xmlns:a16="http://schemas.microsoft.com/office/drawing/2014/main" id="{A434D28E-75AA-496F-9BBF-16E60BD4B793}"/>
              </a:ext>
            </a:extLst>
          </p:cNvPr>
          <p:cNvSpPr txBox="1">
            <a:spLocks/>
          </p:cNvSpPr>
          <p:nvPr/>
        </p:nvSpPr>
        <p:spPr>
          <a:xfrm>
            <a:off x="7678270" y="2252034"/>
            <a:ext cx="4007224" cy="254219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2. Clasificación y rutas de lavado.</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Representación de las etapas de recepción y clasificación de los garrafones. A partir de la clasificación, el flujo se divide en dos rutas de procesamiento: lavado simple y lavado profundo, de acuerdo con el tipo de limpieza requerido.</a:t>
            </a:r>
          </a:p>
        </p:txBody>
      </p:sp>
      <p:pic>
        <p:nvPicPr>
          <p:cNvPr id="5" name="Imagen 4">
            <a:extLst>
              <a:ext uri="{FF2B5EF4-FFF2-40B4-BE49-F238E27FC236}">
                <a16:creationId xmlns:a16="http://schemas.microsoft.com/office/drawing/2014/main" id="{3AB76993-5B16-4474-A4BB-7F171E13E0B1}"/>
              </a:ext>
            </a:extLst>
          </p:cNvPr>
          <p:cNvPicPr>
            <a:picLocks noChangeAspect="1"/>
          </p:cNvPicPr>
          <p:nvPr/>
        </p:nvPicPr>
        <p:blipFill>
          <a:blip r:embed="rId2"/>
          <a:stretch>
            <a:fillRect/>
          </a:stretch>
        </p:blipFill>
        <p:spPr>
          <a:xfrm>
            <a:off x="860612" y="1916570"/>
            <a:ext cx="6096001" cy="3213119"/>
          </a:xfrm>
          <a:prstGeom prst="rect">
            <a:avLst/>
          </a:prstGeom>
        </p:spPr>
      </p:pic>
      <p:pic>
        <p:nvPicPr>
          <p:cNvPr id="6" name="Imagen 5">
            <a:extLst>
              <a:ext uri="{FF2B5EF4-FFF2-40B4-BE49-F238E27FC236}">
                <a16:creationId xmlns:a16="http://schemas.microsoft.com/office/drawing/2014/main" id="{FD6F4308-800F-4C3E-8246-770466D8D774}"/>
              </a:ext>
            </a:extLst>
          </p:cNvPr>
          <p:cNvPicPr>
            <a:picLocks noChangeAspect="1"/>
          </p:cNvPicPr>
          <p:nvPr/>
        </p:nvPicPr>
        <p:blipFill rotWithShape="1">
          <a:blip r:embed="rId3"/>
          <a:srcRect r="41669"/>
          <a:stretch/>
        </p:blipFill>
        <p:spPr>
          <a:xfrm>
            <a:off x="10191826" y="52507"/>
            <a:ext cx="2000174" cy="3429000"/>
          </a:xfrm>
          <a:prstGeom prst="rect">
            <a:avLst/>
          </a:prstGeom>
        </p:spPr>
      </p:pic>
    </p:spTree>
    <p:extLst>
      <p:ext uri="{BB962C8B-B14F-4D97-AF65-F5344CB8AC3E}">
        <p14:creationId xmlns:p14="http://schemas.microsoft.com/office/powerpoint/2010/main" val="20410424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7572ABD-47AD-4F5D-8DF2-50DE3A06F63F}"/>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Flujo operativo de Agua Cero.</a:t>
            </a:r>
          </a:p>
        </p:txBody>
      </p:sp>
      <p:sp>
        <p:nvSpPr>
          <p:cNvPr id="4" name="CuadroTexto 3">
            <a:extLst>
              <a:ext uri="{FF2B5EF4-FFF2-40B4-BE49-F238E27FC236}">
                <a16:creationId xmlns:a16="http://schemas.microsoft.com/office/drawing/2014/main" id="{7FDE1174-9055-457C-B916-0F880FEC23AE}"/>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3</a:t>
            </a:r>
          </a:p>
        </p:txBody>
      </p:sp>
      <p:sp>
        <p:nvSpPr>
          <p:cNvPr id="7" name="Marcador de texto 19">
            <a:extLst>
              <a:ext uri="{FF2B5EF4-FFF2-40B4-BE49-F238E27FC236}">
                <a16:creationId xmlns:a16="http://schemas.microsoft.com/office/drawing/2014/main" id="{A434D28E-75AA-496F-9BBF-16E60BD4B793}"/>
              </a:ext>
            </a:extLst>
          </p:cNvPr>
          <p:cNvSpPr txBox="1">
            <a:spLocks/>
          </p:cNvSpPr>
          <p:nvPr/>
        </p:nvSpPr>
        <p:spPr>
          <a:xfrm>
            <a:off x="7678270" y="2252034"/>
            <a:ext cx="4007224" cy="3026488"/>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3. Cola y proceso de llenado de garrafones. </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Los garrafones provenientes de los procesos de lavado convergen en la cola de llenado, donde permanecen en espera hasta formar un grupo de cuatro unidades. Una vez cumplida esta condición y verificada la disponibilidad de los recursos necesarios, los garrafones son cargados en la máquina de llenado para iniciar su procesamiento. El sistema controla la formación de grupos, el estado de la máquina y la disponibilidad de los empleados involucrados en las operaciones de carga y descarga.</a:t>
            </a:r>
          </a:p>
        </p:txBody>
      </p:sp>
      <p:pic>
        <p:nvPicPr>
          <p:cNvPr id="3" name="Imagen 2">
            <a:extLst>
              <a:ext uri="{FF2B5EF4-FFF2-40B4-BE49-F238E27FC236}">
                <a16:creationId xmlns:a16="http://schemas.microsoft.com/office/drawing/2014/main" id="{8F1933B3-83B9-4EF6-A542-33B1A6347F1E}"/>
              </a:ext>
            </a:extLst>
          </p:cNvPr>
          <p:cNvPicPr>
            <a:picLocks noChangeAspect="1"/>
          </p:cNvPicPr>
          <p:nvPr/>
        </p:nvPicPr>
        <p:blipFill>
          <a:blip r:embed="rId3"/>
          <a:stretch>
            <a:fillRect/>
          </a:stretch>
        </p:blipFill>
        <p:spPr>
          <a:xfrm>
            <a:off x="860611" y="2003976"/>
            <a:ext cx="6212541" cy="3274546"/>
          </a:xfrm>
          <a:prstGeom prst="rect">
            <a:avLst/>
          </a:prstGeom>
        </p:spPr>
      </p:pic>
    </p:spTree>
    <p:extLst>
      <p:ext uri="{BB962C8B-B14F-4D97-AF65-F5344CB8AC3E}">
        <p14:creationId xmlns:p14="http://schemas.microsoft.com/office/powerpoint/2010/main" val="26787914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4D03F34-9680-4ACD-BB21-C99CEBAAC705}"/>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Flujo operativo de Agua Cero.</a:t>
            </a:r>
          </a:p>
        </p:txBody>
      </p:sp>
      <p:sp>
        <p:nvSpPr>
          <p:cNvPr id="4" name="CuadroTexto 3">
            <a:extLst>
              <a:ext uri="{FF2B5EF4-FFF2-40B4-BE49-F238E27FC236}">
                <a16:creationId xmlns:a16="http://schemas.microsoft.com/office/drawing/2014/main" id="{7FDE1174-9055-457C-B916-0F880FEC23AE}"/>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4</a:t>
            </a:r>
          </a:p>
        </p:txBody>
      </p:sp>
      <p:sp>
        <p:nvSpPr>
          <p:cNvPr id="7" name="Marcador de texto 19">
            <a:extLst>
              <a:ext uri="{FF2B5EF4-FFF2-40B4-BE49-F238E27FC236}">
                <a16:creationId xmlns:a16="http://schemas.microsoft.com/office/drawing/2014/main" id="{A434D28E-75AA-496F-9BBF-16E60BD4B793}"/>
              </a:ext>
            </a:extLst>
          </p:cNvPr>
          <p:cNvSpPr txBox="1">
            <a:spLocks/>
          </p:cNvSpPr>
          <p:nvPr/>
        </p:nvSpPr>
        <p:spPr>
          <a:xfrm>
            <a:off x="7678270" y="2252034"/>
            <a:ext cx="4007224" cy="3026488"/>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4. Etapas finales del proceso productivo.</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interfaz representa la etapa de tapado y sellado y su conexión con el traslado a producto terminado. Una vez concluido el acondicionamiento final, los garrafones son agrupados para su traslado, actividad asignada al Empleado 4. El sistema permite visualizar la cantidad de unidades en espera, la conformación del grupo y el estado de disponibilidad del recurso.</a:t>
            </a:r>
          </a:p>
        </p:txBody>
      </p:sp>
      <p:pic>
        <p:nvPicPr>
          <p:cNvPr id="5" name="Imagen 4">
            <a:extLst>
              <a:ext uri="{FF2B5EF4-FFF2-40B4-BE49-F238E27FC236}">
                <a16:creationId xmlns:a16="http://schemas.microsoft.com/office/drawing/2014/main" id="{5CAA380F-D918-4E34-872A-D48DA95CEA4F}"/>
              </a:ext>
            </a:extLst>
          </p:cNvPr>
          <p:cNvPicPr>
            <a:picLocks noChangeAspect="1"/>
          </p:cNvPicPr>
          <p:nvPr/>
        </p:nvPicPr>
        <p:blipFill>
          <a:blip r:embed="rId3"/>
          <a:stretch>
            <a:fillRect/>
          </a:stretch>
        </p:blipFill>
        <p:spPr>
          <a:xfrm>
            <a:off x="815790" y="2043703"/>
            <a:ext cx="6459536" cy="3404733"/>
          </a:xfrm>
          <a:prstGeom prst="rect">
            <a:avLst/>
          </a:prstGeom>
        </p:spPr>
      </p:pic>
    </p:spTree>
    <p:extLst>
      <p:ext uri="{BB962C8B-B14F-4D97-AF65-F5344CB8AC3E}">
        <p14:creationId xmlns:p14="http://schemas.microsoft.com/office/powerpoint/2010/main" val="153819972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286834F-E19D-4FB8-AD7A-A47FBA9D7A41}"/>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Flujo operativo de Agua Cero.</a:t>
            </a:r>
          </a:p>
        </p:txBody>
      </p:sp>
      <p:sp>
        <p:nvSpPr>
          <p:cNvPr id="4" name="CuadroTexto 3">
            <a:extLst>
              <a:ext uri="{FF2B5EF4-FFF2-40B4-BE49-F238E27FC236}">
                <a16:creationId xmlns:a16="http://schemas.microsoft.com/office/drawing/2014/main" id="{7FDE1174-9055-457C-B916-0F880FEC23AE}"/>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5</a:t>
            </a:r>
          </a:p>
        </p:txBody>
      </p:sp>
      <p:sp>
        <p:nvSpPr>
          <p:cNvPr id="7" name="Marcador de texto 19">
            <a:extLst>
              <a:ext uri="{FF2B5EF4-FFF2-40B4-BE49-F238E27FC236}">
                <a16:creationId xmlns:a16="http://schemas.microsoft.com/office/drawing/2014/main" id="{A434D28E-75AA-496F-9BBF-16E60BD4B793}"/>
              </a:ext>
            </a:extLst>
          </p:cNvPr>
          <p:cNvSpPr txBox="1">
            <a:spLocks/>
          </p:cNvSpPr>
          <p:nvPr/>
        </p:nvSpPr>
        <p:spPr>
          <a:xfrm>
            <a:off x="7678270" y="2252034"/>
            <a:ext cx="4007224" cy="3026488"/>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5. Registro de producto terminado. </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etapa de producto terminado representa la salida de los garrafones que han completado satisfactoriamente el flujo productivo. El simulador actualiza el contador de unidades terminadas durante la ejecución, permitiendo identificar la producción obtenida y disponer de esta información para el cálculo posterior de los indicadores de desempeño..</a:t>
            </a:r>
          </a:p>
        </p:txBody>
      </p:sp>
      <p:pic>
        <p:nvPicPr>
          <p:cNvPr id="3" name="Imagen 2">
            <a:extLst>
              <a:ext uri="{FF2B5EF4-FFF2-40B4-BE49-F238E27FC236}">
                <a16:creationId xmlns:a16="http://schemas.microsoft.com/office/drawing/2014/main" id="{9E738B0D-D04E-4966-ABD5-0A22C45D8270}"/>
              </a:ext>
            </a:extLst>
          </p:cNvPr>
          <p:cNvPicPr>
            <a:picLocks noChangeAspect="1"/>
          </p:cNvPicPr>
          <p:nvPr/>
        </p:nvPicPr>
        <p:blipFill>
          <a:blip r:embed="rId3"/>
          <a:stretch>
            <a:fillRect/>
          </a:stretch>
        </p:blipFill>
        <p:spPr>
          <a:xfrm>
            <a:off x="376518" y="1916671"/>
            <a:ext cx="7014435" cy="3697213"/>
          </a:xfrm>
          <a:prstGeom prst="rect">
            <a:avLst/>
          </a:prstGeom>
        </p:spPr>
      </p:pic>
    </p:spTree>
    <p:extLst>
      <p:ext uri="{BB962C8B-B14F-4D97-AF65-F5344CB8AC3E}">
        <p14:creationId xmlns:p14="http://schemas.microsoft.com/office/powerpoint/2010/main" val="112119558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Parámetros de simulación</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4160234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9094455-BAC6-41E1-BC27-205C92AE08BC}"/>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Parámetros de simulación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10764596"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Los parámetros de simulación establecen las condiciones bajo las cuales se ejecuta el modelo de </a:t>
            </a:r>
            <a:r>
              <a:rPr lang="es-MX" sz="1800" b="1" dirty="0">
                <a:solidFill>
                  <a:schemeClr val="bg1"/>
                </a:solidFill>
                <a:latin typeface="Arial" panose="020B0604020202020204" pitchFamily="34" charset="0"/>
                <a:cs typeface="Arial" panose="020B0604020202020204" pitchFamily="34" charset="0"/>
              </a:rPr>
              <a:t>Agua Cero</a:t>
            </a:r>
            <a:r>
              <a:rPr lang="es-MX" sz="1800" dirty="0">
                <a:solidFill>
                  <a:schemeClr val="bg1"/>
                </a:solidFill>
                <a:latin typeface="Arial" panose="020B0604020202020204" pitchFamily="34" charset="0"/>
                <a:cs typeface="Arial" panose="020B0604020202020204" pitchFamily="34" charset="0"/>
              </a:rPr>
              <a:t>. Estos valores representan la jornada de trabajo, el volumen de procesamiento, los tiempos de operación y las capacidades de los recursos, y pueden ser utilizados para configurar y evaluar diferentes escenarios.</a:t>
            </a:r>
          </a:p>
        </p:txBody>
      </p:sp>
    </p:spTree>
    <p:extLst>
      <p:ext uri="{BB962C8B-B14F-4D97-AF65-F5344CB8AC3E}">
        <p14:creationId xmlns:p14="http://schemas.microsoft.com/office/powerpoint/2010/main" val="297431479"/>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00A39BD-26C5-4035-9B05-48EC817BF01F}"/>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945776" y="283089"/>
            <a:ext cx="10300447" cy="85991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Parámetros de simulación de Agua Cero.</a:t>
            </a:r>
          </a:p>
        </p:txBody>
      </p:sp>
      <p:pic>
        <p:nvPicPr>
          <p:cNvPr id="7" name="Imagen 6">
            <a:extLst>
              <a:ext uri="{FF2B5EF4-FFF2-40B4-BE49-F238E27FC236}">
                <a16:creationId xmlns:a16="http://schemas.microsoft.com/office/drawing/2014/main" id="{071C1C98-1277-4B1E-99CD-5B66F6B75E5E}"/>
              </a:ext>
            </a:extLst>
          </p:cNvPr>
          <p:cNvPicPr>
            <a:picLocks noChangeAspect="1"/>
          </p:cNvPicPr>
          <p:nvPr/>
        </p:nvPicPr>
        <p:blipFill rotWithShape="1">
          <a:blip r:embed="rId3"/>
          <a:srcRect l="35514" t="27442" r="34706" b="6746"/>
          <a:stretch/>
        </p:blipFill>
        <p:spPr>
          <a:xfrm>
            <a:off x="3850340" y="1385047"/>
            <a:ext cx="4491318" cy="5289773"/>
          </a:xfrm>
          <a:prstGeom prst="rect">
            <a:avLst/>
          </a:prstGeom>
        </p:spPr>
      </p:pic>
    </p:spTree>
    <p:extLst>
      <p:ext uri="{BB962C8B-B14F-4D97-AF65-F5344CB8AC3E}">
        <p14:creationId xmlns:p14="http://schemas.microsoft.com/office/powerpoint/2010/main" val="183750042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788D469-1499-44AD-A180-CC9D8BD3E8AE}"/>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945776" y="283089"/>
            <a:ext cx="10300447" cy="85991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Parámetros de simulación de Agua Cero.</a:t>
            </a:r>
          </a:p>
        </p:txBody>
      </p:sp>
      <p:pic>
        <p:nvPicPr>
          <p:cNvPr id="3" name="Imagen 2">
            <a:extLst>
              <a:ext uri="{FF2B5EF4-FFF2-40B4-BE49-F238E27FC236}">
                <a16:creationId xmlns:a16="http://schemas.microsoft.com/office/drawing/2014/main" id="{19EE5A0D-E460-490E-9092-3FF69CF5EED2}"/>
              </a:ext>
            </a:extLst>
          </p:cNvPr>
          <p:cNvPicPr>
            <a:picLocks noChangeAspect="1"/>
          </p:cNvPicPr>
          <p:nvPr/>
        </p:nvPicPr>
        <p:blipFill>
          <a:blip r:embed="rId3"/>
          <a:stretch>
            <a:fillRect/>
          </a:stretch>
        </p:blipFill>
        <p:spPr>
          <a:xfrm>
            <a:off x="945776" y="1755206"/>
            <a:ext cx="6351119" cy="3347588"/>
          </a:xfrm>
          <a:prstGeom prst="rect">
            <a:avLst/>
          </a:prstGeom>
        </p:spPr>
      </p:pic>
      <p:sp>
        <p:nvSpPr>
          <p:cNvPr id="5" name="CuadroTexto 4">
            <a:extLst>
              <a:ext uri="{FF2B5EF4-FFF2-40B4-BE49-F238E27FC236}">
                <a16:creationId xmlns:a16="http://schemas.microsoft.com/office/drawing/2014/main" id="{0C81D864-6308-48A8-83DD-6F712439EB93}"/>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6</a:t>
            </a:r>
          </a:p>
        </p:txBody>
      </p:sp>
      <p:sp>
        <p:nvSpPr>
          <p:cNvPr id="6" name="Marcador de texto 19">
            <a:extLst>
              <a:ext uri="{FF2B5EF4-FFF2-40B4-BE49-F238E27FC236}">
                <a16:creationId xmlns:a16="http://schemas.microsoft.com/office/drawing/2014/main" id="{32FAA2F6-356B-485E-A573-C44407FDD1F7}"/>
              </a:ext>
            </a:extLst>
          </p:cNvPr>
          <p:cNvSpPr txBox="1">
            <a:spLocks/>
          </p:cNvSpPr>
          <p:nvPr/>
        </p:nvSpPr>
        <p:spPr>
          <a:xfrm>
            <a:off x="7678270" y="2076306"/>
            <a:ext cx="4007224" cy="3026488"/>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6. Configuración general del escenario de simulación. </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interfaz permite definir las condiciones iniciales bajo las cuales se ejecutará cada escenario de simulación. El usuario puede establecer el nombre del escenario, la cantidad de garrafones por lote, el número de corridas y el horario de operación de la planta. Estos parámetros constituyen datos de entrada para el motor de simulación y permiten evaluar diferentes condiciones de funcionamiento.</a:t>
            </a:r>
          </a:p>
        </p:txBody>
      </p:sp>
    </p:spTree>
    <p:extLst>
      <p:ext uri="{BB962C8B-B14F-4D97-AF65-F5344CB8AC3E}">
        <p14:creationId xmlns:p14="http://schemas.microsoft.com/office/powerpoint/2010/main" val="327228051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900FC4A-3922-4220-B12F-705F498598F0}"/>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945776" y="283089"/>
            <a:ext cx="10300447" cy="85991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Parámetros de simulación de Agua Cero.</a:t>
            </a:r>
          </a:p>
        </p:txBody>
      </p:sp>
      <p:sp>
        <p:nvSpPr>
          <p:cNvPr id="5" name="CuadroTexto 4">
            <a:extLst>
              <a:ext uri="{FF2B5EF4-FFF2-40B4-BE49-F238E27FC236}">
                <a16:creationId xmlns:a16="http://schemas.microsoft.com/office/drawing/2014/main" id="{0C81D864-6308-48A8-83DD-6F712439EB93}"/>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7</a:t>
            </a:r>
          </a:p>
        </p:txBody>
      </p:sp>
      <p:sp>
        <p:nvSpPr>
          <p:cNvPr id="6" name="Marcador de texto 19">
            <a:extLst>
              <a:ext uri="{FF2B5EF4-FFF2-40B4-BE49-F238E27FC236}">
                <a16:creationId xmlns:a16="http://schemas.microsoft.com/office/drawing/2014/main" id="{32FAA2F6-356B-485E-A573-C44407FDD1F7}"/>
              </a:ext>
            </a:extLst>
          </p:cNvPr>
          <p:cNvSpPr txBox="1">
            <a:spLocks/>
          </p:cNvSpPr>
          <p:nvPr/>
        </p:nvSpPr>
        <p:spPr>
          <a:xfrm>
            <a:off x="7678270" y="2076306"/>
            <a:ext cx="4007224" cy="3026488"/>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7. Configuración de los parámetros operativos del proceso. </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interfaz permite establecer los tiempos de procesamiento utilizados por el modelo de simulación. Se configuran los tiempos correspondientes a la descarga inicial, lavado simple, lavado profundo, carga y descarga de la llenadora, ciclo de llenado, tapado y sellado, y traslado a producto terminado. Estos valores, expresados en segundos, determinan la duración de las actividades y permiten modificar las condiciones operativas para evaluar diferentes escenarios.</a:t>
            </a:r>
          </a:p>
        </p:txBody>
      </p:sp>
      <p:pic>
        <p:nvPicPr>
          <p:cNvPr id="4" name="Imagen 3">
            <a:extLst>
              <a:ext uri="{FF2B5EF4-FFF2-40B4-BE49-F238E27FC236}">
                <a16:creationId xmlns:a16="http://schemas.microsoft.com/office/drawing/2014/main" id="{D89CE0EB-9218-4053-B04D-6D291037C2EF}"/>
              </a:ext>
            </a:extLst>
          </p:cNvPr>
          <p:cNvPicPr>
            <a:picLocks noChangeAspect="1"/>
          </p:cNvPicPr>
          <p:nvPr/>
        </p:nvPicPr>
        <p:blipFill>
          <a:blip r:embed="rId3"/>
          <a:stretch>
            <a:fillRect/>
          </a:stretch>
        </p:blipFill>
        <p:spPr>
          <a:xfrm>
            <a:off x="945776" y="1844988"/>
            <a:ext cx="6555910" cy="3455531"/>
          </a:xfrm>
          <a:prstGeom prst="rect">
            <a:avLst/>
          </a:prstGeom>
        </p:spPr>
      </p:pic>
    </p:spTree>
    <p:extLst>
      <p:ext uri="{BB962C8B-B14F-4D97-AF65-F5344CB8AC3E}">
        <p14:creationId xmlns:p14="http://schemas.microsoft.com/office/powerpoint/2010/main" val="2821438069"/>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FB2E8F3-B76C-454B-90E2-47C9CC9269AA}"/>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945776" y="283089"/>
            <a:ext cx="10300447" cy="85991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Parámetros de simulación de Agua Cero.</a:t>
            </a:r>
          </a:p>
        </p:txBody>
      </p:sp>
      <p:sp>
        <p:nvSpPr>
          <p:cNvPr id="5" name="CuadroTexto 4">
            <a:extLst>
              <a:ext uri="{FF2B5EF4-FFF2-40B4-BE49-F238E27FC236}">
                <a16:creationId xmlns:a16="http://schemas.microsoft.com/office/drawing/2014/main" id="{0C81D864-6308-48A8-83DD-6F712439EB93}"/>
              </a:ext>
            </a:extLst>
          </p:cNvPr>
          <p:cNvSpPr txBox="1"/>
          <p:nvPr/>
        </p:nvSpPr>
        <p:spPr>
          <a:xfrm>
            <a:off x="3156696" y="564516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8</a:t>
            </a:r>
          </a:p>
        </p:txBody>
      </p:sp>
      <p:sp>
        <p:nvSpPr>
          <p:cNvPr id="6" name="Marcador de texto 19">
            <a:extLst>
              <a:ext uri="{FF2B5EF4-FFF2-40B4-BE49-F238E27FC236}">
                <a16:creationId xmlns:a16="http://schemas.microsoft.com/office/drawing/2014/main" id="{32FAA2F6-356B-485E-A573-C44407FDD1F7}"/>
              </a:ext>
            </a:extLst>
          </p:cNvPr>
          <p:cNvSpPr txBox="1">
            <a:spLocks/>
          </p:cNvSpPr>
          <p:nvPr/>
        </p:nvSpPr>
        <p:spPr>
          <a:xfrm>
            <a:off x="7678270" y="2076306"/>
            <a:ext cx="4007224" cy="3026488"/>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Figura 8. Configuración de los recursos humanos del escenario.  </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interfaz permite seleccionar los empleados que estarán disponibles durante la simulación y visualizar las actividades asignadas a cada recurso. Asimismo, permite establecer el costo por hora de cada trabajador e incorporar personal de apoyo adicional. Esta configuración permite analizar el efecto que produce la disponibilidad y cantidad de recursos humanos sobre el desempeño operativo y el costo del escenario simulado.</a:t>
            </a:r>
          </a:p>
        </p:txBody>
      </p:sp>
      <p:pic>
        <p:nvPicPr>
          <p:cNvPr id="3" name="Imagen 2">
            <a:extLst>
              <a:ext uri="{FF2B5EF4-FFF2-40B4-BE49-F238E27FC236}">
                <a16:creationId xmlns:a16="http://schemas.microsoft.com/office/drawing/2014/main" id="{2FB15225-9012-4088-8A33-FBFC60247AF0}"/>
              </a:ext>
            </a:extLst>
          </p:cNvPr>
          <p:cNvPicPr>
            <a:picLocks noChangeAspect="1"/>
          </p:cNvPicPr>
          <p:nvPr/>
        </p:nvPicPr>
        <p:blipFill>
          <a:blip r:embed="rId3"/>
          <a:stretch>
            <a:fillRect/>
          </a:stretch>
        </p:blipFill>
        <p:spPr>
          <a:xfrm>
            <a:off x="945776" y="1754840"/>
            <a:ext cx="6351813" cy="3347954"/>
          </a:xfrm>
          <a:prstGeom prst="rect">
            <a:avLst/>
          </a:prstGeom>
        </p:spPr>
      </p:pic>
    </p:spTree>
    <p:extLst>
      <p:ext uri="{BB962C8B-B14F-4D97-AF65-F5344CB8AC3E}">
        <p14:creationId xmlns:p14="http://schemas.microsoft.com/office/powerpoint/2010/main" val="379400839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Recursos humanos</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66111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D930EB1-28A8-4C30-AD0F-0BF3BF7C18DE}"/>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Recursos humanos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10764596"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Los recursos humanos constituyen elementos fundamentales dentro del modelo de simulación, ya que determinadas operaciones requieren la disponibilidad de un empleado para poder ejecutarse. Cada trabajador cuenta con actividades específicas y participa en diferentes etapas del flujo productivo. El sistema permite controlar su disponibilidad, utilización y costo, así como analizar el efecto generado al modificar la cantidad de personal.</a:t>
            </a:r>
          </a:p>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En la figura 8, de la sección anterior podemos observar claramente los recursos humanos asignados.</a:t>
            </a:r>
          </a:p>
          <a:p>
            <a:pPr marL="0" indent="0" algn="just">
              <a:lnSpc>
                <a:spcPct val="150000"/>
              </a:lnSpc>
              <a:buClr>
                <a:schemeClr val="bg1"/>
              </a:buClr>
              <a:buNone/>
            </a:pPr>
            <a:endParaRPr lang="es-MX"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594006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444890B-624F-4AFE-8B0D-F7C8EFEE9100}"/>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Recursos humanos de Agua Cero.</a:t>
            </a:r>
          </a:p>
        </p:txBody>
      </p:sp>
      <p:pic>
        <p:nvPicPr>
          <p:cNvPr id="3" name="Imagen 2">
            <a:extLst>
              <a:ext uri="{FF2B5EF4-FFF2-40B4-BE49-F238E27FC236}">
                <a16:creationId xmlns:a16="http://schemas.microsoft.com/office/drawing/2014/main" id="{551F5751-9744-4392-A92D-135A8AB5E59E}"/>
              </a:ext>
            </a:extLst>
          </p:cNvPr>
          <p:cNvPicPr>
            <a:picLocks noChangeAspect="1"/>
          </p:cNvPicPr>
          <p:nvPr/>
        </p:nvPicPr>
        <p:blipFill rotWithShape="1">
          <a:blip r:embed="rId3"/>
          <a:srcRect l="26029" t="32408" r="25220" b="29440"/>
          <a:stretch/>
        </p:blipFill>
        <p:spPr>
          <a:xfrm>
            <a:off x="1990163" y="1721223"/>
            <a:ext cx="8189261" cy="3415553"/>
          </a:xfrm>
          <a:prstGeom prst="rect">
            <a:avLst/>
          </a:prstGeom>
        </p:spPr>
      </p:pic>
      <p:sp>
        <p:nvSpPr>
          <p:cNvPr id="5" name="Marcador de texto 19">
            <a:extLst>
              <a:ext uri="{FF2B5EF4-FFF2-40B4-BE49-F238E27FC236}">
                <a16:creationId xmlns:a16="http://schemas.microsoft.com/office/drawing/2014/main" id="{3B441D8B-7C5E-4E25-9ADD-5C9571E4B5D3}"/>
              </a:ext>
            </a:extLst>
          </p:cNvPr>
          <p:cNvSpPr txBox="1">
            <a:spLocks/>
          </p:cNvSpPr>
          <p:nvPr/>
        </p:nvSpPr>
        <p:spPr>
          <a:xfrm>
            <a:off x="1234888" y="5314268"/>
            <a:ext cx="9722223" cy="137229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La disponibilidad de los empleados funciona como una restricción del sistema: una actividad que requiere un recurso humano no puede ejecutarse mientras el empleado correspondiente se encuentre ocupado.</a:t>
            </a:r>
          </a:p>
        </p:txBody>
      </p:sp>
    </p:spTree>
    <p:extLst>
      <p:ext uri="{BB962C8B-B14F-4D97-AF65-F5344CB8AC3E}">
        <p14:creationId xmlns:p14="http://schemas.microsoft.com/office/powerpoint/2010/main" val="82791354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Arquitectura del software</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404600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3192634-3C94-49C3-B9BB-226D46B40F72}"/>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Arquitectura del software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10764596"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El simulador </a:t>
            </a:r>
            <a:r>
              <a:rPr lang="es-MX" sz="1800" b="1" dirty="0">
                <a:solidFill>
                  <a:schemeClr val="bg1"/>
                </a:solidFill>
                <a:latin typeface="Arial" panose="020B0604020202020204" pitchFamily="34" charset="0"/>
                <a:cs typeface="Arial" panose="020B0604020202020204" pitchFamily="34" charset="0"/>
              </a:rPr>
              <a:t>Agua Cero </a:t>
            </a:r>
            <a:r>
              <a:rPr lang="es-MX" sz="1800" dirty="0">
                <a:solidFill>
                  <a:schemeClr val="bg1"/>
                </a:solidFill>
                <a:latin typeface="Arial" panose="020B0604020202020204" pitchFamily="34" charset="0"/>
                <a:cs typeface="Arial" panose="020B0604020202020204" pitchFamily="34" charset="0"/>
              </a:rPr>
              <a:t>fue desarrollado mediante una arquitectura modular que separa la interfaz gráfica, el control de las acciones del usuario y la lógica interna de simulación. Esta organización facilita el mantenimiento del código, la incorporación de nuevas funcionalidades y la modificación independiente de los diferentes componentes del sistema.</a:t>
            </a:r>
          </a:p>
          <a:p>
            <a:pPr marL="0" indent="0" algn="just">
              <a:lnSpc>
                <a:spcPct val="150000"/>
              </a:lnSpc>
              <a:buClr>
                <a:schemeClr val="bg1"/>
              </a:buClr>
              <a:buNone/>
            </a:pPr>
            <a:endParaRPr lang="es-MX" sz="1800" dirty="0">
              <a:solidFill>
                <a:schemeClr val="bg1"/>
              </a:solidFill>
              <a:latin typeface="Arial" panose="020B0604020202020204" pitchFamily="34" charset="0"/>
              <a:cs typeface="Arial" panose="020B0604020202020204" pitchFamily="34" charset="0"/>
            </a:endParaRPr>
          </a:p>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La aplicación utiliza </a:t>
            </a:r>
            <a:r>
              <a:rPr lang="es-MX" sz="1800" dirty="0" err="1">
                <a:solidFill>
                  <a:schemeClr val="bg1"/>
                </a:solidFill>
                <a:latin typeface="Arial" panose="020B0604020202020204" pitchFamily="34" charset="0"/>
                <a:cs typeface="Arial" panose="020B0604020202020204" pitchFamily="34" charset="0"/>
              </a:rPr>
              <a:t>JavaFX</a:t>
            </a:r>
            <a:r>
              <a:rPr lang="es-MX" sz="1800" dirty="0">
                <a:solidFill>
                  <a:schemeClr val="bg1"/>
                </a:solidFill>
                <a:latin typeface="Arial" panose="020B0604020202020204" pitchFamily="34" charset="0"/>
                <a:cs typeface="Arial" panose="020B0604020202020204" pitchFamily="34" charset="0"/>
              </a:rPr>
              <a:t> y FXML para la construcción de las vistas, controladores Java para gestionar la interacción entre la interfaz y el sistema, y clases especializadas para representar los parámetros, entidades, recursos y comportamiento del motor de simulación.</a:t>
            </a:r>
          </a:p>
        </p:txBody>
      </p:sp>
    </p:spTree>
    <p:extLst>
      <p:ext uri="{BB962C8B-B14F-4D97-AF65-F5344CB8AC3E}">
        <p14:creationId xmlns:p14="http://schemas.microsoft.com/office/powerpoint/2010/main" val="220569185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6E2D108-24D0-4D07-A913-CD561BCE1F4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Arquitectura del software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662153" y="2028729"/>
            <a:ext cx="5146975"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b="1" dirty="0">
                <a:solidFill>
                  <a:schemeClr val="bg1"/>
                </a:solidFill>
                <a:latin typeface="Arial" panose="020B0604020202020204" pitchFamily="34" charset="0"/>
                <a:cs typeface="Arial" panose="020B0604020202020204" pitchFamily="34" charset="0"/>
              </a:rPr>
              <a:t>Aplicación: </a:t>
            </a:r>
            <a:r>
              <a:rPr lang="es-MX" sz="1400" dirty="0">
                <a:solidFill>
                  <a:schemeClr val="bg1"/>
                </a:solidFill>
                <a:latin typeface="Arial" panose="020B0604020202020204" pitchFamily="34" charset="0"/>
                <a:cs typeface="Arial" panose="020B0604020202020204" pitchFamily="34" charset="0"/>
              </a:rPr>
              <a:t>Inicio y administración de las diferentes ventanas del sistema, para el funcionamiento del programa contamos con 5 archivos de aplicación. En la figura 9 se muestra MainApplication.java es el archivo que gestiona nuestra ventana principal</a:t>
            </a:r>
          </a:p>
        </p:txBody>
      </p:sp>
      <p:pic>
        <p:nvPicPr>
          <p:cNvPr id="3" name="Imagen 2">
            <a:extLst>
              <a:ext uri="{FF2B5EF4-FFF2-40B4-BE49-F238E27FC236}">
                <a16:creationId xmlns:a16="http://schemas.microsoft.com/office/drawing/2014/main" id="{B0B6F0DC-C999-4272-BC90-971759862A46}"/>
              </a:ext>
            </a:extLst>
          </p:cNvPr>
          <p:cNvPicPr>
            <a:picLocks noChangeAspect="1"/>
          </p:cNvPicPr>
          <p:nvPr/>
        </p:nvPicPr>
        <p:blipFill rotWithShape="1">
          <a:blip r:embed="rId3"/>
          <a:srcRect l="2647" t="26564" r="73640" b="46861"/>
          <a:stretch/>
        </p:blipFill>
        <p:spPr>
          <a:xfrm>
            <a:off x="1035424" y="3965455"/>
            <a:ext cx="3869999" cy="2286000"/>
          </a:xfrm>
          <a:prstGeom prst="rect">
            <a:avLst/>
          </a:prstGeom>
        </p:spPr>
      </p:pic>
      <p:pic>
        <p:nvPicPr>
          <p:cNvPr id="4" name="Imagen 3">
            <a:extLst>
              <a:ext uri="{FF2B5EF4-FFF2-40B4-BE49-F238E27FC236}">
                <a16:creationId xmlns:a16="http://schemas.microsoft.com/office/drawing/2014/main" id="{0D6D415B-3373-4E26-BACA-94F7EB0D8597}"/>
              </a:ext>
            </a:extLst>
          </p:cNvPr>
          <p:cNvPicPr>
            <a:picLocks noChangeAspect="1"/>
          </p:cNvPicPr>
          <p:nvPr/>
        </p:nvPicPr>
        <p:blipFill rotWithShape="1">
          <a:blip r:embed="rId4"/>
          <a:srcRect l="27665" r="25570" b="3975"/>
          <a:stretch/>
        </p:blipFill>
        <p:spPr>
          <a:xfrm>
            <a:off x="7107711" y="1680184"/>
            <a:ext cx="4223677" cy="4571271"/>
          </a:xfrm>
          <a:prstGeom prst="rect">
            <a:avLst/>
          </a:prstGeom>
        </p:spPr>
      </p:pic>
      <p:sp>
        <p:nvSpPr>
          <p:cNvPr id="6" name="CuadroTexto 5">
            <a:extLst>
              <a:ext uri="{FF2B5EF4-FFF2-40B4-BE49-F238E27FC236}">
                <a16:creationId xmlns:a16="http://schemas.microsoft.com/office/drawing/2014/main" id="{F61E18A9-AD43-4D15-A3D1-46BA679F7A10}"/>
              </a:ext>
            </a:extLst>
          </p:cNvPr>
          <p:cNvSpPr txBox="1"/>
          <p:nvPr/>
        </p:nvSpPr>
        <p:spPr>
          <a:xfrm>
            <a:off x="8619473" y="626395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9</a:t>
            </a:r>
          </a:p>
        </p:txBody>
      </p:sp>
    </p:spTree>
    <p:extLst>
      <p:ext uri="{BB962C8B-B14F-4D97-AF65-F5344CB8AC3E}">
        <p14:creationId xmlns:p14="http://schemas.microsoft.com/office/powerpoint/2010/main" val="50088673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71F1928-1E48-4469-BE72-D693567A3091}"/>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Arquitectura del software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5563833" cy="1506768"/>
          </a:xfrm>
          <a:prstGeom prst="rect">
            <a:avLst/>
          </a:prstGeom>
        </p:spPr>
        <p:txBody>
          <a:bodyPr vert="horz" lIns="91440" tIns="45720" rIns="91440" bIns="45720" rtlCol="0">
            <a:normAutofit fontScale="77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800" b="1" dirty="0">
                <a:solidFill>
                  <a:schemeClr val="bg1"/>
                </a:solidFill>
                <a:latin typeface="Arial" panose="020B0604020202020204" pitchFamily="34" charset="0"/>
                <a:cs typeface="Arial" panose="020B0604020202020204" pitchFamily="34" charset="0"/>
              </a:rPr>
              <a:t>Vistas FXML: </a:t>
            </a:r>
            <a:r>
              <a:rPr lang="es-MX" sz="1800" dirty="0">
                <a:solidFill>
                  <a:schemeClr val="bg1"/>
                </a:solidFill>
                <a:latin typeface="Arial" panose="020B0604020202020204" pitchFamily="34" charset="0"/>
                <a:cs typeface="Arial" panose="020B0604020202020204" pitchFamily="34" charset="0"/>
              </a:rPr>
              <a:t>Definen la estructura visual de las pantallas, para este proyecto contamos con 5 archivos FXML y un archivo CSS que permite crear un diseño en general; en la figura 10 se muestra el archivo </a:t>
            </a:r>
            <a:r>
              <a:rPr lang="es-MX" sz="1800" dirty="0" err="1">
                <a:solidFill>
                  <a:schemeClr val="bg1"/>
                </a:solidFill>
                <a:latin typeface="Arial" panose="020B0604020202020204" pitchFamily="34" charset="0"/>
                <a:cs typeface="Arial" panose="020B0604020202020204" pitchFamily="34" charset="0"/>
              </a:rPr>
              <a:t>main-view.fxml</a:t>
            </a:r>
            <a:r>
              <a:rPr lang="es-MX" sz="1800" dirty="0">
                <a:solidFill>
                  <a:schemeClr val="bg1"/>
                </a:solidFill>
                <a:latin typeface="Arial" panose="020B0604020202020204" pitchFamily="34" charset="0"/>
                <a:cs typeface="Arial" panose="020B0604020202020204" pitchFamily="34" charset="0"/>
              </a:rPr>
              <a:t> que pertenece al diseño de nuestra ventana principal </a:t>
            </a:r>
          </a:p>
        </p:txBody>
      </p:sp>
      <p:pic>
        <p:nvPicPr>
          <p:cNvPr id="3" name="Imagen 2">
            <a:extLst>
              <a:ext uri="{FF2B5EF4-FFF2-40B4-BE49-F238E27FC236}">
                <a16:creationId xmlns:a16="http://schemas.microsoft.com/office/drawing/2014/main" id="{45221EF1-CB84-42B3-A36D-7961A588C103}"/>
              </a:ext>
            </a:extLst>
          </p:cNvPr>
          <p:cNvPicPr>
            <a:picLocks noChangeAspect="1"/>
          </p:cNvPicPr>
          <p:nvPr/>
        </p:nvPicPr>
        <p:blipFill rotWithShape="1">
          <a:blip r:embed="rId3"/>
          <a:srcRect l="7059" t="54603" r="74522" b="13172"/>
          <a:stretch/>
        </p:blipFill>
        <p:spPr>
          <a:xfrm>
            <a:off x="2181672" y="3969562"/>
            <a:ext cx="2245659" cy="2070847"/>
          </a:xfrm>
          <a:prstGeom prst="rect">
            <a:avLst/>
          </a:prstGeom>
        </p:spPr>
      </p:pic>
      <p:pic>
        <p:nvPicPr>
          <p:cNvPr id="4" name="Imagen 3">
            <a:extLst>
              <a:ext uri="{FF2B5EF4-FFF2-40B4-BE49-F238E27FC236}">
                <a16:creationId xmlns:a16="http://schemas.microsoft.com/office/drawing/2014/main" id="{2CAE379E-4688-49D4-B47C-CB0147354FBD}"/>
              </a:ext>
            </a:extLst>
          </p:cNvPr>
          <p:cNvPicPr>
            <a:picLocks noChangeAspect="1"/>
          </p:cNvPicPr>
          <p:nvPr/>
        </p:nvPicPr>
        <p:blipFill rotWithShape="1">
          <a:blip r:embed="rId3"/>
          <a:srcRect l="29695" r="19596"/>
          <a:stretch/>
        </p:blipFill>
        <p:spPr>
          <a:xfrm>
            <a:off x="6939072" y="1788487"/>
            <a:ext cx="4423692" cy="4598166"/>
          </a:xfrm>
          <a:prstGeom prst="rect">
            <a:avLst/>
          </a:prstGeom>
        </p:spPr>
      </p:pic>
      <p:sp>
        <p:nvSpPr>
          <p:cNvPr id="6" name="CuadroTexto 5">
            <a:extLst>
              <a:ext uri="{FF2B5EF4-FFF2-40B4-BE49-F238E27FC236}">
                <a16:creationId xmlns:a16="http://schemas.microsoft.com/office/drawing/2014/main" id="{9E65472C-498A-46F7-9C46-184CBAC146A3}"/>
              </a:ext>
            </a:extLst>
          </p:cNvPr>
          <p:cNvSpPr txBox="1"/>
          <p:nvPr/>
        </p:nvSpPr>
        <p:spPr>
          <a:xfrm>
            <a:off x="8656543" y="638665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10</a:t>
            </a:r>
          </a:p>
        </p:txBody>
      </p:sp>
    </p:spTree>
    <p:extLst>
      <p:ext uri="{BB962C8B-B14F-4D97-AF65-F5344CB8AC3E}">
        <p14:creationId xmlns:p14="http://schemas.microsoft.com/office/powerpoint/2010/main" val="162461409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E250AD6-787A-46DB-9EB9-BB4B37A4CB44}"/>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Arquitectura del software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1908784"/>
            <a:ext cx="5393504"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b="1" dirty="0">
                <a:solidFill>
                  <a:schemeClr val="bg1"/>
                </a:solidFill>
                <a:latin typeface="Arial" panose="020B0604020202020204" pitchFamily="34" charset="0"/>
                <a:cs typeface="Arial" panose="020B0604020202020204" pitchFamily="34" charset="0"/>
              </a:rPr>
              <a:t>Controladores: </a:t>
            </a:r>
            <a:r>
              <a:rPr lang="es-MX" sz="1400" dirty="0">
                <a:solidFill>
                  <a:schemeClr val="bg1"/>
                </a:solidFill>
                <a:latin typeface="Arial" panose="020B0604020202020204" pitchFamily="34" charset="0"/>
                <a:cs typeface="Arial" panose="020B0604020202020204" pitchFamily="34" charset="0"/>
              </a:rPr>
              <a:t>Gestionan eventos, botones, configuración y comunicación con la lógica del sistema. Para este proyecto se cuenta con 5 archivos de controlador, en la figura 11 se muestra el archivo MainController.java que es el encargado de la comunicación de nuestra ventana principal</a:t>
            </a:r>
          </a:p>
        </p:txBody>
      </p:sp>
      <p:pic>
        <p:nvPicPr>
          <p:cNvPr id="3" name="Imagen 2">
            <a:extLst>
              <a:ext uri="{FF2B5EF4-FFF2-40B4-BE49-F238E27FC236}">
                <a16:creationId xmlns:a16="http://schemas.microsoft.com/office/drawing/2014/main" id="{4873D002-346F-4AAB-A35C-CAE356CC413E}"/>
              </a:ext>
            </a:extLst>
          </p:cNvPr>
          <p:cNvPicPr>
            <a:picLocks noChangeAspect="1"/>
          </p:cNvPicPr>
          <p:nvPr/>
        </p:nvPicPr>
        <p:blipFill rotWithShape="1">
          <a:blip r:embed="rId3"/>
          <a:srcRect l="9265" t="32423" r="73860" b="43304"/>
          <a:stretch/>
        </p:blipFill>
        <p:spPr>
          <a:xfrm>
            <a:off x="2370548" y="4009904"/>
            <a:ext cx="2057400" cy="1559859"/>
          </a:xfrm>
          <a:prstGeom prst="rect">
            <a:avLst/>
          </a:prstGeom>
        </p:spPr>
      </p:pic>
      <p:pic>
        <p:nvPicPr>
          <p:cNvPr id="4" name="Imagen 3">
            <a:extLst>
              <a:ext uri="{FF2B5EF4-FFF2-40B4-BE49-F238E27FC236}">
                <a16:creationId xmlns:a16="http://schemas.microsoft.com/office/drawing/2014/main" id="{6D48412D-2605-4728-8400-65D3507C6656}"/>
              </a:ext>
            </a:extLst>
          </p:cNvPr>
          <p:cNvPicPr>
            <a:picLocks noChangeAspect="1"/>
          </p:cNvPicPr>
          <p:nvPr/>
        </p:nvPicPr>
        <p:blipFill rotWithShape="1">
          <a:blip r:embed="rId3"/>
          <a:srcRect l="26029" r="24890"/>
          <a:stretch/>
        </p:blipFill>
        <p:spPr>
          <a:xfrm>
            <a:off x="7014765" y="1580044"/>
            <a:ext cx="4294211" cy="4611613"/>
          </a:xfrm>
          <a:prstGeom prst="rect">
            <a:avLst/>
          </a:prstGeom>
        </p:spPr>
      </p:pic>
      <p:sp>
        <p:nvSpPr>
          <p:cNvPr id="6" name="CuadroTexto 5">
            <a:extLst>
              <a:ext uri="{FF2B5EF4-FFF2-40B4-BE49-F238E27FC236}">
                <a16:creationId xmlns:a16="http://schemas.microsoft.com/office/drawing/2014/main" id="{0DB0E2EA-BBB1-4570-B54C-7E4DDF29C3E0}"/>
              </a:ext>
            </a:extLst>
          </p:cNvPr>
          <p:cNvSpPr txBox="1"/>
          <p:nvPr/>
        </p:nvSpPr>
        <p:spPr>
          <a:xfrm>
            <a:off x="8656543" y="638665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11</a:t>
            </a:r>
          </a:p>
        </p:txBody>
      </p:sp>
    </p:spTree>
    <p:extLst>
      <p:ext uri="{BB962C8B-B14F-4D97-AF65-F5344CB8AC3E}">
        <p14:creationId xmlns:p14="http://schemas.microsoft.com/office/powerpoint/2010/main" val="139949826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2651287F-42E1-4287-AEDE-2C9E631C88C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Arquitectura del software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470648" y="1607866"/>
            <a:ext cx="6750424"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b="1" dirty="0">
                <a:solidFill>
                  <a:schemeClr val="bg1"/>
                </a:solidFill>
                <a:latin typeface="Arial" panose="020B0604020202020204" pitchFamily="34" charset="0"/>
                <a:cs typeface="Arial" panose="020B0604020202020204" pitchFamily="34" charset="0"/>
              </a:rPr>
              <a:t>Motor de simulación: </a:t>
            </a:r>
            <a:r>
              <a:rPr lang="es-MX" sz="1400" dirty="0">
                <a:solidFill>
                  <a:schemeClr val="bg1"/>
                </a:solidFill>
                <a:latin typeface="Arial" panose="020B0604020202020204" pitchFamily="34" charset="0"/>
                <a:cs typeface="Arial" panose="020B0604020202020204" pitchFamily="34" charset="0"/>
              </a:rPr>
              <a:t>Ejecuta las reglas, tiempos, colas y utilización de recursos. Este archivo permite la unión de toda la lógica del programa. La figura 12 muestra la estructura completa de MotorSimulacion.java; el bloque de código que se encuentra abajo se considera el mas sobresaliente porque funciona como coordinador temporal del modelo. En cada </a:t>
            </a:r>
            <a:r>
              <a:rPr lang="es-MX" sz="1300" dirty="0">
                <a:solidFill>
                  <a:schemeClr val="bg1"/>
                </a:solidFill>
                <a:latin typeface="Arial" panose="020B0604020202020204" pitchFamily="34" charset="0"/>
                <a:cs typeface="Arial" panose="020B0604020202020204" pitchFamily="34" charset="0"/>
              </a:rPr>
              <a:t>ciclo</a:t>
            </a:r>
            <a:r>
              <a:rPr lang="es-MX" sz="1400" dirty="0">
                <a:solidFill>
                  <a:schemeClr val="bg1"/>
                </a:solidFill>
                <a:latin typeface="Arial" panose="020B0604020202020204" pitchFamily="34" charset="0"/>
                <a:cs typeface="Arial" panose="020B0604020202020204" pitchFamily="34" charset="0"/>
              </a:rPr>
              <a:t> incrementa el reloj de simulación y ejecuta las operaciones de acuerdo con el estado actual del sistema.</a:t>
            </a:r>
          </a:p>
        </p:txBody>
      </p:sp>
      <p:pic>
        <p:nvPicPr>
          <p:cNvPr id="3" name="Imagen 2">
            <a:extLst>
              <a:ext uri="{FF2B5EF4-FFF2-40B4-BE49-F238E27FC236}">
                <a16:creationId xmlns:a16="http://schemas.microsoft.com/office/drawing/2014/main" id="{D8895125-FC05-40A1-BC23-3543F605C1BC}"/>
              </a:ext>
            </a:extLst>
          </p:cNvPr>
          <p:cNvPicPr>
            <a:picLocks noChangeAspect="1"/>
          </p:cNvPicPr>
          <p:nvPr/>
        </p:nvPicPr>
        <p:blipFill rotWithShape="1">
          <a:blip r:embed="rId3"/>
          <a:srcRect l="28125" r="26544" b="6057"/>
          <a:stretch/>
        </p:blipFill>
        <p:spPr>
          <a:xfrm>
            <a:off x="7231042" y="1607866"/>
            <a:ext cx="4077934" cy="4609759"/>
          </a:xfrm>
          <a:prstGeom prst="rect">
            <a:avLst/>
          </a:prstGeom>
        </p:spPr>
      </p:pic>
      <p:sp>
        <p:nvSpPr>
          <p:cNvPr id="5" name="Rectángulo 4">
            <a:extLst>
              <a:ext uri="{FF2B5EF4-FFF2-40B4-BE49-F238E27FC236}">
                <a16:creationId xmlns:a16="http://schemas.microsoft.com/office/drawing/2014/main" id="{158DACFB-FE53-4C6D-9903-61390A6779CD}"/>
              </a:ext>
            </a:extLst>
          </p:cNvPr>
          <p:cNvSpPr/>
          <p:nvPr/>
        </p:nvSpPr>
        <p:spPr>
          <a:xfrm>
            <a:off x="1920070" y="3788195"/>
            <a:ext cx="3500718" cy="2923877"/>
          </a:xfrm>
          <a:prstGeom prst="rect">
            <a:avLst/>
          </a:prstGeom>
          <a:solidFill>
            <a:srgbClr val="19142A"/>
          </a:solidFill>
        </p:spPr>
        <p:txBody>
          <a:bodyPr wrap="square">
            <a:spAutoFit/>
          </a:bodyPr>
          <a:lstStyle/>
          <a:p>
            <a:r>
              <a:rPr lang="es-MX" sz="800" dirty="0" err="1">
                <a:solidFill>
                  <a:srgbClr val="BFC7D5"/>
                </a:solidFill>
                <a:latin typeface="Consolas" panose="020B0609020204030204" pitchFamily="49" charset="0"/>
              </a:rPr>
              <a:t>public</a:t>
            </a:r>
            <a:r>
              <a:rPr lang="es-MX" sz="800" dirty="0">
                <a:solidFill>
                  <a:srgbClr val="BFC7D5"/>
                </a:solidFill>
                <a:latin typeface="Consolas" panose="020B0609020204030204" pitchFamily="49" charset="0"/>
              </a:rPr>
              <a:t> </a:t>
            </a:r>
            <a:r>
              <a:rPr lang="es-MX" sz="800" dirty="0" err="1">
                <a:solidFill>
                  <a:srgbClr val="BFC7D5"/>
                </a:solidFill>
                <a:latin typeface="Consolas" panose="020B0609020204030204" pitchFamily="49" charset="0"/>
              </a:rPr>
              <a:t>void</a:t>
            </a:r>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procesarSegundo</a:t>
            </a:r>
            <a:r>
              <a:rPr lang="es-MX" sz="800" dirty="0">
                <a:solidFill>
                  <a:srgbClr val="BFC7D5"/>
                </a:solidFill>
                <a:latin typeface="Consolas" panose="020B0609020204030204" pitchFamily="49" charset="0"/>
              </a:rPr>
              <a:t>() {</a:t>
            </a:r>
          </a:p>
          <a:p>
            <a:br>
              <a:rPr lang="es-MX" sz="800" dirty="0">
                <a:solidFill>
                  <a:srgbClr val="BFC7D5"/>
                </a:solidFill>
                <a:latin typeface="Consolas" panose="020B0609020204030204" pitchFamily="49" charset="0"/>
              </a:rPr>
            </a:br>
            <a:r>
              <a:rPr lang="es-MX" sz="800" dirty="0">
                <a:solidFill>
                  <a:srgbClr val="BFC7D5"/>
                </a:solidFill>
                <a:latin typeface="Consolas" panose="020B0609020204030204" pitchFamily="49" charset="0"/>
              </a:rPr>
              <a:t>    </a:t>
            </a:r>
            <a:r>
              <a:rPr lang="es-MX" sz="800" dirty="0" err="1">
                <a:solidFill>
                  <a:srgbClr val="C792EA"/>
                </a:solidFill>
                <a:latin typeface="Consolas" panose="020B0609020204030204" pitchFamily="49" charset="0"/>
              </a:rPr>
              <a:t>if</a:t>
            </a:r>
            <a:r>
              <a:rPr lang="es-MX" sz="800" dirty="0">
                <a:solidFill>
                  <a:srgbClr val="BFC7D5"/>
                </a:solidFill>
                <a:latin typeface="Consolas" panose="020B0609020204030204" pitchFamily="49" charset="0"/>
              </a:rPr>
              <a:t> (</a:t>
            </a:r>
            <a:r>
              <a:rPr lang="es-MX" sz="800" dirty="0">
                <a:solidFill>
                  <a:srgbClr val="FFFFFF"/>
                </a:solidFill>
                <a:latin typeface="Consolas" panose="020B0609020204030204" pitchFamily="49" charset="0"/>
              </a:rPr>
              <a:t>!</a:t>
            </a:r>
            <a:r>
              <a:rPr lang="es-MX" sz="800" dirty="0">
                <a:solidFill>
                  <a:srgbClr val="BFC7D5"/>
                </a:solidFill>
                <a:latin typeface="Consolas" panose="020B0609020204030204" pitchFamily="49" charset="0"/>
              </a:rPr>
              <a:t>ejecutando </a:t>
            </a:r>
            <a:r>
              <a:rPr lang="es-MX" sz="800" dirty="0">
                <a:solidFill>
                  <a:srgbClr val="FFFFFF"/>
                </a:solidFill>
                <a:latin typeface="Consolas" panose="020B0609020204030204" pitchFamily="49" charset="0"/>
              </a:rPr>
              <a:t>||</a:t>
            </a:r>
            <a:r>
              <a:rPr lang="es-MX" sz="800" dirty="0">
                <a:solidFill>
                  <a:srgbClr val="BFC7D5"/>
                </a:solidFill>
                <a:latin typeface="Consolas" panose="020B0609020204030204" pitchFamily="49" charset="0"/>
              </a:rPr>
              <a:t> pausada) {</a:t>
            </a:r>
          </a:p>
          <a:p>
            <a:r>
              <a:rPr lang="es-MX" sz="800" dirty="0">
                <a:solidFill>
                  <a:srgbClr val="BFC7D5"/>
                </a:solidFill>
                <a:latin typeface="Consolas" panose="020B0609020204030204" pitchFamily="49" charset="0"/>
              </a:rPr>
              <a:t>        </a:t>
            </a:r>
            <a:r>
              <a:rPr lang="es-MX" sz="800" dirty="0" err="1">
                <a:solidFill>
                  <a:srgbClr val="C792EA"/>
                </a:solidFill>
                <a:latin typeface="Consolas" panose="020B0609020204030204" pitchFamily="49" charset="0"/>
              </a:rPr>
              <a:t>return</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p>
          <a:p>
            <a:br>
              <a:rPr lang="es-MX" sz="800" dirty="0">
                <a:solidFill>
                  <a:srgbClr val="BFC7D5"/>
                </a:solidFill>
                <a:latin typeface="Consolas" panose="020B0609020204030204" pitchFamily="49" charset="0"/>
              </a:rPr>
            </a:br>
            <a:r>
              <a:rPr lang="es-MX" sz="800" dirty="0">
                <a:solidFill>
                  <a:srgbClr val="BFC7D5"/>
                </a:solidFill>
                <a:latin typeface="Consolas" panose="020B0609020204030204" pitchFamily="49" charset="0"/>
              </a:rPr>
              <a:t>    </a:t>
            </a:r>
            <a:r>
              <a:rPr lang="es-MX" sz="800" dirty="0" err="1">
                <a:solidFill>
                  <a:srgbClr val="BFC7D5"/>
                </a:solidFill>
                <a:latin typeface="Consolas" panose="020B0609020204030204" pitchFamily="49" charset="0"/>
              </a:rPr>
              <a:t>tiempoActual</a:t>
            </a:r>
            <a:r>
              <a:rPr lang="es-MX" sz="800" dirty="0">
                <a:solidFill>
                  <a:srgbClr val="FFFFFF"/>
                </a:solidFill>
                <a:latin typeface="Consolas" panose="020B0609020204030204" pitchFamily="49" charset="0"/>
              </a:rPr>
              <a:t>++</a:t>
            </a:r>
            <a:r>
              <a:rPr lang="es-MX" sz="800" dirty="0">
                <a:solidFill>
                  <a:srgbClr val="BFC7D5"/>
                </a:solidFill>
                <a:latin typeface="Consolas" panose="020B0609020204030204" pitchFamily="49" charset="0"/>
              </a:rPr>
              <a:t>;</a:t>
            </a:r>
          </a:p>
          <a:p>
            <a:br>
              <a:rPr lang="es-MX" sz="800" dirty="0">
                <a:solidFill>
                  <a:srgbClr val="BFC7D5"/>
                </a:solidFill>
                <a:latin typeface="Consolas" panose="020B0609020204030204" pitchFamily="49" charset="0"/>
              </a:rPr>
            </a:br>
            <a:r>
              <a:rPr lang="es-MX" sz="800" dirty="0">
                <a:solidFill>
                  <a:srgbClr val="BFC7D5"/>
                </a:solidFill>
                <a:latin typeface="Consolas" panose="020B0609020204030204" pitchFamily="49" charset="0"/>
              </a:rPr>
              <a:t>    </a:t>
            </a:r>
            <a:r>
              <a:rPr lang="es-MX" sz="800" dirty="0" err="1">
                <a:solidFill>
                  <a:srgbClr val="C792EA"/>
                </a:solidFill>
                <a:latin typeface="Consolas" panose="020B0609020204030204" pitchFamily="49" charset="0"/>
              </a:rPr>
              <a:t>if</a:t>
            </a:r>
            <a:r>
              <a:rPr lang="es-MX" sz="800" dirty="0">
                <a:solidFill>
                  <a:srgbClr val="BFC7D5"/>
                </a:solidFill>
                <a:latin typeface="Consolas" panose="020B0609020204030204" pitchFamily="49" charset="0"/>
              </a:rPr>
              <a:t> (</a:t>
            </a:r>
            <a:r>
              <a:rPr lang="es-MX" sz="800" dirty="0" err="1">
                <a:solidFill>
                  <a:srgbClr val="BFC7D5"/>
                </a:solidFill>
                <a:latin typeface="Consolas" panose="020B0609020204030204" pitchFamily="49" charset="0"/>
              </a:rPr>
              <a:t>descargaInicialActiva</a:t>
            </a:r>
            <a:r>
              <a:rPr lang="es-MX" sz="800" dirty="0">
                <a:solidFill>
                  <a:srgbClr val="BFC7D5"/>
                </a:solidFill>
                <a:latin typeface="Consolas" panose="020B0609020204030204" pitchFamily="49" charset="0"/>
              </a:rPr>
              <a:t>) {</a:t>
            </a:r>
          </a:p>
          <a:p>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procesarDescargaInicial</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r>
              <a:rPr lang="es-MX" sz="800" dirty="0" err="1">
                <a:solidFill>
                  <a:srgbClr val="C792EA"/>
                </a:solidFill>
                <a:latin typeface="Consolas" panose="020B0609020204030204" pitchFamily="49" charset="0"/>
              </a:rPr>
              <a:t>return</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p>
          <a:p>
            <a:br>
              <a:rPr lang="es-MX" sz="800" dirty="0">
                <a:solidFill>
                  <a:srgbClr val="BFC7D5"/>
                </a:solidFill>
                <a:latin typeface="Consolas" panose="020B0609020204030204" pitchFamily="49" charset="0"/>
              </a:rPr>
            </a:br>
            <a:r>
              <a:rPr lang="es-MX" sz="800" dirty="0">
                <a:solidFill>
                  <a:srgbClr val="BFC7D5"/>
                </a:solidFill>
                <a:latin typeface="Consolas" panose="020B0609020204030204" pitchFamily="49" charset="0"/>
              </a:rPr>
              <a:t>    </a:t>
            </a:r>
            <a:r>
              <a:rPr lang="es-MX" sz="800" dirty="0" err="1">
                <a:solidFill>
                  <a:srgbClr val="C792EA"/>
                </a:solidFill>
                <a:latin typeface="Consolas" panose="020B0609020204030204" pitchFamily="49" charset="0"/>
              </a:rPr>
              <a:t>if</a:t>
            </a:r>
            <a:r>
              <a:rPr lang="es-MX" sz="800" dirty="0">
                <a:solidFill>
                  <a:srgbClr val="BFC7D5"/>
                </a:solidFill>
                <a:latin typeface="Consolas" panose="020B0609020204030204" pitchFamily="49" charset="0"/>
              </a:rPr>
              <a:t> (</a:t>
            </a:r>
            <a:r>
              <a:rPr lang="es-MX" sz="800" dirty="0">
                <a:solidFill>
                  <a:srgbClr val="FFFFFF"/>
                </a:solidFill>
                <a:latin typeface="Consolas" panose="020B0609020204030204" pitchFamily="49" charset="0"/>
              </a:rPr>
              <a:t>!</a:t>
            </a:r>
            <a:r>
              <a:rPr lang="es-MX" sz="800" dirty="0" err="1">
                <a:solidFill>
                  <a:srgbClr val="BFC7D5"/>
                </a:solidFill>
                <a:latin typeface="Consolas" panose="020B0609020204030204" pitchFamily="49" charset="0"/>
              </a:rPr>
              <a:t>clasificacionRealizada</a:t>
            </a:r>
            <a:r>
              <a:rPr lang="es-MX" sz="800" dirty="0">
                <a:solidFill>
                  <a:srgbClr val="BFC7D5"/>
                </a:solidFill>
                <a:latin typeface="Consolas" panose="020B0609020204030204" pitchFamily="49" charset="0"/>
              </a:rPr>
              <a:t>) {</a:t>
            </a:r>
          </a:p>
          <a:p>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clasificarTodosLosGarrafones</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p>
          <a:p>
            <a:br>
              <a:rPr lang="es-MX" sz="800" dirty="0">
                <a:solidFill>
                  <a:srgbClr val="BFC7D5"/>
                </a:solidFill>
                <a:latin typeface="Consolas" panose="020B0609020204030204" pitchFamily="49" charset="0"/>
              </a:rPr>
            </a:br>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procesarLlenadora</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procesarTapadoSellado</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procesarTrasladoFinal</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procesarLavadoSimple</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    </a:t>
            </a:r>
            <a:r>
              <a:rPr lang="es-MX" sz="800" dirty="0" err="1">
                <a:solidFill>
                  <a:srgbClr val="B2CCD6"/>
                </a:solidFill>
                <a:latin typeface="Consolas" panose="020B0609020204030204" pitchFamily="49" charset="0"/>
              </a:rPr>
              <a:t>procesarLavadoProfundo</a:t>
            </a:r>
            <a:r>
              <a:rPr lang="es-MX" sz="800" dirty="0">
                <a:solidFill>
                  <a:srgbClr val="BFC7D5"/>
                </a:solidFill>
                <a:latin typeface="Consolas" panose="020B0609020204030204" pitchFamily="49" charset="0"/>
              </a:rPr>
              <a:t>();</a:t>
            </a:r>
          </a:p>
          <a:p>
            <a:r>
              <a:rPr lang="es-MX" sz="800" dirty="0">
                <a:solidFill>
                  <a:srgbClr val="BFC7D5"/>
                </a:solidFill>
                <a:latin typeface="Consolas" panose="020B0609020204030204" pitchFamily="49" charset="0"/>
              </a:rPr>
              <a:t>}</a:t>
            </a:r>
            <a:endParaRPr lang="es-MX" sz="800" b="0" dirty="0">
              <a:solidFill>
                <a:srgbClr val="BFC7D5"/>
              </a:solidFill>
              <a:effectLst/>
              <a:latin typeface="Consolas" panose="020B0609020204030204" pitchFamily="49" charset="0"/>
            </a:endParaRPr>
          </a:p>
        </p:txBody>
      </p:sp>
      <p:sp>
        <p:nvSpPr>
          <p:cNvPr id="7" name="CuadroTexto 6">
            <a:extLst>
              <a:ext uri="{FF2B5EF4-FFF2-40B4-BE49-F238E27FC236}">
                <a16:creationId xmlns:a16="http://schemas.microsoft.com/office/drawing/2014/main" id="{D8235204-3A6A-4B6B-B5F1-E6456E495830}"/>
              </a:ext>
            </a:extLst>
          </p:cNvPr>
          <p:cNvSpPr txBox="1"/>
          <p:nvPr/>
        </p:nvSpPr>
        <p:spPr>
          <a:xfrm>
            <a:off x="8656543" y="6386653"/>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12</a:t>
            </a:r>
          </a:p>
        </p:txBody>
      </p:sp>
    </p:spTree>
    <p:extLst>
      <p:ext uri="{BB962C8B-B14F-4D97-AF65-F5344CB8AC3E}">
        <p14:creationId xmlns:p14="http://schemas.microsoft.com/office/powerpoint/2010/main" val="17667827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Diseño de la interfaz</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2209278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F3DCB2B-828E-4F19-BAFB-66E8D571D27F}"/>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Diseño de la interfaz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10764596"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La interfaz gráfica de </a:t>
            </a:r>
            <a:r>
              <a:rPr lang="es-MX" sz="1800" b="1" dirty="0">
                <a:solidFill>
                  <a:schemeClr val="bg1"/>
                </a:solidFill>
                <a:latin typeface="Arial" panose="020B0604020202020204" pitchFamily="34" charset="0"/>
                <a:cs typeface="Arial" panose="020B0604020202020204" pitchFamily="34" charset="0"/>
              </a:rPr>
              <a:t>Agua Cero </a:t>
            </a:r>
            <a:r>
              <a:rPr lang="es-MX" sz="1800" dirty="0">
                <a:solidFill>
                  <a:schemeClr val="bg1"/>
                </a:solidFill>
                <a:latin typeface="Arial" panose="020B0604020202020204" pitchFamily="34" charset="0"/>
                <a:cs typeface="Arial" panose="020B0604020202020204" pitchFamily="34" charset="0"/>
              </a:rPr>
              <a:t>fue desarrollada con </a:t>
            </a:r>
            <a:r>
              <a:rPr lang="es-MX" sz="1800" dirty="0" err="1">
                <a:solidFill>
                  <a:schemeClr val="bg1"/>
                </a:solidFill>
                <a:latin typeface="Arial" panose="020B0604020202020204" pitchFamily="34" charset="0"/>
                <a:cs typeface="Arial" panose="020B0604020202020204" pitchFamily="34" charset="0"/>
              </a:rPr>
              <a:t>JavaFX</a:t>
            </a:r>
            <a:r>
              <a:rPr lang="es-MX" sz="1800" dirty="0">
                <a:solidFill>
                  <a:schemeClr val="bg1"/>
                </a:solidFill>
                <a:latin typeface="Arial" panose="020B0604020202020204" pitchFamily="34" charset="0"/>
                <a:cs typeface="Arial" panose="020B0604020202020204" pitchFamily="34" charset="0"/>
              </a:rPr>
              <a:t> y FXML, buscando proporcionar una navegación clara, intuitiva y organizada entre las diferentes funciones del simulador.</a:t>
            </a:r>
          </a:p>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El diseño distribuye la información mediante secciones, tarjetas, controles y elementos visuales que permiten al usuario configurar los parámetros del escenario, ejecutar la simulación y observar el comportamiento del proceso productivo.</a:t>
            </a:r>
          </a:p>
          <a:p>
            <a:pPr marL="0" indent="0" algn="just">
              <a:lnSpc>
                <a:spcPct val="150000"/>
              </a:lnSpc>
              <a:buClr>
                <a:schemeClr val="bg1"/>
              </a:buClr>
              <a:buNone/>
            </a:pPr>
            <a:r>
              <a:rPr lang="es-MX" sz="1800" dirty="0">
                <a:solidFill>
                  <a:schemeClr val="bg1"/>
                </a:solidFill>
                <a:latin typeface="Arial" panose="020B0604020202020204" pitchFamily="34" charset="0"/>
                <a:cs typeface="Arial" panose="020B0604020202020204" pitchFamily="34" charset="0"/>
              </a:rPr>
              <a:t>Durante la ejecución, la interfaz representa visualmente las diferentes etapas de la planta y actualiza el estado de los procesos, colas, recursos humanos y garrafones, facilitando el seguimiento de la simulación y la interpretación posterior de los resultados.</a:t>
            </a:r>
          </a:p>
        </p:txBody>
      </p:sp>
    </p:spTree>
    <p:extLst>
      <p:ext uri="{BB962C8B-B14F-4D97-AF65-F5344CB8AC3E}">
        <p14:creationId xmlns:p14="http://schemas.microsoft.com/office/powerpoint/2010/main" val="349419777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DB1253A-C53C-40F9-A7B4-56909ED93955}"/>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Elementos principales de la interfaz</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10764596" cy="3873452"/>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50000"/>
              </a:lnSpc>
              <a:buClr>
                <a:schemeClr val="bg2">
                  <a:lumMod val="75000"/>
                </a:schemeClr>
              </a:buClr>
              <a:buFont typeface="Wingdings" panose="05000000000000000000" pitchFamily="2" charset="2"/>
              <a:buChar char="q"/>
            </a:pPr>
            <a:r>
              <a:rPr lang="es-MX" dirty="0">
                <a:solidFill>
                  <a:schemeClr val="bg1"/>
                </a:solidFill>
                <a:latin typeface="Arial" panose="020B0604020202020204" pitchFamily="34" charset="0"/>
                <a:cs typeface="Arial" panose="020B0604020202020204" pitchFamily="34" charset="0"/>
              </a:rPr>
              <a:t> </a:t>
            </a:r>
            <a:r>
              <a:rPr lang="es-MX" b="1" dirty="0">
                <a:solidFill>
                  <a:schemeClr val="bg1"/>
                </a:solidFill>
                <a:latin typeface="Arial" panose="020B0604020202020204" pitchFamily="34" charset="0"/>
                <a:cs typeface="Arial" panose="020B0604020202020204" pitchFamily="34" charset="0"/>
              </a:rPr>
              <a:t>Configuración:</a:t>
            </a:r>
            <a:r>
              <a:rPr lang="es-MX" dirty="0">
                <a:solidFill>
                  <a:schemeClr val="bg1"/>
                </a:solidFill>
                <a:latin typeface="Arial" panose="020B0604020202020204" pitchFamily="34" charset="0"/>
                <a:cs typeface="Arial" panose="020B0604020202020204" pitchFamily="34" charset="0"/>
              </a:rPr>
              <a:t> Permite definir las condiciones iniciales del escenario, parámetros operativos, recursos humanos y costos.</a:t>
            </a:r>
          </a:p>
          <a:p>
            <a:pPr algn="just">
              <a:lnSpc>
                <a:spcPct val="150000"/>
              </a:lnSpc>
              <a:buClr>
                <a:schemeClr val="bg2">
                  <a:lumMod val="75000"/>
                </a:schemeClr>
              </a:buClr>
              <a:buFont typeface="Wingdings" panose="05000000000000000000" pitchFamily="2" charset="2"/>
              <a:buChar char="q"/>
            </a:pPr>
            <a:r>
              <a:rPr lang="es-MX" dirty="0">
                <a:solidFill>
                  <a:schemeClr val="bg1"/>
                </a:solidFill>
                <a:latin typeface="Arial" panose="020B0604020202020204" pitchFamily="34" charset="0"/>
                <a:cs typeface="Arial" panose="020B0604020202020204" pitchFamily="34" charset="0"/>
              </a:rPr>
              <a:t> </a:t>
            </a:r>
            <a:r>
              <a:rPr lang="es-MX" b="1" dirty="0">
                <a:solidFill>
                  <a:schemeClr val="bg1"/>
                </a:solidFill>
                <a:latin typeface="Arial" panose="020B0604020202020204" pitchFamily="34" charset="0"/>
                <a:cs typeface="Arial" panose="020B0604020202020204" pitchFamily="34" charset="0"/>
              </a:rPr>
              <a:t>Ejecución visual: </a:t>
            </a:r>
            <a:r>
              <a:rPr lang="es-MX" dirty="0">
                <a:solidFill>
                  <a:schemeClr val="bg1"/>
                </a:solidFill>
                <a:latin typeface="Arial" panose="020B0604020202020204" pitchFamily="34" charset="0"/>
                <a:cs typeface="Arial" panose="020B0604020202020204" pitchFamily="34" charset="0"/>
              </a:rPr>
              <a:t>Representa gráficamente el recorrido de los garrafones por las diferentes etapas del proceso productivo.</a:t>
            </a:r>
          </a:p>
          <a:p>
            <a:pPr algn="just">
              <a:lnSpc>
                <a:spcPct val="150000"/>
              </a:lnSpc>
              <a:buClr>
                <a:schemeClr val="bg2">
                  <a:lumMod val="75000"/>
                </a:schemeClr>
              </a:buClr>
              <a:buFont typeface="Wingdings" panose="05000000000000000000" pitchFamily="2" charset="2"/>
              <a:buChar char="q"/>
            </a:pPr>
            <a:r>
              <a:rPr lang="es-MX" dirty="0">
                <a:solidFill>
                  <a:schemeClr val="bg1"/>
                </a:solidFill>
                <a:latin typeface="Arial" panose="020B0604020202020204" pitchFamily="34" charset="0"/>
                <a:cs typeface="Arial" panose="020B0604020202020204" pitchFamily="34" charset="0"/>
              </a:rPr>
              <a:t> </a:t>
            </a:r>
            <a:r>
              <a:rPr lang="es-MX" b="1" dirty="0">
                <a:solidFill>
                  <a:schemeClr val="bg1"/>
                </a:solidFill>
                <a:latin typeface="Arial" panose="020B0604020202020204" pitchFamily="34" charset="0"/>
                <a:cs typeface="Arial" panose="020B0604020202020204" pitchFamily="34" charset="0"/>
              </a:rPr>
              <a:t>Monitoreo:</a:t>
            </a:r>
            <a:r>
              <a:rPr lang="es-MX" dirty="0">
                <a:solidFill>
                  <a:schemeClr val="bg1"/>
                </a:solidFill>
                <a:latin typeface="Arial" panose="020B0604020202020204" pitchFamily="34" charset="0"/>
                <a:cs typeface="Arial" panose="020B0604020202020204" pitchFamily="34" charset="0"/>
              </a:rPr>
              <a:t> Permite observar durante la simulación el estado de las estaciones, colas, empleados y producción.</a:t>
            </a:r>
          </a:p>
          <a:p>
            <a:pPr algn="just">
              <a:lnSpc>
                <a:spcPct val="150000"/>
              </a:lnSpc>
              <a:buClr>
                <a:schemeClr val="bg2">
                  <a:lumMod val="75000"/>
                </a:schemeClr>
              </a:buClr>
              <a:buFont typeface="Wingdings" panose="05000000000000000000" pitchFamily="2" charset="2"/>
              <a:buChar char="q"/>
            </a:pPr>
            <a:r>
              <a:rPr lang="es-MX" dirty="0">
                <a:solidFill>
                  <a:schemeClr val="bg1"/>
                </a:solidFill>
                <a:latin typeface="Arial" panose="020B0604020202020204" pitchFamily="34" charset="0"/>
                <a:cs typeface="Arial" panose="020B0604020202020204" pitchFamily="34" charset="0"/>
              </a:rPr>
              <a:t> </a:t>
            </a:r>
            <a:r>
              <a:rPr lang="es-MX" b="1" dirty="0">
                <a:solidFill>
                  <a:schemeClr val="bg1"/>
                </a:solidFill>
                <a:latin typeface="Arial" panose="020B0604020202020204" pitchFamily="34" charset="0"/>
                <a:cs typeface="Arial" panose="020B0604020202020204" pitchFamily="34" charset="0"/>
              </a:rPr>
              <a:t>Navegación y control: </a:t>
            </a:r>
            <a:r>
              <a:rPr lang="es-MX" dirty="0">
                <a:solidFill>
                  <a:schemeClr val="bg1"/>
                </a:solidFill>
                <a:latin typeface="Arial" panose="020B0604020202020204" pitchFamily="34" charset="0"/>
                <a:cs typeface="Arial" panose="020B0604020202020204" pitchFamily="34" charset="0"/>
              </a:rPr>
              <a:t>Integra controles para iniciar, pausar, reiniciar y desplazarse entre los diferentes módulos del sistema.</a:t>
            </a:r>
          </a:p>
        </p:txBody>
      </p:sp>
    </p:spTree>
    <p:extLst>
      <p:ext uri="{BB962C8B-B14F-4D97-AF65-F5344CB8AC3E}">
        <p14:creationId xmlns:p14="http://schemas.microsoft.com/office/powerpoint/2010/main" val="176388294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B2B7728-D27C-4359-AB32-82832EFF243C}"/>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Criterios de diseño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1092460" y="2177726"/>
            <a:ext cx="5724986"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50000"/>
              </a:lnSpc>
              <a:buClr>
                <a:schemeClr val="bg2">
                  <a:lumMod val="75000"/>
                </a:schemeClr>
              </a:buClr>
              <a:buFont typeface="Wingdings" panose="05000000000000000000" pitchFamily="2" charset="2"/>
              <a:buChar char="q"/>
            </a:pPr>
            <a:r>
              <a:rPr lang="es-MX" sz="1800" dirty="0">
                <a:solidFill>
                  <a:schemeClr val="bg1"/>
                </a:solidFill>
                <a:latin typeface="Arial" panose="020B0604020202020204" pitchFamily="34" charset="0"/>
                <a:cs typeface="Arial" panose="020B0604020202020204" pitchFamily="34" charset="0"/>
              </a:rPr>
              <a:t> Claridad visual</a:t>
            </a:r>
          </a:p>
          <a:p>
            <a:pPr algn="just">
              <a:lnSpc>
                <a:spcPct val="150000"/>
              </a:lnSpc>
              <a:buClr>
                <a:schemeClr val="bg2">
                  <a:lumMod val="75000"/>
                </a:schemeClr>
              </a:buClr>
              <a:buFont typeface="Wingdings" panose="05000000000000000000" pitchFamily="2" charset="2"/>
              <a:buChar char="q"/>
            </a:pPr>
            <a:r>
              <a:rPr lang="es-MX" sz="1800" dirty="0">
                <a:solidFill>
                  <a:schemeClr val="bg1"/>
                </a:solidFill>
                <a:latin typeface="Arial" panose="020B0604020202020204" pitchFamily="34" charset="0"/>
                <a:cs typeface="Arial" panose="020B0604020202020204" pitchFamily="34" charset="0"/>
              </a:rPr>
              <a:t> Organización modular </a:t>
            </a:r>
          </a:p>
          <a:p>
            <a:pPr algn="just">
              <a:lnSpc>
                <a:spcPct val="150000"/>
              </a:lnSpc>
              <a:buClr>
                <a:schemeClr val="bg2">
                  <a:lumMod val="75000"/>
                </a:schemeClr>
              </a:buClr>
              <a:buFont typeface="Wingdings" panose="05000000000000000000" pitchFamily="2" charset="2"/>
              <a:buChar char="q"/>
            </a:pPr>
            <a:r>
              <a:rPr lang="es-MX" sz="1800" dirty="0">
                <a:solidFill>
                  <a:schemeClr val="bg1"/>
                </a:solidFill>
                <a:latin typeface="Arial" panose="020B0604020202020204" pitchFamily="34" charset="0"/>
                <a:cs typeface="Arial" panose="020B0604020202020204" pitchFamily="34" charset="0"/>
              </a:rPr>
              <a:t> Navegación intuitiva </a:t>
            </a:r>
          </a:p>
          <a:p>
            <a:pPr algn="just">
              <a:lnSpc>
                <a:spcPct val="150000"/>
              </a:lnSpc>
              <a:buClr>
                <a:schemeClr val="bg2">
                  <a:lumMod val="75000"/>
                </a:schemeClr>
              </a:buClr>
              <a:buFont typeface="Wingdings" panose="05000000000000000000" pitchFamily="2" charset="2"/>
              <a:buChar char="q"/>
            </a:pPr>
            <a:r>
              <a:rPr lang="es-MX" sz="1800" dirty="0">
                <a:solidFill>
                  <a:schemeClr val="bg1"/>
                </a:solidFill>
                <a:latin typeface="Arial" panose="020B0604020202020204" pitchFamily="34" charset="0"/>
                <a:cs typeface="Arial" panose="020B0604020202020204" pitchFamily="34" charset="0"/>
              </a:rPr>
              <a:t> Retroalimentación del estado del sistema </a:t>
            </a:r>
          </a:p>
          <a:p>
            <a:pPr algn="just">
              <a:lnSpc>
                <a:spcPct val="150000"/>
              </a:lnSpc>
              <a:buClr>
                <a:schemeClr val="bg2">
                  <a:lumMod val="75000"/>
                </a:schemeClr>
              </a:buClr>
              <a:buFont typeface="Wingdings" panose="05000000000000000000" pitchFamily="2" charset="2"/>
              <a:buChar char="q"/>
            </a:pPr>
            <a:r>
              <a:rPr lang="es-MX" sz="1800" dirty="0">
                <a:solidFill>
                  <a:schemeClr val="bg1"/>
                </a:solidFill>
                <a:latin typeface="Arial" panose="020B0604020202020204" pitchFamily="34" charset="0"/>
                <a:cs typeface="Arial" panose="020B0604020202020204" pitchFamily="34" charset="0"/>
              </a:rPr>
              <a:t> Adaptación a diferentes tamaños de pantalla</a:t>
            </a:r>
          </a:p>
        </p:txBody>
      </p:sp>
    </p:spTree>
    <p:extLst>
      <p:ext uri="{BB962C8B-B14F-4D97-AF65-F5344CB8AC3E}">
        <p14:creationId xmlns:p14="http://schemas.microsoft.com/office/powerpoint/2010/main" val="3484184994"/>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AC93616-E4CD-4009-803A-F7ADB9FF0F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Diseño de la interfaz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5590728"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13 muestra el inicio al sistema de simulación </a:t>
            </a:r>
            <a:r>
              <a:rPr lang="es-MX" sz="1600" b="1" dirty="0">
                <a:solidFill>
                  <a:schemeClr val="bg1"/>
                </a:solidFill>
                <a:latin typeface="Arial" panose="020B0604020202020204" pitchFamily="34" charset="0"/>
                <a:cs typeface="Arial" panose="020B0604020202020204" pitchFamily="34" charset="0"/>
              </a:rPr>
              <a:t>Agua Cero</a:t>
            </a:r>
            <a:r>
              <a:rPr lang="es-MX" sz="1600" dirty="0">
                <a:solidFill>
                  <a:schemeClr val="bg1"/>
                </a:solidFill>
                <a:latin typeface="Arial" panose="020B0604020202020204" pitchFamily="34" charset="0"/>
                <a:cs typeface="Arial" panose="020B0604020202020204" pitchFamily="34" charset="0"/>
              </a:rPr>
              <a:t>, esta es la primera instancia de nuestro programa, a través de esta ventana principal podemos tener acceso a la simulación, configuración, resultados e información acerca del sistema</a:t>
            </a:r>
            <a:endParaRPr lang="es-MX" sz="1600" b="1" dirty="0">
              <a:solidFill>
                <a:schemeClr val="bg1"/>
              </a:solidFill>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50067384-17F6-4874-B99F-0B7189BCE863}"/>
              </a:ext>
            </a:extLst>
          </p:cNvPr>
          <p:cNvPicPr>
            <a:picLocks noChangeAspect="1"/>
          </p:cNvPicPr>
          <p:nvPr/>
        </p:nvPicPr>
        <p:blipFill>
          <a:blip r:embed="rId3"/>
          <a:stretch>
            <a:fillRect/>
          </a:stretch>
        </p:blipFill>
        <p:spPr>
          <a:xfrm>
            <a:off x="6427482" y="2150484"/>
            <a:ext cx="5062022" cy="3334871"/>
          </a:xfrm>
          <a:prstGeom prst="rect">
            <a:avLst/>
          </a:prstGeom>
        </p:spPr>
      </p:pic>
      <p:sp>
        <p:nvSpPr>
          <p:cNvPr id="5" name="CuadroTexto 4">
            <a:extLst>
              <a:ext uri="{FF2B5EF4-FFF2-40B4-BE49-F238E27FC236}">
                <a16:creationId xmlns:a16="http://schemas.microsoft.com/office/drawing/2014/main" id="{0A255162-1D81-4957-A18E-7475CEE4F62E}"/>
              </a:ext>
            </a:extLst>
          </p:cNvPr>
          <p:cNvSpPr txBox="1"/>
          <p:nvPr/>
        </p:nvSpPr>
        <p:spPr>
          <a:xfrm>
            <a:off x="8629648" y="5820548"/>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13</a:t>
            </a:r>
          </a:p>
        </p:txBody>
      </p:sp>
    </p:spTree>
    <p:extLst>
      <p:ext uri="{BB962C8B-B14F-4D97-AF65-F5344CB8AC3E}">
        <p14:creationId xmlns:p14="http://schemas.microsoft.com/office/powerpoint/2010/main" val="320487276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FE3E8E4-2C93-45CF-B345-66EE07AB47C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Diseño de la interfaz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5196281"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14 se observa la ventana secundaria que nos da acceso a el sistema de simulación, en ella se genera visualmente el procedimiento de la simulación de la planta purificadora con los parámetros establecidos</a:t>
            </a:r>
            <a:endParaRPr lang="es-MX" sz="1600" b="1" dirty="0">
              <a:solidFill>
                <a:schemeClr val="bg1"/>
              </a:solidFill>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0A255162-1D81-4957-A18E-7475CEE4F62E}"/>
              </a:ext>
            </a:extLst>
          </p:cNvPr>
          <p:cNvSpPr txBox="1"/>
          <p:nvPr/>
        </p:nvSpPr>
        <p:spPr>
          <a:xfrm>
            <a:off x="8629648" y="5820548"/>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14</a:t>
            </a:r>
          </a:p>
        </p:txBody>
      </p:sp>
      <p:pic>
        <p:nvPicPr>
          <p:cNvPr id="4" name="Imagen 3">
            <a:extLst>
              <a:ext uri="{FF2B5EF4-FFF2-40B4-BE49-F238E27FC236}">
                <a16:creationId xmlns:a16="http://schemas.microsoft.com/office/drawing/2014/main" id="{126C2719-F91F-43BF-8D5E-8521D3862507}"/>
              </a:ext>
            </a:extLst>
          </p:cNvPr>
          <p:cNvPicPr>
            <a:picLocks noChangeAspect="1"/>
          </p:cNvPicPr>
          <p:nvPr/>
        </p:nvPicPr>
        <p:blipFill>
          <a:blip r:embed="rId3"/>
          <a:stretch>
            <a:fillRect/>
          </a:stretch>
        </p:blipFill>
        <p:spPr>
          <a:xfrm>
            <a:off x="6293224" y="1937106"/>
            <a:ext cx="5374911" cy="3777894"/>
          </a:xfrm>
          <a:prstGeom prst="rect">
            <a:avLst/>
          </a:prstGeom>
        </p:spPr>
      </p:pic>
    </p:spTree>
    <p:extLst>
      <p:ext uri="{BB962C8B-B14F-4D97-AF65-F5344CB8AC3E}">
        <p14:creationId xmlns:p14="http://schemas.microsoft.com/office/powerpoint/2010/main" val="407427928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Diseño de la interfaz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5196281"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15 se observa una segunda ventana secundaria que nos da acceso a la configuración del escenario, en este apartado nos permite generar los tiempos, la corridas que se desee generar, los costos e incluso agregar un quinto empleado.</a:t>
            </a:r>
            <a:endParaRPr lang="es-MX" sz="1600" b="1" dirty="0">
              <a:solidFill>
                <a:schemeClr val="bg1"/>
              </a:solidFill>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0A255162-1D81-4957-A18E-7475CEE4F62E}"/>
              </a:ext>
            </a:extLst>
          </p:cNvPr>
          <p:cNvSpPr txBox="1"/>
          <p:nvPr/>
        </p:nvSpPr>
        <p:spPr>
          <a:xfrm>
            <a:off x="8481730" y="5922242"/>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15</a:t>
            </a:r>
          </a:p>
        </p:txBody>
      </p:sp>
      <p:pic>
        <p:nvPicPr>
          <p:cNvPr id="7" name="Imagen 6">
            <a:extLst>
              <a:ext uri="{FF2B5EF4-FFF2-40B4-BE49-F238E27FC236}">
                <a16:creationId xmlns:a16="http://schemas.microsoft.com/office/drawing/2014/main" id="{6D08CCDC-0E27-41A3-9B0D-AD1E7EE84A57}"/>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3" name="Imagen 2">
            <a:extLst>
              <a:ext uri="{FF2B5EF4-FFF2-40B4-BE49-F238E27FC236}">
                <a16:creationId xmlns:a16="http://schemas.microsoft.com/office/drawing/2014/main" id="{A2E4CC14-0185-4005-A128-CA438BEBD37C}"/>
              </a:ext>
            </a:extLst>
          </p:cNvPr>
          <p:cNvPicPr>
            <a:picLocks noChangeAspect="1"/>
          </p:cNvPicPr>
          <p:nvPr/>
        </p:nvPicPr>
        <p:blipFill>
          <a:blip r:embed="rId3"/>
          <a:stretch>
            <a:fillRect/>
          </a:stretch>
        </p:blipFill>
        <p:spPr>
          <a:xfrm>
            <a:off x="6096001" y="1888820"/>
            <a:ext cx="5393504" cy="3873451"/>
          </a:xfrm>
          <a:prstGeom prst="rect">
            <a:avLst/>
          </a:prstGeom>
        </p:spPr>
      </p:pic>
    </p:spTree>
    <p:extLst>
      <p:ext uri="{BB962C8B-B14F-4D97-AF65-F5344CB8AC3E}">
        <p14:creationId xmlns:p14="http://schemas.microsoft.com/office/powerpoint/2010/main" val="326265170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Diseño de la interfaz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5196281"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16 se observa una tercera ventana secundaria que nos da acceso a el análisis de la simulación, cuando ya tenemos una ejecución este apartado permite visualizar el tiempo total que se usa para rellenar 40 garrafones, la productividad, costo y un análisis de el rendimiento de cada empleado y esto nos permite analizar la toma de decisiones o un cuello de botella si es que llegase a existir.</a:t>
            </a:r>
            <a:endParaRPr lang="es-MX" sz="1600" b="1" dirty="0">
              <a:solidFill>
                <a:schemeClr val="bg1"/>
              </a:solidFill>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0A255162-1D81-4957-A18E-7475CEE4F62E}"/>
              </a:ext>
            </a:extLst>
          </p:cNvPr>
          <p:cNvSpPr txBox="1"/>
          <p:nvPr/>
        </p:nvSpPr>
        <p:spPr>
          <a:xfrm>
            <a:off x="8481730" y="5922242"/>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16</a:t>
            </a:r>
          </a:p>
        </p:txBody>
      </p:sp>
      <p:pic>
        <p:nvPicPr>
          <p:cNvPr id="7" name="Imagen 6">
            <a:extLst>
              <a:ext uri="{FF2B5EF4-FFF2-40B4-BE49-F238E27FC236}">
                <a16:creationId xmlns:a16="http://schemas.microsoft.com/office/drawing/2014/main" id="{D08229A4-359A-4580-B8FD-6A2481541D8B}"/>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4" name="Imagen 3">
            <a:extLst>
              <a:ext uri="{FF2B5EF4-FFF2-40B4-BE49-F238E27FC236}">
                <a16:creationId xmlns:a16="http://schemas.microsoft.com/office/drawing/2014/main" id="{28F64DE6-30BB-47E5-B4CD-251298EA571A}"/>
              </a:ext>
            </a:extLst>
          </p:cNvPr>
          <p:cNvPicPr>
            <a:picLocks noChangeAspect="1"/>
          </p:cNvPicPr>
          <p:nvPr/>
        </p:nvPicPr>
        <p:blipFill>
          <a:blip r:embed="rId3"/>
          <a:stretch>
            <a:fillRect/>
          </a:stretch>
        </p:blipFill>
        <p:spPr>
          <a:xfrm>
            <a:off x="6096000" y="1916794"/>
            <a:ext cx="5629835" cy="3817190"/>
          </a:xfrm>
          <a:prstGeom prst="rect">
            <a:avLst/>
          </a:prstGeom>
        </p:spPr>
      </p:pic>
    </p:spTree>
    <p:extLst>
      <p:ext uri="{BB962C8B-B14F-4D97-AF65-F5344CB8AC3E}">
        <p14:creationId xmlns:p14="http://schemas.microsoft.com/office/powerpoint/2010/main" val="37364001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Diseño de la interfaz de Agua Cero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2218067"/>
            <a:ext cx="5196281" cy="38734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17 se observa una cuarta ventana secundaria que nos da acceso a la información del sistema, este es un pequeño resumen de la finalidad, propósito y funciones que tiene el programa</a:t>
            </a:r>
            <a:endParaRPr lang="es-MX" sz="1600" b="1" dirty="0">
              <a:solidFill>
                <a:schemeClr val="bg1"/>
              </a:solidFill>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0A255162-1D81-4957-A18E-7475CEE4F62E}"/>
              </a:ext>
            </a:extLst>
          </p:cNvPr>
          <p:cNvSpPr txBox="1"/>
          <p:nvPr/>
        </p:nvSpPr>
        <p:spPr>
          <a:xfrm>
            <a:off x="8481730" y="5922242"/>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17</a:t>
            </a: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3" name="Imagen 2">
            <a:extLst>
              <a:ext uri="{FF2B5EF4-FFF2-40B4-BE49-F238E27FC236}">
                <a16:creationId xmlns:a16="http://schemas.microsoft.com/office/drawing/2014/main" id="{A172C16C-80B2-4F7C-BCB2-BF087C39CE1E}"/>
              </a:ext>
            </a:extLst>
          </p:cNvPr>
          <p:cNvPicPr>
            <a:picLocks noChangeAspect="1"/>
          </p:cNvPicPr>
          <p:nvPr/>
        </p:nvPicPr>
        <p:blipFill>
          <a:blip r:embed="rId3"/>
          <a:stretch>
            <a:fillRect/>
          </a:stretch>
        </p:blipFill>
        <p:spPr>
          <a:xfrm>
            <a:off x="6293225" y="1994831"/>
            <a:ext cx="5196279" cy="3747063"/>
          </a:xfrm>
          <a:prstGeom prst="rect">
            <a:avLst/>
          </a:prstGeom>
        </p:spPr>
      </p:pic>
    </p:spTree>
    <p:extLst>
      <p:ext uri="{BB962C8B-B14F-4D97-AF65-F5344CB8AC3E}">
        <p14:creationId xmlns:p14="http://schemas.microsoft.com/office/powerpoint/2010/main" val="4196325859"/>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Lógica de funcionamiento</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38911102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Empleado.java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1775741"/>
            <a:ext cx="5196281" cy="477297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Empleado.java, representa el estado operativo de cada trabajador durante la ejecución de la simulación. Controla su disponibilidad, actividad actual, tiempo acumulado de trabajo y número de actividades realizadas. </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18 representa la estructura completa del archivo Empleado.java</a:t>
            </a:r>
          </a:p>
        </p:txBody>
      </p:sp>
      <p:sp>
        <p:nvSpPr>
          <p:cNvPr id="5" name="CuadroTexto 4">
            <a:extLst>
              <a:ext uri="{FF2B5EF4-FFF2-40B4-BE49-F238E27FC236}">
                <a16:creationId xmlns:a16="http://schemas.microsoft.com/office/drawing/2014/main" id="{0A255162-1D81-4957-A18E-7475CEE4F62E}"/>
              </a:ext>
            </a:extLst>
          </p:cNvPr>
          <p:cNvSpPr txBox="1"/>
          <p:nvPr/>
        </p:nvSpPr>
        <p:spPr>
          <a:xfrm>
            <a:off x="8481729" y="6048099"/>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18</a:t>
            </a: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7" name="Imagen 6">
            <a:extLst>
              <a:ext uri="{FF2B5EF4-FFF2-40B4-BE49-F238E27FC236}">
                <a16:creationId xmlns:a16="http://schemas.microsoft.com/office/drawing/2014/main" id="{5016F7F3-991E-4DD9-A971-1CF456A31EA4}"/>
              </a:ext>
            </a:extLst>
          </p:cNvPr>
          <p:cNvPicPr>
            <a:picLocks noChangeAspect="1"/>
          </p:cNvPicPr>
          <p:nvPr/>
        </p:nvPicPr>
        <p:blipFill rotWithShape="1">
          <a:blip r:embed="rId3"/>
          <a:srcRect l="27133" r="25662"/>
          <a:stretch/>
        </p:blipFill>
        <p:spPr>
          <a:xfrm>
            <a:off x="7053247" y="1775741"/>
            <a:ext cx="4138666" cy="4095597"/>
          </a:xfrm>
          <a:prstGeom prst="rect">
            <a:avLst/>
          </a:prstGeom>
        </p:spPr>
      </p:pic>
    </p:spTree>
    <p:extLst>
      <p:ext uri="{BB962C8B-B14F-4D97-AF65-F5344CB8AC3E}">
        <p14:creationId xmlns:p14="http://schemas.microsoft.com/office/powerpoint/2010/main" val="1364546359"/>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Empleado.java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02496" y="1775741"/>
            <a:ext cx="5196281" cy="2688683"/>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Este método </a:t>
            </a:r>
            <a:r>
              <a:rPr lang="es-MX" sz="1600" i="1" dirty="0" err="1">
                <a:solidFill>
                  <a:schemeClr val="bg1"/>
                </a:solidFill>
                <a:latin typeface="Arial" panose="020B0604020202020204" pitchFamily="34" charset="0"/>
                <a:cs typeface="Arial" panose="020B0604020202020204" pitchFamily="34" charset="0"/>
              </a:rPr>
              <a:t>calcularUtilizacion</a:t>
            </a:r>
            <a:r>
              <a:rPr lang="es-MX" sz="1600" i="1" dirty="0">
                <a:solidFill>
                  <a:schemeClr val="bg1"/>
                </a:solidFill>
                <a:latin typeface="Arial" panose="020B0604020202020204" pitchFamily="34" charset="0"/>
                <a:cs typeface="Arial" panose="020B0604020202020204" pitchFamily="34" charset="0"/>
              </a:rPr>
              <a:t>() </a:t>
            </a:r>
            <a:r>
              <a:rPr lang="es-MX" sz="1600" dirty="0">
                <a:solidFill>
                  <a:schemeClr val="bg1"/>
                </a:solidFill>
                <a:latin typeface="Arial" panose="020B0604020202020204" pitchFamily="34" charset="0"/>
                <a:cs typeface="Arial" panose="020B0604020202020204" pitchFamily="34" charset="0"/>
              </a:rPr>
              <a:t>calcula el porcentaje de utilización de cada empleado a partir del tiempo que permanece ocupado respecto al tiempo transcurrido. Este indicador permite analizar la carga de trabajo e identificar recursos con alta o baja utilización.</a:t>
            </a:r>
            <a:endParaRPr lang="es-MX" sz="1600" b="1" dirty="0">
              <a:solidFill>
                <a:schemeClr val="bg1"/>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6" name="Rectángulo 5">
            <a:extLst>
              <a:ext uri="{FF2B5EF4-FFF2-40B4-BE49-F238E27FC236}">
                <a16:creationId xmlns:a16="http://schemas.microsoft.com/office/drawing/2014/main" id="{6A5DB519-04A4-4DD7-8694-8DFC842EA33A}"/>
              </a:ext>
            </a:extLst>
          </p:cNvPr>
          <p:cNvSpPr/>
          <p:nvPr/>
        </p:nvSpPr>
        <p:spPr>
          <a:xfrm>
            <a:off x="7063667" y="1921532"/>
            <a:ext cx="4128246" cy="4154984"/>
          </a:xfrm>
          <a:prstGeom prst="rect">
            <a:avLst/>
          </a:prstGeom>
          <a:solidFill>
            <a:srgbClr val="19142A"/>
          </a:solidFill>
        </p:spPr>
        <p:txBody>
          <a:bodyPr wrap="square">
            <a:spAutoFit/>
          </a:bodyPr>
          <a:lstStyle/>
          <a:p>
            <a:r>
              <a:rPr lang="es-MX" sz="1200" dirty="0" err="1">
                <a:solidFill>
                  <a:srgbClr val="BFC7D5"/>
                </a:solidFill>
                <a:latin typeface="Consolas" panose="020B0609020204030204" pitchFamily="49" charset="0"/>
              </a:rPr>
              <a:t>public</a:t>
            </a: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double</a:t>
            </a:r>
            <a:r>
              <a:rPr lang="es-MX" sz="1200" dirty="0">
                <a:solidFill>
                  <a:srgbClr val="BFC7D5"/>
                </a:solidFill>
                <a:latin typeface="Consolas" panose="020B0609020204030204" pitchFamily="49" charset="0"/>
              </a:rPr>
              <a:t> </a:t>
            </a:r>
            <a:r>
              <a:rPr lang="es-MX" sz="1200" dirty="0" err="1">
                <a:solidFill>
                  <a:srgbClr val="B2CCD6"/>
                </a:solidFill>
                <a:latin typeface="Consolas" panose="020B0609020204030204" pitchFamily="49" charset="0"/>
              </a:rPr>
              <a:t>calcularUtilizacion</a:t>
            </a:r>
            <a:r>
              <a:rPr lang="es-MX" sz="1200" dirty="0">
                <a:solidFill>
                  <a:srgbClr val="BFC7D5"/>
                </a:solidFill>
                <a:latin typeface="Consolas" panose="020B0609020204030204" pitchFamily="49" charset="0"/>
              </a:rPr>
              <a:t>(</a:t>
            </a:r>
            <a:r>
              <a:rPr lang="es-MX" sz="1200" dirty="0" err="1">
                <a:solidFill>
                  <a:srgbClr val="7986E7"/>
                </a:solidFill>
                <a:latin typeface="Consolas" panose="020B0609020204030204" pitchFamily="49" charset="0"/>
              </a:rPr>
              <a:t>double</a:t>
            </a:r>
            <a:r>
              <a:rPr lang="es-MX" sz="1200" dirty="0">
                <a:solidFill>
                  <a:srgbClr val="7986E7"/>
                </a:solidFill>
                <a:latin typeface="Consolas" panose="020B0609020204030204" pitchFamily="49" charset="0"/>
              </a:rPr>
              <a:t> </a:t>
            </a:r>
            <a:r>
              <a:rPr lang="es-MX" sz="1200" dirty="0" err="1">
                <a:solidFill>
                  <a:srgbClr val="7986E7"/>
                </a:solidFill>
                <a:latin typeface="Consolas" panose="020B0609020204030204" pitchFamily="49" charset="0"/>
              </a:rPr>
              <a:t>tiempoActual</a:t>
            </a:r>
            <a:r>
              <a:rPr lang="es-MX" sz="1200" dirty="0">
                <a:solidFill>
                  <a:srgbClr val="BFC7D5"/>
                </a:solidFill>
                <a:latin typeface="Consolas" panose="020B0609020204030204" pitchFamily="49" charset="0"/>
              </a:rPr>
              <a:t>) {</a:t>
            </a:r>
          </a:p>
          <a:p>
            <a:br>
              <a:rPr lang="es-MX" sz="1200" dirty="0">
                <a:solidFill>
                  <a:srgbClr val="BFC7D5"/>
                </a:solidFill>
                <a:latin typeface="Consolas" panose="020B0609020204030204" pitchFamily="49" charset="0"/>
              </a:rPr>
            </a:br>
            <a:r>
              <a:rPr lang="es-MX" sz="1200" dirty="0">
                <a:solidFill>
                  <a:srgbClr val="BFC7D5"/>
                </a:solidFill>
                <a:latin typeface="Consolas" panose="020B0609020204030204" pitchFamily="49" charset="0"/>
              </a:rPr>
              <a:t>    </a:t>
            </a:r>
            <a:r>
              <a:rPr lang="es-MX" sz="1200" dirty="0" err="1">
                <a:solidFill>
                  <a:srgbClr val="C792EA"/>
                </a:solidFill>
                <a:latin typeface="Consolas" panose="020B0609020204030204" pitchFamily="49" charset="0"/>
              </a:rPr>
              <a:t>if</a:t>
            </a: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tiempoActual</a:t>
            </a:r>
            <a:r>
              <a:rPr lang="es-MX" sz="1200" dirty="0">
                <a:solidFill>
                  <a:srgbClr val="BFC7D5"/>
                </a:solidFill>
                <a:latin typeface="Consolas" panose="020B0609020204030204" pitchFamily="49" charset="0"/>
              </a:rPr>
              <a:t> </a:t>
            </a:r>
            <a:r>
              <a:rPr lang="es-MX" sz="1200" dirty="0">
                <a:solidFill>
                  <a:srgbClr val="C792EA"/>
                </a:solidFill>
                <a:latin typeface="Consolas" panose="020B0609020204030204" pitchFamily="49" charset="0"/>
              </a:rPr>
              <a:t>&lt;=</a:t>
            </a:r>
            <a:r>
              <a:rPr lang="es-MX" sz="1200" dirty="0">
                <a:solidFill>
                  <a:srgbClr val="BFC7D5"/>
                </a:solidFill>
                <a:latin typeface="Consolas" panose="020B0609020204030204" pitchFamily="49" charset="0"/>
              </a:rPr>
              <a:t> </a:t>
            </a:r>
            <a:r>
              <a:rPr lang="es-MX" sz="1200" dirty="0">
                <a:solidFill>
                  <a:srgbClr val="F78C6C"/>
                </a:solidFill>
                <a:latin typeface="Consolas" panose="020B0609020204030204" pitchFamily="49" charset="0"/>
              </a:rPr>
              <a:t>0</a:t>
            </a:r>
            <a:r>
              <a:rPr lang="es-MX" sz="1200" dirty="0">
                <a:solidFill>
                  <a:srgbClr val="BFC7D5"/>
                </a:solidFill>
                <a:latin typeface="Consolas" panose="020B0609020204030204" pitchFamily="49" charset="0"/>
              </a:rPr>
              <a:t>) {</a:t>
            </a:r>
          </a:p>
          <a:p>
            <a:r>
              <a:rPr lang="es-MX" sz="1200" dirty="0">
                <a:solidFill>
                  <a:srgbClr val="BFC7D5"/>
                </a:solidFill>
                <a:latin typeface="Consolas" panose="020B0609020204030204" pitchFamily="49" charset="0"/>
              </a:rPr>
              <a:t>        </a:t>
            </a:r>
            <a:r>
              <a:rPr lang="es-MX" sz="1200" dirty="0" err="1">
                <a:solidFill>
                  <a:srgbClr val="C792EA"/>
                </a:solidFill>
                <a:latin typeface="Consolas" panose="020B0609020204030204" pitchFamily="49" charset="0"/>
              </a:rPr>
              <a:t>return</a:t>
            </a:r>
            <a:r>
              <a:rPr lang="es-MX" sz="1200" dirty="0">
                <a:solidFill>
                  <a:srgbClr val="BFC7D5"/>
                </a:solidFill>
                <a:latin typeface="Consolas" panose="020B0609020204030204" pitchFamily="49" charset="0"/>
              </a:rPr>
              <a:t> </a:t>
            </a:r>
            <a:r>
              <a:rPr lang="es-MX" sz="1200" dirty="0">
                <a:solidFill>
                  <a:srgbClr val="F78C6C"/>
                </a:solidFill>
                <a:latin typeface="Consolas" panose="020B0609020204030204" pitchFamily="49" charset="0"/>
              </a:rPr>
              <a:t>0</a:t>
            </a:r>
            <a:r>
              <a:rPr lang="es-MX" sz="1200" dirty="0">
                <a:solidFill>
                  <a:srgbClr val="BFC7D5"/>
                </a:solidFill>
                <a:latin typeface="Consolas" panose="020B0609020204030204" pitchFamily="49" charset="0"/>
              </a:rPr>
              <a:t>;</a:t>
            </a:r>
          </a:p>
          <a:p>
            <a:r>
              <a:rPr lang="es-MX" sz="1200" dirty="0">
                <a:solidFill>
                  <a:srgbClr val="BFC7D5"/>
                </a:solidFill>
                <a:latin typeface="Consolas" panose="020B0609020204030204" pitchFamily="49" charset="0"/>
              </a:rPr>
              <a:t>    }</a:t>
            </a:r>
          </a:p>
          <a:p>
            <a:br>
              <a:rPr lang="es-MX" sz="1200" dirty="0">
                <a:solidFill>
                  <a:srgbClr val="BFC7D5"/>
                </a:solidFill>
                <a:latin typeface="Consolas" panose="020B0609020204030204" pitchFamily="49" charset="0"/>
              </a:rPr>
            </a:b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double</a:t>
            </a: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ocupadoAcumulado</a:t>
            </a:r>
            <a:r>
              <a:rPr lang="es-MX" sz="1200" dirty="0">
                <a:solidFill>
                  <a:srgbClr val="BFC7D5"/>
                </a:solidFill>
                <a:latin typeface="Consolas" panose="020B0609020204030204" pitchFamily="49" charset="0"/>
              </a:rPr>
              <a:t> = </a:t>
            </a:r>
            <a:r>
              <a:rPr lang="es-MX" sz="1200" dirty="0" err="1">
                <a:solidFill>
                  <a:srgbClr val="BFC7D5"/>
                </a:solidFill>
                <a:latin typeface="Consolas" panose="020B0609020204030204" pitchFamily="49" charset="0"/>
              </a:rPr>
              <a:t>tiempoTotalOcupado</a:t>
            </a:r>
            <a:r>
              <a:rPr lang="es-MX" sz="1200" dirty="0">
                <a:solidFill>
                  <a:srgbClr val="BFC7D5"/>
                </a:solidFill>
                <a:latin typeface="Consolas" panose="020B0609020204030204" pitchFamily="49" charset="0"/>
              </a:rPr>
              <a:t>;</a:t>
            </a:r>
          </a:p>
          <a:p>
            <a:br>
              <a:rPr lang="es-MX" sz="1200" dirty="0">
                <a:solidFill>
                  <a:srgbClr val="BFC7D5"/>
                </a:solidFill>
                <a:latin typeface="Consolas" panose="020B0609020204030204" pitchFamily="49" charset="0"/>
              </a:rPr>
            </a:br>
            <a:r>
              <a:rPr lang="es-MX" sz="1200" dirty="0">
                <a:solidFill>
                  <a:srgbClr val="BFC7D5"/>
                </a:solidFill>
                <a:latin typeface="Consolas" panose="020B0609020204030204" pitchFamily="49" charset="0"/>
              </a:rPr>
              <a:t>    </a:t>
            </a:r>
            <a:r>
              <a:rPr lang="es-MX" sz="1200" dirty="0" err="1">
                <a:solidFill>
                  <a:srgbClr val="C792EA"/>
                </a:solidFill>
                <a:latin typeface="Consolas" panose="020B0609020204030204" pitchFamily="49" charset="0"/>
              </a:rPr>
              <a:t>if</a:t>
            </a:r>
            <a:r>
              <a:rPr lang="es-MX" sz="1200" dirty="0">
                <a:solidFill>
                  <a:srgbClr val="BFC7D5"/>
                </a:solidFill>
                <a:latin typeface="Consolas" panose="020B0609020204030204" pitchFamily="49" charset="0"/>
              </a:rPr>
              <a:t> (ocupado) {</a:t>
            </a:r>
          </a:p>
          <a:p>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ocupadoAcumulado</a:t>
            </a:r>
            <a:r>
              <a:rPr lang="es-MX" sz="1200" dirty="0">
                <a:solidFill>
                  <a:srgbClr val="BFC7D5"/>
                </a:solidFill>
                <a:latin typeface="Consolas" panose="020B0609020204030204" pitchFamily="49" charset="0"/>
              </a:rPr>
              <a:t> </a:t>
            </a:r>
            <a:r>
              <a:rPr lang="es-MX" sz="1200" dirty="0">
                <a:solidFill>
                  <a:srgbClr val="89DDFF"/>
                </a:solidFill>
                <a:latin typeface="Consolas" panose="020B0609020204030204" pitchFamily="49" charset="0"/>
              </a:rPr>
              <a:t>+</a:t>
            </a:r>
            <a:r>
              <a:rPr lang="es-MX" sz="1200" dirty="0">
                <a:solidFill>
                  <a:srgbClr val="BFC7D5"/>
                </a:solidFill>
                <a:latin typeface="Consolas" panose="020B0609020204030204" pitchFamily="49" charset="0"/>
              </a:rPr>
              <a:t>=</a:t>
            </a:r>
          </a:p>
          <a:p>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tiempoActual</a:t>
            </a:r>
            <a:r>
              <a:rPr lang="es-MX" sz="1200" dirty="0">
                <a:solidFill>
                  <a:srgbClr val="BFC7D5"/>
                </a:solidFill>
                <a:latin typeface="Consolas" panose="020B0609020204030204" pitchFamily="49" charset="0"/>
              </a:rPr>
              <a:t> </a:t>
            </a:r>
            <a:r>
              <a:rPr lang="es-MX" sz="1200" dirty="0">
                <a:solidFill>
                  <a:srgbClr val="89DDFF"/>
                </a:solidFill>
                <a:latin typeface="Consolas" panose="020B0609020204030204" pitchFamily="49" charset="0"/>
              </a:rPr>
              <a:t>-</a:t>
            </a: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tiempoInicioActividad</a:t>
            </a:r>
            <a:r>
              <a:rPr lang="es-MX" sz="1200" dirty="0">
                <a:solidFill>
                  <a:srgbClr val="BFC7D5"/>
                </a:solidFill>
                <a:latin typeface="Consolas" panose="020B0609020204030204" pitchFamily="49" charset="0"/>
              </a:rPr>
              <a:t>;</a:t>
            </a:r>
          </a:p>
          <a:p>
            <a:r>
              <a:rPr lang="es-MX" sz="1200" dirty="0">
                <a:solidFill>
                  <a:srgbClr val="BFC7D5"/>
                </a:solidFill>
                <a:latin typeface="Consolas" panose="020B0609020204030204" pitchFamily="49" charset="0"/>
              </a:rPr>
              <a:t>    }</a:t>
            </a:r>
          </a:p>
          <a:p>
            <a:br>
              <a:rPr lang="es-MX" sz="1200" dirty="0">
                <a:solidFill>
                  <a:srgbClr val="BFC7D5"/>
                </a:solidFill>
                <a:latin typeface="Consolas" panose="020B0609020204030204" pitchFamily="49" charset="0"/>
              </a:rPr>
            </a:b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double</a:t>
            </a: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utilizacion</a:t>
            </a:r>
            <a:r>
              <a:rPr lang="es-MX" sz="1200" dirty="0">
                <a:solidFill>
                  <a:srgbClr val="BFC7D5"/>
                </a:solidFill>
                <a:latin typeface="Consolas" panose="020B0609020204030204" pitchFamily="49" charset="0"/>
              </a:rPr>
              <a:t> =</a:t>
            </a:r>
          </a:p>
          <a:p>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ocupadoAcumulado</a:t>
            </a:r>
            <a:r>
              <a:rPr lang="es-MX" sz="1200" dirty="0">
                <a:solidFill>
                  <a:srgbClr val="BFC7D5"/>
                </a:solidFill>
                <a:latin typeface="Consolas" panose="020B0609020204030204" pitchFamily="49" charset="0"/>
              </a:rPr>
              <a:t> </a:t>
            </a:r>
            <a:r>
              <a:rPr lang="es-MX" sz="1200" dirty="0">
                <a:solidFill>
                  <a:srgbClr val="89DDFF"/>
                </a:solidFill>
                <a:latin typeface="Consolas" panose="020B0609020204030204" pitchFamily="49" charset="0"/>
              </a:rPr>
              <a:t>/</a:t>
            </a: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tiempoActual</a:t>
            </a:r>
            <a:r>
              <a:rPr lang="es-MX" sz="1200" dirty="0">
                <a:solidFill>
                  <a:srgbClr val="BFC7D5"/>
                </a:solidFill>
                <a:latin typeface="Consolas" panose="020B0609020204030204" pitchFamily="49" charset="0"/>
              </a:rPr>
              <a:t>) </a:t>
            </a:r>
            <a:r>
              <a:rPr lang="es-MX" sz="1200" dirty="0">
                <a:solidFill>
                  <a:srgbClr val="89DDFF"/>
                </a:solidFill>
                <a:latin typeface="Consolas" panose="020B0609020204030204" pitchFamily="49" charset="0"/>
              </a:rPr>
              <a:t>*</a:t>
            </a:r>
            <a:r>
              <a:rPr lang="es-MX" sz="1200" dirty="0">
                <a:solidFill>
                  <a:srgbClr val="BFC7D5"/>
                </a:solidFill>
                <a:latin typeface="Consolas" panose="020B0609020204030204" pitchFamily="49" charset="0"/>
              </a:rPr>
              <a:t> </a:t>
            </a:r>
            <a:r>
              <a:rPr lang="es-MX" sz="1200" dirty="0">
                <a:solidFill>
                  <a:srgbClr val="F78C6C"/>
                </a:solidFill>
                <a:latin typeface="Consolas" panose="020B0609020204030204" pitchFamily="49" charset="0"/>
              </a:rPr>
              <a:t>100.0</a:t>
            </a:r>
            <a:r>
              <a:rPr lang="es-MX" sz="1200" dirty="0">
                <a:solidFill>
                  <a:srgbClr val="BFC7D5"/>
                </a:solidFill>
                <a:latin typeface="Consolas" panose="020B0609020204030204" pitchFamily="49" charset="0"/>
              </a:rPr>
              <a:t>;</a:t>
            </a:r>
          </a:p>
          <a:p>
            <a:br>
              <a:rPr lang="es-MX" sz="1200" dirty="0">
                <a:solidFill>
                  <a:srgbClr val="BFC7D5"/>
                </a:solidFill>
                <a:latin typeface="Consolas" panose="020B0609020204030204" pitchFamily="49" charset="0"/>
              </a:rPr>
            </a:br>
            <a:r>
              <a:rPr lang="es-MX" sz="1200" dirty="0">
                <a:solidFill>
                  <a:srgbClr val="BFC7D5"/>
                </a:solidFill>
                <a:latin typeface="Consolas" panose="020B0609020204030204" pitchFamily="49" charset="0"/>
              </a:rPr>
              <a:t>    </a:t>
            </a:r>
            <a:r>
              <a:rPr lang="es-MX" sz="1200" dirty="0" err="1">
                <a:solidFill>
                  <a:srgbClr val="C792EA"/>
                </a:solidFill>
                <a:latin typeface="Consolas" panose="020B0609020204030204" pitchFamily="49" charset="0"/>
              </a:rPr>
              <a:t>return</a:t>
            </a:r>
            <a:r>
              <a:rPr lang="es-MX" sz="1200" dirty="0">
                <a:solidFill>
                  <a:srgbClr val="BFC7D5"/>
                </a:solidFill>
                <a:latin typeface="Consolas" panose="020B0609020204030204" pitchFamily="49" charset="0"/>
              </a:rPr>
              <a:t> </a:t>
            </a:r>
            <a:r>
              <a:rPr lang="es-MX" sz="1200" dirty="0" err="1">
                <a:solidFill>
                  <a:srgbClr val="BFC7D5"/>
                </a:solidFill>
                <a:latin typeface="Consolas" panose="020B0609020204030204" pitchFamily="49" charset="0"/>
              </a:rPr>
              <a:t>Math.</a:t>
            </a:r>
            <a:r>
              <a:rPr lang="es-MX" sz="1200" dirty="0" err="1">
                <a:solidFill>
                  <a:srgbClr val="B2CCD6"/>
                </a:solidFill>
                <a:latin typeface="Consolas" panose="020B0609020204030204" pitchFamily="49" charset="0"/>
              </a:rPr>
              <a:t>min</a:t>
            </a:r>
            <a:r>
              <a:rPr lang="es-MX" sz="1200" dirty="0">
                <a:solidFill>
                  <a:srgbClr val="BFC7D5"/>
                </a:solidFill>
                <a:latin typeface="Consolas" panose="020B0609020204030204" pitchFamily="49" charset="0"/>
              </a:rPr>
              <a:t>(</a:t>
            </a:r>
            <a:r>
              <a:rPr lang="es-MX" sz="1200" dirty="0" err="1">
                <a:solidFill>
                  <a:srgbClr val="7986E7"/>
                </a:solidFill>
                <a:latin typeface="Consolas" panose="020B0609020204030204" pitchFamily="49" charset="0"/>
              </a:rPr>
              <a:t>utilizacion</a:t>
            </a:r>
            <a:r>
              <a:rPr lang="es-MX" sz="1200" dirty="0">
                <a:solidFill>
                  <a:srgbClr val="D9F5DD"/>
                </a:solidFill>
                <a:latin typeface="Consolas" panose="020B0609020204030204" pitchFamily="49" charset="0"/>
              </a:rPr>
              <a:t>,</a:t>
            </a:r>
            <a:r>
              <a:rPr lang="es-MX" sz="1200" dirty="0">
                <a:solidFill>
                  <a:srgbClr val="7986E7"/>
                </a:solidFill>
                <a:latin typeface="Consolas" panose="020B0609020204030204" pitchFamily="49" charset="0"/>
              </a:rPr>
              <a:t> </a:t>
            </a:r>
            <a:r>
              <a:rPr lang="es-MX" sz="1200" dirty="0">
                <a:solidFill>
                  <a:srgbClr val="F78C6C"/>
                </a:solidFill>
                <a:latin typeface="Consolas" panose="020B0609020204030204" pitchFamily="49" charset="0"/>
              </a:rPr>
              <a:t>100.0</a:t>
            </a:r>
            <a:r>
              <a:rPr lang="es-MX" sz="1200" dirty="0">
                <a:solidFill>
                  <a:srgbClr val="BFC7D5"/>
                </a:solidFill>
                <a:latin typeface="Consolas" panose="020B0609020204030204" pitchFamily="49" charset="0"/>
              </a:rPr>
              <a:t>);</a:t>
            </a:r>
          </a:p>
          <a:p>
            <a:r>
              <a:rPr lang="es-MX" sz="1200" dirty="0">
                <a:solidFill>
                  <a:srgbClr val="BFC7D5"/>
                </a:solidFill>
                <a:latin typeface="Consolas" panose="020B0609020204030204" pitchFamily="49" charset="0"/>
              </a:rPr>
              <a:t>}</a:t>
            </a:r>
            <a:endParaRPr lang="es-MX" sz="1200" b="0" dirty="0">
              <a:solidFill>
                <a:srgbClr val="BFC7D5"/>
              </a:solidFill>
              <a:effectLst/>
              <a:latin typeface="Consolas" panose="020B0609020204030204" pitchFamily="49" charset="0"/>
            </a:endParaRPr>
          </a:p>
        </p:txBody>
      </p:sp>
    </p:spTree>
    <p:extLst>
      <p:ext uri="{BB962C8B-B14F-4D97-AF65-F5344CB8AC3E}">
        <p14:creationId xmlns:p14="http://schemas.microsoft.com/office/powerpoint/2010/main" val="12237701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EmpleadoConfiguracion.java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2" y="1761917"/>
            <a:ext cx="5196281" cy="3105541"/>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El archivo EmpleadoConfiguracion.java define la configuración de los recursos humanos para cada escenario. Almacena si un empleado está activo, su costo por hora y las actividades que tiene autorizadas para realizar.</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19 representa la estructura completa del archivo EmpleadoConfiguracion.java</a:t>
            </a:r>
          </a:p>
          <a:p>
            <a:pPr marL="0" indent="0" algn="just">
              <a:lnSpc>
                <a:spcPct val="150000"/>
              </a:lnSpc>
              <a:buClr>
                <a:schemeClr val="bg2">
                  <a:lumMod val="75000"/>
                </a:schemeClr>
              </a:buClr>
              <a:buNone/>
            </a:pPr>
            <a:endParaRPr lang="es-MX" sz="1600" b="1" dirty="0">
              <a:solidFill>
                <a:schemeClr val="bg1"/>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4" name="Imagen 3">
            <a:extLst>
              <a:ext uri="{FF2B5EF4-FFF2-40B4-BE49-F238E27FC236}">
                <a16:creationId xmlns:a16="http://schemas.microsoft.com/office/drawing/2014/main" id="{E7047B02-3882-48E4-9D01-3819BE68E1E0}"/>
              </a:ext>
            </a:extLst>
          </p:cNvPr>
          <p:cNvPicPr>
            <a:picLocks noChangeAspect="1"/>
          </p:cNvPicPr>
          <p:nvPr/>
        </p:nvPicPr>
        <p:blipFill rotWithShape="1">
          <a:blip r:embed="rId3"/>
          <a:srcRect l="26471" r="26764"/>
          <a:stretch/>
        </p:blipFill>
        <p:spPr>
          <a:xfrm>
            <a:off x="6656294" y="1761741"/>
            <a:ext cx="4356847" cy="4343953"/>
          </a:xfrm>
          <a:prstGeom prst="rect">
            <a:avLst/>
          </a:prstGeom>
        </p:spPr>
      </p:pic>
      <p:sp>
        <p:nvSpPr>
          <p:cNvPr id="9" name="CuadroTexto 8">
            <a:extLst>
              <a:ext uri="{FF2B5EF4-FFF2-40B4-BE49-F238E27FC236}">
                <a16:creationId xmlns:a16="http://schemas.microsoft.com/office/drawing/2014/main" id="{BD05780F-4816-4FB4-B1B5-D80B9C05CCA2}"/>
              </a:ext>
            </a:extLst>
          </p:cNvPr>
          <p:cNvSpPr txBox="1"/>
          <p:nvPr/>
        </p:nvSpPr>
        <p:spPr>
          <a:xfrm>
            <a:off x="8427940" y="621737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19</a:t>
            </a:r>
          </a:p>
        </p:txBody>
      </p:sp>
    </p:spTree>
    <p:extLst>
      <p:ext uri="{BB962C8B-B14F-4D97-AF65-F5344CB8AC3E}">
        <p14:creationId xmlns:p14="http://schemas.microsoft.com/office/powerpoint/2010/main" val="246793649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EmpleadoConfiguracion.java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36954" y="2063760"/>
            <a:ext cx="5196281" cy="3105541"/>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El método </a:t>
            </a:r>
            <a:r>
              <a:rPr lang="es-MX" sz="1600" i="1" dirty="0" err="1">
                <a:solidFill>
                  <a:schemeClr val="bg1"/>
                </a:solidFill>
                <a:latin typeface="Arial" panose="020B0604020202020204" pitchFamily="34" charset="0"/>
                <a:cs typeface="Arial" panose="020B0604020202020204" pitchFamily="34" charset="0"/>
              </a:rPr>
              <a:t>puedeRealizar</a:t>
            </a:r>
            <a:r>
              <a:rPr lang="es-MX" sz="1600" i="1" dirty="0">
                <a:solidFill>
                  <a:schemeClr val="bg1"/>
                </a:solidFill>
                <a:latin typeface="Arial" panose="020B0604020202020204" pitchFamily="34" charset="0"/>
                <a:cs typeface="Arial" panose="020B0604020202020204" pitchFamily="34" charset="0"/>
              </a:rPr>
              <a:t>() </a:t>
            </a:r>
            <a:r>
              <a:rPr lang="es-MX" sz="1600" dirty="0">
                <a:solidFill>
                  <a:schemeClr val="bg1"/>
                </a:solidFill>
                <a:latin typeface="Arial" panose="020B0604020202020204" pitchFamily="34" charset="0"/>
                <a:cs typeface="Arial" panose="020B0604020202020204" pitchFamily="34" charset="0"/>
              </a:rPr>
              <a:t>permite comprobar si un trabajador se encuentra activo y autorizado para ejecutar una determinada actividad, haciendo posible modificar la asignación del personal entre diferentes escenarios.</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Esta lógica se relaciona con la estructura dinámica de empleados que después utiliza </a:t>
            </a:r>
            <a:r>
              <a:rPr lang="es-MX" sz="1600" i="1" dirty="0" err="1">
                <a:solidFill>
                  <a:schemeClr val="bg1"/>
                </a:solidFill>
                <a:latin typeface="Arial" panose="020B0604020202020204" pitchFamily="34" charset="0"/>
                <a:cs typeface="Arial" panose="020B0604020202020204" pitchFamily="34" charset="0"/>
              </a:rPr>
              <a:t>ParametrosSimulacion</a:t>
            </a:r>
            <a:r>
              <a:rPr lang="es-MX" sz="1600" dirty="0">
                <a:solidFill>
                  <a:schemeClr val="bg1"/>
                </a:solidFill>
                <a:latin typeface="Arial" panose="020B0604020202020204" pitchFamily="34" charset="0"/>
                <a:cs typeface="Arial" panose="020B0604020202020204" pitchFamily="34" charset="0"/>
              </a:rPr>
              <a:t>, donde pueden incorporarse E5 sin hacer una variable individual.</a:t>
            </a: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3" name="Rectángulo 2">
            <a:extLst>
              <a:ext uri="{FF2B5EF4-FFF2-40B4-BE49-F238E27FC236}">
                <a16:creationId xmlns:a16="http://schemas.microsoft.com/office/drawing/2014/main" id="{BD83856C-68A6-473E-8351-322773946494}"/>
              </a:ext>
            </a:extLst>
          </p:cNvPr>
          <p:cNvSpPr/>
          <p:nvPr/>
        </p:nvSpPr>
        <p:spPr>
          <a:xfrm>
            <a:off x="6870925" y="2063760"/>
            <a:ext cx="4320988" cy="3108543"/>
          </a:xfrm>
          <a:prstGeom prst="rect">
            <a:avLst/>
          </a:prstGeom>
          <a:solidFill>
            <a:srgbClr val="19142A"/>
          </a:solidFill>
        </p:spPr>
        <p:txBody>
          <a:bodyPr wrap="square">
            <a:spAutoFit/>
          </a:bodyPr>
          <a:lstStyle/>
          <a:p>
            <a:r>
              <a:rPr lang="es-MX" sz="1400" dirty="0" err="1">
                <a:solidFill>
                  <a:srgbClr val="BFC7D5"/>
                </a:solidFill>
                <a:latin typeface="Consolas" panose="020B0609020204030204" pitchFamily="49" charset="0"/>
              </a:rPr>
              <a:t>public</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boolean</a:t>
            </a:r>
            <a:r>
              <a:rPr lang="es-MX" sz="1400" dirty="0">
                <a:solidFill>
                  <a:srgbClr val="BFC7D5"/>
                </a:solidFill>
                <a:latin typeface="Consolas" panose="020B0609020204030204" pitchFamily="49" charset="0"/>
              </a:rPr>
              <a:t> </a:t>
            </a:r>
            <a:r>
              <a:rPr lang="es-MX" sz="1400" dirty="0" err="1">
                <a:solidFill>
                  <a:srgbClr val="B2CCD6"/>
                </a:solidFill>
                <a:latin typeface="Consolas" panose="020B0609020204030204" pitchFamily="49" charset="0"/>
              </a:rPr>
              <a:t>puedeRealizar</a:t>
            </a:r>
            <a:r>
              <a:rPr lang="es-MX" sz="1400" dirty="0">
                <a:solidFill>
                  <a:srgbClr val="BFC7D5"/>
                </a:solidFill>
                <a:latin typeface="Consolas" panose="020B0609020204030204" pitchFamily="49" charset="0"/>
              </a:rPr>
              <a:t>(</a:t>
            </a:r>
            <a:r>
              <a:rPr lang="es-MX" sz="1400" dirty="0" err="1">
                <a:solidFill>
                  <a:srgbClr val="7986E7"/>
                </a:solidFill>
                <a:latin typeface="Consolas" panose="020B0609020204030204" pitchFamily="49" charset="0"/>
              </a:rPr>
              <a:t>String</a:t>
            </a:r>
            <a:r>
              <a:rPr lang="es-MX" sz="1400" dirty="0">
                <a:solidFill>
                  <a:srgbClr val="7986E7"/>
                </a:solidFill>
                <a:latin typeface="Consolas" panose="020B0609020204030204" pitchFamily="49" charset="0"/>
              </a:rPr>
              <a:t> actividad</a:t>
            </a:r>
            <a:r>
              <a:rPr lang="es-MX" sz="1400" dirty="0">
                <a:solidFill>
                  <a:srgbClr val="BFC7D5"/>
                </a:solidFill>
                <a:latin typeface="Consolas" panose="020B0609020204030204" pitchFamily="49" charset="0"/>
              </a:rPr>
              <a:t>) {</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if</a:t>
            </a:r>
            <a:r>
              <a:rPr lang="es-MX" sz="1400" dirty="0">
                <a:solidFill>
                  <a:srgbClr val="BFC7D5"/>
                </a:solidFill>
                <a:latin typeface="Consolas" panose="020B0609020204030204" pitchFamily="49" charset="0"/>
              </a:rPr>
              <a:t> (</a:t>
            </a:r>
            <a:r>
              <a:rPr lang="es-MX" sz="1400" dirty="0">
                <a:solidFill>
                  <a:srgbClr val="FFFFFF"/>
                </a:solidFill>
                <a:latin typeface="Consolas" panose="020B0609020204030204" pitchFamily="49" charset="0"/>
              </a:rPr>
              <a:t>!</a:t>
            </a:r>
            <a:r>
              <a:rPr lang="es-MX" sz="1400" dirty="0">
                <a:solidFill>
                  <a:srgbClr val="BFC7D5"/>
                </a:solidFill>
                <a:latin typeface="Consolas" panose="020B0609020204030204" pitchFamily="49" charset="0"/>
              </a:rPr>
              <a:t>activo) {</a:t>
            </a:r>
          </a:p>
          <a:p>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return</a:t>
            </a:r>
            <a:r>
              <a:rPr lang="es-MX" sz="1400" dirty="0">
                <a:solidFill>
                  <a:srgbClr val="BFC7D5"/>
                </a:solidFill>
                <a:latin typeface="Consolas" panose="020B0609020204030204" pitchFamily="49" charset="0"/>
              </a:rPr>
              <a:t> false;</a:t>
            </a:r>
          </a:p>
          <a:p>
            <a:r>
              <a:rPr lang="es-MX" sz="1400" dirty="0">
                <a:solidFill>
                  <a:srgbClr val="BFC7D5"/>
                </a:solidFill>
                <a:latin typeface="Consolas" panose="020B0609020204030204" pitchFamily="49" charset="0"/>
              </a:rPr>
              <a:t>    }</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if</a:t>
            </a:r>
            <a:r>
              <a:rPr lang="es-MX" sz="1400" dirty="0">
                <a:solidFill>
                  <a:srgbClr val="BFC7D5"/>
                </a:solidFill>
                <a:latin typeface="Consolas" panose="020B0609020204030204" pitchFamily="49" charset="0"/>
              </a:rPr>
              <a:t> (actividad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null</a:t>
            </a:r>
            <a:r>
              <a:rPr lang="es-MX" sz="1400" dirty="0">
                <a:solidFill>
                  <a:srgbClr val="BFC7D5"/>
                </a:solidFill>
                <a:latin typeface="Consolas" panose="020B0609020204030204" pitchFamily="49" charset="0"/>
              </a:rPr>
              <a:t>) {</a:t>
            </a:r>
          </a:p>
          <a:p>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return</a:t>
            </a:r>
            <a:r>
              <a:rPr lang="es-MX" sz="1400" dirty="0">
                <a:solidFill>
                  <a:srgbClr val="BFC7D5"/>
                </a:solidFill>
                <a:latin typeface="Consolas" panose="020B0609020204030204" pitchFamily="49" charset="0"/>
              </a:rPr>
              <a:t> false;</a:t>
            </a:r>
          </a:p>
          <a:p>
            <a:r>
              <a:rPr lang="es-MX" sz="1400" dirty="0">
                <a:solidFill>
                  <a:srgbClr val="BFC7D5"/>
                </a:solidFill>
                <a:latin typeface="Consolas" panose="020B0609020204030204" pitchFamily="49" charset="0"/>
              </a:rPr>
              <a:t>    }</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return</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actividadesPermitidas.</a:t>
            </a:r>
            <a:r>
              <a:rPr lang="es-MX" sz="1400" dirty="0" err="1">
                <a:solidFill>
                  <a:srgbClr val="B2CCD6"/>
                </a:solidFill>
                <a:latin typeface="Consolas" panose="020B0609020204030204" pitchFamily="49" charset="0"/>
              </a:rPr>
              <a:t>contains</a:t>
            </a:r>
            <a:r>
              <a:rPr lang="es-MX" sz="1400" dirty="0">
                <a:solidFill>
                  <a:srgbClr val="BFC7D5"/>
                </a:solidFill>
                <a:latin typeface="Consolas" panose="020B0609020204030204" pitchFamily="49" charset="0"/>
              </a:rPr>
              <a:t>(</a:t>
            </a:r>
            <a:r>
              <a:rPr lang="es-MX" sz="1400" dirty="0">
                <a:solidFill>
                  <a:srgbClr val="7986E7"/>
                </a:solidFill>
                <a:latin typeface="Consolas" panose="020B0609020204030204" pitchFamily="49" charset="0"/>
              </a:rPr>
              <a:t>actividad</a:t>
            </a:r>
            <a:r>
              <a:rPr lang="es-MX" sz="1400" dirty="0">
                <a:solidFill>
                  <a:srgbClr val="BFC7D5"/>
                </a:solidFill>
                <a:latin typeface="Consolas" panose="020B0609020204030204" pitchFamily="49" charset="0"/>
              </a:rPr>
              <a:t>);</a:t>
            </a:r>
          </a:p>
          <a:p>
            <a:r>
              <a:rPr lang="es-MX" sz="1400" dirty="0">
                <a:solidFill>
                  <a:srgbClr val="BFC7D5"/>
                </a:solidFill>
                <a:latin typeface="Consolas" panose="020B0609020204030204" pitchFamily="49" charset="0"/>
              </a:rPr>
              <a:t>}</a:t>
            </a:r>
            <a:endParaRPr lang="es-MX" sz="1400" b="0" dirty="0">
              <a:solidFill>
                <a:srgbClr val="BFC7D5"/>
              </a:solidFill>
              <a:effectLst/>
              <a:latin typeface="Consolas" panose="020B0609020204030204" pitchFamily="49" charset="0"/>
            </a:endParaRPr>
          </a:p>
        </p:txBody>
      </p:sp>
    </p:spTree>
    <p:extLst>
      <p:ext uri="{BB962C8B-B14F-4D97-AF65-F5344CB8AC3E}">
        <p14:creationId xmlns:p14="http://schemas.microsoft.com/office/powerpoint/2010/main" val="233195641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EstadoGarrafon.java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2" y="1761917"/>
            <a:ext cx="5235388" cy="4455459"/>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Para este proyecto se trabajo con </a:t>
            </a:r>
            <a:r>
              <a:rPr lang="es-MX" sz="1600" dirty="0" err="1">
                <a:solidFill>
                  <a:schemeClr val="bg1"/>
                </a:solidFill>
                <a:latin typeface="Arial" panose="020B0604020202020204" pitchFamily="34" charset="0"/>
                <a:cs typeface="Arial" panose="020B0604020202020204" pitchFamily="34" charset="0"/>
              </a:rPr>
              <a:t>enum</a:t>
            </a:r>
            <a:r>
              <a:rPr lang="es-MX" sz="1600" dirty="0">
                <a:solidFill>
                  <a:schemeClr val="bg1"/>
                </a:solidFill>
                <a:latin typeface="Arial" panose="020B0604020202020204" pitchFamily="34" charset="0"/>
                <a:cs typeface="Arial" panose="020B0604020202020204" pitchFamily="34" charset="0"/>
              </a:rPr>
              <a:t> es un tipo de dato especial que define un conjunto de constantes fijas es la enumeración que define los estados posibles de un garrafón durante su recorrido por la planta, desde recepción y clasificación hasta lavado, llenado, sellado, traslado y producto terminado.</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20 representa la estructura completa del archivo EstadoGarrafon.java</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Funciona como una máquina de estados del producto, permitiendo conocer en qué etapa se encuentra cada garrafón y controlar su transición ordenada a través del proceso productivo.</a:t>
            </a:r>
          </a:p>
          <a:p>
            <a:pPr marL="0" indent="0" algn="just">
              <a:lnSpc>
                <a:spcPct val="150000"/>
              </a:lnSpc>
              <a:buClr>
                <a:schemeClr val="bg2">
                  <a:lumMod val="75000"/>
                </a:schemeClr>
              </a:buClr>
              <a:buNone/>
            </a:pPr>
            <a:endParaRPr lang="es-MX" sz="1600" b="1" dirty="0">
              <a:solidFill>
                <a:schemeClr val="bg1"/>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9" name="CuadroTexto 8">
            <a:extLst>
              <a:ext uri="{FF2B5EF4-FFF2-40B4-BE49-F238E27FC236}">
                <a16:creationId xmlns:a16="http://schemas.microsoft.com/office/drawing/2014/main" id="{BD05780F-4816-4FB4-B1B5-D80B9C05CCA2}"/>
              </a:ext>
            </a:extLst>
          </p:cNvPr>
          <p:cNvSpPr txBox="1"/>
          <p:nvPr/>
        </p:nvSpPr>
        <p:spPr>
          <a:xfrm>
            <a:off x="8427940" y="621737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20</a:t>
            </a:r>
          </a:p>
        </p:txBody>
      </p:sp>
      <p:pic>
        <p:nvPicPr>
          <p:cNvPr id="3" name="Imagen 2">
            <a:extLst>
              <a:ext uri="{FF2B5EF4-FFF2-40B4-BE49-F238E27FC236}">
                <a16:creationId xmlns:a16="http://schemas.microsoft.com/office/drawing/2014/main" id="{20CE7269-0A8A-430F-90E9-EF4BA878BF9A}"/>
              </a:ext>
            </a:extLst>
          </p:cNvPr>
          <p:cNvPicPr>
            <a:picLocks noChangeAspect="1"/>
          </p:cNvPicPr>
          <p:nvPr/>
        </p:nvPicPr>
        <p:blipFill rotWithShape="1">
          <a:blip r:embed="rId3"/>
          <a:srcRect l="26471" r="29301"/>
          <a:stretch/>
        </p:blipFill>
        <p:spPr>
          <a:xfrm>
            <a:off x="7187933" y="1757473"/>
            <a:ext cx="3596181" cy="4285748"/>
          </a:xfrm>
          <a:prstGeom prst="rect">
            <a:avLst/>
          </a:prstGeom>
        </p:spPr>
      </p:pic>
    </p:spTree>
    <p:extLst>
      <p:ext uri="{BB962C8B-B14F-4D97-AF65-F5344CB8AC3E}">
        <p14:creationId xmlns:p14="http://schemas.microsoft.com/office/powerpoint/2010/main" val="300102492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Garrafon.java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2" y="1761917"/>
            <a:ext cx="5235388" cy="4455459"/>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El archivo Garrafon.java modela individualmente cada garrafón procesado. Conserva su identificador, tipo de lavado, estado actual y los tiempos registrados durante su recorrido, permitiendo posteriormente obtener indicadores de espera y permanencia en el sistema.</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21 representa la estructura completa del archivo Garrafon.java</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Esta es la encargada de hacer la simulación 2D que hacer ver que el garrafón recorre cada etapa</a:t>
            </a: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9" name="CuadroTexto 8">
            <a:extLst>
              <a:ext uri="{FF2B5EF4-FFF2-40B4-BE49-F238E27FC236}">
                <a16:creationId xmlns:a16="http://schemas.microsoft.com/office/drawing/2014/main" id="{BD05780F-4816-4FB4-B1B5-D80B9C05CCA2}"/>
              </a:ext>
            </a:extLst>
          </p:cNvPr>
          <p:cNvSpPr txBox="1"/>
          <p:nvPr/>
        </p:nvSpPr>
        <p:spPr>
          <a:xfrm>
            <a:off x="8427940" y="621737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21</a:t>
            </a:r>
          </a:p>
        </p:txBody>
      </p:sp>
      <p:pic>
        <p:nvPicPr>
          <p:cNvPr id="4" name="Imagen 3">
            <a:extLst>
              <a:ext uri="{FF2B5EF4-FFF2-40B4-BE49-F238E27FC236}">
                <a16:creationId xmlns:a16="http://schemas.microsoft.com/office/drawing/2014/main" id="{0DA634C8-D244-451C-91AC-DE908F2CD80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017786" y="1744059"/>
            <a:ext cx="4020457" cy="4312576"/>
          </a:xfrm>
          <a:prstGeom prst="rect">
            <a:avLst/>
          </a:prstGeom>
        </p:spPr>
      </p:pic>
    </p:spTree>
    <p:extLst>
      <p:ext uri="{BB962C8B-B14F-4D97-AF65-F5344CB8AC3E}">
        <p14:creationId xmlns:p14="http://schemas.microsoft.com/office/powerpoint/2010/main" val="150934508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Garrafon.java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2" y="2458970"/>
            <a:ext cx="5235388" cy="3927683"/>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i="1" dirty="0" err="1">
                <a:solidFill>
                  <a:schemeClr val="bg1"/>
                </a:solidFill>
                <a:latin typeface="Arial" panose="020B0604020202020204" pitchFamily="34" charset="0"/>
                <a:cs typeface="Arial" panose="020B0604020202020204" pitchFamily="34" charset="0"/>
              </a:rPr>
              <a:t>calcularTiempoTotalSistema</a:t>
            </a:r>
            <a:r>
              <a:rPr lang="es-MX" sz="1600" i="1" dirty="0">
                <a:solidFill>
                  <a:schemeClr val="bg1"/>
                </a:solidFill>
                <a:latin typeface="Arial" panose="020B0604020202020204" pitchFamily="34" charset="0"/>
                <a:cs typeface="Arial" panose="020B0604020202020204" pitchFamily="34" charset="0"/>
              </a:rPr>
              <a:t>() </a:t>
            </a:r>
            <a:r>
              <a:rPr lang="es-MX" sz="1600" dirty="0">
                <a:solidFill>
                  <a:schemeClr val="bg1"/>
                </a:solidFill>
                <a:latin typeface="Arial" panose="020B0604020202020204" pitchFamily="34" charset="0"/>
                <a:cs typeface="Arial" panose="020B0604020202020204" pitchFamily="34" charset="0"/>
              </a:rPr>
              <a:t>es el método que calcula el tiempo total de permanencia de un garrafón en el sistema, desde su llegada hasta que alcanza el estado de producto terminado. Es una métrica importante para evaluar el desempeño global del proceso.</a:t>
            </a:r>
            <a:endParaRPr lang="es-MX" sz="1600" i="1" dirty="0">
              <a:solidFill>
                <a:schemeClr val="bg1"/>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3" name="Rectángulo 2">
            <a:extLst>
              <a:ext uri="{FF2B5EF4-FFF2-40B4-BE49-F238E27FC236}">
                <a16:creationId xmlns:a16="http://schemas.microsoft.com/office/drawing/2014/main" id="{DA40DFFB-E2C4-4F78-A360-DC7B5FE2FCB7}"/>
              </a:ext>
            </a:extLst>
          </p:cNvPr>
          <p:cNvSpPr/>
          <p:nvPr/>
        </p:nvSpPr>
        <p:spPr>
          <a:xfrm>
            <a:off x="6821715" y="2573566"/>
            <a:ext cx="4818743" cy="1815882"/>
          </a:xfrm>
          <a:prstGeom prst="rect">
            <a:avLst/>
          </a:prstGeom>
          <a:solidFill>
            <a:srgbClr val="19142A"/>
          </a:solidFill>
        </p:spPr>
        <p:txBody>
          <a:bodyPr wrap="square">
            <a:spAutoFit/>
          </a:bodyPr>
          <a:lstStyle/>
          <a:p>
            <a:r>
              <a:rPr lang="es-MX" sz="1400" dirty="0" err="1">
                <a:solidFill>
                  <a:srgbClr val="BFC7D5"/>
                </a:solidFill>
                <a:latin typeface="Consolas" panose="020B0609020204030204" pitchFamily="49" charset="0"/>
              </a:rPr>
              <a:t>public</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double</a:t>
            </a:r>
            <a:r>
              <a:rPr lang="es-MX" sz="1400" dirty="0">
                <a:solidFill>
                  <a:srgbClr val="BFC7D5"/>
                </a:solidFill>
                <a:latin typeface="Consolas" panose="020B0609020204030204" pitchFamily="49" charset="0"/>
              </a:rPr>
              <a:t> </a:t>
            </a:r>
            <a:r>
              <a:rPr lang="es-MX" sz="1400" dirty="0" err="1">
                <a:solidFill>
                  <a:srgbClr val="B2CCD6"/>
                </a:solidFill>
                <a:latin typeface="Consolas" panose="020B0609020204030204" pitchFamily="49" charset="0"/>
              </a:rPr>
              <a:t>calcularTiempoTotalSistema</a:t>
            </a:r>
            <a:r>
              <a:rPr lang="es-MX" sz="1400" dirty="0">
                <a:solidFill>
                  <a:srgbClr val="BFC7D5"/>
                </a:solidFill>
                <a:latin typeface="Consolas" panose="020B0609020204030204" pitchFamily="49" charset="0"/>
              </a:rPr>
              <a:t>() {</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if</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tiempoTerminado</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&lt;=</a:t>
            </a:r>
            <a:r>
              <a:rPr lang="es-MX" sz="1400" dirty="0">
                <a:solidFill>
                  <a:srgbClr val="BFC7D5"/>
                </a:solidFill>
                <a:latin typeface="Consolas" panose="020B0609020204030204" pitchFamily="49" charset="0"/>
              </a:rPr>
              <a:t> </a:t>
            </a:r>
            <a:r>
              <a:rPr lang="es-MX" sz="1400" dirty="0">
                <a:solidFill>
                  <a:srgbClr val="F78C6C"/>
                </a:solidFill>
                <a:latin typeface="Consolas" panose="020B0609020204030204" pitchFamily="49" charset="0"/>
              </a:rPr>
              <a:t>0</a:t>
            </a:r>
            <a:r>
              <a:rPr lang="es-MX" sz="1400" dirty="0">
                <a:solidFill>
                  <a:srgbClr val="BFC7D5"/>
                </a:solidFill>
                <a:latin typeface="Consolas" panose="020B0609020204030204" pitchFamily="49" charset="0"/>
              </a:rPr>
              <a:t>) {</a:t>
            </a:r>
          </a:p>
          <a:p>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return</a:t>
            </a:r>
            <a:r>
              <a:rPr lang="es-MX" sz="1400" dirty="0">
                <a:solidFill>
                  <a:srgbClr val="BFC7D5"/>
                </a:solidFill>
                <a:latin typeface="Consolas" panose="020B0609020204030204" pitchFamily="49" charset="0"/>
              </a:rPr>
              <a:t> </a:t>
            </a:r>
            <a:r>
              <a:rPr lang="es-MX" sz="1400" dirty="0">
                <a:solidFill>
                  <a:srgbClr val="F78C6C"/>
                </a:solidFill>
                <a:latin typeface="Consolas" panose="020B0609020204030204" pitchFamily="49" charset="0"/>
              </a:rPr>
              <a:t>0</a:t>
            </a:r>
            <a:r>
              <a:rPr lang="es-MX" sz="1400" dirty="0">
                <a:solidFill>
                  <a:srgbClr val="BFC7D5"/>
                </a:solidFill>
                <a:latin typeface="Consolas" panose="020B0609020204030204" pitchFamily="49" charset="0"/>
              </a:rPr>
              <a:t>;</a:t>
            </a:r>
          </a:p>
          <a:p>
            <a:r>
              <a:rPr lang="es-MX" sz="1400" dirty="0">
                <a:solidFill>
                  <a:srgbClr val="BFC7D5"/>
                </a:solidFill>
                <a:latin typeface="Consolas" panose="020B0609020204030204" pitchFamily="49" charset="0"/>
              </a:rPr>
              <a:t>    }</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return</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tiempoTerminado</a:t>
            </a:r>
            <a:r>
              <a:rPr lang="es-MX" sz="1400" dirty="0">
                <a:solidFill>
                  <a:srgbClr val="BFC7D5"/>
                </a:solidFill>
                <a:latin typeface="Consolas" panose="020B0609020204030204" pitchFamily="49" charset="0"/>
              </a:rPr>
              <a:t> </a:t>
            </a:r>
            <a:r>
              <a:rPr lang="es-MX" sz="1400" dirty="0">
                <a:solidFill>
                  <a:srgbClr val="89DDFF"/>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tiempoLlegada</a:t>
            </a:r>
            <a:r>
              <a:rPr lang="es-MX" sz="1400" dirty="0">
                <a:solidFill>
                  <a:srgbClr val="BFC7D5"/>
                </a:solidFill>
                <a:latin typeface="Consolas" panose="020B0609020204030204" pitchFamily="49" charset="0"/>
              </a:rPr>
              <a:t>;</a:t>
            </a:r>
          </a:p>
          <a:p>
            <a:r>
              <a:rPr lang="es-MX" sz="1400" dirty="0">
                <a:solidFill>
                  <a:srgbClr val="BFC7D5"/>
                </a:solidFill>
                <a:latin typeface="Consolas" panose="020B0609020204030204" pitchFamily="49" charset="0"/>
              </a:rPr>
              <a:t>}</a:t>
            </a:r>
            <a:endParaRPr lang="es-MX" sz="1400" b="0" dirty="0">
              <a:solidFill>
                <a:srgbClr val="BFC7D5"/>
              </a:solidFill>
              <a:effectLst/>
              <a:latin typeface="Consolas" panose="020B0609020204030204" pitchFamily="49" charset="0"/>
            </a:endParaRPr>
          </a:p>
        </p:txBody>
      </p:sp>
    </p:spTree>
    <p:extLst>
      <p:ext uri="{BB962C8B-B14F-4D97-AF65-F5344CB8AC3E}">
        <p14:creationId xmlns:p14="http://schemas.microsoft.com/office/powerpoint/2010/main" val="49349955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TipoLavado.java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1" y="1921532"/>
            <a:ext cx="5598245" cy="4215937"/>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Para este programa utilizamos un segundo </a:t>
            </a:r>
            <a:r>
              <a:rPr lang="es-MX" sz="1600" dirty="0" err="1">
                <a:solidFill>
                  <a:schemeClr val="bg1"/>
                </a:solidFill>
                <a:latin typeface="Arial" panose="020B0604020202020204" pitchFamily="34" charset="0"/>
                <a:cs typeface="Arial" panose="020B0604020202020204" pitchFamily="34" charset="0"/>
              </a:rPr>
              <a:t>enum</a:t>
            </a:r>
            <a:r>
              <a:rPr lang="es-MX" sz="1600" dirty="0">
                <a:solidFill>
                  <a:schemeClr val="bg1"/>
                </a:solidFill>
                <a:latin typeface="Arial" panose="020B0604020202020204" pitchFamily="34" charset="0"/>
                <a:cs typeface="Arial" panose="020B0604020202020204" pitchFamily="34" charset="0"/>
              </a:rPr>
              <a:t> en el archivo </a:t>
            </a:r>
            <a:r>
              <a:rPr lang="es-MX" sz="1600" i="1" dirty="0">
                <a:solidFill>
                  <a:schemeClr val="bg1"/>
                </a:solidFill>
                <a:latin typeface="Arial" panose="020B0604020202020204" pitchFamily="34" charset="0"/>
                <a:cs typeface="Arial" panose="020B0604020202020204" pitchFamily="34" charset="0"/>
              </a:rPr>
              <a:t>TipoLavado.java</a:t>
            </a:r>
            <a:r>
              <a:rPr lang="es-MX" sz="1600" dirty="0">
                <a:solidFill>
                  <a:schemeClr val="bg1"/>
                </a:solidFill>
                <a:latin typeface="Arial" panose="020B0604020202020204" pitchFamily="34" charset="0"/>
                <a:cs typeface="Arial" panose="020B0604020202020204" pitchFamily="34" charset="0"/>
              </a:rPr>
              <a:t> utilizada la “Enumeración”  para clasificar los garrafones según el tratamiento de limpieza requerido: lavado simple para garrafones </a:t>
            </a:r>
            <a:r>
              <a:rPr lang="es-MX" sz="1600" dirty="0" err="1">
                <a:solidFill>
                  <a:schemeClr val="bg1"/>
                </a:solidFill>
                <a:latin typeface="Arial" panose="020B0604020202020204" pitchFamily="34" charset="0"/>
                <a:cs typeface="Arial" panose="020B0604020202020204" pitchFamily="34" charset="0"/>
              </a:rPr>
              <a:t>semisucios</a:t>
            </a:r>
            <a:r>
              <a:rPr lang="es-MX" sz="1600" dirty="0">
                <a:solidFill>
                  <a:schemeClr val="bg1"/>
                </a:solidFill>
                <a:latin typeface="Arial" panose="020B0604020202020204" pitchFamily="34" charset="0"/>
                <a:cs typeface="Arial" panose="020B0604020202020204" pitchFamily="34" charset="0"/>
              </a:rPr>
              <a:t> y lavado profundo para garrafones con mayor nivel de suciedad.</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22 representa la estructura completa del archivo TipoLavado.java.</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Esta clasificación determina la ruta de procesamiento y el tiempo de lavado que corresponde a cada garrafón. Posteriormente, el motor utiliza esta información para enviarlo a la cola de lavado correspondiente.</a:t>
            </a:r>
            <a:endParaRPr lang="es-MX" sz="1600" i="1" dirty="0">
              <a:solidFill>
                <a:schemeClr val="bg1"/>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5" name="Imagen 4">
            <a:extLst>
              <a:ext uri="{FF2B5EF4-FFF2-40B4-BE49-F238E27FC236}">
                <a16:creationId xmlns:a16="http://schemas.microsoft.com/office/drawing/2014/main" id="{E0BBADE4-763F-4675-B7D9-ED95C0818CDA}"/>
              </a:ext>
            </a:extLst>
          </p:cNvPr>
          <p:cNvPicPr>
            <a:picLocks noChangeAspect="1"/>
          </p:cNvPicPr>
          <p:nvPr/>
        </p:nvPicPr>
        <p:blipFill rotWithShape="1">
          <a:blip r:embed="rId3"/>
          <a:srcRect l="25833" r="35595" b="21824"/>
          <a:stretch/>
        </p:blipFill>
        <p:spPr>
          <a:xfrm>
            <a:off x="7126515" y="1767007"/>
            <a:ext cx="4182462" cy="4215937"/>
          </a:xfrm>
          <a:prstGeom prst="rect">
            <a:avLst/>
          </a:prstGeom>
        </p:spPr>
      </p:pic>
      <p:sp>
        <p:nvSpPr>
          <p:cNvPr id="9" name="CuadroTexto 8">
            <a:extLst>
              <a:ext uri="{FF2B5EF4-FFF2-40B4-BE49-F238E27FC236}">
                <a16:creationId xmlns:a16="http://schemas.microsoft.com/office/drawing/2014/main" id="{39792BC7-1371-47A4-ADEE-F10056D70E35}"/>
              </a:ext>
            </a:extLst>
          </p:cNvPr>
          <p:cNvSpPr txBox="1"/>
          <p:nvPr/>
        </p:nvSpPr>
        <p:spPr>
          <a:xfrm>
            <a:off x="8735684" y="621737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22</a:t>
            </a:r>
          </a:p>
        </p:txBody>
      </p:sp>
    </p:spTree>
    <p:extLst>
      <p:ext uri="{BB962C8B-B14F-4D97-AF65-F5344CB8AC3E}">
        <p14:creationId xmlns:p14="http://schemas.microsoft.com/office/powerpoint/2010/main" val="11121698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ParametrosSimulacion.java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1" y="1921532"/>
            <a:ext cx="5598245" cy="4215937"/>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Centraliza la configuración utilizada por el modelo de simulación. Almacena los parámetros del escenario, como cantidad de garrafones, número de corridas, tiempos de operación, capacidad de la llenadora, horario laboral, personal activo, actividades asignadas y costos.</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En el programa esta clase es especialmente importante porque permite que los valores configurados por el usuario no estén limitados únicamente a valores fijos, sino que formen parte del escenario que posteriormente utiliza el motor.</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23 representa la estructura completa del archivo ParametrosSimulacion.java.</a:t>
            </a: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5" name="Imagen 4">
            <a:extLst>
              <a:ext uri="{FF2B5EF4-FFF2-40B4-BE49-F238E27FC236}">
                <a16:creationId xmlns:a16="http://schemas.microsoft.com/office/drawing/2014/main" id="{E0BBADE4-763F-4675-B7D9-ED95C0818CDA}"/>
              </a:ext>
            </a:extLst>
          </p:cNvPr>
          <p:cNvPicPr>
            <a:picLocks noChangeAspect="1"/>
          </p:cNvPicPr>
          <p:nvPr/>
        </p:nvPicPr>
        <p:blipFill rotWithShape="1">
          <a:blip r:embed="rId3"/>
          <a:srcRect l="25833" r="35595" b="21824"/>
          <a:stretch/>
        </p:blipFill>
        <p:spPr>
          <a:xfrm>
            <a:off x="7126515" y="1767007"/>
            <a:ext cx="4182462" cy="4215937"/>
          </a:xfrm>
          <a:prstGeom prst="rect">
            <a:avLst/>
          </a:prstGeom>
        </p:spPr>
      </p:pic>
      <p:sp>
        <p:nvSpPr>
          <p:cNvPr id="9" name="CuadroTexto 8">
            <a:extLst>
              <a:ext uri="{FF2B5EF4-FFF2-40B4-BE49-F238E27FC236}">
                <a16:creationId xmlns:a16="http://schemas.microsoft.com/office/drawing/2014/main" id="{39792BC7-1371-47A4-ADEE-F10056D70E35}"/>
              </a:ext>
            </a:extLst>
          </p:cNvPr>
          <p:cNvSpPr txBox="1"/>
          <p:nvPr/>
        </p:nvSpPr>
        <p:spPr>
          <a:xfrm>
            <a:off x="8735684" y="621737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23</a:t>
            </a:r>
          </a:p>
        </p:txBody>
      </p:sp>
    </p:spTree>
    <p:extLst>
      <p:ext uri="{BB962C8B-B14F-4D97-AF65-F5344CB8AC3E}">
        <p14:creationId xmlns:p14="http://schemas.microsoft.com/office/powerpoint/2010/main" val="225087064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ParametrosSimulacion.java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2" y="1921532"/>
            <a:ext cx="5235388" cy="3539431"/>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El método </a:t>
            </a:r>
            <a:r>
              <a:rPr lang="es-MX" sz="1600" i="1" dirty="0" err="1">
                <a:solidFill>
                  <a:schemeClr val="bg1"/>
                </a:solidFill>
                <a:latin typeface="Arial" panose="020B0604020202020204" pitchFamily="34" charset="0"/>
                <a:cs typeface="Arial" panose="020B0604020202020204" pitchFamily="34" charset="0"/>
              </a:rPr>
              <a:t>agregarEmpleado</a:t>
            </a:r>
            <a:r>
              <a:rPr lang="es-MX" sz="1600" i="1" dirty="0">
                <a:solidFill>
                  <a:schemeClr val="bg1"/>
                </a:solidFill>
                <a:latin typeface="Arial" panose="020B0604020202020204" pitchFamily="34" charset="0"/>
                <a:cs typeface="Arial" panose="020B0604020202020204" pitchFamily="34" charset="0"/>
              </a:rPr>
              <a:t>()</a:t>
            </a:r>
            <a:r>
              <a:rPr lang="es-MX" sz="1600" dirty="0">
                <a:solidFill>
                  <a:schemeClr val="bg1"/>
                </a:solidFill>
                <a:latin typeface="Arial" panose="020B0604020202020204" pitchFamily="34" charset="0"/>
                <a:cs typeface="Arial" panose="020B0604020202020204" pitchFamily="34" charset="0"/>
              </a:rPr>
              <a:t> permite incorporar dinámicamente nuevos recursos humanos al escenario. El identificador se genera automáticamente, por lo que el modelo puede trabajar con empleados adicionales como es Empleado 5, sin necesidad de declarar manualmente una nueva variable para este nuevo trabajador.</a:t>
            </a:r>
            <a:endParaRPr lang="es-MX" sz="1600" i="1" dirty="0">
              <a:solidFill>
                <a:schemeClr val="bg1"/>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7" name="Rectángulo 6">
            <a:extLst>
              <a:ext uri="{FF2B5EF4-FFF2-40B4-BE49-F238E27FC236}">
                <a16:creationId xmlns:a16="http://schemas.microsoft.com/office/drawing/2014/main" id="{12638D14-FAE1-46CB-B182-89F4954ED0F9}"/>
              </a:ext>
            </a:extLst>
          </p:cNvPr>
          <p:cNvSpPr/>
          <p:nvPr/>
        </p:nvSpPr>
        <p:spPr>
          <a:xfrm>
            <a:off x="6865257" y="2130632"/>
            <a:ext cx="4640302" cy="3539430"/>
          </a:xfrm>
          <a:prstGeom prst="rect">
            <a:avLst/>
          </a:prstGeom>
          <a:solidFill>
            <a:srgbClr val="19142A"/>
          </a:solidFill>
        </p:spPr>
        <p:txBody>
          <a:bodyPr wrap="square">
            <a:spAutoFit/>
          </a:bodyPr>
          <a:lstStyle/>
          <a:p>
            <a:r>
              <a:rPr lang="es-MX" sz="1400" dirty="0" err="1">
                <a:solidFill>
                  <a:srgbClr val="BFC7D5"/>
                </a:solidFill>
                <a:latin typeface="Consolas" panose="020B0609020204030204" pitchFamily="49" charset="0"/>
              </a:rPr>
              <a:t>public</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EmpleadoConfiguracion</a:t>
            </a:r>
            <a:r>
              <a:rPr lang="es-MX" sz="1400" dirty="0">
                <a:solidFill>
                  <a:srgbClr val="BFC7D5"/>
                </a:solidFill>
                <a:latin typeface="Consolas" panose="020B0609020204030204" pitchFamily="49" charset="0"/>
              </a:rPr>
              <a:t> </a:t>
            </a:r>
            <a:r>
              <a:rPr lang="es-MX" sz="1400" dirty="0" err="1">
                <a:solidFill>
                  <a:srgbClr val="B2CCD6"/>
                </a:solidFill>
                <a:latin typeface="Consolas" panose="020B0609020204030204" pitchFamily="49" charset="0"/>
              </a:rPr>
              <a:t>agregarEmpleado</a:t>
            </a:r>
            <a:r>
              <a:rPr lang="es-MX" sz="1400" dirty="0">
                <a:solidFill>
                  <a:srgbClr val="BFC7D5"/>
                </a:solidFill>
                <a:latin typeface="Consolas" panose="020B0609020204030204" pitchFamily="49" charset="0"/>
              </a:rPr>
              <a:t>() {</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FFCB6B"/>
                </a:solidFill>
                <a:latin typeface="Consolas" panose="020B0609020204030204" pitchFamily="49" charset="0"/>
              </a:rPr>
              <a:t>int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nuevoId</a:t>
            </a:r>
            <a:r>
              <a:rPr lang="es-MX" sz="1400" dirty="0">
                <a:solidFill>
                  <a:srgbClr val="BFC7D5"/>
                </a:solidFill>
                <a:latin typeface="Consolas" panose="020B0609020204030204" pitchFamily="49" charset="0"/>
              </a:rPr>
              <a:t> =</a:t>
            </a:r>
          </a:p>
          <a:p>
            <a:r>
              <a:rPr lang="es-MX" sz="1400" dirty="0">
                <a:solidFill>
                  <a:srgbClr val="BFC7D5"/>
                </a:solidFill>
                <a:latin typeface="Consolas" panose="020B0609020204030204" pitchFamily="49" charset="0"/>
              </a:rPr>
              <a:t>            </a:t>
            </a:r>
            <a:r>
              <a:rPr lang="es-MX" sz="1400" dirty="0" err="1">
                <a:solidFill>
                  <a:srgbClr val="B2CCD6"/>
                </a:solidFill>
                <a:latin typeface="Consolas" panose="020B0609020204030204" pitchFamily="49" charset="0"/>
              </a:rPr>
              <a:t>obtenerSiguienteIdEmpleado</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EmpleadoConfiguracion</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nuevoEmpleado</a:t>
            </a:r>
            <a:r>
              <a:rPr lang="es-MX" sz="1400" dirty="0">
                <a:solidFill>
                  <a:srgbClr val="BFC7D5"/>
                </a:solidFill>
                <a:latin typeface="Consolas" panose="020B0609020204030204" pitchFamily="49" charset="0"/>
              </a:rPr>
              <a:t> =</a:t>
            </a:r>
          </a:p>
          <a:p>
            <a:r>
              <a:rPr lang="es-MX" sz="1400" dirty="0">
                <a:solidFill>
                  <a:srgbClr val="BFC7D5"/>
                </a:solidFill>
                <a:latin typeface="Consolas" panose="020B0609020204030204" pitchFamily="49" charset="0"/>
              </a:rPr>
              <a:t>            new </a:t>
            </a:r>
            <a:r>
              <a:rPr lang="es-MX" sz="1400" dirty="0" err="1">
                <a:solidFill>
                  <a:srgbClr val="B2CCD6"/>
                </a:solidFill>
                <a:latin typeface="Consolas" panose="020B0609020204030204" pitchFamily="49" charset="0"/>
              </a:rPr>
              <a:t>EmpleadoConfiguracion</a:t>
            </a:r>
            <a:r>
              <a:rPr lang="es-MX" sz="1400" dirty="0">
                <a:solidFill>
                  <a:srgbClr val="BFC7D5"/>
                </a:solidFill>
                <a:latin typeface="Consolas" panose="020B0609020204030204" pitchFamily="49" charset="0"/>
              </a:rPr>
              <a:t>(</a:t>
            </a:r>
          </a:p>
          <a:p>
            <a:r>
              <a:rPr lang="es-MX" sz="1400" dirty="0">
                <a:solidFill>
                  <a:srgbClr val="7986E7"/>
                </a:solidFill>
                <a:latin typeface="Consolas" panose="020B0609020204030204" pitchFamily="49" charset="0"/>
              </a:rPr>
              <a:t>                    </a:t>
            </a:r>
            <a:r>
              <a:rPr lang="es-MX" sz="1400" dirty="0" err="1">
                <a:solidFill>
                  <a:srgbClr val="7986E7"/>
                </a:solidFill>
                <a:latin typeface="Consolas" panose="020B0609020204030204" pitchFamily="49" charset="0"/>
              </a:rPr>
              <a:t>nuevoId</a:t>
            </a:r>
            <a:r>
              <a:rPr lang="es-MX" sz="1400" dirty="0">
                <a:solidFill>
                  <a:srgbClr val="D9F5DD"/>
                </a:solidFill>
                <a:latin typeface="Consolas" panose="020B0609020204030204" pitchFamily="49" charset="0"/>
              </a:rPr>
              <a:t>,</a:t>
            </a:r>
            <a:endParaRPr lang="es-MX" sz="1400" dirty="0">
              <a:solidFill>
                <a:srgbClr val="BFC7D5"/>
              </a:solidFill>
              <a:latin typeface="Consolas" panose="020B0609020204030204" pitchFamily="49" charset="0"/>
            </a:endParaRPr>
          </a:p>
          <a:p>
            <a:r>
              <a:rPr lang="es-MX" sz="1400" dirty="0">
                <a:solidFill>
                  <a:srgbClr val="7986E7"/>
                </a:solidFill>
                <a:latin typeface="Consolas" panose="020B0609020204030204" pitchFamily="49" charset="0"/>
              </a:rPr>
              <a:t>                    </a:t>
            </a:r>
            <a:r>
              <a:rPr lang="es-MX" sz="1400" dirty="0">
                <a:solidFill>
                  <a:srgbClr val="D9F5DD"/>
                </a:solidFill>
                <a:latin typeface="Consolas" panose="020B0609020204030204" pitchFamily="49" charset="0"/>
              </a:rPr>
              <a:t>"</a:t>
            </a:r>
            <a:r>
              <a:rPr lang="es-MX" sz="1400" dirty="0">
                <a:solidFill>
                  <a:srgbClr val="C3E88D"/>
                </a:solidFill>
                <a:latin typeface="Consolas" panose="020B0609020204030204" pitchFamily="49" charset="0"/>
              </a:rPr>
              <a:t>Empleado </a:t>
            </a:r>
            <a:r>
              <a:rPr lang="es-MX" sz="1400" dirty="0">
                <a:solidFill>
                  <a:srgbClr val="D9F5DD"/>
                </a:solidFill>
                <a:latin typeface="Consolas" panose="020B0609020204030204" pitchFamily="49" charset="0"/>
              </a:rPr>
              <a:t>"</a:t>
            </a:r>
            <a:r>
              <a:rPr lang="es-MX" sz="1400" dirty="0">
                <a:solidFill>
                  <a:srgbClr val="7986E7"/>
                </a:solidFill>
                <a:latin typeface="Consolas" panose="020B0609020204030204" pitchFamily="49" charset="0"/>
              </a:rPr>
              <a:t> </a:t>
            </a:r>
            <a:r>
              <a:rPr lang="es-MX" sz="1400" dirty="0">
                <a:solidFill>
                  <a:srgbClr val="89DDFF"/>
                </a:solidFill>
                <a:latin typeface="Consolas" panose="020B0609020204030204" pitchFamily="49" charset="0"/>
              </a:rPr>
              <a:t>+</a:t>
            </a:r>
            <a:r>
              <a:rPr lang="es-MX" sz="1400" dirty="0">
                <a:solidFill>
                  <a:srgbClr val="7986E7"/>
                </a:solidFill>
                <a:latin typeface="Consolas" panose="020B0609020204030204" pitchFamily="49" charset="0"/>
              </a:rPr>
              <a:t> </a:t>
            </a:r>
            <a:r>
              <a:rPr lang="es-MX" sz="1400" dirty="0" err="1">
                <a:solidFill>
                  <a:srgbClr val="7986E7"/>
                </a:solidFill>
                <a:latin typeface="Consolas" panose="020B0609020204030204" pitchFamily="49" charset="0"/>
              </a:rPr>
              <a:t>nuevoId</a:t>
            </a:r>
            <a:endParaRPr lang="es-MX" sz="1400" dirty="0">
              <a:solidFill>
                <a:srgbClr val="BFC7D5"/>
              </a:solidFill>
              <a:latin typeface="Consolas" panose="020B0609020204030204" pitchFamily="49" charset="0"/>
            </a:endParaRPr>
          </a:p>
          <a:p>
            <a:r>
              <a:rPr lang="es-MX" sz="1400" dirty="0">
                <a:solidFill>
                  <a:srgbClr val="7986E7"/>
                </a:solidFill>
                <a:latin typeface="Consolas" panose="020B0609020204030204" pitchFamily="49" charset="0"/>
              </a:rPr>
              <a:t>            </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empleados.</a:t>
            </a:r>
            <a:r>
              <a:rPr lang="es-MX" sz="1400" dirty="0" err="1">
                <a:solidFill>
                  <a:srgbClr val="B2CCD6"/>
                </a:solidFill>
                <a:latin typeface="Consolas" panose="020B0609020204030204" pitchFamily="49" charset="0"/>
              </a:rPr>
              <a:t>add</a:t>
            </a:r>
            <a:r>
              <a:rPr lang="es-MX" sz="1400" dirty="0">
                <a:solidFill>
                  <a:srgbClr val="BFC7D5"/>
                </a:solidFill>
                <a:latin typeface="Consolas" panose="020B0609020204030204" pitchFamily="49" charset="0"/>
              </a:rPr>
              <a:t>(</a:t>
            </a:r>
            <a:r>
              <a:rPr lang="es-MX" sz="1400" dirty="0" err="1">
                <a:solidFill>
                  <a:srgbClr val="7986E7"/>
                </a:solidFill>
                <a:latin typeface="Consolas" panose="020B0609020204030204" pitchFamily="49" charset="0"/>
              </a:rPr>
              <a:t>nuevoEmpleado</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return</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nuevoEmpleado</a:t>
            </a:r>
            <a:r>
              <a:rPr lang="es-MX" sz="1400" dirty="0">
                <a:solidFill>
                  <a:srgbClr val="BFC7D5"/>
                </a:solidFill>
                <a:latin typeface="Consolas" panose="020B0609020204030204" pitchFamily="49" charset="0"/>
              </a:rPr>
              <a:t>;</a:t>
            </a:r>
          </a:p>
          <a:p>
            <a:r>
              <a:rPr lang="es-MX" sz="1400" dirty="0">
                <a:solidFill>
                  <a:srgbClr val="BFC7D5"/>
                </a:solidFill>
                <a:latin typeface="Consolas" panose="020B0609020204030204" pitchFamily="49" charset="0"/>
              </a:rPr>
              <a:t>}</a:t>
            </a:r>
            <a:endParaRPr lang="es-MX" sz="1400" b="0" dirty="0">
              <a:solidFill>
                <a:srgbClr val="BFC7D5"/>
              </a:solidFill>
              <a:effectLst/>
              <a:latin typeface="Consolas" panose="020B0609020204030204" pitchFamily="49" charset="0"/>
            </a:endParaRPr>
          </a:p>
        </p:txBody>
      </p:sp>
    </p:spTree>
    <p:extLst>
      <p:ext uri="{BB962C8B-B14F-4D97-AF65-F5344CB8AC3E}">
        <p14:creationId xmlns:p14="http://schemas.microsoft.com/office/powerpoint/2010/main" val="356285472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MotorSimulacion.java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1" y="1921532"/>
            <a:ext cx="5598245" cy="4215937"/>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a:t>
            </a:r>
            <a:r>
              <a:rPr lang="es-MX" sz="1600" dirty="0" err="1">
                <a:solidFill>
                  <a:schemeClr val="bg1"/>
                </a:solidFill>
                <a:latin typeface="Arial" panose="020B0604020202020204" pitchFamily="34" charset="0"/>
                <a:cs typeface="Arial" panose="020B0604020202020204" pitchFamily="34" charset="0"/>
              </a:rPr>
              <a:t>calse</a:t>
            </a:r>
            <a:r>
              <a:rPr lang="es-MX" sz="1600" dirty="0">
                <a:solidFill>
                  <a:schemeClr val="bg1"/>
                </a:solidFill>
                <a:latin typeface="Arial" panose="020B0604020202020204" pitchFamily="34" charset="0"/>
                <a:cs typeface="Arial" panose="020B0604020202020204" pitchFamily="34" charset="0"/>
              </a:rPr>
              <a:t> </a:t>
            </a:r>
            <a:r>
              <a:rPr lang="es-MX" sz="1600" i="1" dirty="0">
                <a:solidFill>
                  <a:schemeClr val="bg1"/>
                </a:solidFill>
                <a:latin typeface="Arial" panose="020B0604020202020204" pitchFamily="34" charset="0"/>
                <a:cs typeface="Arial" panose="020B0604020202020204" pitchFamily="34" charset="0"/>
              </a:rPr>
              <a:t>MotorSimulacion.java </a:t>
            </a:r>
            <a:r>
              <a:rPr lang="es-MX" sz="1600" dirty="0">
                <a:solidFill>
                  <a:schemeClr val="bg1"/>
                </a:solidFill>
                <a:latin typeface="Arial" panose="020B0604020202020204" pitchFamily="34" charset="0"/>
                <a:cs typeface="Arial" panose="020B0604020202020204" pitchFamily="34" charset="0"/>
              </a:rPr>
              <a:t>la abordamos brevemente desde un principio, pero es importante incluirla porque es una parte importante de la lógica del programa. Esta constituye el núcleo lógico de la simulación. Coordina el avance del tiempo, las colas, los garrafones, los empleados y las diferentes etapas del proceso productivo, controlando las dependencias y disponibilidad de recursos durante la ejecución. La clase mantiene, entre otras estructuras, las colas de recepción, lavado simple, lavado profundo, llenado, tapado/sellado y traslado.</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La figura 23 representa la estructura completa del archivo MotorSimulacion.java.</a:t>
            </a: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5" name="Imagen 4">
            <a:extLst>
              <a:ext uri="{FF2B5EF4-FFF2-40B4-BE49-F238E27FC236}">
                <a16:creationId xmlns:a16="http://schemas.microsoft.com/office/drawing/2014/main" id="{E0BBADE4-763F-4675-B7D9-ED95C0818CDA}"/>
              </a:ext>
            </a:extLst>
          </p:cNvPr>
          <p:cNvPicPr>
            <a:picLocks noChangeAspect="1"/>
          </p:cNvPicPr>
          <p:nvPr/>
        </p:nvPicPr>
        <p:blipFill rotWithShape="1">
          <a:blip r:embed="rId3"/>
          <a:srcRect l="25833" r="35595" b="21824"/>
          <a:stretch/>
        </p:blipFill>
        <p:spPr>
          <a:xfrm>
            <a:off x="7126515" y="1767007"/>
            <a:ext cx="4182462" cy="4215937"/>
          </a:xfrm>
          <a:prstGeom prst="rect">
            <a:avLst/>
          </a:prstGeom>
        </p:spPr>
      </p:pic>
      <p:sp>
        <p:nvSpPr>
          <p:cNvPr id="9" name="CuadroTexto 8">
            <a:extLst>
              <a:ext uri="{FF2B5EF4-FFF2-40B4-BE49-F238E27FC236}">
                <a16:creationId xmlns:a16="http://schemas.microsoft.com/office/drawing/2014/main" id="{39792BC7-1371-47A4-ADEE-F10056D70E35}"/>
              </a:ext>
            </a:extLst>
          </p:cNvPr>
          <p:cNvSpPr txBox="1"/>
          <p:nvPr/>
        </p:nvSpPr>
        <p:spPr>
          <a:xfrm>
            <a:off x="8735684" y="621737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23</a:t>
            </a:r>
          </a:p>
        </p:txBody>
      </p:sp>
    </p:spTree>
    <p:extLst>
      <p:ext uri="{BB962C8B-B14F-4D97-AF65-F5344CB8AC3E}">
        <p14:creationId xmlns:p14="http://schemas.microsoft.com/office/powerpoint/2010/main" val="179609644"/>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2" y="471347"/>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MotorSimulacion.java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60612" y="1921531"/>
            <a:ext cx="5235388" cy="4203497"/>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El método </a:t>
            </a:r>
            <a:r>
              <a:rPr lang="es-MX" sz="1600" i="1" dirty="0" err="1">
                <a:solidFill>
                  <a:schemeClr val="bg1"/>
                </a:solidFill>
                <a:latin typeface="Arial" panose="020B0604020202020204" pitchFamily="34" charset="0"/>
                <a:cs typeface="Arial" panose="020B0604020202020204" pitchFamily="34" charset="0"/>
              </a:rPr>
              <a:t>procesarSegundo</a:t>
            </a:r>
            <a:r>
              <a:rPr lang="es-MX" sz="1600" i="1" dirty="0">
                <a:solidFill>
                  <a:schemeClr val="bg1"/>
                </a:solidFill>
                <a:latin typeface="Arial" panose="020B0604020202020204" pitchFamily="34" charset="0"/>
                <a:cs typeface="Arial" panose="020B0604020202020204" pitchFamily="34" charset="0"/>
              </a:rPr>
              <a:t>() </a:t>
            </a:r>
            <a:r>
              <a:rPr lang="es-MX" sz="1600" dirty="0">
                <a:solidFill>
                  <a:schemeClr val="bg1"/>
                </a:solidFill>
                <a:latin typeface="Arial" panose="020B0604020202020204" pitchFamily="34" charset="0"/>
                <a:cs typeface="Arial" panose="020B0604020202020204" pitchFamily="34" charset="0"/>
              </a:rPr>
              <a:t>aparece como el encargado de procesar cada segundo de la simulación y establece el orden en que se evalúan las operaciones.</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Este bloque representa el ciclo principal de ejecución del modelo. En cada unidad de tiempo simulado verifica el estado general del sistema y ejecuta las operaciones correspondientes respetando el orden y las restricciones del proceso.</a:t>
            </a:r>
          </a:p>
          <a:p>
            <a:pPr marL="0" indent="0" algn="just">
              <a:lnSpc>
                <a:spcPct val="150000"/>
              </a:lnSpc>
              <a:buClr>
                <a:schemeClr val="bg2">
                  <a:lumMod val="75000"/>
                </a:schemeClr>
              </a:buClr>
              <a:buNone/>
            </a:pPr>
            <a:r>
              <a:rPr lang="es-MX" sz="1600" dirty="0">
                <a:solidFill>
                  <a:schemeClr val="bg1"/>
                </a:solidFill>
                <a:latin typeface="Arial" panose="020B0604020202020204" pitchFamily="34" charset="0"/>
                <a:cs typeface="Arial" panose="020B0604020202020204" pitchFamily="34" charset="0"/>
              </a:rPr>
              <a:t>Además, el orden de llamada de los métodos es relevante porque permite coordinar la disponibilidad de los trabajadores y las dependencias entre actividades; por ejemplo, la llenadora se procesa antes del lavado simple debido a que el Empleado 1 participa en ambas operaciones.</a:t>
            </a:r>
          </a:p>
        </p:txBody>
      </p:sp>
      <p:pic>
        <p:nvPicPr>
          <p:cNvPr id="8" name="Imagen 7">
            <a:extLst>
              <a:ext uri="{FF2B5EF4-FFF2-40B4-BE49-F238E27FC236}">
                <a16:creationId xmlns:a16="http://schemas.microsoft.com/office/drawing/2014/main" id="{C92F9AC4-5329-492C-A28E-F68F064CE1DB}"/>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3" name="Rectángulo 2">
            <a:extLst>
              <a:ext uri="{FF2B5EF4-FFF2-40B4-BE49-F238E27FC236}">
                <a16:creationId xmlns:a16="http://schemas.microsoft.com/office/drawing/2014/main" id="{7764F641-58B9-4F7E-BD00-9C1BB94744BA}"/>
              </a:ext>
            </a:extLst>
          </p:cNvPr>
          <p:cNvSpPr/>
          <p:nvPr/>
        </p:nvSpPr>
        <p:spPr>
          <a:xfrm>
            <a:off x="6923314" y="1745732"/>
            <a:ext cx="4268599" cy="4555093"/>
          </a:xfrm>
          <a:prstGeom prst="rect">
            <a:avLst/>
          </a:prstGeom>
          <a:solidFill>
            <a:srgbClr val="19142A"/>
          </a:solidFill>
        </p:spPr>
        <p:txBody>
          <a:bodyPr wrap="square">
            <a:spAutoFit/>
          </a:bodyPr>
          <a:lstStyle/>
          <a:p>
            <a:r>
              <a:rPr lang="es-MX" sz="1000" dirty="0" err="1">
                <a:solidFill>
                  <a:srgbClr val="BFC7D5"/>
                </a:solidFill>
                <a:latin typeface="Consolas" panose="020B0609020204030204" pitchFamily="49" charset="0"/>
              </a:rPr>
              <a:t>public</a:t>
            </a:r>
            <a:r>
              <a:rPr lang="es-MX" sz="1000" dirty="0">
                <a:solidFill>
                  <a:srgbClr val="BFC7D5"/>
                </a:solidFill>
                <a:latin typeface="Consolas" panose="020B0609020204030204" pitchFamily="49" charset="0"/>
              </a:rPr>
              <a:t> </a:t>
            </a:r>
            <a:r>
              <a:rPr lang="es-MX" sz="1000" dirty="0" err="1">
                <a:solidFill>
                  <a:srgbClr val="BFC7D5"/>
                </a:solidFill>
                <a:latin typeface="Consolas" panose="020B0609020204030204" pitchFamily="49" charset="0"/>
              </a:rPr>
              <a:t>void</a:t>
            </a: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procesarSegundo</a:t>
            </a:r>
            <a:r>
              <a:rPr lang="es-MX" sz="1000" dirty="0">
                <a:solidFill>
                  <a:srgbClr val="BFC7D5"/>
                </a:solidFill>
                <a:latin typeface="Consolas" panose="020B0609020204030204" pitchFamily="49" charset="0"/>
              </a:rPr>
              <a:t>() {</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C792EA"/>
                </a:solidFill>
                <a:latin typeface="Consolas" panose="020B0609020204030204" pitchFamily="49" charset="0"/>
              </a:rPr>
              <a:t>if</a:t>
            </a:r>
            <a:r>
              <a:rPr lang="es-MX" sz="1000" dirty="0">
                <a:solidFill>
                  <a:srgbClr val="BFC7D5"/>
                </a:solidFill>
                <a:latin typeface="Consolas" panose="020B0609020204030204" pitchFamily="49" charset="0"/>
              </a:rPr>
              <a:t> (</a:t>
            </a:r>
            <a:r>
              <a:rPr lang="es-MX" sz="1000" dirty="0">
                <a:solidFill>
                  <a:srgbClr val="FFFFFF"/>
                </a:solidFill>
                <a:latin typeface="Consolas" panose="020B0609020204030204" pitchFamily="49" charset="0"/>
              </a:rPr>
              <a:t>!</a:t>
            </a:r>
            <a:r>
              <a:rPr lang="es-MX" sz="1000" dirty="0">
                <a:solidFill>
                  <a:srgbClr val="BFC7D5"/>
                </a:solidFill>
                <a:latin typeface="Consolas" panose="020B0609020204030204" pitchFamily="49" charset="0"/>
              </a:rPr>
              <a:t>ejecutando </a:t>
            </a:r>
            <a:r>
              <a:rPr lang="es-MX" sz="1000" dirty="0">
                <a:solidFill>
                  <a:srgbClr val="FFFFFF"/>
                </a:solidFill>
                <a:latin typeface="Consolas" panose="020B0609020204030204" pitchFamily="49" charset="0"/>
              </a:rPr>
              <a:t>||</a:t>
            </a:r>
            <a:r>
              <a:rPr lang="es-MX" sz="1000" dirty="0">
                <a:solidFill>
                  <a:srgbClr val="BFC7D5"/>
                </a:solidFill>
                <a:latin typeface="Consolas" panose="020B0609020204030204" pitchFamily="49" charset="0"/>
              </a:rPr>
              <a:t> pausada) {</a:t>
            </a:r>
          </a:p>
          <a:p>
            <a:r>
              <a:rPr lang="es-MX" sz="1000" dirty="0">
                <a:solidFill>
                  <a:srgbClr val="BFC7D5"/>
                </a:solidFill>
                <a:latin typeface="Consolas" panose="020B0609020204030204" pitchFamily="49" charset="0"/>
              </a:rPr>
              <a:t>        </a:t>
            </a:r>
            <a:r>
              <a:rPr lang="es-MX" sz="1000" dirty="0" err="1">
                <a:solidFill>
                  <a:srgbClr val="C792EA"/>
                </a:solidFill>
                <a:latin typeface="Consolas" panose="020B0609020204030204" pitchFamily="49" charset="0"/>
              </a:rPr>
              <a:t>return</a:t>
            </a:r>
            <a:r>
              <a:rPr lang="es-MX" sz="1000" dirty="0">
                <a:solidFill>
                  <a:srgbClr val="BFC7D5"/>
                </a:solidFill>
                <a:latin typeface="Consolas" panose="020B0609020204030204" pitchFamily="49" charset="0"/>
              </a:rPr>
              <a:t>;</a:t>
            </a:r>
          </a:p>
          <a:p>
            <a:r>
              <a:rPr lang="es-MX" sz="1000" dirty="0">
                <a:solidFill>
                  <a:srgbClr val="BFC7D5"/>
                </a:solidFill>
                <a:latin typeface="Consolas" panose="020B0609020204030204" pitchFamily="49" charset="0"/>
              </a:rPr>
              <a:t>    }</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FC7D5"/>
                </a:solidFill>
                <a:latin typeface="Consolas" panose="020B0609020204030204" pitchFamily="49" charset="0"/>
              </a:rPr>
              <a:t>tiempoActual</a:t>
            </a:r>
            <a:r>
              <a:rPr lang="es-MX" sz="1000" dirty="0">
                <a:solidFill>
                  <a:srgbClr val="FFFFFF"/>
                </a:solidFill>
                <a:latin typeface="Consolas" panose="020B0609020204030204" pitchFamily="49" charset="0"/>
              </a:rPr>
              <a:t>++</a:t>
            </a:r>
            <a:r>
              <a:rPr lang="es-MX" sz="1000" dirty="0">
                <a:solidFill>
                  <a:srgbClr val="BFC7D5"/>
                </a:solidFill>
                <a:latin typeface="Consolas" panose="020B0609020204030204" pitchFamily="49" charset="0"/>
              </a:rPr>
              <a:t>;</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C792EA"/>
                </a:solidFill>
                <a:latin typeface="Consolas" panose="020B0609020204030204" pitchFamily="49" charset="0"/>
              </a:rPr>
              <a:t>if</a:t>
            </a:r>
            <a:r>
              <a:rPr lang="es-MX" sz="1000" dirty="0">
                <a:solidFill>
                  <a:srgbClr val="BFC7D5"/>
                </a:solidFill>
                <a:latin typeface="Consolas" panose="020B0609020204030204" pitchFamily="49" charset="0"/>
              </a:rPr>
              <a:t> (</a:t>
            </a:r>
            <a:r>
              <a:rPr lang="es-MX" sz="1000" dirty="0" err="1">
                <a:solidFill>
                  <a:srgbClr val="BFC7D5"/>
                </a:solidFill>
                <a:latin typeface="Consolas" panose="020B0609020204030204" pitchFamily="49" charset="0"/>
              </a:rPr>
              <a:t>descargaInicialActiva</a:t>
            </a:r>
            <a:r>
              <a:rPr lang="es-MX" sz="1000" dirty="0">
                <a:solidFill>
                  <a:srgbClr val="BFC7D5"/>
                </a:solidFill>
                <a:latin typeface="Consolas" panose="020B0609020204030204" pitchFamily="49" charset="0"/>
              </a:rPr>
              <a:t>) {</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procesarDescargaInicial</a:t>
            </a:r>
            <a:r>
              <a:rPr lang="es-MX" sz="1000" dirty="0">
                <a:solidFill>
                  <a:srgbClr val="BFC7D5"/>
                </a:solidFill>
                <a:latin typeface="Consolas" panose="020B0609020204030204" pitchFamily="49" charset="0"/>
              </a:rPr>
              <a:t>();</a:t>
            </a:r>
          </a:p>
          <a:p>
            <a:r>
              <a:rPr lang="es-MX" sz="1000" dirty="0">
                <a:solidFill>
                  <a:srgbClr val="BFC7D5"/>
                </a:solidFill>
                <a:latin typeface="Consolas" panose="020B0609020204030204" pitchFamily="49" charset="0"/>
              </a:rPr>
              <a:t>        </a:t>
            </a:r>
            <a:r>
              <a:rPr lang="es-MX" sz="1000" dirty="0" err="1">
                <a:solidFill>
                  <a:srgbClr val="C792EA"/>
                </a:solidFill>
                <a:latin typeface="Consolas" panose="020B0609020204030204" pitchFamily="49" charset="0"/>
              </a:rPr>
              <a:t>return</a:t>
            </a:r>
            <a:r>
              <a:rPr lang="es-MX" sz="1000" dirty="0">
                <a:solidFill>
                  <a:srgbClr val="BFC7D5"/>
                </a:solidFill>
                <a:latin typeface="Consolas" panose="020B0609020204030204" pitchFamily="49" charset="0"/>
              </a:rPr>
              <a:t>;</a:t>
            </a:r>
          </a:p>
          <a:p>
            <a:r>
              <a:rPr lang="es-MX" sz="1000" dirty="0">
                <a:solidFill>
                  <a:srgbClr val="BFC7D5"/>
                </a:solidFill>
                <a:latin typeface="Consolas" panose="020B0609020204030204" pitchFamily="49" charset="0"/>
              </a:rPr>
              <a:t>    }</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C792EA"/>
                </a:solidFill>
                <a:latin typeface="Consolas" panose="020B0609020204030204" pitchFamily="49" charset="0"/>
              </a:rPr>
              <a:t>if</a:t>
            </a:r>
            <a:r>
              <a:rPr lang="es-MX" sz="1000" dirty="0">
                <a:solidFill>
                  <a:srgbClr val="BFC7D5"/>
                </a:solidFill>
                <a:latin typeface="Consolas" panose="020B0609020204030204" pitchFamily="49" charset="0"/>
              </a:rPr>
              <a:t> (</a:t>
            </a:r>
            <a:r>
              <a:rPr lang="es-MX" sz="1000" dirty="0">
                <a:solidFill>
                  <a:srgbClr val="FFFFFF"/>
                </a:solidFill>
                <a:latin typeface="Consolas" panose="020B0609020204030204" pitchFamily="49" charset="0"/>
              </a:rPr>
              <a:t>!</a:t>
            </a:r>
            <a:r>
              <a:rPr lang="es-MX" sz="1000" dirty="0" err="1">
                <a:solidFill>
                  <a:srgbClr val="BFC7D5"/>
                </a:solidFill>
                <a:latin typeface="Consolas" panose="020B0609020204030204" pitchFamily="49" charset="0"/>
              </a:rPr>
              <a:t>clasificacionRealizada</a:t>
            </a:r>
            <a:r>
              <a:rPr lang="es-MX" sz="1000" dirty="0">
                <a:solidFill>
                  <a:srgbClr val="BFC7D5"/>
                </a:solidFill>
                <a:latin typeface="Consolas" panose="020B0609020204030204" pitchFamily="49" charset="0"/>
              </a:rPr>
              <a:t>) {</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clasificarTodosLosGarrafones</a:t>
            </a:r>
            <a:r>
              <a:rPr lang="es-MX" sz="1000" dirty="0">
                <a:solidFill>
                  <a:srgbClr val="BFC7D5"/>
                </a:solidFill>
                <a:latin typeface="Consolas" panose="020B0609020204030204" pitchFamily="49" charset="0"/>
              </a:rPr>
              <a:t>();</a:t>
            </a:r>
          </a:p>
          <a:p>
            <a:r>
              <a:rPr lang="es-MX" sz="1000" dirty="0">
                <a:solidFill>
                  <a:srgbClr val="BFC7D5"/>
                </a:solidFill>
                <a:latin typeface="Consolas" panose="020B0609020204030204" pitchFamily="49" charset="0"/>
              </a:rPr>
              <a:t>    }</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procesarLlenadora</a:t>
            </a:r>
            <a:r>
              <a:rPr lang="es-MX" sz="1000" dirty="0">
                <a:solidFill>
                  <a:srgbClr val="BFC7D5"/>
                </a:solidFill>
                <a:latin typeface="Consolas" panose="020B0609020204030204" pitchFamily="49" charset="0"/>
              </a:rPr>
              <a:t>();</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procesarTapadoSellado</a:t>
            </a:r>
            <a:r>
              <a:rPr lang="es-MX" sz="1000" dirty="0">
                <a:solidFill>
                  <a:srgbClr val="BFC7D5"/>
                </a:solidFill>
                <a:latin typeface="Consolas" panose="020B0609020204030204" pitchFamily="49" charset="0"/>
              </a:rPr>
              <a:t>();</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procesarTrasladoFinal</a:t>
            </a:r>
            <a:r>
              <a:rPr lang="es-MX" sz="1000" dirty="0">
                <a:solidFill>
                  <a:srgbClr val="BFC7D5"/>
                </a:solidFill>
                <a:latin typeface="Consolas" panose="020B0609020204030204" pitchFamily="49" charset="0"/>
              </a:rPr>
              <a:t>();</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procesarLavadoSimple</a:t>
            </a:r>
            <a:r>
              <a:rPr lang="es-MX" sz="1000" dirty="0">
                <a:solidFill>
                  <a:srgbClr val="BFC7D5"/>
                </a:solidFill>
                <a:latin typeface="Consolas" panose="020B0609020204030204" pitchFamily="49" charset="0"/>
              </a:rPr>
              <a:t>();</a:t>
            </a:r>
          </a:p>
          <a:p>
            <a:br>
              <a:rPr lang="es-MX" sz="1000" dirty="0">
                <a:solidFill>
                  <a:srgbClr val="BFC7D5"/>
                </a:solidFill>
                <a:latin typeface="Consolas" panose="020B0609020204030204" pitchFamily="49" charset="0"/>
              </a:rPr>
            </a:br>
            <a:r>
              <a:rPr lang="es-MX" sz="1000" dirty="0">
                <a:solidFill>
                  <a:srgbClr val="BFC7D5"/>
                </a:solidFill>
                <a:latin typeface="Consolas" panose="020B0609020204030204" pitchFamily="49" charset="0"/>
              </a:rPr>
              <a:t>    </a:t>
            </a:r>
            <a:r>
              <a:rPr lang="es-MX" sz="1000" dirty="0" err="1">
                <a:solidFill>
                  <a:srgbClr val="B2CCD6"/>
                </a:solidFill>
                <a:latin typeface="Consolas" panose="020B0609020204030204" pitchFamily="49" charset="0"/>
              </a:rPr>
              <a:t>procesarLavadoProfundo</a:t>
            </a:r>
            <a:r>
              <a:rPr lang="es-MX" sz="1000" dirty="0">
                <a:solidFill>
                  <a:srgbClr val="BFC7D5"/>
                </a:solidFill>
                <a:latin typeface="Consolas" panose="020B0609020204030204" pitchFamily="49" charset="0"/>
              </a:rPr>
              <a:t>();</a:t>
            </a:r>
          </a:p>
          <a:p>
            <a:r>
              <a:rPr lang="es-MX" sz="1000" dirty="0">
                <a:solidFill>
                  <a:srgbClr val="BFC7D5"/>
                </a:solidFill>
                <a:latin typeface="Consolas" panose="020B0609020204030204" pitchFamily="49" charset="0"/>
              </a:rPr>
              <a:t>}</a:t>
            </a:r>
            <a:endParaRPr lang="es-MX" sz="1000" b="0" dirty="0">
              <a:solidFill>
                <a:srgbClr val="BFC7D5"/>
              </a:solidFill>
              <a:effectLst/>
              <a:latin typeface="Consolas" panose="020B0609020204030204" pitchFamily="49" charset="0"/>
            </a:endParaRPr>
          </a:p>
        </p:txBody>
      </p:sp>
    </p:spTree>
    <p:extLst>
      <p:ext uri="{BB962C8B-B14F-4D97-AF65-F5344CB8AC3E}">
        <p14:creationId xmlns:p14="http://schemas.microsoft.com/office/powerpoint/2010/main" val="128378050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Modelo de costos</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728336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335466" y="509503"/>
            <a:ext cx="9724420" cy="1049235"/>
          </a:xfrm>
          <a:solidFill>
            <a:schemeClr val="tx2">
              <a:lumMod val="75000"/>
            </a:schemeClr>
          </a:solidFill>
        </p:spPr>
        <p:txBody>
          <a:bodyPr anchor="ctr">
            <a:normAutofit/>
          </a:bodyPr>
          <a:lstStyle/>
          <a:p>
            <a:r>
              <a:rPr lang="es-MX" sz="3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Modelo de costos</a:t>
            </a:r>
          </a:p>
        </p:txBody>
      </p:sp>
      <p:sp>
        <p:nvSpPr>
          <p:cNvPr id="4" name="Marcador de contenido 3">
            <a:extLst>
              <a:ext uri="{FF2B5EF4-FFF2-40B4-BE49-F238E27FC236}">
                <a16:creationId xmlns:a16="http://schemas.microsoft.com/office/drawing/2014/main" id="{9CEDF458-1755-4308-AFA8-8EC79A6D0E16}"/>
              </a:ext>
            </a:extLst>
          </p:cNvPr>
          <p:cNvSpPr>
            <a:spLocks noGrp="1"/>
          </p:cNvSpPr>
          <p:nvPr>
            <p:ph idx="1"/>
          </p:nvPr>
        </p:nvSpPr>
        <p:spPr/>
        <p:txBody>
          <a:bodyPr>
            <a:normAutofit/>
          </a:bodyPr>
          <a:lstStyle/>
          <a:p>
            <a:pPr marL="0" indent="0" algn="just">
              <a:buNone/>
            </a:pPr>
            <a:r>
              <a:rPr lang="es-MX" sz="1600" dirty="0">
                <a:solidFill>
                  <a:schemeClr val="bg1"/>
                </a:solidFill>
                <a:latin typeface="Arial" panose="020B0604020202020204" pitchFamily="34" charset="0"/>
                <a:cs typeface="Arial" panose="020B0604020202020204" pitchFamily="34" charset="0"/>
              </a:rPr>
              <a:t>El modelo de costos de </a:t>
            </a:r>
            <a:r>
              <a:rPr lang="es-MX" sz="1600" b="1" dirty="0">
                <a:solidFill>
                  <a:schemeClr val="bg1"/>
                </a:solidFill>
                <a:latin typeface="Arial" panose="020B0604020202020204" pitchFamily="34" charset="0"/>
                <a:cs typeface="Arial" panose="020B0604020202020204" pitchFamily="34" charset="0"/>
              </a:rPr>
              <a:t>Agua Cero </a:t>
            </a:r>
            <a:r>
              <a:rPr lang="es-MX" sz="1600" dirty="0">
                <a:solidFill>
                  <a:schemeClr val="bg1"/>
                </a:solidFill>
                <a:latin typeface="Arial" panose="020B0604020202020204" pitchFamily="34" charset="0"/>
                <a:cs typeface="Arial" panose="020B0604020202020204" pitchFamily="34" charset="0"/>
              </a:rPr>
              <a:t>permite estimar el costo de los recursos humanos utilizados en cada escenario de simulación. Cada empleado cuenta con un costo por hora configurable y únicamente los trabajadores activos son considerados para determinar el costo total de operación del personal.</a:t>
            </a:r>
          </a:p>
          <a:p>
            <a:pPr marL="0" indent="0" algn="just">
              <a:buNone/>
            </a:pPr>
            <a:endParaRPr lang="es-MX" sz="1600" dirty="0">
              <a:solidFill>
                <a:schemeClr val="bg1"/>
              </a:solidFill>
              <a:latin typeface="Arial" panose="020B0604020202020204" pitchFamily="34" charset="0"/>
              <a:cs typeface="Arial" panose="020B0604020202020204" pitchFamily="34" charset="0"/>
            </a:endParaRPr>
          </a:p>
          <a:p>
            <a:pPr marL="0" indent="0" algn="just">
              <a:buNone/>
            </a:pPr>
            <a:r>
              <a:rPr lang="es-MX" sz="1600" dirty="0">
                <a:solidFill>
                  <a:schemeClr val="bg1"/>
                </a:solidFill>
                <a:latin typeface="Arial" panose="020B0604020202020204" pitchFamily="34" charset="0"/>
                <a:cs typeface="Arial" panose="020B0604020202020204" pitchFamily="34" charset="0"/>
              </a:rPr>
              <a:t>El sistema relaciona el costo por hora de los empleados con la duración de la jornada laboral, permitiendo analizar el impacto económico generado al incorporar, retirar o modificar recursos humanos dentro de un escenario.</a:t>
            </a: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2520888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335466" y="509503"/>
            <a:ext cx="9724420" cy="1049235"/>
          </a:xfrm>
          <a:solidFill>
            <a:schemeClr val="tx2">
              <a:lumMod val="75000"/>
            </a:schemeClr>
          </a:solidFill>
        </p:spPr>
        <p:txBody>
          <a:bodyPr anchor="ctr">
            <a:normAutofit/>
          </a:bodyPr>
          <a:lstStyle/>
          <a:p>
            <a:r>
              <a:rPr lang="es-MX" sz="3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Modelo de costos</a:t>
            </a:r>
          </a:p>
        </p:txBody>
      </p:sp>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9CEDF458-1755-4308-AFA8-8EC79A6D0E16}"/>
                  </a:ext>
                </a:extLst>
              </p:cNvPr>
              <p:cNvSpPr>
                <a:spLocks noGrp="1"/>
              </p:cNvSpPr>
              <p:nvPr>
                <p:ph idx="1"/>
              </p:nvPr>
            </p:nvSpPr>
            <p:spPr>
              <a:xfrm>
                <a:off x="957943" y="2015734"/>
                <a:ext cx="5268686" cy="4109295"/>
              </a:xfrm>
            </p:spPr>
            <p:txBody>
              <a:bodyPr>
                <a:normAutofit/>
              </a:bodyPr>
              <a:lstStyle/>
              <a:p>
                <a:pPr marL="0" indent="0" algn="just">
                  <a:buNone/>
                </a:pPr>
                <a:r>
                  <a:rPr lang="es-MX" sz="1600" dirty="0">
                    <a:solidFill>
                      <a:schemeClr val="bg1"/>
                    </a:solidFill>
                    <a:latin typeface="Arial" panose="020B0604020202020204" pitchFamily="34" charset="0"/>
                    <a:cs typeface="Arial" panose="020B0604020202020204" pitchFamily="34" charset="0"/>
                  </a:rPr>
                  <a:t>La clase </a:t>
                </a:r>
                <a:r>
                  <a:rPr lang="es-MX" sz="1600" i="1" dirty="0">
                    <a:solidFill>
                      <a:schemeClr val="bg1"/>
                    </a:solidFill>
                    <a:latin typeface="Arial" panose="020B0604020202020204" pitchFamily="34" charset="0"/>
                    <a:cs typeface="Arial" panose="020B0604020202020204" pitchFamily="34" charset="0"/>
                  </a:rPr>
                  <a:t>ParametrosSimulacion.java</a:t>
                </a:r>
                <a:r>
                  <a:rPr lang="es-MX" sz="1600" dirty="0">
                    <a:solidFill>
                      <a:schemeClr val="bg1"/>
                    </a:solidFill>
                    <a:latin typeface="Arial" panose="020B0604020202020204" pitchFamily="34" charset="0"/>
                    <a:cs typeface="Arial" panose="020B0604020202020204" pitchFamily="34" charset="0"/>
                  </a:rPr>
                  <a:t> tiene cálculos muy claros. El sistema recorre la lista de empleados y suma únicamente el costo de aquellos que están activos.</a:t>
                </a:r>
              </a:p>
              <a:p>
                <a:pPr marL="0" indent="0" algn="just">
                  <a:buNone/>
                </a:pPr>
                <a:r>
                  <a:rPr lang="es-MX" sz="1600" dirty="0">
                    <a:solidFill>
                      <a:schemeClr val="bg1"/>
                    </a:solidFill>
                    <a:latin typeface="Arial" panose="020B0604020202020204" pitchFamily="34" charset="0"/>
                    <a:cs typeface="Arial" panose="020B0604020202020204" pitchFamily="34" charset="0"/>
                  </a:rPr>
                  <a:t>La duración se obtiene a partir de la diferencia entre la hora de inicio y la hora de cierre</a:t>
                </a:r>
                <a:r>
                  <a:rPr lang="es-MX" sz="1600" i="1" dirty="0">
                    <a:solidFill>
                      <a:schemeClr val="bg1"/>
                    </a:solidFill>
                    <a:latin typeface="Arial" panose="020B0604020202020204" pitchFamily="34" charset="0"/>
                    <a:cs typeface="Arial" panose="020B0604020202020204" pitchFamily="34" charset="0"/>
                  </a:rPr>
                  <a:t>.</a:t>
                </a:r>
              </a:p>
              <a:p>
                <a:pPr marL="0" indent="0" algn="just">
                  <a:buNone/>
                </a:pPr>
                <a:r>
                  <a:rPr lang="es-MX" sz="1600" dirty="0">
                    <a:solidFill>
                      <a:schemeClr val="bg1"/>
                    </a:solidFill>
                    <a:latin typeface="Arial" panose="020B0604020202020204" pitchFamily="34" charset="0"/>
                    <a:cs typeface="Arial" panose="020B0604020202020204" pitchFamily="34" charset="0"/>
                  </a:rPr>
                  <a:t>Por ultimo calcula el costo de la jornada:</a:t>
                </a:r>
              </a:p>
              <a:p>
                <a:pPr marL="0" indent="0" algn="just">
                  <a:buNone/>
                </a:pPr>
                <a:r>
                  <a:rPr lang="es-MX" sz="1600" dirty="0">
                    <a:solidFill>
                      <a:schemeClr val="bg1"/>
                    </a:solidFill>
                    <a:latin typeface="Arial" panose="020B0604020202020204" pitchFamily="34" charset="0"/>
                    <a:cs typeface="Arial" panose="020B0604020202020204" pitchFamily="34" charset="0"/>
                  </a:rPr>
                  <a:t> </a:t>
                </a:r>
                <a14:m>
                  <m:oMath xmlns:m="http://schemas.openxmlformats.org/officeDocument/2006/math">
                    <m:r>
                      <a:rPr lang="es-MX" sz="1600" i="1" dirty="0" smtClean="0">
                        <a:solidFill>
                          <a:schemeClr val="bg1"/>
                        </a:solidFill>
                        <a:latin typeface="Cambria Math" panose="02040503050406030204" pitchFamily="18" charset="0"/>
                        <a:cs typeface="Arial" panose="020B0604020202020204" pitchFamily="34" charset="0"/>
                      </a:rPr>
                      <m:t>𝐶𝑜𝑠𝑡𝑜</m:t>
                    </m:r>
                    <m:r>
                      <a:rPr lang="es-MX" sz="1600" i="1" dirty="0" smtClean="0">
                        <a:solidFill>
                          <a:schemeClr val="bg1"/>
                        </a:solidFill>
                        <a:latin typeface="Cambria Math" panose="02040503050406030204" pitchFamily="18" charset="0"/>
                        <a:cs typeface="Arial" panose="020B0604020202020204" pitchFamily="34" charset="0"/>
                      </a:rPr>
                      <m:t> </m:t>
                    </m:r>
                    <m:r>
                      <a:rPr lang="es-MX" sz="1600" i="1" dirty="0" smtClean="0">
                        <a:solidFill>
                          <a:schemeClr val="bg1"/>
                        </a:solidFill>
                        <a:latin typeface="Cambria Math" panose="02040503050406030204" pitchFamily="18" charset="0"/>
                        <a:cs typeface="Arial" panose="020B0604020202020204" pitchFamily="34" charset="0"/>
                      </a:rPr>
                      <m:t>𝑑𝑒</m:t>
                    </m:r>
                    <m:r>
                      <a:rPr lang="es-MX" sz="1600" i="1" dirty="0" smtClean="0">
                        <a:solidFill>
                          <a:schemeClr val="bg1"/>
                        </a:solidFill>
                        <a:latin typeface="Cambria Math" panose="02040503050406030204" pitchFamily="18" charset="0"/>
                        <a:cs typeface="Arial" panose="020B0604020202020204" pitchFamily="34" charset="0"/>
                      </a:rPr>
                      <m:t> </m:t>
                    </m:r>
                    <m:r>
                      <a:rPr lang="es-MX" sz="1600" i="1" dirty="0" smtClean="0">
                        <a:solidFill>
                          <a:schemeClr val="bg1"/>
                        </a:solidFill>
                        <a:latin typeface="Cambria Math" panose="02040503050406030204" pitchFamily="18" charset="0"/>
                        <a:cs typeface="Arial" panose="020B0604020202020204" pitchFamily="34" charset="0"/>
                      </a:rPr>
                      <m:t>𝑗𝑜𝑟𝑛𝑎𝑑𝑎</m:t>
                    </m:r>
                    <m:r>
                      <a:rPr lang="es-MX" sz="1600" i="1" dirty="0" smtClean="0">
                        <a:solidFill>
                          <a:schemeClr val="bg1"/>
                        </a:solidFill>
                        <a:latin typeface="Cambria Math" panose="02040503050406030204" pitchFamily="18" charset="0"/>
                        <a:cs typeface="Arial" panose="020B0604020202020204" pitchFamily="34" charset="0"/>
                      </a:rPr>
                      <m:t> = </m:t>
                    </m:r>
                    <m:f>
                      <m:fPr>
                        <m:ctrlPr>
                          <a:rPr lang="es-MX" sz="1600" i="1" dirty="0" smtClean="0">
                            <a:solidFill>
                              <a:schemeClr val="bg1"/>
                            </a:solidFill>
                            <a:latin typeface="Cambria Math" panose="02040503050406030204" pitchFamily="18" charset="0"/>
                            <a:cs typeface="Arial" panose="020B0604020202020204" pitchFamily="34" charset="0"/>
                          </a:rPr>
                        </m:ctrlPr>
                      </m:fPr>
                      <m:num>
                        <m:r>
                          <a:rPr lang="es-MX" sz="1600" i="1" dirty="0">
                            <a:solidFill>
                              <a:schemeClr val="bg1"/>
                            </a:solidFill>
                            <a:latin typeface="Cambria Math" panose="02040503050406030204" pitchFamily="18" charset="0"/>
                            <a:cs typeface="Arial" panose="020B0604020202020204" pitchFamily="34" charset="0"/>
                          </a:rPr>
                          <m:t>𝐶𝑜𝑠𝑡𝑜</m:t>
                        </m:r>
                        <m:r>
                          <a:rPr lang="es-MX" sz="1600" i="1" dirty="0">
                            <a:solidFill>
                              <a:schemeClr val="bg1"/>
                            </a:solidFill>
                            <a:latin typeface="Cambria Math" panose="02040503050406030204" pitchFamily="18" charset="0"/>
                            <a:cs typeface="Arial" panose="020B0604020202020204" pitchFamily="34" charset="0"/>
                          </a:rPr>
                          <m:t> </m:t>
                        </m:r>
                        <m:r>
                          <a:rPr lang="es-MX" sz="1600" i="1" dirty="0">
                            <a:solidFill>
                              <a:schemeClr val="bg1"/>
                            </a:solidFill>
                            <a:latin typeface="Cambria Math" panose="02040503050406030204" pitchFamily="18" charset="0"/>
                            <a:cs typeface="Arial" panose="020B0604020202020204" pitchFamily="34" charset="0"/>
                          </a:rPr>
                          <m:t>𝑡𝑜𝑡𝑎𝑙</m:t>
                        </m:r>
                      </m:num>
                      <m:den>
                        <m:r>
                          <a:rPr lang="es-MX" sz="1600" i="1" dirty="0">
                            <a:solidFill>
                              <a:schemeClr val="bg1"/>
                            </a:solidFill>
                            <a:latin typeface="Cambria Math" panose="02040503050406030204" pitchFamily="18" charset="0"/>
                            <a:cs typeface="Arial" panose="020B0604020202020204" pitchFamily="34" charset="0"/>
                          </a:rPr>
                          <m:t>𝐻𝑜𝑟𝑎𝑠</m:t>
                        </m:r>
                        <m:r>
                          <a:rPr lang="es-MX" sz="1600" i="1" dirty="0">
                            <a:solidFill>
                              <a:schemeClr val="bg1"/>
                            </a:solidFill>
                            <a:latin typeface="Cambria Math" panose="02040503050406030204" pitchFamily="18" charset="0"/>
                            <a:cs typeface="Arial" panose="020B0604020202020204" pitchFamily="34" charset="0"/>
                          </a:rPr>
                          <m:t> </m:t>
                        </m:r>
                        <m:r>
                          <a:rPr lang="es-MX" sz="1600" i="1" dirty="0">
                            <a:solidFill>
                              <a:schemeClr val="bg1"/>
                            </a:solidFill>
                            <a:latin typeface="Cambria Math" panose="02040503050406030204" pitchFamily="18" charset="0"/>
                            <a:cs typeface="Arial" panose="020B0604020202020204" pitchFamily="34" charset="0"/>
                          </a:rPr>
                          <m:t>𝑑𝑒</m:t>
                        </m:r>
                        <m:r>
                          <a:rPr lang="es-MX" sz="1600" i="1" dirty="0">
                            <a:solidFill>
                              <a:schemeClr val="bg1"/>
                            </a:solidFill>
                            <a:latin typeface="Cambria Math" panose="02040503050406030204" pitchFamily="18" charset="0"/>
                            <a:cs typeface="Arial" panose="020B0604020202020204" pitchFamily="34" charset="0"/>
                          </a:rPr>
                          <m:t> </m:t>
                        </m:r>
                        <m:r>
                          <a:rPr lang="es-MX" sz="1600" i="1" dirty="0">
                            <a:solidFill>
                              <a:schemeClr val="bg1"/>
                            </a:solidFill>
                            <a:latin typeface="Cambria Math" panose="02040503050406030204" pitchFamily="18" charset="0"/>
                            <a:cs typeface="Arial" panose="020B0604020202020204" pitchFamily="34" charset="0"/>
                          </a:rPr>
                          <m:t>𝑜𝑝𝑒𝑟𝑎𝑐𝑖</m:t>
                        </m:r>
                        <m:r>
                          <a:rPr lang="es-MX" sz="1600" i="1" dirty="0">
                            <a:solidFill>
                              <a:schemeClr val="bg1"/>
                            </a:solidFill>
                            <a:latin typeface="Cambria Math" panose="02040503050406030204" pitchFamily="18" charset="0"/>
                            <a:cs typeface="Arial" panose="020B0604020202020204" pitchFamily="34" charset="0"/>
                          </a:rPr>
                          <m:t>ó</m:t>
                        </m:r>
                        <m:r>
                          <a:rPr lang="es-MX" sz="1600" i="1" dirty="0">
                            <a:solidFill>
                              <a:schemeClr val="bg1"/>
                            </a:solidFill>
                            <a:latin typeface="Cambria Math" panose="02040503050406030204" pitchFamily="18" charset="0"/>
                            <a:cs typeface="Arial" panose="020B0604020202020204" pitchFamily="34" charset="0"/>
                          </a:rPr>
                          <m:t>𝑛</m:t>
                        </m:r>
                        <m:r>
                          <m:rPr>
                            <m:nor/>
                          </m:rPr>
                          <a:rPr lang="es-MX" sz="1600" dirty="0">
                            <a:solidFill>
                              <a:schemeClr val="bg1"/>
                            </a:solidFill>
                            <a:latin typeface="Arial" panose="020B0604020202020204" pitchFamily="34" charset="0"/>
                            <a:cs typeface="Arial" panose="020B0604020202020204" pitchFamily="34" charset="0"/>
                          </a:rPr>
                          <m:t> </m:t>
                        </m:r>
                      </m:den>
                    </m:f>
                  </m:oMath>
                </a14:m>
                <a:endParaRPr lang="es-MX" sz="1600" i="1" dirty="0">
                  <a:solidFill>
                    <a:schemeClr val="bg1"/>
                  </a:solidFill>
                  <a:latin typeface="Arial" panose="020B0604020202020204" pitchFamily="34" charset="0"/>
                  <a:cs typeface="Arial" panose="020B0604020202020204" pitchFamily="34" charset="0"/>
                </a:endParaRPr>
              </a:p>
              <a:p>
                <a:pPr marL="0" indent="0" algn="just">
                  <a:buNone/>
                </a:pPr>
                <a:endParaRPr lang="es-MX" sz="1600" dirty="0">
                  <a:solidFill>
                    <a:schemeClr val="bg1"/>
                  </a:solidFill>
                  <a:latin typeface="Arial" panose="020B0604020202020204" pitchFamily="34" charset="0"/>
                  <a:cs typeface="Arial" panose="020B0604020202020204" pitchFamily="34" charset="0"/>
                </a:endParaRPr>
              </a:p>
              <a:p>
                <a:pPr marL="0" indent="0" algn="just">
                  <a:buNone/>
                </a:pPr>
                <a:r>
                  <a:rPr lang="es-MX" sz="1600" dirty="0">
                    <a:solidFill>
                      <a:schemeClr val="bg1"/>
                    </a:solidFill>
                    <a:latin typeface="Arial" panose="020B0604020202020204" pitchFamily="34" charset="0"/>
                    <a:cs typeface="Arial" panose="020B0604020202020204" pitchFamily="34" charset="0"/>
                  </a:rPr>
                  <a:t>El siguiente bloque de código se obtiene de la clase </a:t>
                </a:r>
                <a:r>
                  <a:rPr lang="es-MX" sz="1600" i="1" dirty="0">
                    <a:solidFill>
                      <a:schemeClr val="bg1"/>
                    </a:solidFill>
                    <a:latin typeface="Arial" panose="020B0604020202020204" pitchFamily="34" charset="0"/>
                    <a:cs typeface="Arial" panose="020B0604020202020204" pitchFamily="34" charset="0"/>
                  </a:rPr>
                  <a:t>ParametrosSimulacion.java</a:t>
                </a:r>
                <a:r>
                  <a:rPr lang="es-MX" sz="1600" dirty="0">
                    <a:solidFill>
                      <a:schemeClr val="bg1"/>
                    </a:solidFill>
                    <a:latin typeface="Arial" panose="020B0604020202020204" pitchFamily="34" charset="0"/>
                    <a:cs typeface="Arial" panose="020B0604020202020204" pitchFamily="34" charset="0"/>
                  </a:rPr>
                  <a:t> y especifica su proceso de obtención de datos</a:t>
                </a:r>
              </a:p>
            </p:txBody>
          </p:sp>
        </mc:Choice>
        <mc:Fallback xmlns="">
          <p:sp>
            <p:nvSpPr>
              <p:cNvPr id="4" name="Marcador de contenido 3">
                <a:extLst>
                  <a:ext uri="{FF2B5EF4-FFF2-40B4-BE49-F238E27FC236}">
                    <a16:creationId xmlns:a16="http://schemas.microsoft.com/office/drawing/2014/main" id="{9CEDF458-1755-4308-AFA8-8EC79A6D0E16}"/>
                  </a:ext>
                </a:extLst>
              </p:cNvPr>
              <p:cNvSpPr>
                <a:spLocks noGrp="1" noRot="1" noChangeAspect="1" noMove="1" noResize="1" noEditPoints="1" noAdjustHandles="1" noChangeArrowheads="1" noChangeShapeType="1" noTextEdit="1"/>
              </p:cNvSpPr>
              <p:nvPr>
                <p:ph idx="1"/>
              </p:nvPr>
            </p:nvSpPr>
            <p:spPr>
              <a:xfrm>
                <a:off x="957943" y="2015734"/>
                <a:ext cx="5268686" cy="4109295"/>
              </a:xfrm>
              <a:blipFill>
                <a:blip r:embed="rId2"/>
                <a:stretch>
                  <a:fillRect l="-579" r="-694" b="-1335"/>
                </a:stretch>
              </a:blipFill>
            </p:spPr>
            <p:txBody>
              <a:bodyPr/>
              <a:lstStyle/>
              <a:p>
                <a:r>
                  <a:rPr lang="es-MX">
                    <a:noFill/>
                  </a:rPr>
                  <a:t> </a:t>
                </a:r>
              </a:p>
            </p:txBody>
          </p:sp>
        </mc:Fallback>
      </mc:AlternateContent>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3"/>
          <a:srcRect r="41669"/>
          <a:stretch/>
        </p:blipFill>
        <p:spPr>
          <a:xfrm>
            <a:off x="10191826" y="52507"/>
            <a:ext cx="2000174" cy="3429000"/>
          </a:xfrm>
          <a:prstGeom prst="rect">
            <a:avLst/>
          </a:prstGeom>
        </p:spPr>
      </p:pic>
      <p:sp>
        <p:nvSpPr>
          <p:cNvPr id="7" name="Rectángulo 6">
            <a:extLst>
              <a:ext uri="{FF2B5EF4-FFF2-40B4-BE49-F238E27FC236}">
                <a16:creationId xmlns:a16="http://schemas.microsoft.com/office/drawing/2014/main" id="{E5A27396-B2A5-4E1B-BDF3-BAAD54C447CF}"/>
              </a:ext>
            </a:extLst>
          </p:cNvPr>
          <p:cNvSpPr/>
          <p:nvPr/>
        </p:nvSpPr>
        <p:spPr>
          <a:xfrm>
            <a:off x="6531428" y="2448378"/>
            <a:ext cx="4528458" cy="2031325"/>
          </a:xfrm>
          <a:prstGeom prst="rect">
            <a:avLst/>
          </a:prstGeom>
          <a:solidFill>
            <a:srgbClr val="19142A"/>
          </a:solidFill>
        </p:spPr>
        <p:txBody>
          <a:bodyPr wrap="square">
            <a:spAutoFit/>
          </a:bodyPr>
          <a:lstStyle/>
          <a:p>
            <a:r>
              <a:rPr lang="es-MX" sz="1400" dirty="0" err="1">
                <a:solidFill>
                  <a:srgbClr val="BFC7D5"/>
                </a:solidFill>
                <a:latin typeface="Consolas" panose="020B0609020204030204" pitchFamily="49" charset="0"/>
              </a:rPr>
              <a:t>public</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double</a:t>
            </a:r>
            <a:r>
              <a:rPr lang="es-MX" sz="1400" dirty="0">
                <a:solidFill>
                  <a:srgbClr val="BFC7D5"/>
                </a:solidFill>
                <a:latin typeface="Consolas" panose="020B0609020204030204" pitchFamily="49" charset="0"/>
              </a:rPr>
              <a:t> </a:t>
            </a:r>
            <a:r>
              <a:rPr lang="es-MX" sz="1400" dirty="0" err="1">
                <a:solidFill>
                  <a:srgbClr val="B2CCD6"/>
                </a:solidFill>
                <a:latin typeface="Consolas" panose="020B0609020204030204" pitchFamily="49" charset="0"/>
              </a:rPr>
              <a:t>getCostoJornada</a:t>
            </a:r>
            <a:r>
              <a:rPr lang="es-MX" sz="1400" dirty="0">
                <a:solidFill>
                  <a:srgbClr val="BFC7D5"/>
                </a:solidFill>
                <a:latin typeface="Consolas" panose="020B0609020204030204" pitchFamily="49" charset="0"/>
              </a:rPr>
              <a:t>() {</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double</a:t>
            </a:r>
            <a:r>
              <a:rPr lang="es-MX" sz="1400" dirty="0">
                <a:solidFill>
                  <a:srgbClr val="BFC7D5"/>
                </a:solidFill>
                <a:latin typeface="Consolas" panose="020B0609020204030204" pitchFamily="49" charset="0"/>
              </a:rPr>
              <a:t> horas =</a:t>
            </a:r>
          </a:p>
          <a:p>
            <a:r>
              <a:rPr lang="es-MX" sz="1400" dirty="0">
                <a:solidFill>
                  <a:srgbClr val="BFC7D5"/>
                </a:solidFill>
                <a:latin typeface="Consolas" panose="020B0609020204030204" pitchFamily="49" charset="0"/>
              </a:rPr>
              <a:t>            </a:t>
            </a:r>
            <a:r>
              <a:rPr lang="es-MX" sz="1400" dirty="0" err="1">
                <a:solidFill>
                  <a:srgbClr val="B2CCD6"/>
                </a:solidFill>
                <a:latin typeface="Consolas" panose="020B0609020204030204" pitchFamily="49" charset="0"/>
              </a:rPr>
              <a:t>getDuracionJornadaSegundos</a:t>
            </a:r>
            <a:r>
              <a:rPr lang="es-MX" sz="1400" dirty="0">
                <a:solidFill>
                  <a:srgbClr val="BFC7D5"/>
                </a:solidFill>
                <a:latin typeface="Consolas" panose="020B0609020204030204" pitchFamily="49" charset="0"/>
              </a:rPr>
              <a:t>()</a:t>
            </a:r>
          </a:p>
          <a:p>
            <a:r>
              <a:rPr lang="es-MX" sz="1400" dirty="0">
                <a:solidFill>
                  <a:srgbClr val="BFC7D5"/>
                </a:solidFill>
                <a:latin typeface="Consolas" panose="020B0609020204030204" pitchFamily="49" charset="0"/>
              </a:rPr>
              <a:t>                    </a:t>
            </a:r>
            <a:r>
              <a:rPr lang="es-MX" sz="1400" dirty="0">
                <a:solidFill>
                  <a:srgbClr val="89DDFF"/>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a:solidFill>
                  <a:srgbClr val="F78C6C"/>
                </a:solidFill>
                <a:latin typeface="Consolas" panose="020B0609020204030204" pitchFamily="49" charset="0"/>
              </a:rPr>
              <a:t>3600.0</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return</a:t>
            </a:r>
            <a:r>
              <a:rPr lang="es-MX" sz="1400" dirty="0">
                <a:solidFill>
                  <a:srgbClr val="BFC7D5"/>
                </a:solidFill>
                <a:latin typeface="Consolas" panose="020B0609020204030204" pitchFamily="49" charset="0"/>
              </a:rPr>
              <a:t> </a:t>
            </a:r>
            <a:r>
              <a:rPr lang="es-MX" sz="1400" dirty="0" err="1">
                <a:solidFill>
                  <a:srgbClr val="B2CCD6"/>
                </a:solidFill>
                <a:latin typeface="Consolas" panose="020B0609020204030204" pitchFamily="49" charset="0"/>
              </a:rPr>
              <a:t>getCostoTotalPorHora</a:t>
            </a:r>
            <a:r>
              <a:rPr lang="es-MX" sz="1400" dirty="0">
                <a:solidFill>
                  <a:srgbClr val="BFC7D5"/>
                </a:solidFill>
                <a:latin typeface="Consolas" panose="020B0609020204030204" pitchFamily="49" charset="0"/>
              </a:rPr>
              <a:t>()</a:t>
            </a:r>
          </a:p>
          <a:p>
            <a:r>
              <a:rPr lang="es-MX" sz="1400" dirty="0">
                <a:solidFill>
                  <a:srgbClr val="BFC7D5"/>
                </a:solidFill>
                <a:latin typeface="Consolas" panose="020B0609020204030204" pitchFamily="49" charset="0"/>
              </a:rPr>
              <a:t>            </a:t>
            </a:r>
            <a:r>
              <a:rPr lang="es-MX" sz="1400" dirty="0">
                <a:solidFill>
                  <a:srgbClr val="89DDFF"/>
                </a:solidFill>
                <a:latin typeface="Consolas" panose="020B0609020204030204" pitchFamily="49" charset="0"/>
              </a:rPr>
              <a:t>*</a:t>
            </a:r>
            <a:r>
              <a:rPr lang="es-MX" sz="1400" dirty="0">
                <a:solidFill>
                  <a:srgbClr val="BFC7D5"/>
                </a:solidFill>
                <a:latin typeface="Consolas" panose="020B0609020204030204" pitchFamily="49" charset="0"/>
              </a:rPr>
              <a:t> horas;</a:t>
            </a:r>
          </a:p>
          <a:p>
            <a:r>
              <a:rPr lang="es-MX" sz="1400" dirty="0">
                <a:solidFill>
                  <a:srgbClr val="BFC7D5"/>
                </a:solidFill>
                <a:latin typeface="Consolas" panose="020B0609020204030204" pitchFamily="49" charset="0"/>
              </a:rPr>
              <a:t>}</a:t>
            </a:r>
            <a:endParaRPr lang="es-MX" sz="1400" b="0" dirty="0">
              <a:solidFill>
                <a:srgbClr val="BFC7D5"/>
              </a:solidFill>
              <a:effectLst/>
              <a:latin typeface="Consolas" panose="020B0609020204030204" pitchFamily="49" charset="0"/>
            </a:endParaRPr>
          </a:p>
        </p:txBody>
      </p:sp>
    </p:spTree>
    <p:extLst>
      <p:ext uri="{BB962C8B-B14F-4D97-AF65-F5344CB8AC3E}">
        <p14:creationId xmlns:p14="http://schemas.microsoft.com/office/powerpoint/2010/main" val="8561903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32A87DC-4190-42D6-8460-B54CE599A775}"/>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6" name="Título 1">
            <a:extLst>
              <a:ext uri="{FF2B5EF4-FFF2-40B4-BE49-F238E27FC236}">
                <a16:creationId xmlns:a16="http://schemas.microsoft.com/office/drawing/2014/main" id="{3450464A-0CF9-4B9A-8A7A-D357F26286BE}"/>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Conclusión</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514201" y="1596571"/>
            <a:ext cx="10603741" cy="4954131"/>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solidFill>
                  <a:schemeClr val="bg1">
                    <a:lumMod val="95000"/>
                    <a:lumOff val="5000"/>
                  </a:schemeClr>
                </a:solidFill>
                <a:latin typeface="Arial" panose="020B0604020202020204" pitchFamily="34" charset="0"/>
                <a:cs typeface="Arial" panose="020B0604020202020204" pitchFamily="34" charset="0"/>
              </a:rPr>
              <a:t>El desarrollo del proyecto integrador </a:t>
            </a:r>
            <a:r>
              <a:rPr lang="es-MX" sz="1800" b="1" dirty="0">
                <a:solidFill>
                  <a:schemeClr val="bg1">
                    <a:lumMod val="95000"/>
                    <a:lumOff val="5000"/>
                  </a:schemeClr>
                </a:solidFill>
                <a:latin typeface="Arial" panose="020B0604020202020204" pitchFamily="34" charset="0"/>
                <a:cs typeface="Arial" panose="020B0604020202020204" pitchFamily="34" charset="0"/>
              </a:rPr>
              <a:t>Agua Cero </a:t>
            </a:r>
            <a:r>
              <a:rPr lang="es-MX" sz="1800" dirty="0">
                <a:solidFill>
                  <a:schemeClr val="bg1">
                    <a:lumMod val="95000"/>
                    <a:lumOff val="5000"/>
                  </a:schemeClr>
                </a:solidFill>
                <a:latin typeface="Arial" panose="020B0604020202020204" pitchFamily="34" charset="0"/>
                <a:cs typeface="Arial" panose="020B0604020202020204" pitchFamily="34" charset="0"/>
              </a:rPr>
              <a:t>permitió construir un modelo computacional orientado a representar el funcionamiento de una planta embotelladora de agua, considerando las principales etapas que intervienen en el recorrido de los garrafones desde su ingreso hasta la obtención del producto terminado.</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La implementación mediante Java y </a:t>
            </a:r>
            <a:r>
              <a:rPr lang="es-MX" sz="1800" dirty="0" err="1">
                <a:solidFill>
                  <a:schemeClr val="bg1">
                    <a:lumMod val="95000"/>
                    <a:lumOff val="5000"/>
                  </a:schemeClr>
                </a:solidFill>
                <a:latin typeface="Arial" panose="020B0604020202020204" pitchFamily="34" charset="0"/>
                <a:cs typeface="Arial" panose="020B0604020202020204" pitchFamily="34" charset="0"/>
              </a:rPr>
              <a:t>JavaFX</a:t>
            </a:r>
            <a:r>
              <a:rPr lang="es-MX" sz="1800" dirty="0">
                <a:solidFill>
                  <a:schemeClr val="bg1">
                    <a:lumMod val="95000"/>
                    <a:lumOff val="5000"/>
                  </a:schemeClr>
                </a:solidFill>
                <a:latin typeface="Arial" panose="020B0604020202020204" pitchFamily="34" charset="0"/>
                <a:cs typeface="Arial" panose="020B0604020202020204" pitchFamily="34" charset="0"/>
              </a:rPr>
              <a:t> permitió integrar en una misma aplicación la configuración de escenarios, los tiempos de procesamiento, las colas, la capacidad de las estaciones, la disponibilidad de los recursos humanos y los costos asociados al personal. Asimismo, la organización modular del software facilita la separación entre la interfaz gráfica, los parámetros del sistema, las entidades que participan en el modelo y la lógica encargada de coordinar la simulación.</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Uno de los aspectos relevantes del proyecto es la posibilidad de modificar las condiciones del escenario y gestionar los recursos humanos, permitiendo activar, desactivar o incorporar empleados, establecer sus costos y definir las actividades que pueden realizar. De esta manera, el sistema fue diseñado no solamente para representar visualmente el proceso, sino también para proporcionar una base sobre la cual puedan evaluarse posteriormente diferentes configuraciones operativas.</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En conclusión, Agua Cero establece una herramienta de simulación configurable que integra el modelo del proceso productivo con una implementación computacional estructurada. Las etapas posteriores de pruebas, validación y análisis de resultados permitirán comprobar el comportamiento del modelo bajo distintos escenarios y determinar el efecto que producen las modificaciones en los recursos, tiempos, costos y desempeño general del sistema.</a:t>
            </a:r>
          </a:p>
        </p:txBody>
      </p:sp>
    </p:spTree>
    <p:extLst>
      <p:ext uri="{BB962C8B-B14F-4D97-AF65-F5344CB8AC3E}">
        <p14:creationId xmlns:p14="http://schemas.microsoft.com/office/powerpoint/2010/main" val="22429927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5C164C0-7EE6-40FB-94B4-97DB2BFBFA92}"/>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Referencias</a:t>
            </a:r>
          </a:p>
        </p:txBody>
      </p:sp>
      <p:sp>
        <p:nvSpPr>
          <p:cNvPr id="5" name="Rectángulo 4">
            <a:extLst>
              <a:ext uri="{FF2B5EF4-FFF2-40B4-BE49-F238E27FC236}">
                <a16:creationId xmlns:a16="http://schemas.microsoft.com/office/drawing/2014/main" id="{BD1841AC-70A4-4968-9299-7557B1927E27}"/>
              </a:ext>
            </a:extLst>
          </p:cNvPr>
          <p:cNvSpPr/>
          <p:nvPr/>
        </p:nvSpPr>
        <p:spPr>
          <a:xfrm>
            <a:off x="594882" y="1729831"/>
            <a:ext cx="9710057" cy="5509200"/>
          </a:xfrm>
          <a:prstGeom prst="rect">
            <a:avLst/>
          </a:prstGeom>
        </p:spPr>
        <p:txBody>
          <a:bodyPr wrap="square">
            <a:spAutoFit/>
          </a:bodyPr>
          <a:lstStyle/>
          <a:p>
            <a:pPr lvl="1"/>
            <a:r>
              <a:rPr lang="es-MX" sz="1600" dirty="0">
                <a:solidFill>
                  <a:schemeClr val="bg1">
                    <a:lumMod val="85000"/>
                    <a:lumOff val="15000"/>
                  </a:schemeClr>
                </a:solidFill>
              </a:rPr>
              <a:t>Arias, A. (s.f.). </a:t>
            </a:r>
            <a:r>
              <a:rPr lang="es-MX" sz="1600" dirty="0" err="1">
                <a:solidFill>
                  <a:schemeClr val="bg1">
                    <a:lumMod val="85000"/>
                    <a:lumOff val="15000"/>
                  </a:schemeClr>
                </a:solidFill>
              </a:rPr>
              <a:t>JavaFX</a:t>
            </a:r>
            <a:r>
              <a:rPr lang="es-MX" sz="1600" dirty="0">
                <a:solidFill>
                  <a:schemeClr val="bg1">
                    <a:lumMod val="85000"/>
                    <a:lumOff val="15000"/>
                  </a:schemeClr>
                </a:solidFill>
              </a:rPr>
              <a:t> desde 0 - Interfaces gráficas con Java #1. Obtenido de </a:t>
            </a:r>
            <a:r>
              <a:rPr lang="es-MX" sz="1600" dirty="0">
                <a:solidFill>
                  <a:schemeClr val="bg1">
                    <a:lumMod val="85000"/>
                    <a:lumOff val="15000"/>
                  </a:schemeClr>
                </a:solidFill>
                <a:hlinkClick r:id="rId2">
                  <a:extLst>
                    <a:ext uri="{A12FA001-AC4F-418D-AE19-62706E023703}">
                      <ahyp:hlinkClr xmlns:ahyp="http://schemas.microsoft.com/office/drawing/2018/hyperlinkcolor" val="tx"/>
                    </a:ext>
                  </a:extLst>
                </a:hlinkClick>
              </a:rPr>
              <a:t>https://www.youtube.com/watch?v=_hcjZO0il9E</a:t>
            </a:r>
            <a:endParaRPr lang="es-MX" sz="1600" dirty="0">
              <a:solidFill>
                <a:schemeClr val="bg1">
                  <a:lumMod val="85000"/>
                  <a:lumOff val="15000"/>
                </a:schemeClr>
              </a:solidFill>
            </a:endParaRPr>
          </a:p>
          <a:p>
            <a:endParaRPr lang="es-MX" sz="1600" dirty="0">
              <a:solidFill>
                <a:schemeClr val="bg1">
                  <a:lumMod val="85000"/>
                  <a:lumOff val="15000"/>
                </a:schemeClr>
              </a:solidFill>
            </a:endParaRPr>
          </a:p>
          <a:p>
            <a:pPr lvl="1"/>
            <a:r>
              <a:rPr lang="es-MX" sz="1600" dirty="0">
                <a:solidFill>
                  <a:schemeClr val="bg1">
                    <a:lumMod val="85000"/>
                    <a:lumOff val="15000"/>
                  </a:schemeClr>
                </a:solidFill>
              </a:rPr>
              <a:t>Arias, A. (s.f.). </a:t>
            </a:r>
            <a:r>
              <a:rPr lang="es-MX" sz="1600" dirty="0" err="1">
                <a:solidFill>
                  <a:schemeClr val="bg1">
                    <a:lumMod val="85000"/>
                    <a:lumOff val="15000"/>
                  </a:schemeClr>
                </a:solidFill>
              </a:rPr>
              <a:t>JavaFX</a:t>
            </a:r>
            <a:r>
              <a:rPr lang="es-MX" sz="1600" dirty="0">
                <a:solidFill>
                  <a:schemeClr val="bg1">
                    <a:lumMod val="85000"/>
                    <a:lumOff val="15000"/>
                  </a:schemeClr>
                </a:solidFill>
              </a:rPr>
              <a:t> desde 0 - Interfaces gráficas con Java #2. Obtenido de </a:t>
            </a:r>
            <a:r>
              <a:rPr lang="es-MX" sz="1600" dirty="0">
                <a:solidFill>
                  <a:schemeClr val="bg1">
                    <a:lumMod val="85000"/>
                    <a:lumOff val="15000"/>
                  </a:schemeClr>
                </a:solidFill>
                <a:hlinkClick r:id="rId3">
                  <a:extLst>
                    <a:ext uri="{A12FA001-AC4F-418D-AE19-62706E023703}">
                      <ahyp:hlinkClr xmlns:ahyp="http://schemas.microsoft.com/office/drawing/2018/hyperlinkcolor" val="tx"/>
                    </a:ext>
                  </a:extLst>
                </a:hlinkClick>
              </a:rPr>
              <a:t>https://www.youtube.com/watch?v=gNwhSmQlVH8&amp;t=8s</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Gonzalez</a:t>
            </a:r>
            <a:r>
              <a:rPr lang="es-MX" sz="1600" dirty="0">
                <a:solidFill>
                  <a:schemeClr val="bg1">
                    <a:lumMod val="85000"/>
                    <a:lumOff val="15000"/>
                  </a:schemeClr>
                </a:solidFill>
              </a:rPr>
              <a:t>, L. M. (s.f.). </a:t>
            </a:r>
            <a:r>
              <a:rPr lang="es-MX" sz="1600" dirty="0" err="1">
                <a:solidFill>
                  <a:schemeClr val="bg1">
                    <a:lumMod val="85000"/>
                    <a:lumOff val="15000"/>
                  </a:schemeClr>
                </a:solidFill>
              </a:rPr>
              <a:t>Simulacion</a:t>
            </a:r>
            <a:r>
              <a:rPr lang="es-MX" sz="1600" dirty="0">
                <a:solidFill>
                  <a:schemeClr val="bg1">
                    <a:lumMod val="85000"/>
                    <a:lumOff val="15000"/>
                  </a:schemeClr>
                </a:solidFill>
              </a:rPr>
              <a:t> planta purificadora de agua </a:t>
            </a:r>
            <a:r>
              <a:rPr lang="es-MX" sz="1600" dirty="0" err="1">
                <a:solidFill>
                  <a:schemeClr val="bg1">
                    <a:lumMod val="85000"/>
                    <a:lumOff val="15000"/>
                  </a:schemeClr>
                </a:solidFill>
              </a:rPr>
              <a:t>flexsim</a:t>
            </a:r>
            <a:r>
              <a:rPr lang="es-MX" sz="1600" dirty="0">
                <a:solidFill>
                  <a:schemeClr val="bg1">
                    <a:lumMod val="85000"/>
                    <a:lumOff val="15000"/>
                  </a:schemeClr>
                </a:solidFill>
              </a:rPr>
              <a:t>. Obtenido de </a:t>
            </a:r>
            <a:r>
              <a:rPr lang="es-MX" sz="1600" dirty="0">
                <a:solidFill>
                  <a:schemeClr val="bg1">
                    <a:lumMod val="85000"/>
                    <a:lumOff val="15000"/>
                  </a:schemeClr>
                </a:solidFill>
                <a:hlinkClick r:id="rId4">
                  <a:extLst>
                    <a:ext uri="{A12FA001-AC4F-418D-AE19-62706E023703}">
                      <ahyp:hlinkClr xmlns:ahyp="http://schemas.microsoft.com/office/drawing/2018/hyperlinkcolor" val="tx"/>
                    </a:ext>
                  </a:extLst>
                </a:hlinkClick>
              </a:rPr>
              <a:t>https://www.youtube.com/watch?v=GVZPPxwkPL8</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a:solidFill>
                  <a:schemeClr val="bg1">
                    <a:lumMod val="85000"/>
                    <a:lumOff val="15000"/>
                  </a:schemeClr>
                </a:solidFill>
              </a:rPr>
              <a:t>ORACLE. (s.f.). Guía de referencia de </a:t>
            </a:r>
            <a:r>
              <a:rPr lang="es-MX" sz="1600" dirty="0" err="1">
                <a:solidFill>
                  <a:schemeClr val="bg1">
                    <a:lumMod val="85000"/>
                    <a:lumOff val="15000"/>
                  </a:schemeClr>
                </a:solidFill>
              </a:rPr>
              <a:t>JavaFX</a:t>
            </a:r>
            <a:r>
              <a:rPr lang="es-MX" sz="1600" dirty="0">
                <a:solidFill>
                  <a:schemeClr val="bg1">
                    <a:lumMod val="85000"/>
                    <a:lumOff val="15000"/>
                  </a:schemeClr>
                </a:solidFill>
              </a:rPr>
              <a:t> CSS. Obtenido de </a:t>
            </a:r>
            <a:r>
              <a:rPr lang="es-MX" sz="1600" dirty="0">
                <a:solidFill>
                  <a:schemeClr val="bg1">
                    <a:lumMod val="85000"/>
                    <a:lumOff val="15000"/>
                  </a:schemeClr>
                </a:solidFill>
                <a:hlinkClick r:id="rId5">
                  <a:extLst>
                    <a:ext uri="{A12FA001-AC4F-418D-AE19-62706E023703}">
                      <ahyp:hlinkClr xmlns:ahyp="http://schemas.microsoft.com/office/drawing/2018/hyperlinkcolor" val="tx"/>
                    </a:ext>
                  </a:extLst>
                </a:hlinkClick>
              </a:rPr>
              <a:t>https://openjfx.io/javadoc/11/javafx.graphics/javafx/scene/doc-files/cssref.html</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School</a:t>
            </a:r>
            <a:r>
              <a:rPr lang="es-MX" sz="1600" dirty="0">
                <a:solidFill>
                  <a:schemeClr val="bg1">
                    <a:lumMod val="85000"/>
                    <a:lumOff val="15000"/>
                  </a:schemeClr>
                </a:solidFill>
              </a:rPr>
              <a:t>, W. (s.f.). Java </a:t>
            </a:r>
            <a:r>
              <a:rPr lang="es-MX" sz="1600" dirty="0" err="1">
                <a:solidFill>
                  <a:schemeClr val="bg1">
                    <a:lumMod val="85000"/>
                    <a:lumOff val="15000"/>
                  </a:schemeClr>
                </a:solidFill>
              </a:rPr>
              <a:t>Enums</a:t>
            </a:r>
            <a:r>
              <a:rPr lang="es-MX" sz="1600" dirty="0">
                <a:solidFill>
                  <a:schemeClr val="bg1">
                    <a:lumMod val="85000"/>
                    <a:lumOff val="15000"/>
                  </a:schemeClr>
                </a:solidFill>
              </a:rPr>
              <a:t>. Obtenido de </a:t>
            </a:r>
            <a:r>
              <a:rPr lang="es-MX" sz="1600" dirty="0">
                <a:solidFill>
                  <a:schemeClr val="bg1">
                    <a:lumMod val="85000"/>
                    <a:lumOff val="15000"/>
                  </a:schemeClr>
                </a:solidFill>
                <a:hlinkClick r:id="rId6">
                  <a:extLst>
                    <a:ext uri="{A12FA001-AC4F-418D-AE19-62706E023703}">
                      <ahyp:hlinkClr xmlns:ahyp="http://schemas.microsoft.com/office/drawing/2018/hyperlinkcolor" val="tx"/>
                    </a:ext>
                  </a:extLst>
                </a:hlinkClick>
              </a:rPr>
              <a:t>https://www.w3schools.com/java/java_enums.asp</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a:solidFill>
                  <a:schemeClr val="bg1">
                    <a:lumMod val="85000"/>
                    <a:lumOff val="15000"/>
                  </a:schemeClr>
                </a:solidFill>
              </a:rPr>
              <a:t>TIC-MACH. (s.f.). Simulación de una Planta Embotelladora de Agua. Obtenido de </a:t>
            </a:r>
            <a:r>
              <a:rPr lang="es-MX" sz="1600" dirty="0">
                <a:solidFill>
                  <a:schemeClr val="bg1">
                    <a:lumMod val="85000"/>
                    <a:lumOff val="15000"/>
                  </a:schemeClr>
                </a:solidFill>
                <a:hlinkClick r:id="rId7">
                  <a:extLst>
                    <a:ext uri="{A12FA001-AC4F-418D-AE19-62706E023703}">
                      <ahyp:hlinkClr xmlns:ahyp="http://schemas.microsoft.com/office/drawing/2018/hyperlinkcolor" val="tx"/>
                    </a:ext>
                  </a:extLst>
                </a:hlinkClick>
              </a:rPr>
              <a:t>https://www.youtube.com/watch?v=6iB1-EsrQF0&amp;t=21s</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chatgpt</a:t>
            </a:r>
            <a:r>
              <a:rPr lang="es-MX" sz="1600" dirty="0">
                <a:solidFill>
                  <a:schemeClr val="bg1">
                    <a:lumMod val="85000"/>
                    <a:lumOff val="15000"/>
                  </a:schemeClr>
                </a:solidFill>
              </a:rPr>
              <a:t>. (s.f.). Obtenido de https://chatgpt.com/</a:t>
            </a:r>
          </a:p>
          <a:p>
            <a:pPr lvl="1"/>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endParaRPr lang="es-MX" sz="1600" dirty="0"/>
          </a:p>
          <a:p>
            <a:endParaRPr lang="es-MX" sz="1600" dirty="0"/>
          </a:p>
        </p:txBody>
      </p:sp>
      <p:pic>
        <p:nvPicPr>
          <p:cNvPr id="4" name="Imagen 3">
            <a:extLst>
              <a:ext uri="{FF2B5EF4-FFF2-40B4-BE49-F238E27FC236}">
                <a16:creationId xmlns:a16="http://schemas.microsoft.com/office/drawing/2014/main" id="{78A3F724-673C-4E9C-8349-22DD08874FAD}"/>
              </a:ext>
            </a:extLst>
          </p:cNvPr>
          <p:cNvPicPr>
            <a:picLocks noChangeAspect="1"/>
          </p:cNvPicPr>
          <p:nvPr/>
        </p:nvPicPr>
        <p:blipFill rotWithShape="1">
          <a:blip r:embed="rId8"/>
          <a:srcRect r="41669"/>
          <a:stretch/>
        </p:blipFill>
        <p:spPr>
          <a:xfrm>
            <a:off x="10191826" y="52507"/>
            <a:ext cx="2000174" cy="3429000"/>
          </a:xfrm>
          <a:prstGeom prst="rect">
            <a:avLst/>
          </a:prstGeom>
        </p:spPr>
      </p:pic>
    </p:spTree>
    <p:extLst>
      <p:ext uri="{BB962C8B-B14F-4D97-AF65-F5344CB8AC3E}">
        <p14:creationId xmlns:p14="http://schemas.microsoft.com/office/powerpoint/2010/main" val="516107348"/>
      </p:ext>
    </p:extLst>
  </p:cSld>
  <p:clrMapOvr>
    <a:masterClrMapping/>
  </p:clrMapOvr>
</p:sld>
</file>

<file path=ppt/theme/theme1.xml><?xml version="1.0" encoding="utf-8"?>
<a:theme xmlns:a="http://schemas.openxmlformats.org/drawingml/2006/main" name="Galería">
  <a:themeElements>
    <a:clrScheme name="Papel">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Galería">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6799</TotalTime>
  <Words>5506</Words>
  <Application>Microsoft Office PowerPoint</Application>
  <PresentationFormat>Panorámica</PresentationFormat>
  <Paragraphs>323</Paragraphs>
  <Slides>63</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63</vt:i4>
      </vt:variant>
    </vt:vector>
  </HeadingPairs>
  <TitlesOfParts>
    <vt:vector size="71" baseType="lpstr">
      <vt:lpstr>Arial</vt:lpstr>
      <vt:lpstr>Arial Rounded MT Bold</vt:lpstr>
      <vt:lpstr>Bahnschrift</vt:lpstr>
      <vt:lpstr>Cambria Math</vt:lpstr>
      <vt:lpstr>Consolas</vt:lpstr>
      <vt:lpstr>Rockwell</vt:lpstr>
      <vt:lpstr>Wingdings</vt:lpstr>
      <vt:lpstr>Galería</vt:lpstr>
      <vt:lpstr>Presentación de PowerPoint</vt:lpstr>
      <vt:lpstr>Introducción</vt:lpstr>
      <vt:lpstr>Presentación de PowerPoint</vt:lpstr>
      <vt:lpstr>Presentación de PowerPoint</vt:lpstr>
      <vt:lpstr>Presentación de PowerPoint</vt:lpstr>
      <vt:lpstr>Presentación de PowerPoint</vt:lpstr>
      <vt:lpstr>Presentación de PowerPoint</vt:lpstr>
      <vt:lpstr>Herramientas de desarrollo</vt:lpstr>
      <vt:lpstr>Herramientas de desarrollo de Agua Cero</vt:lpstr>
      <vt:lpstr>Modelado del sistema</vt:lpstr>
      <vt:lpstr>Modelado del sistema en Bizagi</vt:lpstr>
      <vt:lpstr>Modelado del sistema en Bizagi</vt:lpstr>
      <vt:lpstr>Modelado del sistema</vt:lpstr>
      <vt:lpstr>Flujo operativo de Agua Cero</vt:lpstr>
      <vt:lpstr>Flujo operativo de Agua Cero.</vt:lpstr>
      <vt:lpstr>Flujo operativo de Agua Cero.</vt:lpstr>
      <vt:lpstr>Flujo operativo de Agua Cero.</vt:lpstr>
      <vt:lpstr>Flujo operativo de Agua Cero.</vt:lpstr>
      <vt:lpstr>Flujo operativo de Agua Cero.</vt:lpstr>
      <vt:lpstr>Flujo operativo de Agua Cero.</vt:lpstr>
      <vt:lpstr>Flujo operativo de Agua Cero.</vt:lpstr>
      <vt:lpstr>Parámetros de simulación</vt:lpstr>
      <vt:lpstr>Parámetros de simulación de Agua Cero.</vt:lpstr>
      <vt:lpstr>Parámetros de simulación de Agua Cero.</vt:lpstr>
      <vt:lpstr>Parámetros de simulación de Agua Cero.</vt:lpstr>
      <vt:lpstr>Parámetros de simulación de Agua Cero.</vt:lpstr>
      <vt:lpstr>Parámetros de simulación de Agua Cero.</vt:lpstr>
      <vt:lpstr>Recursos humanos</vt:lpstr>
      <vt:lpstr>Recursos humanos de Agua Cero.</vt:lpstr>
      <vt:lpstr>Recursos humanos de Agua Cero.</vt:lpstr>
      <vt:lpstr>Arquitectura del software</vt:lpstr>
      <vt:lpstr>Arquitectura del software de Agua Cero.</vt:lpstr>
      <vt:lpstr>Arquitectura del software de Agua Cero.</vt:lpstr>
      <vt:lpstr>Arquitectura del software de Agua Cero.</vt:lpstr>
      <vt:lpstr>Arquitectura del software de Agua Cero.</vt:lpstr>
      <vt:lpstr>Arquitectura del software de Agua Cero.</vt:lpstr>
      <vt:lpstr>Diseño de la interfaz</vt:lpstr>
      <vt:lpstr>Diseño de la interfaz de Agua Cero.</vt:lpstr>
      <vt:lpstr>Elementos principales de la interfaz</vt:lpstr>
      <vt:lpstr>Criterios de diseño</vt:lpstr>
      <vt:lpstr>Diseño de la interfaz de Agua Cero</vt:lpstr>
      <vt:lpstr>Diseño de la interfaz de Agua Cero</vt:lpstr>
      <vt:lpstr>Diseño de la interfaz de Agua Cero</vt:lpstr>
      <vt:lpstr>Diseño de la interfaz de Agua Cero</vt:lpstr>
      <vt:lpstr>Diseño de la interfaz de Agua Cero</vt:lpstr>
      <vt:lpstr>Lógica de funcionamiento</vt:lpstr>
      <vt:lpstr>Empleado.java</vt:lpstr>
      <vt:lpstr>Empleado.java</vt:lpstr>
      <vt:lpstr>EmpleadoConfiguracion.java</vt:lpstr>
      <vt:lpstr>EmpleadoConfiguracion.java</vt:lpstr>
      <vt:lpstr>EstadoGarrafon.java</vt:lpstr>
      <vt:lpstr>Garrafon.java</vt:lpstr>
      <vt:lpstr>Garrafon.java</vt:lpstr>
      <vt:lpstr>TipoLavado.java</vt:lpstr>
      <vt:lpstr>ParametrosSimulacion.java</vt:lpstr>
      <vt:lpstr>ParametrosSimulacion.java</vt:lpstr>
      <vt:lpstr>MotorSimulacion.java</vt:lpstr>
      <vt:lpstr>MotorSimulacion.java</vt:lpstr>
      <vt:lpstr>Modelo de costos</vt:lpstr>
      <vt:lpstr>Modelo de costos</vt:lpstr>
      <vt:lpstr>Modelo de costos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JOSEFINA NIETO HERNÁNDEZ</dc:creator>
  <cp:lastModifiedBy>JOSEFINA NIETO HERNÁNDEZ</cp:lastModifiedBy>
  <cp:revision>301</cp:revision>
  <dcterms:created xsi:type="dcterms:W3CDTF">2025-10-23T03:04:12Z</dcterms:created>
  <dcterms:modified xsi:type="dcterms:W3CDTF">2026-10-02T22:56:23Z</dcterms:modified>
</cp:coreProperties>
</file>