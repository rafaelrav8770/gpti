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5" r:id="rId3"/>
    <p:sldId id="408" r:id="rId4"/>
    <p:sldId id="588" r:id="rId5"/>
    <p:sldId id="576" r:id="rId6"/>
    <p:sldId id="572" r:id="rId7"/>
    <p:sldId id="589" r:id="rId8"/>
    <p:sldId id="590" r:id="rId9"/>
    <p:sldId id="591" r:id="rId10"/>
    <p:sldId id="592" r:id="rId11"/>
    <p:sldId id="593" r:id="rId12"/>
    <p:sldId id="594" r:id="rId13"/>
    <p:sldId id="595" r:id="rId14"/>
    <p:sldId id="596" r:id="rId15"/>
    <p:sldId id="482" r:id="rId16"/>
    <p:sldId id="40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142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26" autoAdjust="0"/>
    <p:restoredTop sz="92523" autoAdjust="0"/>
  </p:normalViewPr>
  <p:slideViewPr>
    <p:cSldViewPr snapToGrid="0">
      <p:cViewPr varScale="1">
        <p:scale>
          <a:sx n="66" d="100"/>
          <a:sy n="66" d="100"/>
        </p:scale>
        <p:origin x="696"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74425" y="802300"/>
            <a:ext cx="8637073" cy="2920713"/>
          </a:xfrm>
        </p:spPr>
        <p:txBody>
          <a:bodyPr bIns="0" anchor="b">
            <a:normAutofit/>
          </a:bodyPr>
          <a:lstStyle>
            <a:lvl1pPr algn="ctr">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74424" y="3724076"/>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a:xfrm>
            <a:off x="1451579" y="329309"/>
            <a:ext cx="5626775" cy="309201"/>
          </a:xfrm>
        </p:spPr>
        <p:txBody>
          <a:bodyPr/>
          <a:lstStyle/>
          <a:p>
            <a:endParaRPr lang="es-MX"/>
          </a:p>
        </p:txBody>
      </p:sp>
      <p:sp>
        <p:nvSpPr>
          <p:cNvPr id="6" name="Slide Number Placeholder 5"/>
          <p:cNvSpPr>
            <a:spLocks noGrp="1"/>
          </p:cNvSpPr>
          <p:nvPr>
            <p:ph type="sldNum" sz="quarter" idx="12"/>
          </p:nvPr>
        </p:nvSpPr>
        <p:spPr>
          <a:xfrm>
            <a:off x="476835" y="798973"/>
            <a:ext cx="811019" cy="503578"/>
          </a:xfrm>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490982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53272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2"/>
            <a:ext cx="8643155" cy="1969007"/>
          </a:xfrm>
        </p:spPr>
        <p:txBody>
          <a:bodyPr anchor="b">
            <a:normAutofit/>
          </a:bodyPr>
          <a:lstStyle>
            <a:lvl1pPr algn="ct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74423" y="3725139"/>
            <a:ext cx="8643155"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21059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9218" y="804891"/>
            <a:ext cx="9293577"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7331" y="2010879"/>
            <a:ext cx="4488655" cy="344859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54141" y="2017343"/>
            <a:ext cx="4488655" cy="3441520"/>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632575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447192" y="804165"/>
            <a:ext cx="9295603"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7191" y="2019551"/>
            <a:ext cx="4488795"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1447191" y="2824271"/>
            <a:ext cx="4488795" cy="2644457"/>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56025" y="2023005"/>
            <a:ext cx="4488795"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256025" y="2821491"/>
            <a:ext cx="4488795" cy="2637371"/>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8529D4-5FC4-4118-980B-6BA2E9F9D5BC}" type="datetimeFigureOut">
              <a:rPr lang="es-MX" smtClean="0"/>
              <a:t>02/10/2026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04880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8529D4-5FC4-4118-980B-6BA2E9F9D5BC}"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229474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8529D4-5FC4-4118-980B-6BA2E9F9D5BC}" type="datetimeFigureOut">
              <a:rPr lang="es-MX" smtClean="0"/>
              <a:t>02/10/2026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153209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44673" y="798973"/>
            <a:ext cx="2961967" cy="2406518"/>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30324" y="798974"/>
            <a:ext cx="6012471" cy="4658826"/>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44673" y="3205493"/>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06391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9" name="Group 8"/>
          <p:cNvGrpSpPr/>
          <p:nvPr/>
        </p:nvGrpSpPr>
        <p:grpSpPr>
          <a:xfrm>
            <a:off x="7477388" y="482172"/>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7" y="1129513"/>
            <a:ext cx="5532328" cy="1922299"/>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4"/>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s-ES"/>
              <a:t>Haga clic en el icono para agregar una imagen</a:t>
            </a:r>
            <a:endParaRPr lang="en-US" dirty="0"/>
          </a:p>
        </p:txBody>
      </p:sp>
      <p:sp>
        <p:nvSpPr>
          <p:cNvPr id="4" name="Text Placeholder 3"/>
          <p:cNvSpPr>
            <a:spLocks noGrp="1"/>
          </p:cNvSpPr>
          <p:nvPr>
            <p:ph type="body" sz="half" idx="2"/>
          </p:nvPr>
        </p:nvSpPr>
        <p:spPr>
          <a:xfrm>
            <a:off x="1450330"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1447383" y="5469858"/>
            <a:ext cx="5527351" cy="320123"/>
          </a:xfrm>
        </p:spPr>
        <p:txBody>
          <a:bodyPr/>
          <a:lstStyle>
            <a:lvl1pPr algn="l">
              <a:defRPr/>
            </a:lvl1pPr>
          </a:lstStyle>
          <a:p>
            <a:fld id="{448529D4-5FC4-4118-980B-6BA2E9F9D5BC}" type="datetimeFigureOut">
              <a:rPr lang="es-MX" smtClean="0"/>
              <a:t>02/10/2026</a:t>
            </a:fld>
            <a:endParaRPr lang="es-MX"/>
          </a:p>
        </p:txBody>
      </p:sp>
      <p:sp>
        <p:nvSpPr>
          <p:cNvPr id="6" name="Footer Placeholder 5"/>
          <p:cNvSpPr>
            <a:spLocks noGrp="1"/>
          </p:cNvSpPr>
          <p:nvPr>
            <p:ph type="ftr" sz="quarter" idx="11"/>
          </p:nvPr>
        </p:nvSpPr>
        <p:spPr>
          <a:xfrm>
            <a:off x="1447383" y="318642"/>
            <a:ext cx="5541004" cy="320931"/>
          </a:xfrm>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75823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532570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3" y="798975"/>
            <a:ext cx="1615743"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4673" y="798975"/>
            <a:ext cx="7518655" cy="4659889"/>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4271742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80" y="804521"/>
            <a:ext cx="9291215" cy="104923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1580" y="2015734"/>
            <a:ext cx="929121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42080"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48529D4-5FC4-4118-980B-6BA2E9F9D5BC}" type="datetimeFigureOut">
              <a:rPr lang="es-MX" smtClean="0"/>
              <a:t>02/10/2026</a:t>
            </a:fld>
            <a:endParaRPr lang="es-MX"/>
          </a:p>
        </p:txBody>
      </p:sp>
      <p:sp>
        <p:nvSpPr>
          <p:cNvPr id="5" name="Footer Placeholder 4"/>
          <p:cNvSpPr>
            <a:spLocks noGrp="1"/>
          </p:cNvSpPr>
          <p:nvPr>
            <p:ph type="ftr" sz="quarter" idx="3"/>
          </p:nvPr>
        </p:nvSpPr>
        <p:spPr>
          <a:xfrm>
            <a:off x="1451579" y="329309"/>
            <a:ext cx="5626775"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480061"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FA0C201-36CB-49AF-8CE6-AD02CF2FB89E}" type="slidenum">
              <a:rPr lang="es-MX" smtClean="0"/>
              <a:t>‹Nº›</a:t>
            </a:fld>
            <a:endParaRPr lang="es-MX"/>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9038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hyperlink" Target="https://www.youtube.com/watch?v=6iB1-EsrQF0&amp;t=21s" TargetMode="External"/><Relationship Id="rId3" Type="http://schemas.openxmlformats.org/officeDocument/2006/relationships/hyperlink" Target="https://www.youtube.com/watch?v=_hcjZO0il9E" TargetMode="External"/><Relationship Id="rId7" Type="http://schemas.openxmlformats.org/officeDocument/2006/relationships/hyperlink" Target="https://www.w3schools.com/java/java_enums.asp"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openjfx.io/javadoc/11/javafx.graphics/javafx/scene/doc-files/cssref.html" TargetMode="External"/><Relationship Id="rId5" Type="http://schemas.openxmlformats.org/officeDocument/2006/relationships/hyperlink" Target="https://www.youtube.com/watch?v=GVZPPxwkPL8" TargetMode="External"/><Relationship Id="rId4" Type="http://schemas.openxmlformats.org/officeDocument/2006/relationships/hyperlink" Target="https://www.youtube.com/watch?v=gNwhSmQlVH8&amp;t=8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uadroTexto 3"/>
          <p:cNvSpPr txBox="1"/>
          <p:nvPr/>
        </p:nvSpPr>
        <p:spPr>
          <a:xfrm>
            <a:off x="2000174" y="1280905"/>
            <a:ext cx="8098179" cy="4401205"/>
          </a:xfrm>
          <a:prstGeom prst="rect">
            <a:avLst/>
          </a:prstGeom>
          <a:noFill/>
        </p:spPr>
        <p:txBody>
          <a:bodyPr wrap="square" rtlCol="0">
            <a:spAutoFit/>
          </a:bodyPr>
          <a:lstStyle/>
          <a:p>
            <a:pPr algn="ctr"/>
            <a:r>
              <a:rPr lang="es-MX" b="1" dirty="0">
                <a:solidFill>
                  <a:schemeClr val="bg1">
                    <a:lumMod val="95000"/>
                    <a:lumOff val="5000"/>
                  </a:schemeClr>
                </a:solidFill>
              </a:rPr>
              <a:t>“INGENIERÍA EN SISTEMAS COMPUTACIONALES”</a:t>
            </a:r>
          </a:p>
          <a:p>
            <a:pPr algn="ctr"/>
            <a:endParaRPr lang="es-MX" b="1" dirty="0"/>
          </a:p>
          <a:p>
            <a:pPr algn="ctr"/>
            <a:r>
              <a:rPr lang="es-MX" sz="2000" b="1" dirty="0">
                <a:solidFill>
                  <a:srgbClr val="002060"/>
                </a:solidFill>
              </a:rPr>
              <a:t>Materia:</a:t>
            </a:r>
          </a:p>
          <a:p>
            <a:pPr algn="ctr"/>
            <a:r>
              <a:rPr lang="es-MX" b="1" dirty="0">
                <a:solidFill>
                  <a:schemeClr val="bg1">
                    <a:lumMod val="95000"/>
                    <a:lumOff val="5000"/>
                  </a:schemeClr>
                </a:solidFill>
              </a:rPr>
              <a:t>Simulación.</a:t>
            </a:r>
          </a:p>
          <a:p>
            <a:pPr algn="ctr"/>
            <a:r>
              <a:rPr lang="es-MX" b="1" dirty="0"/>
              <a:t> </a:t>
            </a:r>
          </a:p>
          <a:p>
            <a:pPr algn="ctr"/>
            <a:r>
              <a:rPr lang="es-MX" sz="2000" b="1" dirty="0">
                <a:solidFill>
                  <a:srgbClr val="002060"/>
                </a:solidFill>
              </a:rPr>
              <a:t>Actividad:</a:t>
            </a:r>
          </a:p>
          <a:p>
            <a:pPr algn="ctr"/>
            <a:r>
              <a:rPr lang="es-ES" b="1" dirty="0">
                <a:solidFill>
                  <a:schemeClr val="bg1">
                    <a:lumMod val="95000"/>
                    <a:lumOff val="5000"/>
                  </a:schemeClr>
                </a:solidFill>
              </a:rPr>
              <a:t>“5.4 Manual de usuario”.</a:t>
            </a:r>
            <a:endParaRPr lang="es-MX" b="1" dirty="0">
              <a:solidFill>
                <a:schemeClr val="bg1">
                  <a:lumMod val="95000"/>
                  <a:lumOff val="5000"/>
                </a:schemeClr>
              </a:solidFill>
            </a:endParaRPr>
          </a:p>
          <a:p>
            <a:pPr algn="ctr"/>
            <a:r>
              <a:rPr lang="es-MX" b="1" dirty="0"/>
              <a:t> </a:t>
            </a:r>
          </a:p>
          <a:p>
            <a:pPr algn="ctr"/>
            <a:r>
              <a:rPr lang="es-MX" sz="2000" b="1" dirty="0">
                <a:solidFill>
                  <a:srgbClr val="002060"/>
                </a:solidFill>
              </a:rPr>
              <a:t>Docente:</a:t>
            </a:r>
          </a:p>
          <a:p>
            <a:pPr algn="ctr"/>
            <a:r>
              <a:rPr lang="es-MX" b="1" dirty="0">
                <a:solidFill>
                  <a:schemeClr val="bg1">
                    <a:lumMod val="95000"/>
                    <a:lumOff val="5000"/>
                  </a:schemeClr>
                </a:solidFill>
              </a:rPr>
              <a:t>Ing. Francisco Javier Mingo Velázquez</a:t>
            </a:r>
          </a:p>
          <a:p>
            <a:pPr algn="ctr"/>
            <a:endParaRPr lang="es-MX" b="1" dirty="0">
              <a:solidFill>
                <a:srgbClr val="002060"/>
              </a:solidFill>
            </a:endParaRPr>
          </a:p>
          <a:p>
            <a:pPr algn="ctr"/>
            <a:r>
              <a:rPr lang="es-MX" sz="2000" b="1" dirty="0">
                <a:solidFill>
                  <a:srgbClr val="002060"/>
                </a:solidFill>
              </a:rPr>
              <a:t>Alumno:</a:t>
            </a:r>
          </a:p>
          <a:p>
            <a:pPr algn="ctr"/>
            <a:endParaRPr lang="es-MX" sz="2000" b="1" dirty="0">
              <a:solidFill>
                <a:schemeClr val="bg1">
                  <a:lumMod val="95000"/>
                  <a:lumOff val="5000"/>
                </a:schemeClr>
              </a:solidFill>
            </a:endParaRPr>
          </a:p>
          <a:p>
            <a:pPr algn="ctr"/>
            <a:r>
              <a:rPr lang="es-MX" b="1" dirty="0">
                <a:solidFill>
                  <a:schemeClr val="bg1">
                    <a:lumMod val="95000"/>
                    <a:lumOff val="5000"/>
                  </a:schemeClr>
                </a:solidFill>
              </a:rPr>
              <a:t>Josefina Nieto Hernández.</a:t>
            </a:r>
            <a:endParaRPr lang="es-MX" dirty="0">
              <a:solidFill>
                <a:schemeClr val="bg1">
                  <a:lumMod val="95000"/>
                  <a:lumOff val="5000"/>
                </a:schemeClr>
              </a:solidFill>
            </a:endParaRPr>
          </a:p>
          <a:p>
            <a:endParaRPr lang="es-MX" dirty="0"/>
          </a:p>
        </p:txBody>
      </p:sp>
      <p:pic>
        <p:nvPicPr>
          <p:cNvPr id="5" name="Imagen 4" descr="Logotipo&#10;&#10;Descripción generada automáticamente"/>
          <p:cNvPicPr/>
          <p:nvPr/>
        </p:nvPicPr>
        <p:blipFill>
          <a:blip r:embed="rId2" cstate="email">
            <a:extLst>
              <a:ext uri="{28A0092B-C50C-407E-A947-70E740481C1C}">
                <a14:useLocalDpi xmlns:a14="http://schemas.microsoft.com/office/drawing/2010/main"/>
              </a:ext>
            </a:extLst>
          </a:blip>
          <a:srcRect/>
          <a:stretch>
            <a:fillRect/>
          </a:stretch>
        </p:blipFill>
        <p:spPr bwMode="auto">
          <a:xfrm>
            <a:off x="9533394" y="322476"/>
            <a:ext cx="2301875" cy="1016000"/>
          </a:xfrm>
          <a:prstGeom prst="rect">
            <a:avLst/>
          </a:prstGeom>
          <a:noFill/>
          <a:ln>
            <a:noFill/>
          </a:ln>
        </p:spPr>
      </p:pic>
      <p:pic>
        <p:nvPicPr>
          <p:cNvPr id="6" name="Imagen 5" descr="Diagrama, Forma, Flecha&#10;&#10;Descripción generada automáticamente"/>
          <p:cNvPicPr/>
          <p:nvPr/>
        </p:nvPicPr>
        <p:blipFill>
          <a:blip r:embed="rId3" cstate="email">
            <a:extLst>
              <a:ext uri="{28A0092B-C50C-407E-A947-70E740481C1C}">
                <a14:useLocalDpi xmlns:a14="http://schemas.microsoft.com/office/drawing/2010/main"/>
              </a:ext>
            </a:extLst>
          </a:blip>
          <a:stretch>
            <a:fillRect/>
          </a:stretch>
        </p:blipFill>
        <p:spPr bwMode="auto">
          <a:xfrm>
            <a:off x="463752" y="322477"/>
            <a:ext cx="2055233" cy="1116180"/>
          </a:xfrm>
          <a:prstGeom prst="rect">
            <a:avLst/>
          </a:prstGeom>
          <a:noFill/>
        </p:spPr>
      </p:pic>
      <p:sp>
        <p:nvSpPr>
          <p:cNvPr id="7" name="CuadroTexto 6"/>
          <p:cNvSpPr txBox="1"/>
          <p:nvPr/>
        </p:nvSpPr>
        <p:spPr>
          <a:xfrm>
            <a:off x="8187908" y="6055761"/>
            <a:ext cx="3820886" cy="584775"/>
          </a:xfrm>
          <a:prstGeom prst="rect">
            <a:avLst/>
          </a:prstGeom>
          <a:noFill/>
        </p:spPr>
        <p:txBody>
          <a:bodyPr wrap="square" rtlCol="0">
            <a:spAutoFit/>
          </a:bodyPr>
          <a:lstStyle/>
          <a:p>
            <a:pPr algn="r"/>
            <a:r>
              <a:rPr lang="es-MX" sz="1600" b="1">
                <a:solidFill>
                  <a:schemeClr val="bg1">
                    <a:lumMod val="95000"/>
                    <a:lumOff val="5000"/>
                  </a:schemeClr>
                </a:solidFill>
              </a:rPr>
              <a:t>4 de octubre </a:t>
            </a:r>
            <a:r>
              <a:rPr lang="es-MX" sz="1600" b="1" dirty="0">
                <a:solidFill>
                  <a:schemeClr val="bg1">
                    <a:lumMod val="95000"/>
                    <a:lumOff val="5000"/>
                  </a:schemeClr>
                </a:solidFill>
              </a:rPr>
              <a:t>del 2026.</a:t>
            </a:r>
          </a:p>
          <a:p>
            <a:pPr algn="r"/>
            <a:r>
              <a:rPr lang="es-MX" sz="1600" b="1" dirty="0">
                <a:solidFill>
                  <a:schemeClr val="bg1">
                    <a:lumMod val="95000"/>
                    <a:lumOff val="5000"/>
                  </a:schemeClr>
                </a:solidFill>
              </a:rPr>
              <a:t>Venustiano Carranza; Chiapas.</a:t>
            </a:r>
          </a:p>
        </p:txBody>
      </p:sp>
      <p:sp>
        <p:nvSpPr>
          <p:cNvPr id="8" name="CuadroTexto 7"/>
          <p:cNvSpPr txBox="1"/>
          <p:nvPr/>
        </p:nvSpPr>
        <p:spPr>
          <a:xfrm>
            <a:off x="2273940" y="141903"/>
            <a:ext cx="7824413" cy="738664"/>
          </a:xfrm>
          <a:prstGeom prst="rect">
            <a:avLst/>
          </a:prstGeom>
          <a:noFill/>
        </p:spPr>
        <p:txBody>
          <a:bodyPr wrap="square" rtlCol="0">
            <a:spAutoFit/>
          </a:bodyPr>
          <a:lstStyle/>
          <a:p>
            <a:pPr algn="ctr"/>
            <a:r>
              <a:rPr lang="es-MX" sz="2400" b="1" dirty="0">
                <a:solidFill>
                  <a:schemeClr val="bg1">
                    <a:lumMod val="95000"/>
                    <a:lumOff val="5000"/>
                  </a:schemeClr>
                </a:solidFill>
                <a:latin typeface="Arial" panose="020B0604020202020204" pitchFamily="34" charset="0"/>
                <a:ea typeface="Arial" panose="020B0604020202020204" pitchFamily="34" charset="0"/>
              </a:rPr>
              <a:t>TECNOLÓGICO NACIONAL DE MÉXICO</a:t>
            </a:r>
            <a:endParaRPr lang="es-MX" sz="1600" dirty="0">
              <a:solidFill>
                <a:schemeClr val="bg1">
                  <a:lumMod val="95000"/>
                  <a:lumOff val="5000"/>
                </a:schemeClr>
              </a:solidFill>
              <a:latin typeface="Arial" panose="020B0604020202020204" pitchFamily="34" charset="0"/>
              <a:ea typeface="Arial" panose="020B0604020202020204" pitchFamily="34" charset="0"/>
            </a:endParaRPr>
          </a:p>
          <a:p>
            <a:pPr algn="ctr"/>
            <a:r>
              <a:rPr lang="es-MX" b="1" dirty="0">
                <a:solidFill>
                  <a:schemeClr val="bg1">
                    <a:lumMod val="95000"/>
                    <a:lumOff val="5000"/>
                  </a:schemeClr>
                </a:solidFill>
                <a:latin typeface="Arial" panose="020B0604020202020204" pitchFamily="34" charset="0"/>
                <a:ea typeface="Arial" panose="020B0604020202020204" pitchFamily="34" charset="0"/>
              </a:rPr>
              <a:t>INSTITUTO TECNOLÓGICO DE FRONTERA COMALAPA</a:t>
            </a:r>
            <a:endParaRPr lang="es-MX" dirty="0">
              <a:solidFill>
                <a:schemeClr val="bg1">
                  <a:lumMod val="95000"/>
                  <a:lumOff val="5000"/>
                </a:schemeClr>
              </a:solidFill>
            </a:endParaRPr>
          </a:p>
        </p:txBody>
      </p:sp>
      <p:pic>
        <p:nvPicPr>
          <p:cNvPr id="9" name="Imagen 8">
            <a:extLst>
              <a:ext uri="{FF2B5EF4-FFF2-40B4-BE49-F238E27FC236}">
                <a16:creationId xmlns:a16="http://schemas.microsoft.com/office/drawing/2014/main" id="{4A351671-C586-4F77-B35D-ED43534C392C}"/>
              </a:ext>
            </a:extLst>
          </p:cNvPr>
          <p:cNvPicPr>
            <a:picLocks noChangeAspect="1"/>
          </p:cNvPicPr>
          <p:nvPr/>
        </p:nvPicPr>
        <p:blipFill rotWithShape="1">
          <a:blip r:embed="rId4"/>
          <a:srcRect r="41669"/>
          <a:stretch/>
        </p:blipFill>
        <p:spPr>
          <a:xfrm rot="10800000">
            <a:off x="93473" y="3429000"/>
            <a:ext cx="2000174" cy="3429000"/>
          </a:xfrm>
          <a:prstGeom prst="rect">
            <a:avLst/>
          </a:prstGeom>
        </p:spPr>
      </p:pic>
      <p:pic>
        <p:nvPicPr>
          <p:cNvPr id="11" name="Imagen 10">
            <a:extLst>
              <a:ext uri="{FF2B5EF4-FFF2-40B4-BE49-F238E27FC236}">
                <a16:creationId xmlns:a16="http://schemas.microsoft.com/office/drawing/2014/main" id="{EA08FBD6-0B86-4EAF-BD11-4483E02CDB97}"/>
              </a:ext>
            </a:extLst>
          </p:cNvPr>
          <p:cNvPicPr>
            <a:picLocks noChangeAspect="1"/>
          </p:cNvPicPr>
          <p:nvPr/>
        </p:nvPicPr>
        <p:blipFill rotWithShape="1">
          <a:blip r:embed="rId4"/>
          <a:srcRect r="41669"/>
          <a:stretch/>
        </p:blipFill>
        <p:spPr>
          <a:xfrm>
            <a:off x="10191826" y="52507"/>
            <a:ext cx="2000174" cy="3429000"/>
          </a:xfrm>
          <a:prstGeom prst="rect">
            <a:avLst/>
          </a:prstGeom>
        </p:spPr>
      </p:pic>
    </p:spTree>
    <p:extLst>
      <p:ext uri="{BB962C8B-B14F-4D97-AF65-F5344CB8AC3E}">
        <p14:creationId xmlns:p14="http://schemas.microsoft.com/office/powerpoint/2010/main" val="428822273"/>
      </p:ext>
    </p:extLst>
  </p:cSld>
  <p:clrMapOvr>
    <a:masterClrMapping/>
  </p:clrMapOvr>
  <mc:AlternateContent xmlns:mc="http://schemas.openxmlformats.org/markup-compatibility/2006" xmlns:p14="http://schemas.microsoft.com/office/powerpoint/2010/main">
    <mc:Choice Requires="p14">
      <p:transition spd="slow" p14:dur="2000" advTm="16663"/>
    </mc:Choice>
    <mc:Fallback xmlns="">
      <p:transition spd="slow" advTm="16663"/>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731F2A4-D1DC-4981-9FEA-DCBEFD1E0A19}"/>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19" name="Título 18">
            <a:extLst>
              <a:ext uri="{FF2B5EF4-FFF2-40B4-BE49-F238E27FC236}">
                <a16:creationId xmlns:a16="http://schemas.microsoft.com/office/drawing/2014/main" id="{622C38E7-AB3A-4467-9E91-9B1FCD14C009}"/>
              </a:ext>
            </a:extLst>
          </p:cNvPr>
          <p:cNvSpPr>
            <a:spLocks noGrp="1"/>
          </p:cNvSpPr>
          <p:nvPr>
            <p:ph type="title"/>
          </p:nvPr>
        </p:nvSpPr>
        <p:spPr>
          <a:xfrm>
            <a:off x="791225" y="258183"/>
            <a:ext cx="9418320" cy="1177424"/>
          </a:xfrm>
        </p:spPr>
        <p:txBody>
          <a:bodyPr anchor="ctr">
            <a:normAutofit/>
          </a:bodyPr>
          <a:lstStyle/>
          <a:p>
            <a:pPr algn="just"/>
            <a:r>
              <a:rPr lang="es-MX" sz="4000" dirty="0">
                <a:latin typeface="Arial Rounded MT Bold" panose="020F0704030504030204" pitchFamily="34" charset="0"/>
              </a:rPr>
              <a:t>Introducción</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1"/>
          </p:nvPr>
        </p:nvSpPr>
        <p:spPr>
          <a:xfrm>
            <a:off x="518984" y="1427172"/>
            <a:ext cx="11154032" cy="4789894"/>
          </a:xfrm>
        </p:spPr>
        <p:txBody>
          <a:bodyPr>
            <a:noAutofit/>
          </a:bodyPr>
          <a:lstStyle/>
          <a:p>
            <a:pPr algn="just">
              <a:lnSpc>
                <a:spcPct val="150000"/>
              </a:lnSpc>
            </a:pPr>
            <a:r>
              <a:rPr lang="es-MX" sz="1600" dirty="0">
                <a:solidFill>
                  <a:schemeClr val="bg1">
                    <a:lumMod val="95000"/>
                    <a:lumOff val="5000"/>
                  </a:schemeClr>
                </a:solidFill>
                <a:latin typeface="Arial" panose="020B0604020202020204" pitchFamily="34" charset="0"/>
                <a:cs typeface="Arial" panose="020B0604020202020204" pitchFamily="34" charset="0"/>
              </a:rPr>
              <a:t>El presente Manual de Usuario tiene como finalidad orientar en el uso del simulador Agua Cero, proporcionando una guía clara para acceder a sus diferentes funciones, configurar escenarios y ejecutar la simulación de una planta embotelladora de agua.</a:t>
            </a:r>
          </a:p>
          <a:p>
            <a:pPr algn="just">
              <a:lnSpc>
                <a:spcPct val="150000"/>
              </a:lnSpc>
            </a:pPr>
            <a:r>
              <a:rPr lang="es-MX" sz="1600" dirty="0">
                <a:solidFill>
                  <a:schemeClr val="bg1">
                    <a:lumMod val="95000"/>
                    <a:lumOff val="5000"/>
                  </a:schemeClr>
                </a:solidFill>
                <a:latin typeface="Arial" panose="020B0604020202020204" pitchFamily="34" charset="0"/>
                <a:cs typeface="Arial" panose="020B0604020202020204" pitchFamily="34" charset="0"/>
              </a:rPr>
              <a:t>El sistema permite establecer las condiciones de operación del escenario, incluyendo la cantidad de garrafones, número de corridas, jornada laboral, tiempos de procesamiento, recursos humanos y costos asociados. A partir de esta configuración, el usuario puede ejecutar la simulación y observar el recorrido de los garrafones a través de las diferentes etapas del proceso productivo.</a:t>
            </a:r>
          </a:p>
          <a:p>
            <a:pPr algn="just">
              <a:lnSpc>
                <a:spcPct val="150000"/>
              </a:lnSpc>
            </a:pPr>
            <a:r>
              <a:rPr lang="es-MX" sz="1600" dirty="0">
                <a:solidFill>
                  <a:schemeClr val="bg1">
                    <a:lumMod val="95000"/>
                    <a:lumOff val="5000"/>
                  </a:schemeClr>
                </a:solidFill>
                <a:latin typeface="Arial" panose="020B0604020202020204" pitchFamily="34" charset="0"/>
                <a:cs typeface="Arial" panose="020B0604020202020204" pitchFamily="34" charset="0"/>
              </a:rPr>
              <a:t>A lo largo de este manual se describen las principales pantallas, controles y procedimientos necesarios para utilizar correctamente la aplicación, desde la configuración inicial hasta la consulta de los resultados generados por la simulación.</a:t>
            </a:r>
          </a:p>
        </p:txBody>
      </p:sp>
      <p:sp>
        <p:nvSpPr>
          <p:cNvPr id="4" name="Título 18">
            <a:extLst>
              <a:ext uri="{FF2B5EF4-FFF2-40B4-BE49-F238E27FC236}">
                <a16:creationId xmlns:a16="http://schemas.microsoft.com/office/drawing/2014/main" id="{A97A72C7-E094-4E43-9491-DEEF32EFBA6D}"/>
              </a:ext>
            </a:extLst>
          </p:cNvPr>
          <p:cNvSpPr txBox="1">
            <a:spLocks/>
          </p:cNvSpPr>
          <p:nvPr/>
        </p:nvSpPr>
        <p:spPr>
          <a:xfrm>
            <a:off x="1386840" y="410934"/>
            <a:ext cx="9418320" cy="1016238"/>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Introducción</a:t>
            </a:r>
          </a:p>
        </p:txBody>
      </p:sp>
    </p:spTree>
    <p:extLst>
      <p:ext uri="{BB962C8B-B14F-4D97-AF65-F5344CB8AC3E}">
        <p14:creationId xmlns:p14="http://schemas.microsoft.com/office/powerpoint/2010/main" val="2722755390"/>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556200" y="456690"/>
            <a:ext cx="9418320" cy="90613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Objetivo del manual</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898801" y="1767007"/>
            <a:ext cx="10733118" cy="4719917"/>
          </a:xfrm>
        </p:spPr>
        <p:txBody>
          <a:bodyPr>
            <a:normAutofit/>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El objetivo de este manual es proporcionar al usuario una guía para el manejo adecuado del simulador Agua Cero, describiendo de manera ordenada los procedimientos necesarios para configurar, ejecutar y consultar una simulación.</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Mediante las instrucciones y evidencias visuales presentadas, se busca facilitar la identificación de las funciones disponibles, la configuración de parámetros y recursos humanos, el uso de los controles de ejecución y la interpretación de la información mostrada durante y después de cada corrida.</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De esta manera, el usuario podrá utilizar las principales funcionalidades del sistema y generar diferentes escenarios de simulación de acuerdo con las condiciones que desee analizar.</a:t>
            </a:r>
          </a:p>
        </p:txBody>
      </p:sp>
      <p:pic>
        <p:nvPicPr>
          <p:cNvPr id="4" name="Imagen 3">
            <a:extLst>
              <a:ext uri="{FF2B5EF4-FFF2-40B4-BE49-F238E27FC236}">
                <a16:creationId xmlns:a16="http://schemas.microsoft.com/office/drawing/2014/main" id="{352A9942-3EB1-40E2-BF86-0F3D0F62010A}"/>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1619425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1556200" y="456690"/>
            <a:ext cx="9418320" cy="90613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spc="0"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Requisitos para la ejecución</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898801" y="1767007"/>
            <a:ext cx="10733118" cy="4719917"/>
          </a:xfrm>
        </p:spPr>
        <p:txBody>
          <a:bodyPr>
            <a:normAutofit fontScale="85000" lnSpcReduction="20000"/>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Para utilizar correctamente el simulador Agua Cero es necesario disponer de un equipo compatible con la ejecución de aplicaciones Java y contar con los componentes requeridos por la aplicación.</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Para la versión desarrollada del proyecto se consideran los siguientes elementos:</a:t>
            </a:r>
          </a:p>
          <a:p>
            <a:pPr marL="285750" indent="-285750" algn="just">
              <a:lnSpc>
                <a:spcPct val="150000"/>
              </a:lnSpc>
              <a:buClr>
                <a:srgbClr val="FFC000"/>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Sistema operativo:  sugerido Windows.</a:t>
            </a:r>
          </a:p>
          <a:p>
            <a:pPr marL="285750" indent="-285750" algn="just">
              <a:lnSpc>
                <a:spcPct val="150000"/>
              </a:lnSpc>
              <a:buClr>
                <a:srgbClr val="FFC000"/>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Java: JDK 23.</a:t>
            </a:r>
          </a:p>
          <a:p>
            <a:pPr marL="285750" indent="-285750" algn="just">
              <a:lnSpc>
                <a:spcPct val="150000"/>
              </a:lnSpc>
              <a:buClr>
                <a:srgbClr val="FFC000"/>
              </a:buClr>
              <a:buFont typeface="Wingdings" panose="05000000000000000000" pitchFamily="2" charset="2"/>
              <a:buChar char="q"/>
            </a:pPr>
            <a:r>
              <a:rPr lang="es-MX" dirty="0" err="1">
                <a:solidFill>
                  <a:schemeClr val="bg1">
                    <a:lumMod val="95000"/>
                    <a:lumOff val="5000"/>
                  </a:schemeClr>
                </a:solidFill>
                <a:latin typeface="Arial" panose="020B0604020202020204" pitchFamily="34" charset="0"/>
                <a:cs typeface="Arial" panose="020B0604020202020204" pitchFamily="34" charset="0"/>
              </a:rPr>
              <a:t>JavaFX</a:t>
            </a:r>
            <a:r>
              <a:rPr lang="es-MX" dirty="0">
                <a:solidFill>
                  <a:schemeClr val="bg1">
                    <a:lumMod val="95000"/>
                    <a:lumOff val="5000"/>
                  </a:schemeClr>
                </a:solidFill>
                <a:latin typeface="Arial" panose="020B0604020202020204" pitchFamily="34" charset="0"/>
                <a:cs typeface="Arial" panose="020B0604020202020204" pitchFamily="34" charset="0"/>
              </a:rPr>
              <a:t>: versión 21.0.6.</a:t>
            </a:r>
          </a:p>
          <a:p>
            <a:pPr marL="285750" indent="-285750" algn="just">
              <a:lnSpc>
                <a:spcPct val="150000"/>
              </a:lnSpc>
              <a:buClr>
                <a:srgbClr val="FFC000"/>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Resolución de pantalla: se recomienda utilizar una resolución que permita visualizar cómodamente los diferentes módulos de la aplicación.</a:t>
            </a:r>
          </a:p>
          <a:p>
            <a:pPr marL="285750" indent="-285750" algn="just">
              <a:lnSpc>
                <a:spcPct val="150000"/>
              </a:lnSpc>
              <a:buClr>
                <a:srgbClr val="FFC000"/>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Teclado y mouse: necesarios para la captura de parámetros y navegación por la interfaz.</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Durante la ejecución se recomienda verificar que los campos de configuración contengan valores válidos antes de iniciar una simulación, especialmente los relacionados con tiempos de proceso, cantidad de garrafones, número de corridas, jornada laboral y recursos humanos.</a:t>
            </a:r>
          </a:p>
        </p:txBody>
      </p:sp>
      <p:pic>
        <p:nvPicPr>
          <p:cNvPr id="4" name="Imagen 3">
            <a:extLst>
              <a:ext uri="{FF2B5EF4-FFF2-40B4-BE49-F238E27FC236}">
                <a16:creationId xmlns:a16="http://schemas.microsoft.com/office/drawing/2014/main" id="{352A9942-3EB1-40E2-BF86-0F3D0F62010A}"/>
              </a:ext>
            </a:extLst>
          </p:cNvPr>
          <p:cNvPicPr>
            <a:picLocks noChangeAspect="1"/>
          </p:cNvPicPr>
          <p:nvPr/>
        </p:nvPicPr>
        <p:blipFill rotWithShape="1">
          <a:blip r:embed="rId2"/>
          <a:srcRect r="41669"/>
          <a:stretch/>
        </p:blipFill>
        <p:spPr>
          <a:xfrm>
            <a:off x="10191826" y="52507"/>
            <a:ext cx="2000174" cy="3429000"/>
          </a:xfrm>
          <a:prstGeom prst="rect">
            <a:avLst/>
          </a:prstGeom>
        </p:spPr>
      </p:pic>
    </p:spTree>
    <p:extLst>
      <p:ext uri="{BB962C8B-B14F-4D97-AF65-F5344CB8AC3E}">
        <p14:creationId xmlns:p14="http://schemas.microsoft.com/office/powerpoint/2010/main" val="548189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t>Inicio del sistema</a:t>
            </a:r>
            <a:br>
              <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rPr>
            </a:br>
            <a:endParaRPr lang="es-MX" sz="6600" cap="none" dirty="0">
              <a:ln w="0"/>
              <a:solidFill>
                <a:sysClr val="windowText" lastClr="000000"/>
              </a:solidFill>
              <a:effectLst>
                <a:outerShdw blurRad="38100" dist="19050" dir="2700000" algn="tl" rotWithShape="0">
                  <a:schemeClr val="dk1">
                    <a:alpha val="40000"/>
                  </a:schemeClr>
                </a:outerShdw>
              </a:effectLst>
              <a:latin typeface="Arial Rounded MT Bold" panose="020F0704030504030204" pitchFamily="34" charset="0"/>
            </a:endParaRPr>
          </a:p>
        </p:txBody>
      </p:sp>
      <p:pic>
        <p:nvPicPr>
          <p:cNvPr id="3" name="Imagen 2">
            <a:extLst>
              <a:ext uri="{FF2B5EF4-FFF2-40B4-BE49-F238E27FC236}">
                <a16:creationId xmlns:a16="http://schemas.microsoft.com/office/drawing/2014/main" id="{C9A1E103-4517-4336-BCD0-6D46F37BA20C}"/>
              </a:ext>
            </a:extLst>
          </p:cNvPr>
          <p:cNvPicPr>
            <a:picLocks noChangeAspect="1"/>
          </p:cNvPicPr>
          <p:nvPr/>
        </p:nvPicPr>
        <p:blipFill rotWithShape="1">
          <a:blip r:embed="rId2"/>
          <a:srcRect r="41669"/>
          <a:stretch/>
        </p:blipFill>
        <p:spPr>
          <a:xfrm>
            <a:off x="10191826" y="52507"/>
            <a:ext cx="2000174" cy="3429000"/>
          </a:xfrm>
          <a:prstGeom prst="rect">
            <a:avLst/>
          </a:prstGeom>
        </p:spPr>
      </p:pic>
      <p:pic>
        <p:nvPicPr>
          <p:cNvPr id="3074" name="Picture 2" descr="2.108.100+ fotos de stock libres de derechos de Inicio - iStock">
            <a:extLst>
              <a:ext uri="{FF2B5EF4-FFF2-40B4-BE49-F238E27FC236}">
                <a16:creationId xmlns:a16="http://schemas.microsoft.com/office/drawing/2014/main" id="{A3262C55-9709-441B-89E7-97D6BC81F8D3}"/>
              </a:ext>
            </a:extLst>
          </p:cNvPr>
          <p:cNvPicPr>
            <a:picLocks noChangeAspect="1" noChangeArrowheads="1"/>
          </p:cNvPicPr>
          <p:nvPr/>
        </p:nvPicPr>
        <p:blipFill rotWithShape="1">
          <a:blip r:embed="rId3" cstate="print">
            <a:duotone>
              <a:prstClr val="black"/>
              <a:srgbClr val="FFC000">
                <a:tint val="45000"/>
                <a:satMod val="400000"/>
              </a:srgbClr>
            </a:duotone>
            <a:extLst>
              <a:ext uri="{28A0092B-C50C-407E-A947-70E740481C1C}">
                <a14:useLocalDpi xmlns:a14="http://schemas.microsoft.com/office/drawing/2010/main" val="0"/>
              </a:ext>
            </a:extLst>
          </a:blip>
          <a:srcRect l="22861" t="15278" r="22859" b="14623"/>
          <a:stretch/>
        </p:blipFill>
        <p:spPr bwMode="auto">
          <a:xfrm>
            <a:off x="5445937" y="3681186"/>
            <a:ext cx="1300125" cy="1363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856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Inicio del sistema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699186" y="1964309"/>
            <a:ext cx="6804699" cy="3791449"/>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342900" indent="-342900" algn="just">
              <a:lnSpc>
                <a:spcPct val="150000"/>
              </a:lnSpc>
              <a:buClr>
                <a:schemeClr val="bg1"/>
              </a:buClr>
              <a:buFont typeface="+mj-lt"/>
              <a:buAutoNum type="arabicPeriod"/>
            </a:pPr>
            <a:r>
              <a:rPr lang="es-MX" sz="1400" b="1" dirty="0">
                <a:solidFill>
                  <a:schemeClr val="bg1"/>
                </a:solidFill>
                <a:latin typeface="Arial" panose="020B0604020202020204" pitchFamily="34" charset="0"/>
                <a:cs typeface="Arial" panose="020B0604020202020204" pitchFamily="34" charset="0"/>
              </a:rPr>
              <a:t>Ejecutar la aplicación: </a:t>
            </a:r>
            <a:r>
              <a:rPr lang="es-MX" sz="1400" dirty="0">
                <a:solidFill>
                  <a:schemeClr val="bg1"/>
                </a:solidFill>
                <a:latin typeface="Arial" panose="020B0604020202020204" pitchFamily="34" charset="0"/>
                <a:cs typeface="Arial" panose="020B0604020202020204" pitchFamily="34" charset="0"/>
              </a:rPr>
              <a:t>En el explorador de archivos del proyecto, ubicado en el panel izquierdo, localice el archivo Launcher y ejecútelo para iniciar el sistema. En la figura 1 se observa la ubicación del archivo</a:t>
            </a:r>
          </a:p>
          <a:p>
            <a:pPr marL="342900" indent="-342900" algn="just">
              <a:lnSpc>
                <a:spcPct val="150000"/>
              </a:lnSpc>
              <a:buClr>
                <a:schemeClr val="bg1"/>
              </a:buClr>
              <a:buFont typeface="+mj-lt"/>
              <a:buAutoNum type="arabicPeriod"/>
            </a:pPr>
            <a:r>
              <a:rPr lang="es-MX" sz="1400" b="1" dirty="0">
                <a:solidFill>
                  <a:schemeClr val="bg1"/>
                </a:solidFill>
                <a:latin typeface="Arial" panose="020B0604020202020204" pitchFamily="34" charset="0"/>
                <a:cs typeface="Arial" panose="020B0604020202020204" pitchFamily="34" charset="0"/>
              </a:rPr>
              <a:t>Pantalla de bienvenida: </a:t>
            </a:r>
            <a:r>
              <a:rPr lang="es-MX" sz="1400" dirty="0">
                <a:solidFill>
                  <a:schemeClr val="bg1"/>
                </a:solidFill>
                <a:latin typeface="Arial" panose="020B0604020202020204" pitchFamily="34" charset="0"/>
                <a:cs typeface="Arial" panose="020B0604020202020204" pitchFamily="34" charset="0"/>
              </a:rPr>
              <a:t>Espere a que se cargue la ventana inicial de la aplicación.</a:t>
            </a:r>
          </a:p>
          <a:p>
            <a:pPr marL="342900" indent="-342900" algn="just">
              <a:lnSpc>
                <a:spcPct val="150000"/>
              </a:lnSpc>
              <a:buClr>
                <a:schemeClr val="bg1"/>
              </a:buClr>
              <a:buFont typeface="+mj-lt"/>
              <a:buAutoNum type="arabicPeriod"/>
            </a:pPr>
            <a:r>
              <a:rPr lang="es-MX" sz="1400" b="1" dirty="0">
                <a:solidFill>
                  <a:schemeClr val="bg1"/>
                </a:solidFill>
                <a:latin typeface="Arial" panose="020B0604020202020204" pitchFamily="34" charset="0"/>
                <a:cs typeface="Arial" panose="020B0604020202020204" pitchFamily="34" charset="0"/>
              </a:rPr>
              <a:t>Verificar el inicio: </a:t>
            </a:r>
            <a:r>
              <a:rPr lang="es-MX" sz="1400" dirty="0">
                <a:solidFill>
                  <a:schemeClr val="bg1"/>
                </a:solidFill>
                <a:latin typeface="Arial" panose="020B0604020202020204" pitchFamily="34" charset="0"/>
                <a:cs typeface="Arial" panose="020B0604020202020204" pitchFamily="34" charset="0"/>
              </a:rPr>
              <a:t>Compruebe que en pantalla se muestre correctamente el Simulador Agua Cero.</a:t>
            </a:r>
          </a:p>
          <a:p>
            <a:pPr marL="342900" indent="-342900" algn="just">
              <a:lnSpc>
                <a:spcPct val="150000"/>
              </a:lnSpc>
              <a:buClr>
                <a:schemeClr val="bg1"/>
              </a:buClr>
              <a:buFont typeface="+mj-lt"/>
              <a:buAutoNum type="arabicPeriod"/>
            </a:pPr>
            <a:r>
              <a:rPr lang="es-MX" sz="1400" b="1" dirty="0">
                <a:solidFill>
                  <a:schemeClr val="bg1"/>
                </a:solidFill>
                <a:latin typeface="Arial" panose="020B0604020202020204" pitchFamily="34" charset="0"/>
                <a:cs typeface="Arial" panose="020B0604020202020204" pitchFamily="34" charset="0"/>
              </a:rPr>
              <a:t>Acceder al sistema: </a:t>
            </a:r>
            <a:r>
              <a:rPr lang="es-MX" sz="1400" dirty="0">
                <a:solidFill>
                  <a:schemeClr val="bg1"/>
                </a:solidFill>
                <a:latin typeface="Arial" panose="020B0604020202020204" pitchFamily="34" charset="0"/>
                <a:cs typeface="Arial" panose="020B0604020202020204" pitchFamily="34" charset="0"/>
              </a:rPr>
              <a:t>Seleccione el botón Comenzar para ingresar a las funciones principales del simulador.</a:t>
            </a:r>
          </a:p>
        </p:txBody>
      </p:sp>
      <p:pic>
        <p:nvPicPr>
          <p:cNvPr id="5" name="Imagen 4">
            <a:extLst>
              <a:ext uri="{FF2B5EF4-FFF2-40B4-BE49-F238E27FC236}">
                <a16:creationId xmlns:a16="http://schemas.microsoft.com/office/drawing/2014/main" id="{8DF1D3E5-FB0E-408C-BE36-F0C8A26290D9}"/>
              </a:ext>
            </a:extLst>
          </p:cNvPr>
          <p:cNvPicPr>
            <a:picLocks noChangeAspect="1"/>
          </p:cNvPicPr>
          <p:nvPr/>
        </p:nvPicPr>
        <p:blipFill rotWithShape="1">
          <a:blip r:embed="rId3"/>
          <a:srcRect l="-357" t="-6" r="73929" b="62931"/>
          <a:stretch/>
        </p:blipFill>
        <p:spPr>
          <a:xfrm>
            <a:off x="7722998" y="2443941"/>
            <a:ext cx="3222172" cy="2382574"/>
          </a:xfrm>
          <a:prstGeom prst="rect">
            <a:avLst/>
          </a:prstGeom>
        </p:spPr>
      </p:pic>
      <p:sp>
        <p:nvSpPr>
          <p:cNvPr id="10" name="CuadroTexto 9">
            <a:extLst>
              <a:ext uri="{FF2B5EF4-FFF2-40B4-BE49-F238E27FC236}">
                <a16:creationId xmlns:a16="http://schemas.microsoft.com/office/drawing/2014/main" id="{6073D8D1-BC2A-4DDC-8005-721629DE5BE2}"/>
              </a:ext>
            </a:extLst>
          </p:cNvPr>
          <p:cNvSpPr txBox="1"/>
          <p:nvPr/>
        </p:nvSpPr>
        <p:spPr>
          <a:xfrm>
            <a:off x="8991675" y="5128805"/>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1</a:t>
            </a:r>
          </a:p>
        </p:txBody>
      </p:sp>
    </p:spTree>
    <p:extLst>
      <p:ext uri="{BB962C8B-B14F-4D97-AF65-F5344CB8AC3E}">
        <p14:creationId xmlns:p14="http://schemas.microsoft.com/office/powerpoint/2010/main" val="320765703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60611" y="311690"/>
            <a:ext cx="10448364"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Inicio del sistema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43549" y="1498354"/>
            <a:ext cx="10448364" cy="1210339"/>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La figura 2 muestra el menú principal del sistema. Para continuar, seleccione el botón Abrir simulador, el cual permite acceder al módulo de simulación de Agua Cero.</a:t>
            </a:r>
          </a:p>
        </p:txBody>
      </p:sp>
      <p:sp>
        <p:nvSpPr>
          <p:cNvPr id="10" name="CuadroTexto 9">
            <a:extLst>
              <a:ext uri="{FF2B5EF4-FFF2-40B4-BE49-F238E27FC236}">
                <a16:creationId xmlns:a16="http://schemas.microsoft.com/office/drawing/2014/main" id="{6073D8D1-BC2A-4DDC-8005-721629DE5BE2}"/>
              </a:ext>
            </a:extLst>
          </p:cNvPr>
          <p:cNvSpPr txBox="1"/>
          <p:nvPr/>
        </p:nvSpPr>
        <p:spPr>
          <a:xfrm>
            <a:off x="5495924" y="6207756"/>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2</a:t>
            </a:r>
          </a:p>
        </p:txBody>
      </p:sp>
      <p:pic>
        <p:nvPicPr>
          <p:cNvPr id="3" name="Imagen 2">
            <a:extLst>
              <a:ext uri="{FF2B5EF4-FFF2-40B4-BE49-F238E27FC236}">
                <a16:creationId xmlns:a16="http://schemas.microsoft.com/office/drawing/2014/main" id="{4F34EC2B-901B-4208-9539-EE67B45B5EB7}"/>
              </a:ext>
            </a:extLst>
          </p:cNvPr>
          <p:cNvPicPr>
            <a:picLocks noChangeAspect="1"/>
          </p:cNvPicPr>
          <p:nvPr/>
        </p:nvPicPr>
        <p:blipFill>
          <a:blip r:embed="rId3"/>
          <a:stretch>
            <a:fillRect/>
          </a:stretch>
        </p:blipFill>
        <p:spPr>
          <a:xfrm>
            <a:off x="3470313" y="2502418"/>
            <a:ext cx="5251374" cy="3459616"/>
          </a:xfrm>
          <a:prstGeom prst="rect">
            <a:avLst/>
          </a:prstGeom>
        </p:spPr>
      </p:pic>
    </p:spTree>
    <p:extLst>
      <p:ext uri="{BB962C8B-B14F-4D97-AF65-F5344CB8AC3E}">
        <p14:creationId xmlns:p14="http://schemas.microsoft.com/office/powerpoint/2010/main" val="16684461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71818" y="241996"/>
            <a:ext cx="10448364" cy="93366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Inicio de la </a:t>
            </a:r>
            <a:r>
              <a:rPr lang="es-MX" cap="none"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Simulacion</a:t>
            </a:r>
            <a:endPar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45147" y="1277169"/>
            <a:ext cx="10448364" cy="2138121"/>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En la Figura 3 se observa el panel principal de simulación. Desde este apartado, el usuario puede seleccionar Iniciar para comenzar la ejecución, Pausar para detenerla temporalmente y Reiniciar para finalizar la ejecución actual y cargar nuevamente los valores predeterminados del sistema. Una vez finalizada la simulación, el usuario puede acceder al apartado de Resultados para consultar la información generada durante la ejecución. Finalmente, el botón Regresar permite volver al menú principal del sistema.</a:t>
            </a:r>
          </a:p>
        </p:txBody>
      </p:sp>
      <p:sp>
        <p:nvSpPr>
          <p:cNvPr id="7" name="CuadroTexto 6">
            <a:extLst>
              <a:ext uri="{FF2B5EF4-FFF2-40B4-BE49-F238E27FC236}">
                <a16:creationId xmlns:a16="http://schemas.microsoft.com/office/drawing/2014/main" id="{0306CCB4-0302-4EAF-9C0E-E022AEA2D3FC}"/>
              </a:ext>
            </a:extLst>
          </p:cNvPr>
          <p:cNvSpPr txBox="1"/>
          <p:nvPr/>
        </p:nvSpPr>
        <p:spPr>
          <a:xfrm>
            <a:off x="5367654" y="6287915"/>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3</a:t>
            </a:r>
          </a:p>
        </p:txBody>
      </p:sp>
      <p:pic>
        <p:nvPicPr>
          <p:cNvPr id="9" name="Imagen 8">
            <a:extLst>
              <a:ext uri="{FF2B5EF4-FFF2-40B4-BE49-F238E27FC236}">
                <a16:creationId xmlns:a16="http://schemas.microsoft.com/office/drawing/2014/main" id="{741BD303-93A1-4404-A527-264E3F2783B5}"/>
              </a:ext>
            </a:extLst>
          </p:cNvPr>
          <p:cNvPicPr>
            <a:picLocks noChangeAspect="1"/>
          </p:cNvPicPr>
          <p:nvPr/>
        </p:nvPicPr>
        <p:blipFill>
          <a:blip r:embed="rId3"/>
          <a:stretch>
            <a:fillRect/>
          </a:stretch>
        </p:blipFill>
        <p:spPr>
          <a:xfrm>
            <a:off x="3174709" y="3090412"/>
            <a:ext cx="5586039" cy="2944325"/>
          </a:xfrm>
          <a:prstGeom prst="rect">
            <a:avLst/>
          </a:prstGeom>
        </p:spPr>
      </p:pic>
    </p:spTree>
    <p:extLst>
      <p:ext uri="{BB962C8B-B14F-4D97-AF65-F5344CB8AC3E}">
        <p14:creationId xmlns:p14="http://schemas.microsoft.com/office/powerpoint/2010/main" val="246800860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71818" y="241996"/>
            <a:ext cx="10448364" cy="93366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Configuración de Escenario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45146" y="1277170"/>
            <a:ext cx="10475035" cy="1493553"/>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En la Figura 4 se observa el panel de Configuración del escenario, donde el usuario puede establecer las condiciones generales bajo las cuales se ejecutará la simulación.</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En este apartado es posible modificar el nombre del escenario, la cantidad de garrafones por lote, el número de corridas y el horario de la jornada laboral. La cantidad de garrafones debe establecerse en múltiplos de 4, debido a que la máquina de llenado procesa grupos de cuatro unidades por ciclo. Estos parámetros permiten definir diferentes condiciones de operación antes de iniciar la simulación.</a:t>
            </a:r>
          </a:p>
        </p:txBody>
      </p:sp>
      <p:sp>
        <p:nvSpPr>
          <p:cNvPr id="7" name="CuadroTexto 6">
            <a:extLst>
              <a:ext uri="{FF2B5EF4-FFF2-40B4-BE49-F238E27FC236}">
                <a16:creationId xmlns:a16="http://schemas.microsoft.com/office/drawing/2014/main" id="{0306CCB4-0302-4EAF-9C0E-E022AEA2D3FC}"/>
              </a:ext>
            </a:extLst>
          </p:cNvPr>
          <p:cNvSpPr txBox="1"/>
          <p:nvPr/>
        </p:nvSpPr>
        <p:spPr>
          <a:xfrm>
            <a:off x="5353140" y="6277450"/>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4</a:t>
            </a:r>
          </a:p>
        </p:txBody>
      </p:sp>
      <p:pic>
        <p:nvPicPr>
          <p:cNvPr id="3" name="Imagen 2">
            <a:extLst>
              <a:ext uri="{FF2B5EF4-FFF2-40B4-BE49-F238E27FC236}">
                <a16:creationId xmlns:a16="http://schemas.microsoft.com/office/drawing/2014/main" id="{638C8E6B-8F8D-4E2F-AAC9-DEDE96FA1297}"/>
              </a:ext>
            </a:extLst>
          </p:cNvPr>
          <p:cNvPicPr>
            <a:picLocks noChangeAspect="1"/>
          </p:cNvPicPr>
          <p:nvPr/>
        </p:nvPicPr>
        <p:blipFill>
          <a:blip r:embed="rId3"/>
          <a:stretch>
            <a:fillRect/>
          </a:stretch>
        </p:blipFill>
        <p:spPr>
          <a:xfrm>
            <a:off x="3092505" y="3012605"/>
            <a:ext cx="5732182" cy="3022963"/>
          </a:xfrm>
          <a:prstGeom prst="rect">
            <a:avLst/>
          </a:prstGeom>
        </p:spPr>
      </p:pic>
    </p:spTree>
    <p:extLst>
      <p:ext uri="{BB962C8B-B14F-4D97-AF65-F5344CB8AC3E}">
        <p14:creationId xmlns:p14="http://schemas.microsoft.com/office/powerpoint/2010/main" val="24143568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71818" y="241996"/>
            <a:ext cx="10448364" cy="93366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Configuración de Escenario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45146" y="1277170"/>
            <a:ext cx="10475035" cy="1493553"/>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En la Figura 5 se observa el apartado de Parámetros del proceso, donde el usuario puede modificar los tiempos correspondientes a cada una de las etapas específicas de trabajo que conforman el proceso productivo.</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Es importante considerar que todos los tiempos se establecen en segundos, por lo que los valores ingresados deben corresponder al tiempo de procesamiento que se desea asignar a cada actividad. Estas modificaciones permiten evaluar el comportamiento del sistema bajo diferentes condiciones de operación.</a:t>
            </a:r>
          </a:p>
        </p:txBody>
      </p:sp>
      <p:sp>
        <p:nvSpPr>
          <p:cNvPr id="7" name="CuadroTexto 6">
            <a:extLst>
              <a:ext uri="{FF2B5EF4-FFF2-40B4-BE49-F238E27FC236}">
                <a16:creationId xmlns:a16="http://schemas.microsoft.com/office/drawing/2014/main" id="{0306CCB4-0302-4EAF-9C0E-E022AEA2D3FC}"/>
              </a:ext>
            </a:extLst>
          </p:cNvPr>
          <p:cNvSpPr txBox="1"/>
          <p:nvPr/>
        </p:nvSpPr>
        <p:spPr>
          <a:xfrm>
            <a:off x="5353140" y="6277450"/>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5</a:t>
            </a:r>
          </a:p>
        </p:txBody>
      </p:sp>
      <p:pic>
        <p:nvPicPr>
          <p:cNvPr id="4" name="Imagen 3">
            <a:extLst>
              <a:ext uri="{FF2B5EF4-FFF2-40B4-BE49-F238E27FC236}">
                <a16:creationId xmlns:a16="http://schemas.microsoft.com/office/drawing/2014/main" id="{C8E41BA7-CEDD-4798-98F4-23366F73EF40}"/>
              </a:ext>
            </a:extLst>
          </p:cNvPr>
          <p:cNvPicPr>
            <a:picLocks noChangeAspect="1"/>
          </p:cNvPicPr>
          <p:nvPr/>
        </p:nvPicPr>
        <p:blipFill>
          <a:blip r:embed="rId3"/>
          <a:stretch>
            <a:fillRect/>
          </a:stretch>
        </p:blipFill>
        <p:spPr>
          <a:xfrm>
            <a:off x="2855432" y="3010114"/>
            <a:ext cx="6195565" cy="3267336"/>
          </a:xfrm>
          <a:prstGeom prst="rect">
            <a:avLst/>
          </a:prstGeom>
        </p:spPr>
      </p:pic>
    </p:spTree>
    <p:extLst>
      <p:ext uri="{BB962C8B-B14F-4D97-AF65-F5344CB8AC3E}">
        <p14:creationId xmlns:p14="http://schemas.microsoft.com/office/powerpoint/2010/main" val="280388649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71818" y="241996"/>
            <a:ext cx="10448364" cy="93366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Configuración de Escenario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45146" y="1277170"/>
            <a:ext cx="10475035" cy="1493553"/>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En la Figura 6 se observa el apartado de Configuración de recursos humanos, donde el usuario puede modificar el costo por hora laboral de cada empleado.</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En esta sección también es posible activar y configurar al Empleado 5, asignándole las actividades que podrá realizar dentro del proceso. De esta manera, el usuario puede modificar la distribución de los recursos humanos y evaluar posteriormente el efecto de estos cambios durante la simulación.</a:t>
            </a:r>
          </a:p>
        </p:txBody>
      </p:sp>
      <p:sp>
        <p:nvSpPr>
          <p:cNvPr id="7" name="CuadroTexto 6">
            <a:extLst>
              <a:ext uri="{FF2B5EF4-FFF2-40B4-BE49-F238E27FC236}">
                <a16:creationId xmlns:a16="http://schemas.microsoft.com/office/drawing/2014/main" id="{0306CCB4-0302-4EAF-9C0E-E022AEA2D3FC}"/>
              </a:ext>
            </a:extLst>
          </p:cNvPr>
          <p:cNvSpPr txBox="1"/>
          <p:nvPr/>
        </p:nvSpPr>
        <p:spPr>
          <a:xfrm>
            <a:off x="5353140" y="6277450"/>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6</a:t>
            </a:r>
          </a:p>
        </p:txBody>
      </p:sp>
      <p:pic>
        <p:nvPicPr>
          <p:cNvPr id="3" name="Imagen 2">
            <a:extLst>
              <a:ext uri="{FF2B5EF4-FFF2-40B4-BE49-F238E27FC236}">
                <a16:creationId xmlns:a16="http://schemas.microsoft.com/office/drawing/2014/main" id="{2519D4CA-0CDD-4AE0-B605-D1E4392F2A9A}"/>
              </a:ext>
            </a:extLst>
          </p:cNvPr>
          <p:cNvPicPr>
            <a:picLocks noChangeAspect="1"/>
          </p:cNvPicPr>
          <p:nvPr/>
        </p:nvPicPr>
        <p:blipFill>
          <a:blip r:embed="rId3"/>
          <a:stretch>
            <a:fillRect/>
          </a:stretch>
        </p:blipFill>
        <p:spPr>
          <a:xfrm>
            <a:off x="2702157" y="2809586"/>
            <a:ext cx="6502115" cy="3429000"/>
          </a:xfrm>
          <a:prstGeom prst="rect">
            <a:avLst/>
          </a:prstGeom>
        </p:spPr>
      </p:pic>
    </p:spTree>
    <p:extLst>
      <p:ext uri="{BB962C8B-B14F-4D97-AF65-F5344CB8AC3E}">
        <p14:creationId xmlns:p14="http://schemas.microsoft.com/office/powerpoint/2010/main" val="279029105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71818" y="241996"/>
            <a:ext cx="10448364" cy="933662"/>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Configuración de Escenario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45146" y="1277170"/>
            <a:ext cx="10475035" cy="1723164"/>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En la misma sección de Configuración del escenario, en la parte superior se encuentra la opción Guardar configuración. Al seleccionar este botón, el sistema almacena los parámetros establecidos por el usuario y muestra un cuadro informativo confirmando que la configuración se ha guardado correctamente, como se observa en la Figura 7.</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Posteriormente, al seleccionar el botón Continuar con simulación, el sistema muestra un nuevo cuadro de diálogo, presentado en la Figura 8, mediante el cual se confirma la acción antes de continuar con la ejecución del escenario configurado. Y retorna nuevamente a la simulación con las configuración hecha por el usuario</a:t>
            </a:r>
          </a:p>
        </p:txBody>
      </p:sp>
      <p:sp>
        <p:nvSpPr>
          <p:cNvPr id="7" name="CuadroTexto 6">
            <a:extLst>
              <a:ext uri="{FF2B5EF4-FFF2-40B4-BE49-F238E27FC236}">
                <a16:creationId xmlns:a16="http://schemas.microsoft.com/office/drawing/2014/main" id="{0306CCB4-0302-4EAF-9C0E-E022AEA2D3FC}"/>
              </a:ext>
            </a:extLst>
          </p:cNvPr>
          <p:cNvSpPr txBox="1"/>
          <p:nvPr/>
        </p:nvSpPr>
        <p:spPr>
          <a:xfrm>
            <a:off x="2781752" y="5957301"/>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7</a:t>
            </a:r>
          </a:p>
        </p:txBody>
      </p:sp>
      <p:sp>
        <p:nvSpPr>
          <p:cNvPr id="9" name="CuadroTexto 8">
            <a:extLst>
              <a:ext uri="{FF2B5EF4-FFF2-40B4-BE49-F238E27FC236}">
                <a16:creationId xmlns:a16="http://schemas.microsoft.com/office/drawing/2014/main" id="{D6425DAC-9D39-4FE8-869A-05090EFE5410}"/>
              </a:ext>
            </a:extLst>
          </p:cNvPr>
          <p:cNvSpPr txBox="1"/>
          <p:nvPr/>
        </p:nvSpPr>
        <p:spPr>
          <a:xfrm>
            <a:off x="8694059" y="6018578"/>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8</a:t>
            </a:r>
          </a:p>
        </p:txBody>
      </p:sp>
      <p:pic>
        <p:nvPicPr>
          <p:cNvPr id="4" name="Imagen 3">
            <a:extLst>
              <a:ext uri="{FF2B5EF4-FFF2-40B4-BE49-F238E27FC236}">
                <a16:creationId xmlns:a16="http://schemas.microsoft.com/office/drawing/2014/main" id="{40F5F9B7-073B-42D7-B9CA-6367CEF5B17B}"/>
              </a:ext>
            </a:extLst>
          </p:cNvPr>
          <p:cNvPicPr>
            <a:picLocks noChangeAspect="1"/>
          </p:cNvPicPr>
          <p:nvPr/>
        </p:nvPicPr>
        <p:blipFill>
          <a:blip r:embed="rId3"/>
          <a:stretch>
            <a:fillRect/>
          </a:stretch>
        </p:blipFill>
        <p:spPr>
          <a:xfrm>
            <a:off x="1657803" y="3187700"/>
            <a:ext cx="3448050" cy="2667000"/>
          </a:xfrm>
          <a:prstGeom prst="rect">
            <a:avLst/>
          </a:prstGeom>
        </p:spPr>
      </p:pic>
      <p:pic>
        <p:nvPicPr>
          <p:cNvPr id="5" name="Imagen 4">
            <a:extLst>
              <a:ext uri="{FF2B5EF4-FFF2-40B4-BE49-F238E27FC236}">
                <a16:creationId xmlns:a16="http://schemas.microsoft.com/office/drawing/2014/main" id="{5ECDE915-0658-4526-92E6-016DC7B42876}"/>
              </a:ext>
            </a:extLst>
          </p:cNvPr>
          <p:cNvPicPr>
            <a:picLocks noChangeAspect="1"/>
          </p:cNvPicPr>
          <p:nvPr/>
        </p:nvPicPr>
        <p:blipFill>
          <a:blip r:embed="rId4"/>
          <a:stretch>
            <a:fillRect/>
          </a:stretch>
        </p:blipFill>
        <p:spPr>
          <a:xfrm>
            <a:off x="7848588" y="3187700"/>
            <a:ext cx="2891091" cy="2643512"/>
          </a:xfrm>
          <a:prstGeom prst="rect">
            <a:avLst/>
          </a:prstGeom>
        </p:spPr>
      </p:pic>
    </p:spTree>
    <p:extLst>
      <p:ext uri="{BB962C8B-B14F-4D97-AF65-F5344CB8AC3E}">
        <p14:creationId xmlns:p14="http://schemas.microsoft.com/office/powerpoint/2010/main" val="230892923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71818" y="241996"/>
            <a:ext cx="10448364" cy="875604"/>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Resultados y </a:t>
            </a:r>
            <a:r>
              <a:rPr lang="es-MX" cap="none"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Estadisticas</a:t>
            </a:r>
            <a:endPar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45147" y="1249828"/>
            <a:ext cx="10475035" cy="1723164"/>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La ventana Resultados y estadísticas corresponde al tercer módulo principal del sistema y tiene como finalidad presentar la información obtenida durante la simulación ejecutada actualmente. En este apartado, el usuario puede consultar y analizar los resultados e indicadores generados, sin necesidad de realizar modificaciones adicionales sobre el escenario. Asimismo, el sistema permite exportar la información obtenida en formato PDF y XLSX, facilitando su almacenamiento y análisis posterior.</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Como se observa en la Figura 9, en la barra inferior se encuentran los botones correspondientes para realizar la exportación de los resultados. También se encuentra disponible el botón Regresar, que permite volver al menú principal del sistema.</a:t>
            </a:r>
          </a:p>
        </p:txBody>
      </p:sp>
      <p:sp>
        <p:nvSpPr>
          <p:cNvPr id="7" name="CuadroTexto 6">
            <a:extLst>
              <a:ext uri="{FF2B5EF4-FFF2-40B4-BE49-F238E27FC236}">
                <a16:creationId xmlns:a16="http://schemas.microsoft.com/office/drawing/2014/main" id="{0306CCB4-0302-4EAF-9C0E-E022AEA2D3FC}"/>
              </a:ext>
            </a:extLst>
          </p:cNvPr>
          <p:cNvSpPr txBox="1"/>
          <p:nvPr/>
        </p:nvSpPr>
        <p:spPr>
          <a:xfrm>
            <a:off x="5800601" y="6300398"/>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9</a:t>
            </a:r>
          </a:p>
        </p:txBody>
      </p:sp>
      <p:pic>
        <p:nvPicPr>
          <p:cNvPr id="3" name="Imagen 2">
            <a:extLst>
              <a:ext uri="{FF2B5EF4-FFF2-40B4-BE49-F238E27FC236}">
                <a16:creationId xmlns:a16="http://schemas.microsoft.com/office/drawing/2014/main" id="{9230D86C-79FB-4022-AFEC-9A338BAAC64D}"/>
              </a:ext>
            </a:extLst>
          </p:cNvPr>
          <p:cNvPicPr>
            <a:picLocks noChangeAspect="1"/>
          </p:cNvPicPr>
          <p:nvPr/>
        </p:nvPicPr>
        <p:blipFill>
          <a:blip r:embed="rId3"/>
          <a:stretch>
            <a:fillRect/>
          </a:stretch>
        </p:blipFill>
        <p:spPr>
          <a:xfrm>
            <a:off x="3066630" y="3105220"/>
            <a:ext cx="6058739" cy="3195178"/>
          </a:xfrm>
          <a:prstGeom prst="rect">
            <a:avLst/>
          </a:prstGeom>
        </p:spPr>
      </p:pic>
    </p:spTree>
    <p:extLst>
      <p:ext uri="{BB962C8B-B14F-4D97-AF65-F5344CB8AC3E}">
        <p14:creationId xmlns:p14="http://schemas.microsoft.com/office/powerpoint/2010/main" val="349956820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891F8EB-237C-45A3-AA4E-29C33C24A63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871818" y="241996"/>
            <a:ext cx="10448364" cy="794603"/>
          </a:xfrm>
          <a:solidFill>
            <a:schemeClr val="tx2">
              <a:lumMod val="75000"/>
            </a:schemeClr>
          </a:solidFill>
        </p:spPr>
        <p:txBody>
          <a:bodyPr anchor="ctr">
            <a:normAutofit/>
          </a:bodyP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Acerca del proyecto </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818627" y="1226088"/>
            <a:ext cx="10475035" cy="1726311"/>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La ventana Acerca del proyecto corresponde al cuarto módulo principal del sistema y tiene como finalidad proporcionar información general sobre el simulador Agua Cero. En este apartado se presenta un resumen de su funcionamiento, los recursos considerados, los resultados generados y las opciones disponibles para la exportación de información. Asimismo, se mencionan las principales tecnologías utilizadas para el desarrollo e implementación del sistema, proporcionando al usuario una visión general de las características técnicas del proyecto.</a:t>
            </a:r>
          </a:p>
          <a:p>
            <a:pPr marL="0" indent="0" algn="just">
              <a:lnSpc>
                <a:spcPct val="150000"/>
              </a:lnSpc>
              <a:buClr>
                <a:schemeClr val="bg1"/>
              </a:buClr>
              <a:buNone/>
            </a:pPr>
            <a:r>
              <a:rPr lang="es-MX" sz="1400" dirty="0">
                <a:solidFill>
                  <a:schemeClr val="bg1"/>
                </a:solidFill>
                <a:latin typeface="Arial" panose="020B0604020202020204" pitchFamily="34" charset="0"/>
                <a:cs typeface="Arial" panose="020B0604020202020204" pitchFamily="34" charset="0"/>
              </a:rPr>
              <a:t>Como parte de la navegación, en la barra superior se encuentra el botón Regresar, que permite volver al menú principal. Con este apartado se concluye el recorrido por las principales ventanas, funciones y herramientas disponibles en el simulador Agua Cero.</a:t>
            </a:r>
          </a:p>
        </p:txBody>
      </p:sp>
      <p:sp>
        <p:nvSpPr>
          <p:cNvPr id="7" name="CuadroTexto 6">
            <a:extLst>
              <a:ext uri="{FF2B5EF4-FFF2-40B4-BE49-F238E27FC236}">
                <a16:creationId xmlns:a16="http://schemas.microsoft.com/office/drawing/2014/main" id="{0306CCB4-0302-4EAF-9C0E-E022AEA2D3FC}"/>
              </a:ext>
            </a:extLst>
          </p:cNvPr>
          <p:cNvSpPr txBox="1"/>
          <p:nvPr/>
        </p:nvSpPr>
        <p:spPr>
          <a:xfrm>
            <a:off x="5800601" y="6300398"/>
            <a:ext cx="1200151" cy="338554"/>
          </a:xfrm>
          <a:prstGeom prst="rect">
            <a:avLst/>
          </a:prstGeom>
          <a:noFill/>
        </p:spPr>
        <p:txBody>
          <a:bodyPr wrap="square" rtlCol="0">
            <a:spAutoFit/>
          </a:bodyPr>
          <a:lstStyle/>
          <a:p>
            <a:pPr algn="just"/>
            <a:r>
              <a:rPr lang="es-MX" sz="1600" dirty="0">
                <a:solidFill>
                  <a:schemeClr val="bg1"/>
                </a:solidFill>
                <a:latin typeface="Arial" panose="020B0604020202020204" pitchFamily="34" charset="0"/>
                <a:cs typeface="Arial" panose="020B0604020202020204" pitchFamily="34" charset="0"/>
              </a:rPr>
              <a:t>Figura 9</a:t>
            </a:r>
          </a:p>
        </p:txBody>
      </p:sp>
      <p:pic>
        <p:nvPicPr>
          <p:cNvPr id="4" name="Imagen 3">
            <a:extLst>
              <a:ext uri="{FF2B5EF4-FFF2-40B4-BE49-F238E27FC236}">
                <a16:creationId xmlns:a16="http://schemas.microsoft.com/office/drawing/2014/main" id="{D9FC69EE-0DAA-441B-BE26-C10B4CA5AFAC}"/>
              </a:ext>
            </a:extLst>
          </p:cNvPr>
          <p:cNvPicPr>
            <a:picLocks noChangeAspect="1"/>
          </p:cNvPicPr>
          <p:nvPr/>
        </p:nvPicPr>
        <p:blipFill>
          <a:blip r:embed="rId3"/>
          <a:stretch>
            <a:fillRect/>
          </a:stretch>
        </p:blipFill>
        <p:spPr>
          <a:xfrm>
            <a:off x="3309258" y="3048717"/>
            <a:ext cx="5800601" cy="3059045"/>
          </a:xfrm>
          <a:prstGeom prst="rect">
            <a:avLst/>
          </a:prstGeom>
        </p:spPr>
      </p:pic>
    </p:spTree>
    <p:extLst>
      <p:ext uri="{BB962C8B-B14F-4D97-AF65-F5344CB8AC3E}">
        <p14:creationId xmlns:p14="http://schemas.microsoft.com/office/powerpoint/2010/main" val="26086026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522867F-FB65-4A3F-8DA0-CBD3818EDE69}"/>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6" name="Título 1">
            <a:extLst>
              <a:ext uri="{FF2B5EF4-FFF2-40B4-BE49-F238E27FC236}">
                <a16:creationId xmlns:a16="http://schemas.microsoft.com/office/drawing/2014/main" id="{3450464A-0CF9-4B9A-8A7A-D357F26286BE}"/>
              </a:ext>
            </a:extLst>
          </p:cNvPr>
          <p:cNvSpPr txBox="1">
            <a:spLocks/>
          </p:cNvSpPr>
          <p:nvPr/>
        </p:nvSpPr>
        <p:spPr>
          <a:xfrm>
            <a:off x="594882" y="449965"/>
            <a:ext cx="10746886"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Conclusión</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554542" y="1767007"/>
            <a:ext cx="10827566" cy="4501899"/>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solidFill>
                  <a:schemeClr val="bg1">
                    <a:lumMod val="95000"/>
                    <a:lumOff val="5000"/>
                  </a:schemeClr>
                </a:solidFill>
                <a:latin typeface="Arial" panose="020B0604020202020204" pitchFamily="34" charset="0"/>
                <a:cs typeface="Arial" panose="020B0604020202020204" pitchFamily="34" charset="0"/>
              </a:rPr>
              <a:t>El presente Manual de Usuario proporciona una guía para conocer y utilizar las principales funciones del simulador Agua Cero, desde el acceso al sistema y la configuración de los parámetros hasta la ejecución de la simulación, consulta de resultados y exportación de la información generada.</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A través de las diferentes ventanas y controles, el usuario puede configurar escenarios de acuerdo con las condiciones que desea analizar, modificar tiempos de procesamiento, administrar los recursos humanos y sus costos, ejecutar la simulación y consultar los resultados obtenidos.</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La organización de la interfaz busca facilitar la navegación y permitir que las diferentes funciones puedan utilizarse de manera ordenada e intuitiva. Las instrucciones y evidencias visuales incluidas en este manual sirven como referencia para identificar cada módulo y realizar correctamente las principales operaciones disponibles.</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En conclusión, este manual constituye una herramienta de apoyo para el uso adecuado del simulador Agua Cero, facilitando la configuración, ejecución y análisis de diferentes escenarios dentro del sistema.</a:t>
            </a:r>
          </a:p>
        </p:txBody>
      </p:sp>
    </p:spTree>
    <p:extLst>
      <p:ext uri="{BB962C8B-B14F-4D97-AF65-F5344CB8AC3E}">
        <p14:creationId xmlns:p14="http://schemas.microsoft.com/office/powerpoint/2010/main" val="2242992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52BA8CD-A96A-4C48-83A6-C5398E4CEC98}"/>
              </a:ext>
            </a:extLst>
          </p:cNvPr>
          <p:cNvPicPr>
            <a:picLocks noChangeAspect="1"/>
          </p:cNvPicPr>
          <p:nvPr/>
        </p:nvPicPr>
        <p:blipFill rotWithShape="1">
          <a:blip r:embed="rId2"/>
          <a:srcRect r="41669"/>
          <a:stretch/>
        </p:blipFill>
        <p:spPr>
          <a:xfrm>
            <a:off x="10191826" y="52507"/>
            <a:ext cx="2000174" cy="3429000"/>
          </a:xfrm>
          <a:prstGeom prst="rect">
            <a:avLst/>
          </a:prstGeom>
        </p:spPr>
      </p:pic>
      <p:sp>
        <p:nvSpPr>
          <p:cNvPr id="6" name="Título 1">
            <a:extLst>
              <a:ext uri="{FF2B5EF4-FFF2-40B4-BE49-F238E27FC236}">
                <a16:creationId xmlns:a16="http://schemas.microsoft.com/office/drawing/2014/main" id="{75C164C0-7EE6-40FB-94B4-97DB2BFBFA92}"/>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Referencias</a:t>
            </a:r>
          </a:p>
        </p:txBody>
      </p:sp>
      <p:sp>
        <p:nvSpPr>
          <p:cNvPr id="5" name="Rectángulo 4">
            <a:extLst>
              <a:ext uri="{FF2B5EF4-FFF2-40B4-BE49-F238E27FC236}">
                <a16:creationId xmlns:a16="http://schemas.microsoft.com/office/drawing/2014/main" id="{22692BCA-4B4F-458B-BD63-F9CDF4024289}"/>
              </a:ext>
            </a:extLst>
          </p:cNvPr>
          <p:cNvSpPr/>
          <p:nvPr/>
        </p:nvSpPr>
        <p:spPr>
          <a:xfrm>
            <a:off x="594882" y="1729831"/>
            <a:ext cx="9710057" cy="5509200"/>
          </a:xfrm>
          <a:prstGeom prst="rect">
            <a:avLst/>
          </a:prstGeom>
        </p:spPr>
        <p:txBody>
          <a:bodyPr wrap="square">
            <a:spAutoFit/>
          </a:bodyPr>
          <a:lstStyle/>
          <a:p>
            <a:pPr lvl="1"/>
            <a:r>
              <a:rPr lang="es-MX" sz="1600" dirty="0">
                <a:solidFill>
                  <a:schemeClr val="bg1">
                    <a:lumMod val="85000"/>
                    <a:lumOff val="15000"/>
                  </a:schemeClr>
                </a:solidFill>
              </a:rPr>
              <a:t>Arias, A. (s.f.). </a:t>
            </a:r>
            <a:r>
              <a:rPr lang="es-MX" sz="1600" dirty="0" err="1">
                <a:solidFill>
                  <a:schemeClr val="bg1">
                    <a:lumMod val="85000"/>
                    <a:lumOff val="15000"/>
                  </a:schemeClr>
                </a:solidFill>
              </a:rPr>
              <a:t>JavaFX</a:t>
            </a:r>
            <a:r>
              <a:rPr lang="es-MX" sz="1600" dirty="0">
                <a:solidFill>
                  <a:schemeClr val="bg1">
                    <a:lumMod val="85000"/>
                    <a:lumOff val="15000"/>
                  </a:schemeClr>
                </a:solidFill>
              </a:rPr>
              <a:t> desde 0 - Interfaces gráficas con Java #1. Obtenido de </a:t>
            </a:r>
            <a:r>
              <a:rPr lang="es-MX" sz="1600" dirty="0">
                <a:solidFill>
                  <a:schemeClr val="bg1">
                    <a:lumMod val="85000"/>
                    <a:lumOff val="15000"/>
                  </a:schemeClr>
                </a:solidFill>
                <a:hlinkClick r:id="rId3">
                  <a:extLst>
                    <a:ext uri="{A12FA001-AC4F-418D-AE19-62706E023703}">
                      <ahyp:hlinkClr xmlns:ahyp="http://schemas.microsoft.com/office/drawing/2018/hyperlinkcolor" val="tx"/>
                    </a:ext>
                  </a:extLst>
                </a:hlinkClick>
              </a:rPr>
              <a:t>https://www.youtube.com/watch?v=_hcjZO0il9E</a:t>
            </a:r>
            <a:endParaRPr lang="es-MX" sz="1600" dirty="0">
              <a:solidFill>
                <a:schemeClr val="bg1">
                  <a:lumMod val="85000"/>
                  <a:lumOff val="15000"/>
                </a:schemeClr>
              </a:solidFill>
            </a:endParaRPr>
          </a:p>
          <a:p>
            <a:endParaRPr lang="es-MX" sz="1600" dirty="0">
              <a:solidFill>
                <a:schemeClr val="bg1">
                  <a:lumMod val="85000"/>
                  <a:lumOff val="15000"/>
                </a:schemeClr>
              </a:solidFill>
            </a:endParaRPr>
          </a:p>
          <a:p>
            <a:pPr lvl="1"/>
            <a:r>
              <a:rPr lang="es-MX" sz="1600" dirty="0">
                <a:solidFill>
                  <a:schemeClr val="bg1">
                    <a:lumMod val="85000"/>
                    <a:lumOff val="15000"/>
                  </a:schemeClr>
                </a:solidFill>
              </a:rPr>
              <a:t>Arias, A. (s.f.). </a:t>
            </a:r>
            <a:r>
              <a:rPr lang="es-MX" sz="1600" dirty="0" err="1">
                <a:solidFill>
                  <a:schemeClr val="bg1">
                    <a:lumMod val="85000"/>
                    <a:lumOff val="15000"/>
                  </a:schemeClr>
                </a:solidFill>
              </a:rPr>
              <a:t>JavaFX</a:t>
            </a:r>
            <a:r>
              <a:rPr lang="es-MX" sz="1600" dirty="0">
                <a:solidFill>
                  <a:schemeClr val="bg1">
                    <a:lumMod val="85000"/>
                    <a:lumOff val="15000"/>
                  </a:schemeClr>
                </a:solidFill>
              </a:rPr>
              <a:t> desde 0 - Interfaces gráficas con Java #2. Obtenido de </a:t>
            </a:r>
            <a:r>
              <a:rPr lang="es-MX" sz="1600" dirty="0">
                <a:solidFill>
                  <a:schemeClr val="bg1">
                    <a:lumMod val="85000"/>
                    <a:lumOff val="15000"/>
                  </a:schemeClr>
                </a:solidFill>
                <a:hlinkClick r:id="rId4">
                  <a:extLst>
                    <a:ext uri="{A12FA001-AC4F-418D-AE19-62706E023703}">
                      <ahyp:hlinkClr xmlns:ahyp="http://schemas.microsoft.com/office/drawing/2018/hyperlinkcolor" val="tx"/>
                    </a:ext>
                  </a:extLst>
                </a:hlinkClick>
              </a:rPr>
              <a:t>https://www.youtube.com/watch?v=gNwhSmQlVH8&amp;t=8s</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Gonzalez</a:t>
            </a:r>
            <a:r>
              <a:rPr lang="es-MX" sz="1600" dirty="0">
                <a:solidFill>
                  <a:schemeClr val="bg1">
                    <a:lumMod val="85000"/>
                    <a:lumOff val="15000"/>
                  </a:schemeClr>
                </a:solidFill>
              </a:rPr>
              <a:t>, L. M. (s.f.). </a:t>
            </a:r>
            <a:r>
              <a:rPr lang="es-MX" sz="1600" dirty="0" err="1">
                <a:solidFill>
                  <a:schemeClr val="bg1">
                    <a:lumMod val="85000"/>
                    <a:lumOff val="15000"/>
                  </a:schemeClr>
                </a:solidFill>
              </a:rPr>
              <a:t>Simulacion</a:t>
            </a:r>
            <a:r>
              <a:rPr lang="es-MX" sz="1600" dirty="0">
                <a:solidFill>
                  <a:schemeClr val="bg1">
                    <a:lumMod val="85000"/>
                    <a:lumOff val="15000"/>
                  </a:schemeClr>
                </a:solidFill>
              </a:rPr>
              <a:t> planta purificadora de agua </a:t>
            </a:r>
            <a:r>
              <a:rPr lang="es-MX" sz="1600" dirty="0" err="1">
                <a:solidFill>
                  <a:schemeClr val="bg1">
                    <a:lumMod val="85000"/>
                    <a:lumOff val="15000"/>
                  </a:schemeClr>
                </a:solidFill>
              </a:rPr>
              <a:t>flexsim</a:t>
            </a:r>
            <a:r>
              <a:rPr lang="es-MX" sz="1600" dirty="0">
                <a:solidFill>
                  <a:schemeClr val="bg1">
                    <a:lumMod val="85000"/>
                    <a:lumOff val="15000"/>
                  </a:schemeClr>
                </a:solidFill>
              </a:rPr>
              <a:t>. Obtenido de </a:t>
            </a:r>
            <a:r>
              <a:rPr lang="es-MX" sz="1600" dirty="0">
                <a:solidFill>
                  <a:schemeClr val="bg1">
                    <a:lumMod val="85000"/>
                    <a:lumOff val="15000"/>
                  </a:schemeClr>
                </a:solidFill>
                <a:hlinkClick r:id="rId5">
                  <a:extLst>
                    <a:ext uri="{A12FA001-AC4F-418D-AE19-62706E023703}">
                      <ahyp:hlinkClr xmlns:ahyp="http://schemas.microsoft.com/office/drawing/2018/hyperlinkcolor" val="tx"/>
                    </a:ext>
                  </a:extLst>
                </a:hlinkClick>
              </a:rPr>
              <a:t>https://www.youtube.com/watch?v=GVZPPxwkPL8</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a:solidFill>
                  <a:schemeClr val="bg1">
                    <a:lumMod val="85000"/>
                    <a:lumOff val="15000"/>
                  </a:schemeClr>
                </a:solidFill>
              </a:rPr>
              <a:t>ORACLE. (s.f.). Guía de referencia de </a:t>
            </a:r>
            <a:r>
              <a:rPr lang="es-MX" sz="1600" dirty="0" err="1">
                <a:solidFill>
                  <a:schemeClr val="bg1">
                    <a:lumMod val="85000"/>
                    <a:lumOff val="15000"/>
                  </a:schemeClr>
                </a:solidFill>
              </a:rPr>
              <a:t>JavaFX</a:t>
            </a:r>
            <a:r>
              <a:rPr lang="es-MX" sz="1600" dirty="0">
                <a:solidFill>
                  <a:schemeClr val="bg1">
                    <a:lumMod val="85000"/>
                    <a:lumOff val="15000"/>
                  </a:schemeClr>
                </a:solidFill>
              </a:rPr>
              <a:t> CSS. Obtenido de </a:t>
            </a:r>
            <a:r>
              <a:rPr lang="es-MX" sz="1600" dirty="0">
                <a:solidFill>
                  <a:schemeClr val="bg1">
                    <a:lumMod val="85000"/>
                    <a:lumOff val="15000"/>
                  </a:schemeClr>
                </a:solidFill>
                <a:hlinkClick r:id="rId6">
                  <a:extLst>
                    <a:ext uri="{A12FA001-AC4F-418D-AE19-62706E023703}">
                      <ahyp:hlinkClr xmlns:ahyp="http://schemas.microsoft.com/office/drawing/2018/hyperlinkcolor" val="tx"/>
                    </a:ext>
                  </a:extLst>
                </a:hlinkClick>
              </a:rPr>
              <a:t>https://openjfx.io/javadoc/11/javafx.graphics/javafx/scene/doc-files/cssref.html</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School</a:t>
            </a:r>
            <a:r>
              <a:rPr lang="es-MX" sz="1600" dirty="0">
                <a:solidFill>
                  <a:schemeClr val="bg1">
                    <a:lumMod val="85000"/>
                    <a:lumOff val="15000"/>
                  </a:schemeClr>
                </a:solidFill>
              </a:rPr>
              <a:t>, W. (s.f.). Java </a:t>
            </a:r>
            <a:r>
              <a:rPr lang="es-MX" sz="1600" dirty="0" err="1">
                <a:solidFill>
                  <a:schemeClr val="bg1">
                    <a:lumMod val="85000"/>
                    <a:lumOff val="15000"/>
                  </a:schemeClr>
                </a:solidFill>
              </a:rPr>
              <a:t>Enums</a:t>
            </a:r>
            <a:r>
              <a:rPr lang="es-MX" sz="1600" dirty="0">
                <a:solidFill>
                  <a:schemeClr val="bg1">
                    <a:lumMod val="85000"/>
                    <a:lumOff val="15000"/>
                  </a:schemeClr>
                </a:solidFill>
              </a:rPr>
              <a:t>. Obtenido de </a:t>
            </a:r>
            <a:r>
              <a:rPr lang="es-MX" sz="1600" dirty="0">
                <a:solidFill>
                  <a:schemeClr val="bg1">
                    <a:lumMod val="85000"/>
                    <a:lumOff val="15000"/>
                  </a:schemeClr>
                </a:solidFill>
                <a:hlinkClick r:id="rId7">
                  <a:extLst>
                    <a:ext uri="{A12FA001-AC4F-418D-AE19-62706E023703}">
                      <ahyp:hlinkClr xmlns:ahyp="http://schemas.microsoft.com/office/drawing/2018/hyperlinkcolor" val="tx"/>
                    </a:ext>
                  </a:extLst>
                </a:hlinkClick>
              </a:rPr>
              <a:t>https://www.w3schools.com/java/java_enums.asp</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a:solidFill>
                  <a:schemeClr val="bg1">
                    <a:lumMod val="85000"/>
                    <a:lumOff val="15000"/>
                  </a:schemeClr>
                </a:solidFill>
              </a:rPr>
              <a:t>TIC-MACH. (s.f.). Simulación de una Planta Embotelladora de Agua. Obtenido de </a:t>
            </a:r>
            <a:r>
              <a:rPr lang="es-MX" sz="1600" dirty="0">
                <a:solidFill>
                  <a:schemeClr val="bg1">
                    <a:lumMod val="85000"/>
                    <a:lumOff val="15000"/>
                  </a:schemeClr>
                </a:solidFill>
                <a:hlinkClick r:id="rId8">
                  <a:extLst>
                    <a:ext uri="{A12FA001-AC4F-418D-AE19-62706E023703}">
                      <ahyp:hlinkClr xmlns:ahyp="http://schemas.microsoft.com/office/drawing/2018/hyperlinkcolor" val="tx"/>
                    </a:ext>
                  </a:extLst>
                </a:hlinkClick>
              </a:rPr>
              <a:t>https://www.youtube.com/watch?v=6iB1-EsrQF0&amp;t=21s</a:t>
            </a:r>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pPr lvl="1"/>
            <a:r>
              <a:rPr lang="es-MX" sz="1600" dirty="0" err="1">
                <a:solidFill>
                  <a:schemeClr val="bg1">
                    <a:lumMod val="85000"/>
                    <a:lumOff val="15000"/>
                  </a:schemeClr>
                </a:solidFill>
              </a:rPr>
              <a:t>chatgpt</a:t>
            </a:r>
            <a:r>
              <a:rPr lang="es-MX" sz="1600" dirty="0">
                <a:solidFill>
                  <a:schemeClr val="bg1">
                    <a:lumMod val="85000"/>
                    <a:lumOff val="15000"/>
                  </a:schemeClr>
                </a:solidFill>
              </a:rPr>
              <a:t>. (s.f.). Obtenido de https://chatgpt.com/</a:t>
            </a:r>
          </a:p>
          <a:p>
            <a:pPr lvl="1"/>
            <a:endParaRPr lang="es-MX" sz="1600" dirty="0">
              <a:solidFill>
                <a:schemeClr val="bg1">
                  <a:lumMod val="85000"/>
                  <a:lumOff val="15000"/>
                </a:schemeClr>
              </a:solidFill>
            </a:endParaRPr>
          </a:p>
          <a:p>
            <a:pPr lvl="1"/>
            <a:endParaRPr lang="es-MX" sz="1600" dirty="0">
              <a:solidFill>
                <a:schemeClr val="bg1">
                  <a:lumMod val="85000"/>
                  <a:lumOff val="15000"/>
                </a:schemeClr>
              </a:solidFill>
            </a:endParaRPr>
          </a:p>
          <a:p>
            <a:endParaRPr lang="es-MX" sz="1600" dirty="0"/>
          </a:p>
          <a:p>
            <a:endParaRPr lang="es-MX" sz="1600" dirty="0"/>
          </a:p>
        </p:txBody>
      </p:sp>
    </p:spTree>
    <p:extLst>
      <p:ext uri="{BB962C8B-B14F-4D97-AF65-F5344CB8AC3E}">
        <p14:creationId xmlns:p14="http://schemas.microsoft.com/office/powerpoint/2010/main" val="516107348"/>
      </p:ext>
    </p:extLst>
  </p:cSld>
  <p:clrMapOvr>
    <a:masterClrMapping/>
  </p:clrMapOvr>
</p:sld>
</file>

<file path=ppt/theme/theme1.xml><?xml version="1.0" encoding="utf-8"?>
<a:theme xmlns:a="http://schemas.openxmlformats.org/drawingml/2006/main" name="Galería">
  <a:themeElements>
    <a:clrScheme name="Papel">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Galería">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7032</TotalTime>
  <Words>1715</Words>
  <Application>Microsoft Office PowerPoint</Application>
  <PresentationFormat>Panorámica</PresentationFormat>
  <Paragraphs>95</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Arial Rounded MT Bold</vt:lpstr>
      <vt:lpstr>Bahnschrift</vt:lpstr>
      <vt:lpstr>Rockwell</vt:lpstr>
      <vt:lpstr>Wingdings</vt:lpstr>
      <vt:lpstr>Galería</vt:lpstr>
      <vt:lpstr>Presentación de PowerPoint</vt:lpstr>
      <vt:lpstr>Introducción</vt:lpstr>
      <vt:lpstr>Presentación de PowerPoint</vt:lpstr>
      <vt:lpstr>Presentación de PowerPoint</vt:lpstr>
      <vt:lpstr>Inicio del sistema </vt:lpstr>
      <vt:lpstr>Inicio del sistema</vt:lpstr>
      <vt:lpstr>Inicio del sistema</vt:lpstr>
      <vt:lpstr>Inicio de la Simulacion</vt:lpstr>
      <vt:lpstr>Configuración de Escenario</vt:lpstr>
      <vt:lpstr>Configuración de Escenario</vt:lpstr>
      <vt:lpstr>Configuración de Escenario</vt:lpstr>
      <vt:lpstr>Configuración de Escenario</vt:lpstr>
      <vt:lpstr>Resultados y Estadisticas</vt:lpstr>
      <vt:lpstr>Acerca del proyecto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JOSEFINA NIETO HERNÁNDEZ</dc:creator>
  <cp:lastModifiedBy>JOSEFINA NIETO HERNÁNDEZ</cp:lastModifiedBy>
  <cp:revision>327</cp:revision>
  <dcterms:created xsi:type="dcterms:W3CDTF">2025-10-23T03:04:12Z</dcterms:created>
  <dcterms:modified xsi:type="dcterms:W3CDTF">2026-10-03T00:12:32Z</dcterms:modified>
</cp:coreProperties>
</file>