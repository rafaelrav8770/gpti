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0" r:id="rId2"/>
    <p:sldId id="281" r:id="rId3"/>
    <p:sldId id="258" r:id="rId4"/>
    <p:sldId id="259" r:id="rId5"/>
    <p:sldId id="260" r:id="rId6"/>
    <p:sldId id="261" r:id="rId7"/>
    <p:sldId id="282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7" r:id="rId21"/>
    <p:sldId id="308" r:id="rId22"/>
    <p:sldId id="303" r:id="rId23"/>
    <p:sldId id="304" r:id="rId24"/>
    <p:sldId id="305" r:id="rId25"/>
    <p:sldId id="306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83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learning/library/es-gestionando-proyectos-analizando-riesgos-7166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ealde.es/analisis-cualitativo-cuantitativo-gestion-de-riesgos-direccion-de-proyectos/" TargetMode="External"/><Relationship Id="rId4" Type="http://schemas.openxmlformats.org/officeDocument/2006/relationships/hyperlink" Target="https://www.pmi.org/learning/library/es-desmitificando-el-enfoque-practico-de-la-planificacion-de-riesgos-733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noProof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b="1" kern="0" noProof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4.</a:t>
            </a:r>
            <a:r>
              <a:rPr lang="es-MX" sz="2000" b="1" kern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s-MX" sz="2000" b="1" kern="0" noProof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REPORTE DE PRACTICA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61339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600" b="1" kern="0" noProof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noProof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27</a:t>
            </a:r>
            <a:r>
              <a:rPr lang="es-MX" sz="2000" b="1" kern="0" noProof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SEPTIEMBRE DE 2026</a:t>
            </a:r>
            <a:r>
              <a:rPr lang="es-MX" sz="1800" b="1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MX" sz="1800" kern="0" noProof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5583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kern="0" noProof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spcAft>
                <a:spcPts val="1400"/>
              </a:spcAft>
              <a:buNone/>
            </a:pPr>
            <a:r>
              <a:rPr lang="es-MX" noProof="0" dirty="0"/>
              <a:t>La </a:t>
            </a:r>
            <a:r>
              <a:rPr lang="es-MX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permite anticipar acontecimientos que pueden afectar el alcance, el tiempo, los recursos o la calidad de un proyecto. En esta práctica se identifican y analizan riesgos de tres proyectos académicos de simulación: un taller mecánico, una planta embotelladora y un taller de electrónica.</a:t>
            </a:r>
            <a:endParaRPr lang="es-MX" noProof="0" dirty="0"/>
          </a:p>
          <a:p>
            <a:pPr marL="0" indent="0" algn="just">
              <a:spcAft>
                <a:spcPts val="1400"/>
              </a:spcAft>
              <a:buNone/>
            </a:pPr>
            <a:r>
              <a:rPr lang="es-MX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utiliza un registro de riesgos, una matriz de probabilidad e impacto y estimaciones cuantitativas de retraso. Para cada riesgo se propone una respuesta preventiva, un plan de contingencia y una persona responsable de su seguimiento.</a:t>
            </a:r>
            <a:endParaRPr lang="es-MX" noProof="0" dirty="0"/>
          </a:p>
          <a:p>
            <a:pPr marL="0" indent="0" algn="just">
              <a:buNone/>
            </a:pP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56B65-D6B3-09AC-24F1-487C58C8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kern="0" noProof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9FFEB-3993-4A4E-BA47-10ED6A9FDF6F}"/>
              </a:ext>
            </a:extLst>
          </p:cNvPr>
          <p:cNvSpPr txBox="1"/>
          <p:nvPr/>
        </p:nvSpPr>
        <p:spPr>
          <a:xfrm>
            <a:off x="1181100" y="1781175"/>
            <a:ext cx="10515600" cy="419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lang="es-MX" sz="2800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un proceso estructurado de gestión de riesgos a los proyectos de Brandon, Josefina y Roberto mediante la identificación de amenazas, su valoración cualitativa y cuantitativa, y la definición de estrategias de mitigación que ayuden a proteger las fechas de entrega y la calidad de los resultados.</a:t>
            </a:r>
            <a:endParaRPr lang="es-MX" sz="2800" noProof="0" dirty="0"/>
          </a:p>
          <a:p>
            <a:pPr algn="just">
              <a:spcAft>
                <a:spcPts val="600"/>
              </a:spcAft>
            </a:pPr>
            <a:endParaRPr lang="es-MX" sz="2800" noProof="0" dirty="0"/>
          </a:p>
          <a:p>
            <a:pPr algn="just">
              <a:spcAft>
                <a:spcPts val="600"/>
              </a:spcAft>
            </a:pPr>
            <a:endParaRPr lang="es-MX" sz="2800" noProof="0" dirty="0"/>
          </a:p>
        </p:txBody>
      </p:sp>
    </p:spTree>
    <p:extLst>
      <p:ext uri="{BB962C8B-B14F-4D97-AF65-F5344CB8AC3E}">
        <p14:creationId xmlns:p14="http://schemas.microsoft.com/office/powerpoint/2010/main" val="872364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709BD-43C8-E083-574C-CD048A14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b="1" kern="0" noProof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70AEA3-E762-4E94-80BA-2A1F43151F0F}"/>
              </a:ext>
            </a:extLst>
          </p:cNvPr>
          <p:cNvSpPr txBox="1"/>
          <p:nvPr/>
        </p:nvSpPr>
        <p:spPr>
          <a:xfrm>
            <a:off x="838200" y="1905000"/>
            <a:ext cx="10515600" cy="4191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s-MX"/>
            </a:defPPr>
            <a:lvl1pPr algn="just">
              <a:defRPr sz="2800"/>
            </a:lvl1pPr>
          </a:lstStyle>
          <a:p>
            <a:pPr>
              <a:spcAft>
                <a:spcPts val="1400"/>
              </a:spcAft>
            </a:pPr>
            <a:r>
              <a:rPr lang="es-MX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proyectos dependen de herramientas, modelos y evidencias diferentes. Una inconsistencia en los parámetros, una configuración incorrecta o una entrega incompleta puede generar retrabajo y retrasar el cierre.</a:t>
            </a:r>
            <a:endParaRPr lang="es-MX" noProof="0" dirty="0"/>
          </a:p>
          <a:p>
            <a:pPr>
              <a:spcAft>
                <a:spcPts val="1400"/>
              </a:spcAft>
            </a:pPr>
            <a:r>
              <a:rPr lang="es-MX" noProof="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riesgos permite atender primero las situaciones con mayor probabilidad e impacto. También deja evidencia de las decisiones tomadas y establece qué debe hacerse antes y después de que ocurra un problema.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9726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189A3-FD75-DF35-B597-3665CC29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kern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Alcance de la práctica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93F4AA-8F1B-48D3-977A-A775FD4DC8FA}"/>
              </a:ext>
            </a:extLst>
          </p:cNvPr>
          <p:cNvSpPr txBox="1"/>
          <p:nvPr/>
        </p:nvSpPr>
        <p:spPr>
          <a:xfrm>
            <a:off x="810126" y="1609724"/>
            <a:ext cx="10515600" cy="4883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s-MX"/>
            </a:defPPr>
            <a:lvl1pPr algn="just">
              <a:defRPr sz="2800"/>
            </a:lvl1pPr>
          </a:lstStyle>
          <a:p>
            <a:r>
              <a:rPr lang="es-MX" sz="2400" noProof="0" dirty="0"/>
              <a:t>La  práctica comprende la planificación, identificación y seguimiento de riesgos de los proyectos de Brandon, Josefina y Roberto.</a:t>
            </a:r>
          </a:p>
          <a:p>
            <a:endParaRPr lang="es-MX" sz="2400" noProof="0" dirty="0"/>
          </a:p>
          <a:p>
            <a:r>
              <a:rPr lang="es-MX" sz="2400" noProof="0" dirty="0"/>
              <a:t>El alcance incluye:</a:t>
            </a:r>
          </a:p>
          <a:p>
            <a:pPr lvl="0"/>
            <a:r>
              <a:rPr lang="es-MX" sz="2400" noProof="0" dirty="0"/>
              <a:t>Riesgos técnicos, de tiempo, calidad, información y seguimiento. </a:t>
            </a:r>
          </a:p>
          <a:p>
            <a:pPr lvl="0"/>
            <a:r>
              <a:rPr lang="es-MX" sz="2400" noProof="0" dirty="0"/>
              <a:t>Valoración con escalas de 1 a 5 y priorización por criticidad. </a:t>
            </a:r>
          </a:p>
          <a:p>
            <a:pPr lvl="0"/>
            <a:r>
              <a:rPr lang="es-MX" sz="2400" noProof="0" dirty="0"/>
              <a:t>Acciones preventivas, contingencias, responsables y evidencias. </a:t>
            </a:r>
          </a:p>
          <a:p>
            <a:pPr lvl="0"/>
            <a:r>
              <a:rPr lang="es-MX" sz="2400" noProof="0" dirty="0"/>
              <a:t>Seguimiento de Brandon, Josefina y Roberto hasta la entrega final. </a:t>
            </a:r>
          </a:p>
          <a:p>
            <a:pPr lvl="0"/>
            <a:endParaRPr lang="es-MX" sz="2400" noProof="0" dirty="0"/>
          </a:p>
          <a:p>
            <a:r>
              <a:rPr lang="es-MX" sz="2400" noProof="0" dirty="0"/>
              <a:t>Los tres cuestionarios de identificación de riesgos ya fueron recibidos y las valoraciones de probabilidad e impacto de Brandon, Josefina y Roberto se encuentran confirmadas.</a:t>
            </a:r>
          </a:p>
          <a:p>
            <a:endParaRPr lang="es-MX" sz="2400" noProof="0" dirty="0"/>
          </a:p>
          <a:p>
            <a:r>
              <a:rPr lang="es-MX" sz="2400" noProof="0" dirty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84508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FF25C0CF-575D-9E89-9096-9AACEF4706EB}"/>
              </a:ext>
            </a:extLst>
          </p:cNvPr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Proyectos analizados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259CA507-6934-D158-A867-1150AB097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724617"/>
              </p:ext>
            </p:extLst>
          </p:nvPr>
        </p:nvGraphicFramePr>
        <p:xfrm>
          <a:off x="548640" y="1371600"/>
          <a:ext cx="11064240" cy="30327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Proyecto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Responsable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Periodo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chemeClr val="tx1"/>
                          </a:solidFill>
                        </a:rPr>
                        <a:t>Situación observada</a:t>
                      </a:r>
                      <a:endParaRPr lang="es-MX" sz="13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Taller mecánico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Brandon </a:t>
                      </a:r>
                      <a:r>
                        <a:rPr lang="es-MX" sz="1800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Farith</a:t>
                      </a: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López Nanga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17/08 al 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Mejorando el diagrama en Bizagi (migrado de </a:t>
                      </a:r>
                      <a:r>
                        <a:rPr lang="es-MX" sz="1800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Camunda</a:t>
                      </a: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antes de iniciar la programación.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Planta embotelladora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Josefina Nieto Hernández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17/08 al 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Desarrollando y validando la simulación en Bizagi; además prepara bloques en </a:t>
                      </a:r>
                      <a:r>
                        <a:rPr lang="es-MX" sz="1800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JavaFX</a:t>
                      </a: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/IntelliJ IDEA para contrastar resultados y validar el proceso.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Taller de electrónica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Roberto Carlos </a:t>
                      </a:r>
                      <a:r>
                        <a:rPr lang="es-MX" sz="1800" kern="120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Cahuare</a:t>
                      </a: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Moreno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17/08 al 11/10/2026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Modelado del diagrama de flujo en Bizagi (recepción, diagnóstico, reparación, calidad, entrega).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52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79426-6B7C-BABC-05A1-74D6EB28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b="1" kern="0" dirty="0">
                <a:solidFill>
                  <a:schemeClr val="accent1"/>
                </a:solidFill>
                <a:ea typeface="+mn-ea"/>
                <a:cs typeface="Arial" panose="020B0604020202020204" pitchFamily="34" charset="0"/>
              </a:rPr>
              <a:t>Evidencias de Monday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525F8D-5A8B-FC94-92F6-5EBC64BB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440" y="2349000"/>
            <a:ext cx="3840000" cy="21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EF45B48-2FF7-AF1E-32BD-CD975D7D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440" y="4612640"/>
            <a:ext cx="3840000" cy="21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BCF6255-3323-BD47-E909-437A1684E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85360"/>
            <a:ext cx="3840000" cy="2160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9F09075-8CB9-512E-857E-D59B2F400A66}"/>
              </a:ext>
            </a:extLst>
          </p:cNvPr>
          <p:cNvSpPr txBox="1"/>
          <p:nvPr/>
        </p:nvSpPr>
        <p:spPr>
          <a:xfrm>
            <a:off x="1108084" y="2920831"/>
            <a:ext cx="60940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s-MX"/>
            </a:defPPr>
            <a:lvl1pPr algn="just">
              <a:defRPr sz="2400"/>
            </a:lvl1pPr>
          </a:lstStyle>
          <a:p>
            <a:r>
              <a:rPr lang="es-MX" noProof="0" dirty="0"/>
              <a:t>vista principal de los tres tableros de Monday</a:t>
            </a:r>
          </a:p>
        </p:txBody>
      </p:sp>
    </p:spTree>
    <p:extLst>
      <p:ext uri="{BB962C8B-B14F-4D97-AF65-F5344CB8AC3E}">
        <p14:creationId xmlns:p14="http://schemas.microsoft.com/office/powerpoint/2010/main" val="395513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Método de identificación de riesgos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114229"/>
              </p:ext>
            </p:extLst>
          </p:nvPr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MX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Fuente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MX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en la práctica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Actas y planes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Reconocer alcance, entregables, fechas y criterios de aceptación.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Cuestionarios de riesgos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Registrar dificultades, probabilidad, impacto, retraso y respuesta.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Monday y 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Comprobar estados, pendientes, fechas y evidencias disponibles.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Revisión de modelos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Detectar inconsistencias de parámetros, configuración y resultados.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Juicio del Project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Priorizar riesgos y asignar responsables de seguimiento.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Escalas de probabilidad e impacto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429039"/>
              </p:ext>
            </p:extLst>
          </p:nvPr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en el proyecto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baja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mínimo; se resuelve dentro de la actividad.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menor, sin modificar la feche final.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Retrabajo o retraso de hasta 2 días.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Retraso de 3 a 5 días o afectación importante de calidad.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alta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impedir la entrega o exigir rehacer el entregable.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6932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Criticidad = Probabilidad × Impacto</a:t>
            </a:r>
            <a:endParaRPr lang="es-MX" sz="1500" noProof="0" dirty="0"/>
          </a:p>
        </p:txBody>
      </p:sp>
      <p:sp>
        <p:nvSpPr>
          <p:cNvPr id="5" name="Shape 2"/>
          <p:cNvSpPr/>
          <p:nvPr/>
        </p:nvSpPr>
        <p:spPr>
          <a:xfrm>
            <a:off x="68580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3"/>
          <p:cNvSpPr/>
          <p:nvPr/>
        </p:nvSpPr>
        <p:spPr>
          <a:xfrm>
            <a:off x="685800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s-MX" sz="2000" noProof="0" dirty="0"/>
          </a:p>
          <a:p>
            <a:pPr marL="0" indent="0" algn="ctr">
              <a:buNone/>
            </a:pP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a 4</a:t>
            </a:r>
            <a:endParaRPr lang="es-MX" sz="1500" noProof="0" dirty="0"/>
          </a:p>
        </p:txBody>
      </p:sp>
      <p:sp>
        <p:nvSpPr>
          <p:cNvPr id="7" name="Shape 4"/>
          <p:cNvSpPr/>
          <p:nvPr/>
        </p:nvSpPr>
        <p:spPr>
          <a:xfrm>
            <a:off x="347472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5"/>
          <p:cNvSpPr/>
          <p:nvPr/>
        </p:nvSpPr>
        <p:spPr>
          <a:xfrm>
            <a:off x="3474720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s-MX" sz="2000" noProof="0" dirty="0"/>
          </a:p>
          <a:p>
            <a:pPr marL="0" indent="0" algn="ctr">
              <a:buNone/>
            </a:pP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a 9</a:t>
            </a:r>
            <a:endParaRPr lang="es-MX" sz="2000" noProof="0" dirty="0"/>
          </a:p>
        </p:txBody>
      </p:sp>
      <p:sp>
        <p:nvSpPr>
          <p:cNvPr id="3" name="Shape 6"/>
          <p:cNvSpPr/>
          <p:nvPr/>
        </p:nvSpPr>
        <p:spPr>
          <a:xfrm>
            <a:off x="626364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7"/>
          <p:cNvSpPr/>
          <p:nvPr/>
        </p:nvSpPr>
        <p:spPr>
          <a:xfrm>
            <a:off x="6263640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s-MX" sz="2000" noProof="0" dirty="0"/>
          </a:p>
          <a:p>
            <a:pPr marL="0" indent="0" algn="ctr">
              <a:buNone/>
            </a:pP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 a 16</a:t>
            </a:r>
            <a:endParaRPr lang="es-MX" sz="2000" noProof="0" dirty="0"/>
          </a:p>
        </p:txBody>
      </p:sp>
      <p:sp>
        <p:nvSpPr>
          <p:cNvPr id="11" name="Shape 8"/>
          <p:cNvSpPr/>
          <p:nvPr/>
        </p:nvSpPr>
        <p:spPr>
          <a:xfrm>
            <a:off x="9052560" y="5120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9"/>
          <p:cNvSpPr/>
          <p:nvPr/>
        </p:nvSpPr>
        <p:spPr>
          <a:xfrm>
            <a:off x="9052560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s-MX" sz="2000" noProof="0" dirty="0"/>
          </a:p>
          <a:p>
            <a:pPr marL="0" indent="0" algn="ctr">
              <a:buNone/>
            </a:pP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17 a 25</a:t>
            </a:r>
            <a:endParaRPr lang="es-MX" sz="2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Registro de riesgos de Brandon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143144"/>
              </p:ext>
            </p:extLst>
          </p:nvPr>
        </p:nvGraphicFramePr>
        <p:xfrm>
          <a:off x="548640" y="1371600"/>
          <a:ext cx="10149840" cy="9296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P×I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B1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Necesidad de mejoras en el programa final desarrollado en IntelliJ IDEA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noProof="0" dirty="0"/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noProof="0" dirty="0"/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noProof="0" dirty="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noProof="0" dirty="0"/>
                        <a:t>Bajo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400256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dirty="0"/>
              <a:t>P = probabilidad. I = impacto. Valores confirmados por Brandon </a:t>
            </a:r>
            <a:r>
              <a:rPr lang="es-MX" dirty="0" err="1"/>
              <a:t>Farith</a:t>
            </a:r>
            <a:r>
              <a:rPr lang="es-MX" dirty="0"/>
              <a:t> López Nanga en el CUESTIONARIO-004 respondido.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43983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noProof="0" dirty="0"/>
              <a:t>Cuestionario respondido: Brandon reporta probabilidad baja e impacto bajo. Prevé cerrar en la fecha establecida y no contempla costo adicional. La criticidad obtenida es 4, correspondiente a un nivel de riesgo bajo.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Registro de riesgos de Josefina</a:t>
            </a: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58190"/>
              </p:ext>
            </p:extLst>
          </p:nvPr>
        </p:nvGraphicFramePr>
        <p:xfrm>
          <a:off x="548640" y="1371600"/>
          <a:ext cx="10149840" cy="22098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P×I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J1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Errores de configuración en Bizagi: flujo, recursos, múltiples instancias y agrupación de 4 garrafones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Alto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J2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Parámetros insuficientes de tiempos y capacidades para validar la simulación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Alto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noProof="0" dirty="0"/>
                        <a:t>J3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Repetición de ajustes y pruebas si el modelo no reproduce el comportamiento esperado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noProof="0" dirty="0"/>
                        <a:t>Alto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37880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noProof="0" dirty="0"/>
              <a:t>CUESTIONARIO-005 recibido. Josefina confirmó probabilidad media e impacto alto en las preguntas 7 y 8;  la criticidad calculada es 12 y corresponde a un nivel alto.</a:t>
            </a:r>
          </a:p>
        </p:txBody>
      </p:sp>
      <p:sp>
        <p:nvSpPr>
          <p:cNvPr id="5" name="Text 2"/>
          <p:cNvSpPr/>
          <p:nvPr/>
        </p:nvSpPr>
        <p:spPr>
          <a:xfrm>
            <a:off x="649340" y="4648393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noProof="0" dirty="0"/>
              <a:t>Reporta 2–4 días de posible retraso y sin monto de costo directo; solo posibles horas adicionales.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Registro de riesgos de Roberto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69814"/>
              </p:ext>
            </p:extLst>
          </p:nvPr>
        </p:nvGraphicFramePr>
        <p:xfrm>
          <a:off x="548640" y="1371600"/>
          <a:ext cx="1014984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P×I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Inconsistencias lógicas en la programación de la simulación en </a:t>
                      </a:r>
                      <a:r>
                        <a:rPr lang="es-MX" sz="1600" noProof="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JavaFX</a:t>
                      </a: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(colas y bucle de retrabajo del 20 %)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s-MX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2606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 = probabilidad. I = impacto. Valores confirmados por Roberto Carlos </a:t>
            </a:r>
            <a:r>
              <a:rPr lang="es-MX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Cahuare</a:t>
            </a: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Moreno en el CUESTIONARIO-006 respondido.</a:t>
            </a:r>
            <a:endParaRPr lang="es-MX" noProof="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10789920" cy="809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respondido: Roberto estima un retraso de 1 a 2 días si hay complicaciones de concurrencia en </a:t>
            </a:r>
            <a:r>
              <a:rPr lang="es-MX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JavaFX</a:t>
            </a:r>
            <a:r>
              <a:rPr lang="es-MX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; sin costo adicional. </a:t>
            </a:r>
            <a:endParaRPr lang="es-MX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Análisis cualitativo consolidado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207250"/>
              </p:ext>
            </p:extLst>
          </p:nvPr>
        </p:nvGraphicFramePr>
        <p:xfrm>
          <a:off x="685800" y="1277865"/>
          <a:ext cx="11064240" cy="23469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s-MX" sz="14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400" b="1" noProof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Riesgos</a:t>
                      </a:r>
                      <a:endParaRPr lang="es-MX" sz="14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b="1" noProof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s-MX" sz="16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J1, J2</a:t>
                      </a:r>
                      <a:r>
                        <a:rPr lang="es-MX" sz="1800" noProof="0">
                          <a:solidFill>
                            <a:schemeClr val="tx1"/>
                          </a:solidFill>
                        </a:rPr>
                        <a:t>, J3 Y R1</a:t>
                      </a:r>
                      <a:endParaRPr lang="es-MX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b="0" noProof="0" dirty="0">
                          <a:solidFill>
                            <a:schemeClr val="tx1"/>
                          </a:solidFill>
                        </a:rPr>
                        <a:t>Puntuación 12 (Alto). Josefina y Roberto confirmaron probabilidad Media (3) e impacto Alto (4). Requieren seguimiento y acciones preventivas.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algn="ctr"/>
                      <a:endParaRPr lang="es-MX" sz="18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noProof="0" dirty="0">
                          <a:solidFill>
                            <a:schemeClr val="tx1"/>
                          </a:solidFill>
                        </a:rPr>
                        <a:t>B1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b="0" noProof="0" dirty="0">
                          <a:solidFill>
                            <a:schemeClr val="tx1"/>
                          </a:solidFill>
                        </a:rPr>
                        <a:t>Puntuación 4 (Bajo). Brandon confirmó probabilidad Baja (2) e impacto Bajo (2). Se mantiene seguimiento preventivo.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845022"/>
            <a:ext cx="10789920" cy="69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sz="2000" noProof="0" dirty="0"/>
              <a:t>La prioridad se determina a partir de la criticidad obtenida mediante Probabilidad × Impacto. Un riesgo alto no significa que ya ocurrió, sino que requiere mayor prevención y seguimiento.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79C122-B5F4-D98F-0BDB-96EACC4A4A49}"/>
              </a:ext>
            </a:extLst>
          </p:cNvPr>
          <p:cNvSpPr txBox="1"/>
          <p:nvPr/>
        </p:nvSpPr>
        <p:spPr>
          <a:xfrm>
            <a:off x="685800" y="3948919"/>
            <a:ext cx="709457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noProof="0" dirty="0"/>
              <a:t>B1:</a:t>
            </a:r>
            <a:r>
              <a:rPr lang="es-MX" sz="2000" noProof="0" dirty="0"/>
              <a:t> Mejoras en el programa final de Brandon.</a:t>
            </a:r>
            <a:br>
              <a:rPr lang="es-MX" sz="2000" noProof="0" dirty="0"/>
            </a:br>
            <a:r>
              <a:rPr lang="es-MX" sz="2000" b="1" noProof="0" dirty="0"/>
              <a:t>J1:</a:t>
            </a:r>
            <a:r>
              <a:rPr lang="es-MX" sz="2000" noProof="0" dirty="0"/>
              <a:t> Errores de configuración en Bizagi.</a:t>
            </a:r>
            <a:br>
              <a:rPr lang="es-MX" sz="2000" noProof="0" dirty="0"/>
            </a:br>
            <a:r>
              <a:rPr lang="es-MX" sz="2000" b="1" noProof="0" dirty="0"/>
              <a:t>J2:</a:t>
            </a:r>
            <a:r>
              <a:rPr lang="es-MX" sz="2000" noProof="0" dirty="0"/>
              <a:t> </a:t>
            </a:r>
            <a:r>
              <a:rPr lang="es-MX" noProof="0" dirty="0"/>
              <a:t>Parámetros</a:t>
            </a:r>
            <a:r>
              <a:rPr lang="es-MX" sz="2000" noProof="0" dirty="0"/>
              <a:t> insuficientes de tiempos y capacidades.</a:t>
            </a:r>
            <a:br>
              <a:rPr lang="es-MX" sz="2000" noProof="0" dirty="0"/>
            </a:br>
            <a:r>
              <a:rPr lang="es-MX" sz="2000" b="1" noProof="0" dirty="0"/>
              <a:t>J3:</a:t>
            </a:r>
            <a:r>
              <a:rPr lang="es-MX" sz="2000" noProof="0" dirty="0"/>
              <a:t> Repetición de ajustes y pruebas del modelo.</a:t>
            </a:r>
            <a:br>
              <a:rPr lang="es-MX" sz="2000" noProof="0" dirty="0"/>
            </a:br>
            <a:r>
              <a:rPr lang="es-MX" sz="2000" b="1" noProof="0" dirty="0"/>
              <a:t>R1:</a:t>
            </a:r>
            <a:r>
              <a:rPr lang="es-MX" sz="2000" noProof="0" dirty="0"/>
              <a:t> Inconsistencias en la programación de la simulación en </a:t>
            </a:r>
            <a:r>
              <a:rPr lang="es-MX" sz="2000" noProof="0" dirty="0" err="1"/>
              <a:t>JavaFX</a:t>
            </a:r>
            <a:r>
              <a:rPr lang="es-MX" sz="2000" noProof="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Análisis cuantitativo y retraso esperado</a:t>
            </a:r>
          </a:p>
        </p:txBody>
      </p:sp>
      <p:sp>
        <p:nvSpPr>
          <p:cNvPr id="4" name="Text 1"/>
          <p:cNvSpPr/>
          <p:nvPr/>
        </p:nvSpPr>
        <p:spPr>
          <a:xfrm>
            <a:off x="822960" y="444525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b="1" noProof="0" dirty="0"/>
              <a:t>Roberto estima un posible retraso de 1 a 2 días y Josefina de 2 a 4 días en caso de materializarse los riesgos identificados. Brandon prevé mantener la fecha establecida de entrega.</a:t>
            </a:r>
            <a:endParaRPr lang="es-MX" noProof="0" dirty="0"/>
          </a:p>
        </p:txBody>
      </p:sp>
      <p:sp>
        <p:nvSpPr>
          <p:cNvPr id="5" name="Text 2"/>
          <p:cNvSpPr/>
          <p:nvPr/>
        </p:nvSpPr>
        <p:spPr>
          <a:xfrm>
            <a:off x="838200" y="5637449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noProof="0" dirty="0"/>
              <a:t>No se calcula VME monetario para Josefina porque no indicó un costo directo.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82AE2FD-C49E-68AF-5A6F-F6E22FE6B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5543"/>
              </p:ext>
            </p:extLst>
          </p:nvPr>
        </p:nvGraphicFramePr>
        <p:xfrm>
          <a:off x="838200" y="1879729"/>
          <a:ext cx="10515600" cy="228600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809021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72878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67576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82506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Riesgo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Probabilidad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Retraso posible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noProof="0" dirty="0"/>
                        <a:t>Retraso estimado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121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R1 Concurrencia en </a:t>
                      </a:r>
                      <a:r>
                        <a:rPr lang="es-MX" noProof="0" dirty="0" err="1"/>
                        <a:t>JavaFX</a:t>
                      </a:r>
                      <a:r>
                        <a:rPr lang="es-MX" noProof="0" dirty="0"/>
                        <a:t> (Roberto)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Media 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1 a 2 días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1.5 días (promedio del rango)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332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J1/J2/J3 Riesgos de simulación (Josefina)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Media 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2 a 4 días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3 días (promedio del rango)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4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B1 Mejoras en programa final (Brandon)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Baja 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Entrega prevista en fecha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noProof="0" dirty="0"/>
                        <a:t>0 días reportados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4268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Estrategias de respuesta</a:t>
            </a: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663225"/>
              </p:ext>
            </p:extLst>
          </p:nvPr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s-MX" sz="18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noProof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en los proyectos</a:t>
                      </a:r>
                      <a:endParaRPr lang="es-MX" sz="1800" noProof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una configuración, herramienta o secuencia que haga inevitable el error.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pruebas parciales, respaldos, revisiones y validaciones antes de la entrega.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Transferir o compartir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Solicitar apoyo técnico o revisión especializada cuando el responsable no pueda resolverlo solo.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Aceptar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el riesgo y mantener una reserva de tiempo cuando el impacto sea menor o no pueda eliminarse.</a:t>
                      </a:r>
                      <a:endParaRPr lang="es-MX" sz="18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4114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MX" sz="14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principal es mitigar, porque los riesgos pueden reducirse mediante revisión, pruebas y evidencia temprana.</a:t>
            </a:r>
            <a:endParaRPr lang="es-MX" sz="1400" b="1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Plan de mitigación por proyecto</a:t>
            </a: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73656"/>
              </p:ext>
            </p:extLst>
          </p:nvPr>
        </p:nvGraphicFramePr>
        <p:xfrm>
          <a:off x="548640" y="1371600"/>
          <a:ext cx="10424160" cy="3870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Acción preventiva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Contingencia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Responsable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Brandon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Priorizar el tiempo dedicado al proyecto por encima de otras actividades semanales.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noProof="0" dirty="0"/>
                        <a:t>Atender el imprevisto, realizar las correcciones necesarias y documentar la solución con evidencia y justificación.</a:t>
                      </a:r>
                      <a:endParaRPr lang="es-MX" sz="16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Brandon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Josefina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Probar por etapas; verificar recursos, flujo y regla de 4 garrafones; comparar resultados con el comportamiento esperado.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/>
                        <a:t>Respaldar el modelo, identificar el elemento que presenta el error, corregir la configuración y ejecutar nuevamente las pruebas de simulación.</a:t>
                      </a:r>
                      <a:endParaRPr lang="es-MX" sz="16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Josefina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Roberto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Realizar pruebas unitarias por estación y colas antes de integrar el sistema completo.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noProof="0" dirty="0"/>
                        <a:t>Aislar el módulo afectado mediante </a:t>
                      </a:r>
                      <a:r>
                        <a:rPr lang="es-MX" sz="1600" noProof="0" dirty="0" err="1"/>
                        <a:t>breakpoints</a:t>
                      </a:r>
                      <a:r>
                        <a:rPr lang="es-MX" sz="1600" noProof="0" dirty="0"/>
                        <a:t> en IntelliJ IDEA, simplificar la lógica o el algoritmo de estados y reasignar horas de desarrollo.</a:t>
                      </a:r>
                      <a:endParaRPr lang="es-MX" sz="16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Roberto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Seguimiento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Revisar fechas y evidencias en Monday y Trello.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Reprogramar la actividad y documentar el cambio.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Rafael Aquino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74683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b="1" noProof="0" dirty="0"/>
              <a:t>Cada responsable atiende los riesgos identificados en su proyecto. El Project Manager verifica el seguimiento, las acciones realizadas y la evidencia correspondiente.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Seguimiento y control de riesgos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158961"/>
              </p:ext>
            </p:extLst>
          </p:nvPr>
        </p:nvGraphicFramePr>
        <p:xfrm>
          <a:off x="548640" y="1371600"/>
          <a:ext cx="11064240" cy="19812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3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de control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esperada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riesgos altos y críticos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veces por semana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Actualización del registro de riesgos.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Comprobar acciones preventivas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cada entrega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Captura, archivo corregido o resultado de prueba.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probabilidad e impacto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400" noProof="0" dirty="0"/>
                        <a:t>Cuando exista un cambio relevante en el proyecto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 puntuación y justificación del cambio.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Cerrar un riesgo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 de comprobar la respuesta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Evidencia, fecha de cierre y resultado obtenido.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Escalar un bloqueo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300" noProof="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supera dos días sin solución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400" noProof="0" dirty="0"/>
                        <a:t>Registro del seguimiento y reprogramación autorizada.</a:t>
                      </a:r>
                      <a:endParaRPr lang="es-MX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46177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MX" sz="14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 riesgo permanece abierto hasta que la evidencia confirme que se eliminó, se redujo o se aceptó formalmente.</a:t>
            </a:r>
            <a:endParaRPr lang="es-MX" sz="1400" b="1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Procedimiento realizado</a:t>
            </a: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81681"/>
              </p:ext>
            </p:extLst>
          </p:nvPr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MX" sz="1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Resultado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Revisión documental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revisan actas, planes, cuestionarios y estados de seguimiento.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Identificación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describieron riesgos vinculadas con tiempo, calidad y herramientas.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Valoración cualitativa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asignaron probabilidad, impacto, criticidad y nivel de riesgo con base en los cuestionarios respondidos.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Estimación cuantitativa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documentaron los rangos de retraso reportados y la información disponible sobre costos.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Respuesta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definieron prevención, contingencia, responsable y evidencia.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Seguimiento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MX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estableció la revisión periódica en Monday y Trello.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4C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120640"/>
            <a:ext cx="10789920" cy="83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noProof="0" dirty="0"/>
              <a:t>Los cuestionarios 004, 005 y 006 fueron recibidos y revisados. Las valoraciones de probabilidad e impacto de Brandon, Josefina y Roberto se encuentran confirmadas y fueron incorporadas al registro de riesgos.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20040"/>
            <a:ext cx="115011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Evidencias de los cuestionarios de riesgos-Brandon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s-MX" sz="4400" b="1" kern="0" dirty="0">
              <a:solidFill>
                <a:schemeClr val="accent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6280" y="1758076"/>
            <a:ext cx="2941320" cy="2244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CUESTIONARIO-004</a:t>
            </a:r>
          </a:p>
          <a:p>
            <a:r>
              <a:rPr lang="es-MX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respondido y utilizado para la identificación y valoración de riesgos del proyecto de taller mecánico.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MX" noProof="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MX" noProof="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MX" noProof="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E284DFD-C6F0-D203-A792-4CEA14B4B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440" y="1284446"/>
            <a:ext cx="8275319" cy="46548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8B44DB69-CEC4-4DCA-AD64-F3E73AB7692F}"/>
              </a:ext>
            </a:extLst>
          </p:cNvPr>
          <p:cNvSpPr/>
          <p:nvPr/>
        </p:nvSpPr>
        <p:spPr>
          <a:xfrm>
            <a:off x="537351" y="2133600"/>
            <a:ext cx="3189111" cy="153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CUESTIONARIO-005</a:t>
            </a:r>
            <a:endParaRPr lang="es-MX" sz="15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MX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respondido y utilizado para la identificación y valoración de riesgos del proyecto de planta embotelladora.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287D19-AC98-1516-7C87-DBCC5D424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462" y="1635760"/>
            <a:ext cx="8275200" cy="4654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C80E209-C83B-513C-AED2-DDE0A4D25FDC}"/>
              </a:ext>
            </a:extLst>
          </p:cNvPr>
          <p:cNvSpPr txBox="1"/>
          <p:nvPr/>
        </p:nvSpPr>
        <p:spPr>
          <a:xfrm>
            <a:off x="603884" y="312321"/>
            <a:ext cx="11283315" cy="85925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dirty="0"/>
              <a:t>Evidencias de los cuestionarios de riesgos-Josefina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10689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>
            <a:extLst>
              <a:ext uri="{FF2B5EF4-FFF2-40B4-BE49-F238E27FC236}">
                <a16:creationId xmlns:a16="http://schemas.microsoft.com/office/drawing/2014/main" id="{EAB8CD4B-F5DC-DFAF-BAD4-27B5194D493F}"/>
              </a:ext>
            </a:extLst>
          </p:cNvPr>
          <p:cNvSpPr/>
          <p:nvPr/>
        </p:nvSpPr>
        <p:spPr>
          <a:xfrm>
            <a:off x="558800" y="1727200"/>
            <a:ext cx="2956560" cy="159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CUESTIONARIO-006</a:t>
            </a:r>
            <a:endParaRPr lang="es-MX" sz="1500" noProof="0" dirty="0"/>
          </a:p>
          <a:p>
            <a:pPr algn="just"/>
            <a:r>
              <a:rPr lang="es-MX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respondido y utilizado para la identificación y valoración de riesgos del proyecto de taller de electrónica.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BFAF68-CBCC-B1FD-0CED-739FD2E10385}"/>
              </a:ext>
            </a:extLst>
          </p:cNvPr>
          <p:cNvSpPr txBox="1"/>
          <p:nvPr/>
        </p:nvSpPr>
        <p:spPr>
          <a:xfrm>
            <a:off x="731520" y="297081"/>
            <a:ext cx="11308080" cy="81734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defPPr>
              <a:defRPr lang="es-MX"/>
            </a:defPPr>
            <a:lvl1pPr>
              <a:lnSpc>
                <a:spcPct val="90000"/>
              </a:lnSpc>
              <a:spcBef>
                <a:spcPct val="0"/>
              </a:spcBef>
              <a:defRPr sz="4400" b="1" kern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MX" dirty="0"/>
              <a:t>Evidencias de los cuestionarios de riesgos-Roberto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294A58-0D80-1A84-E26B-C3B0E09BC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360" y="1513840"/>
            <a:ext cx="8275200" cy="4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88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Evidencias en Monday y Trello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72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s-MX" sz="1500" noProof="0" dirty="0"/>
          </a:p>
          <a:p>
            <a:pPr marL="0" indent="0" algn="l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Actividad abierta, estado, fecha y evidencia</a:t>
            </a:r>
            <a:endParaRPr lang="es-MX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6240780" y="1463040"/>
            <a:ext cx="5372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s-MX" sz="1500" noProof="0" dirty="0"/>
          </a:p>
          <a:p>
            <a:pPr marL="0" indent="0" algn="l">
              <a:buNone/>
            </a:pPr>
            <a:r>
              <a:rPr lang="es-MX" sz="15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Tarjeta o lista de seguimiento de riesgos</a:t>
            </a:r>
            <a:endParaRPr lang="es-MX" sz="15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1101FAA-4E3F-FA0F-5A7C-73B0D456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2252980"/>
            <a:ext cx="4930987" cy="277368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F7622A2-7EA2-DE04-FE06-9A3C200C7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96" y="2293620"/>
            <a:ext cx="4930987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Resultados obtenidos</a:t>
            </a:r>
          </a:p>
        </p:txBody>
      </p:sp>
      <p:sp>
        <p:nvSpPr>
          <p:cNvPr id="4" name="Text 1"/>
          <p:cNvSpPr/>
          <p:nvPr/>
        </p:nvSpPr>
        <p:spPr>
          <a:xfrm>
            <a:off x="685800" y="5120639"/>
            <a:ext cx="10789920" cy="689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b="1" dirty="0"/>
              <a:t>Las valoraciones de probabilidad e impacto de los cinco riesgos se encuentran confirmadas y fueron incorporadas a la matriz de riesgos.</a:t>
            </a:r>
            <a:endParaRPr lang="es-MX" b="1" noProof="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0E0646-341B-8B82-E7DA-DC3F9BDAC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08045"/>
              </p:ext>
            </p:extLst>
          </p:nvPr>
        </p:nvGraphicFramePr>
        <p:xfrm>
          <a:off x="548640" y="1280160"/>
          <a:ext cx="10515600" cy="34747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19349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86210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Resultado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Cantidad o estado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460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Proyectos analizados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72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Riesgos identificados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5: B1, J1, J2, J3 y R1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458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Riesgos con P/I confirmado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789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Riesgos de nivel 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4: J1, J2, J3 y R1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727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Riesgos de nivel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1: B1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341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Retrasos reportados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Roberto: 1–2 días; Josefina: 2–4 días; Brandon: entrega prevista en fecha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77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Información de costos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Brandon y Roberto: $0 adicional. Josefina: sin monto de costo directo; posibles horas adicionales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6236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MX" dirty="0"/>
              <a:t>La gestión de riesgos permitió identificar, valorar y organizar los riesgos de los tres proyectos, documentando su posible efecto sobre las fechas de entrega y la calidad. </a:t>
            </a:r>
            <a:r>
              <a:rPr lang="es-MX"/>
              <a:t>Las valoraciones de probabilidad e impacto de Brandon, Josefina y Roberto fueron confirmadas mediante los cuestionarios 004, 005 y 006 e incorporadas al registro de riesgos.</a:t>
            </a:r>
            <a:endParaRPr lang="es-MX" noProof="0" dirty="0"/>
          </a:p>
          <a:p>
            <a:r>
              <a:rPr lang="es-MX" noProof="0" dirty="0"/>
              <a:t>Las respuestas muestran que las principales fuentes de riesgo son la lógica de programación y concurrencia, la configuración de flujos y recursos, la disponibilidad de parámetros reales y la necesidad de repetir pruebas. Las acciones preventivas y los planes de contingencia establecen cómo reducir el retrabajo y cómo actuar si el problema ocurre.</a:t>
            </a:r>
          </a:p>
          <a:p>
            <a:endParaRPr lang="es-MX" noProof="0" dirty="0"/>
          </a:p>
          <a:p>
            <a:r>
              <a:rPr lang="es-MX" noProof="0" dirty="0"/>
              <a:t>Los tres cuestionarios 004, 005 y 006 ya forman parte del expediente. Roberto reporta un posible retraso de 1 a 2 días; Josefina estima 2 a 4 días para errores de configuración; Brandon prevé mantener la fecha de entrega. El registro deberá seguir actualizándose hasta contar con evidencia de atención y cierre de cada riesgo.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Fuentes de información</a:t>
            </a:r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s-MX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CACA15-3599-4380-7F3F-C3E7536CBDBC}"/>
              </a:ext>
            </a:extLst>
          </p:cNvPr>
          <p:cNvSpPr txBox="1"/>
          <p:nvPr/>
        </p:nvSpPr>
        <p:spPr>
          <a:xfrm>
            <a:off x="1143000" y="1417320"/>
            <a:ext cx="104698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/>
              <a:t>Aquino Villanueva, R. (2026). GPTI [Repositorio de GitHub]. </a:t>
            </a:r>
            <a:r>
              <a:rPr lang="es-MX"/>
              <a:t>https://github.com/rafaelrav8770/GPTI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1800" kern="10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Management </a:t>
            </a:r>
            <a:r>
              <a:rPr lang="es-MX" sz="1800" kern="100" dirty="0" err="1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(s.f.). </a:t>
            </a:r>
            <a:r>
              <a:rPr lang="es-MX" sz="1800" i="1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Gestionando proyectos: analizando riesgos</a:t>
            </a: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800" u="sng" kern="100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  <a:hlinkClick r:id="rId3"/>
              </a:rPr>
              <a:t>https://www.pmi.org/learning/library/es-gestionando-proyectos-analizando-riesgos-7166</a:t>
            </a:r>
            <a:endParaRPr lang="es-MX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Project Management </a:t>
            </a:r>
            <a:r>
              <a:rPr lang="es-MX" sz="1800" kern="100" dirty="0" err="1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(s.f.). </a:t>
            </a:r>
            <a:r>
              <a:rPr lang="es-MX" sz="1800" i="1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Planificación de riesgos desmitificada</a:t>
            </a: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800" u="sng" kern="100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  <a:hlinkClick r:id="rId4"/>
              </a:rPr>
              <a:t>https://www.pmi.org/learning/library/es-desmitificando-el-enfoque-practico-de-la-planificacion-de-riesgos-7331</a:t>
            </a:r>
            <a:endParaRPr lang="es-MX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EALDE Business School. (2025). </a:t>
            </a:r>
            <a:r>
              <a:rPr lang="es-MX" sz="1800" i="1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El análisis cualitativo y cuantitativo en la Gestión de Riesgos</a:t>
            </a:r>
            <a:r>
              <a:rPr lang="es-MX" sz="1800" kern="100" dirty="0"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800" u="sng" kern="100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  <a:hlinkClick r:id="rId5"/>
              </a:rPr>
              <a:t>https://www.ealde.es/analisis-cualitativo-cuantitativo-gestion-de-riesgos-direccion-de-proyectos/</a:t>
            </a:r>
            <a:endParaRPr lang="es-MX" sz="12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D1821E-CF15-40AD-89DA-26CE10A34454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e78c2c7e-1b71-4de1-b1d3-4cbb7b484a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3612</TotalTime>
  <Words>2221</Words>
  <Application>Microsoft Office PowerPoint</Application>
  <PresentationFormat>Panorámica</PresentationFormat>
  <Paragraphs>322</Paragraphs>
  <Slides>25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Objetivo</vt:lpstr>
      <vt:lpstr>Justificación</vt:lpstr>
      <vt:lpstr>Alcance de la práctica</vt:lpstr>
      <vt:lpstr>Presentación de PowerPoint</vt:lpstr>
      <vt:lpstr>Evidencias de Monday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76</cp:revision>
  <dcterms:created xsi:type="dcterms:W3CDTF">2026-02-14T13:39:49Z</dcterms:created>
  <dcterms:modified xsi:type="dcterms:W3CDTF">2026-09-17T18:38:07Z</dcterms:modified>
</cp:coreProperties>
</file>