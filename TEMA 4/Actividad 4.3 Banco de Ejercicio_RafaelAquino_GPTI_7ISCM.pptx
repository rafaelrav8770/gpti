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80" r:id="rId2"/>
    <p:sldId id="281" r:id="rId3"/>
    <p:sldId id="258" r:id="rId4"/>
    <p:sldId id="259" r:id="rId5"/>
    <p:sldId id="318" r:id="rId6"/>
    <p:sldId id="319" r:id="rId7"/>
    <p:sldId id="320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312" r:id="rId17"/>
    <p:sldId id="282" r:id="rId18"/>
    <p:sldId id="303" r:id="rId19"/>
    <p:sldId id="302" r:id="rId20"/>
    <p:sldId id="307" r:id="rId21"/>
    <p:sldId id="308" r:id="rId22"/>
    <p:sldId id="270" r:id="rId23"/>
    <p:sldId id="306" r:id="rId24"/>
    <p:sldId id="321" r:id="rId25"/>
    <p:sldId id="322" r:id="rId26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301B821-A1FF-4177-AEE7-76D212191A09}" styleName="Estilo medio 1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4C1A8A3-306A-4EB7-A6B1-4F7E0EB9C5D6}" styleName="Estilo medio 3 - Énfasis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A111915-BE36-4E01-A7E5-04B1672EAD32}" styleName="Estilo claro 2 - Acento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FD0F851-EC5A-4D38-B0AD-8093EC10F338}" styleName="Estilo claro 1 - Acento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Estilo medio 1 - Énfasis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DBED569-4797-4DF1-A0F4-6AAB3CD982D8}" styleName="Estilo claro 3 - Acento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8B5F02-D1F5-4A8C-9E16-879D2FAAE6D2}" type="datetimeFigureOut">
              <a:rPr lang="es-MX" smtClean="0"/>
              <a:t>17/09/2026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08E338-237A-4FD6-91E8-AE3330CCA9C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51433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797A6B-C8A5-A893-2EB4-EAD802D176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2E9E8D3-983C-1FBA-F097-D58F78BA92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0900B84-F10B-751B-5908-FC18C6422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17/09/2026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9A144F6-9197-16C1-A989-50C7A0E49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6DBAAEB-1ABF-E979-BAC2-66927C69E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27284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953055-0E2B-CB93-6D72-F6BFE456B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C4E3AF4-F79F-763A-9DAF-C6C175A55F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8555DC5-3E01-56E7-631E-04D4A904C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17/09/2026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5B53975-0403-0D44-401F-71EA01B21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63A586F-F27C-248A-D498-ADFFEFE93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64290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E57E10-4726-7D0A-E1F8-93439BFF2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7C9CE40-9232-9AC4-A9C6-59A9B84731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81E2653-A3E2-493F-59D0-04D925E18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17/09/2026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DFD983-ED4E-38A6-DCD5-DB9EF6346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D502D16-37E0-4D0D-5BB7-68A3BDB4C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22089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60EA5F-E2E9-67F7-E292-C84FCB6FE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F13239D-44F0-8AD1-FF8A-D79A0CA817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769FD3F-356E-6F60-6A25-56717337FB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17C736D-F3D7-D82B-BB73-E65F46C18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17/09/2026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692062B-BCCF-C2B2-D017-588DE1229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0151BE1-2995-E957-66B3-46B9B1608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24925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1DADCE-63AC-54B1-31D4-48CC1F828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BE131CC-B953-9DA0-84D7-342F7661F7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1ADC272-3617-466E-F6F0-16A8107516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FDDCA87-61A0-8976-E9D1-03EDE6E114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50B0352-2822-B688-0216-B6F8FB988F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A0D192A-B4AB-FABE-D934-62F9F766D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17/09/2026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44D7369-D1D8-1689-1054-CDA289864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38CB792-19CD-5761-B36C-DC7CC9459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31543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3624A4-077D-5486-B7D9-11FE3E1CD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C9D86B5-34D8-63DA-CA5E-EB64FC37B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17/09/2026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F1CB502-05EE-237F-2E29-626516E35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54E0509-4D7E-FE6F-A441-351026901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34198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3D2BB40-084A-590A-568A-4FBC55A7A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17/09/2026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031945B-3C8A-CC04-90CF-86A6FB926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554383D-C3B6-AF0C-D3F1-2DB73EE04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35390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207E4E-5A62-92CA-7ACA-D3C6DC7B5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843F851-D00D-6093-A986-6C5F35C56C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96ECEE2-9260-2C2E-BC65-C11DE6DFFF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96AE17B-F1FD-90D4-9A7D-49AAC564D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17/09/2026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61728C9-30AA-559A-CB48-C6B866313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CF8E15D-A90F-EA63-7DF9-46C7810DE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89318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2DD758-F948-B2A7-DC08-B687F91B8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1C892A9-AD64-6F7D-FEE0-967756CA2C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D238B53-DBF4-A3CB-9E1A-386EDC4987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7447764-59A7-8823-1D1A-CF02217FD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17/09/2026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0A3D35F-6746-D59D-FB36-01BA85D38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65FE247-F7A5-5BF6-7419-4D0C9940C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9346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3FDA35-B0B4-E787-3D72-F031788E9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0F0C38B-FF72-ABBA-A9A3-57F2D48A30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1F98C5-01BB-732B-11CB-7FADA2897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17/09/2026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09513AF-E2D8-C50D-31BA-5F9705122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26C0206-8F5E-04A4-613D-6EC2B598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66301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FF840C8-6BFA-8DB5-04D9-2FFF606B96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83C22F2-C176-59C9-19E7-C3A94CBB29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612D9B4-8F58-BE69-EF19-A521A08A9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17/09/2026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DB5D75A-9186-AC95-3F60-D715E515C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FF889DC-3AEB-704A-0884-C0B1EAD82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761727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2835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9D456B8-F474-DC21-CA32-71136C73E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776B21C-E071-F827-CAB6-8D305BED3A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CD4E7BC-1E44-2D21-548A-97F953824F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44A13C-A177-47DD-903A-D74B08377F6A}" type="datetimeFigureOut">
              <a:rPr lang="es-MX" smtClean="0"/>
              <a:t>17/09/2026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D6E618A-2674-067F-A9B5-F000F8046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F06479D-49A2-2EF0-B936-306AEE0B0E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32253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mi.org/learning/library/es-gestionando-proyectos-analizando-riesgos-7166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www.ealde.es/analisis-cualitativo-cuantitativo-gestion-de-riesgos-direccion-de-proyectos/" TargetMode="External"/><Relationship Id="rId4" Type="http://schemas.openxmlformats.org/officeDocument/2006/relationships/hyperlink" Target="https://www.pmi.org/learning/library/es-desmitificando-el-enfoque-practico-de-la-planificacion-de-riesgos-7331" TargetMode="Externa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n 25">
            <a:extLst>
              <a:ext uri="{FF2B5EF4-FFF2-40B4-BE49-F238E27FC236}">
                <a16:creationId xmlns:a16="http://schemas.microsoft.com/office/drawing/2014/main" id="{13792C0E-56A4-038E-25C8-41619E973B3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4700"/>
                    </a14:imgEffect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91815" y="510540"/>
            <a:ext cx="5303520" cy="5836920"/>
          </a:xfrm>
          <a:prstGeom prst="rect">
            <a:avLst/>
          </a:prstGeom>
          <a:noFill/>
        </p:spPr>
      </p:pic>
      <p:pic>
        <p:nvPicPr>
          <p:cNvPr id="11" name="Imagen 10" descr="Logotipo&#10;&#10;Descripción generada automáticamente">
            <a:extLst>
              <a:ext uri="{FF2B5EF4-FFF2-40B4-BE49-F238E27FC236}">
                <a16:creationId xmlns:a16="http://schemas.microsoft.com/office/drawing/2014/main" id="{76F1C2F9-DDFC-CBF2-E48A-E64DE4A37DF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145905" y="46990"/>
            <a:ext cx="2301875" cy="10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503E3447-738B-D8B1-B47D-8EBA647E114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77495" y="46990"/>
            <a:ext cx="1516380" cy="108966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29E7C584-C5C9-2730-50A7-5B38CB386E43}"/>
              </a:ext>
            </a:extLst>
          </p:cNvPr>
          <p:cNvSpPr txBox="1"/>
          <p:nvPr/>
        </p:nvSpPr>
        <p:spPr>
          <a:xfrm>
            <a:off x="1943100" y="374015"/>
            <a:ext cx="7124700" cy="799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2000" b="1" kern="100" noProof="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TECNOLÓGICO NACIONAL DE MÉXICO</a:t>
            </a:r>
            <a:endParaRPr lang="es-MX" sz="1600" kern="100" noProof="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1800" b="1" kern="100" noProof="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UNIDAD ACADÉMICA VENUSTIANO CARRANZA</a:t>
            </a:r>
            <a:endParaRPr lang="es-MX" sz="1600" kern="100" noProof="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A4A9E771-2CE9-85CC-E1A4-169697077E49}"/>
              </a:ext>
            </a:extLst>
          </p:cNvPr>
          <p:cNvSpPr txBox="1"/>
          <p:nvPr/>
        </p:nvSpPr>
        <p:spPr>
          <a:xfrm>
            <a:off x="2550694" y="1329363"/>
            <a:ext cx="6096000" cy="367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1800" b="1" kern="0" noProof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s-MX" sz="1800" b="1" kern="0" noProof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INGENIERÍA EN SISTEMAS COMPUTACIONALES</a:t>
            </a:r>
            <a:r>
              <a:rPr lang="es-MX" sz="1800" b="1" kern="0" noProof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”</a:t>
            </a:r>
            <a:endParaRPr lang="es-MX" sz="1800" kern="100" noProof="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1FA8327A-BF41-1978-27AD-7942D85077F5}"/>
              </a:ext>
            </a:extLst>
          </p:cNvPr>
          <p:cNvSpPr txBox="1"/>
          <p:nvPr/>
        </p:nvSpPr>
        <p:spPr>
          <a:xfrm>
            <a:off x="2550694" y="1824715"/>
            <a:ext cx="6096000" cy="1156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  <a:buNone/>
            </a:pPr>
            <a:r>
              <a:rPr lang="es-MX" b="1" kern="0" noProof="0" dirty="0">
                <a:latin typeface="Arial" panose="020B0604020202020204" pitchFamily="34" charset="0"/>
                <a:cs typeface="Arial" panose="020B0604020202020204" pitchFamily="34" charset="0"/>
              </a:rPr>
              <a:t>GESTION DE PROYECTOS DE TI</a:t>
            </a:r>
          </a:p>
          <a:p>
            <a:pPr algn="ctr">
              <a:lnSpc>
                <a:spcPct val="100000"/>
              </a:lnSpc>
              <a:spcAft>
                <a:spcPts val="800"/>
              </a:spcAft>
              <a:buNone/>
            </a:pPr>
            <a:r>
              <a:rPr lang="es-MX" sz="1800" b="1" kern="0" noProof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ACTIVIDAD  </a:t>
            </a:r>
            <a:endParaRPr lang="es-MX" sz="2000" kern="100" noProof="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2000" b="1" kern="0" noProof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ACTIVIDAD 4.</a:t>
            </a:r>
            <a:r>
              <a:rPr lang="es-MX" sz="2000" b="1" kern="0" noProof="0" dirty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3-BANCO DE EJERCICIO</a:t>
            </a:r>
            <a:r>
              <a:rPr lang="es-MX" sz="2000" b="1" kern="0" dirty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S</a:t>
            </a:r>
            <a:endParaRPr lang="es-MX" sz="2000" kern="100" noProof="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9" name="Tabla 18">
            <a:extLst>
              <a:ext uri="{FF2B5EF4-FFF2-40B4-BE49-F238E27FC236}">
                <a16:creationId xmlns:a16="http://schemas.microsoft.com/office/drawing/2014/main" id="{C3F20D4B-4AB8-951E-96AB-E5F9938ABB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7081193"/>
              </p:ext>
            </p:extLst>
          </p:nvPr>
        </p:nvGraphicFramePr>
        <p:xfrm>
          <a:off x="3249461" y="3714744"/>
          <a:ext cx="4505960" cy="762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3511045433"/>
                    </a:ext>
                  </a:extLst>
                </a:gridCol>
                <a:gridCol w="1808480">
                  <a:extLst>
                    <a:ext uri="{9D8B030D-6E8A-4147-A177-3AD203B41FA5}">
                      <a16:colId xmlns:a16="http://schemas.microsoft.com/office/drawing/2014/main" val="2206197710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b="1" kern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SEMESTRE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b="1" kern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SEPTIMO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1488426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b="1" kern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NOMBRE DEL ALUMNO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b="1" kern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MATRICULA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9201878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b="1" kern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Rafael Aquino Villanueva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b="1" kern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231260073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394392"/>
                  </a:ext>
                </a:extLst>
              </a:tr>
            </a:tbl>
          </a:graphicData>
        </a:graphic>
      </p:graphicFrame>
      <p:sp>
        <p:nvSpPr>
          <p:cNvPr id="21" name="CuadroTexto 20">
            <a:extLst>
              <a:ext uri="{FF2B5EF4-FFF2-40B4-BE49-F238E27FC236}">
                <a16:creationId xmlns:a16="http://schemas.microsoft.com/office/drawing/2014/main" id="{2BBA4D31-60C9-991B-3D34-3585F8C8348E}"/>
              </a:ext>
            </a:extLst>
          </p:cNvPr>
          <p:cNvSpPr txBox="1"/>
          <p:nvPr/>
        </p:nvSpPr>
        <p:spPr>
          <a:xfrm>
            <a:off x="4010525" y="3048181"/>
            <a:ext cx="2983833" cy="1165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1800" b="1" kern="0" noProof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PRESENTA</a:t>
            </a:r>
            <a:endParaRPr lang="es-MX" sz="2000" kern="100" noProof="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1800" b="1" kern="0" noProof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es-MX" sz="2000" kern="100" noProof="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1800" b="1" kern="0" noProof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es-MX" sz="2000" kern="100" noProof="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D2284A4D-D83A-881E-63B3-639ACAB1ACB4}"/>
              </a:ext>
            </a:extLst>
          </p:cNvPr>
          <p:cNvSpPr txBox="1"/>
          <p:nvPr/>
        </p:nvSpPr>
        <p:spPr>
          <a:xfrm>
            <a:off x="2550694" y="4809176"/>
            <a:ext cx="6096000" cy="928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  <a:buNone/>
            </a:pPr>
            <a:r>
              <a:rPr lang="es-MX" sz="1600" b="1" kern="0" noProof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DOCENTE</a:t>
            </a:r>
            <a:endParaRPr lang="es-MX" sz="1800" kern="100" noProof="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Aft>
                <a:spcPts val="800"/>
              </a:spcAft>
              <a:buNone/>
            </a:pPr>
            <a:r>
              <a:rPr lang="es-MX" sz="1800" b="1" kern="0" noProof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ING. FRANCISCO JAVIER MINGO VELAZQUEZ</a:t>
            </a:r>
            <a:endParaRPr lang="es-MX" sz="1800" kern="100" noProof="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2669DBE5-FAF1-35CF-08F0-D08353CB1B1B}"/>
              </a:ext>
            </a:extLst>
          </p:cNvPr>
          <p:cNvSpPr txBox="1"/>
          <p:nvPr/>
        </p:nvSpPr>
        <p:spPr>
          <a:xfrm>
            <a:off x="1793875" y="6265557"/>
            <a:ext cx="7812505" cy="1078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2000" b="1" kern="0" noProof="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27</a:t>
            </a:r>
            <a:r>
              <a:rPr lang="es-MX" sz="2000" b="1" kern="0" noProof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DE SEPTIEMBRE DE 2026</a:t>
            </a:r>
            <a:r>
              <a:rPr lang="es-MX" sz="1800" b="1" kern="0" noProof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800" kern="0" noProof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VENUSTIANO CARRANZA, CHIAPAS</a:t>
            </a:r>
            <a:endParaRPr lang="es-MX" sz="2000" kern="100" noProof="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br>
              <a:rPr lang="es-MX" sz="1800" kern="0" noProof="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1055832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123D5AD-B34F-94DE-CA8C-4E027E6EDC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7750"/>
            <a:ext cx="10515600" cy="5457825"/>
          </a:xfrm>
          <a:ln>
            <a:solidFill>
              <a:schemeClr val="accent5">
                <a:lumMod val="75000"/>
              </a:schemeClr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4400" b="1" kern="0" noProof="0" dirty="0">
                <a:solidFill>
                  <a:schemeClr val="accent1"/>
                </a:solidFill>
                <a:latin typeface="+mj-lt"/>
                <a:cs typeface="Arial" panose="020B0604020202020204" pitchFamily="34" charset="0"/>
              </a:rPr>
              <a:t>Introducción</a:t>
            </a:r>
          </a:p>
          <a:p>
            <a:pPr marL="0" indent="0" algn="just">
              <a:buNone/>
              <a:defRPr sz="1900" b="0" i="0">
                <a:solidFill>
                  <a:srgbClr val="141414"/>
                </a:solidFill>
                <a:latin typeface="Arial"/>
              </a:defRPr>
            </a:pPr>
            <a:r>
              <a:rPr lang="es-MX" sz="26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gestión de riesgos permite identificar eventos inciertos que pueden afectar el tiempo, el costo, el alcance o la calidad de un proyecto.</a:t>
            </a:r>
          </a:p>
          <a:p>
            <a:pPr marL="0" indent="0" algn="just">
              <a:buNone/>
              <a:defRPr sz="1900" b="0" i="0">
                <a:solidFill>
                  <a:srgbClr val="141414"/>
                </a:solidFill>
                <a:latin typeface="Arial"/>
              </a:defRPr>
            </a:pPr>
            <a:r>
              <a:rPr lang="es-MX" sz="26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banco de ejercicios aplica análisis cualitativo y cuantitativo mediante casos relacionados con proyectos de simulación académica.</a:t>
            </a:r>
          </a:p>
          <a:p>
            <a:pPr marL="114300" indent="0" algn="just">
              <a:spcAft>
                <a:spcPts val="600"/>
              </a:spcAft>
              <a:buNone/>
              <a:defRPr sz="1800">
                <a:solidFill>
                  <a:srgbClr val="141414"/>
                </a:solidFill>
                <a:latin typeface="Arial"/>
              </a:defRPr>
            </a:pPr>
            <a:r>
              <a:rPr lang="es-MX" sz="26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Identificación de riesgos y clasificación por tipo.</a:t>
            </a:r>
          </a:p>
          <a:p>
            <a:pPr marL="114300" indent="0" algn="just">
              <a:spcAft>
                <a:spcPts val="600"/>
              </a:spcAft>
              <a:buNone/>
              <a:defRPr sz="1800">
                <a:solidFill>
                  <a:srgbClr val="141414"/>
                </a:solidFill>
                <a:latin typeface="Arial"/>
              </a:defRPr>
            </a:pPr>
            <a:r>
              <a:rPr lang="es-MX" sz="26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Asignación de probabilidad e impacto con escala de 1 a 5.</a:t>
            </a:r>
          </a:p>
          <a:p>
            <a:pPr marL="114300" indent="0" algn="just">
              <a:spcAft>
                <a:spcPts val="600"/>
              </a:spcAft>
              <a:buNone/>
              <a:defRPr sz="1800">
                <a:solidFill>
                  <a:srgbClr val="141414"/>
                </a:solidFill>
                <a:latin typeface="Arial"/>
              </a:defRPr>
            </a:pPr>
            <a:r>
              <a:rPr lang="es-MX" sz="26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Cálculo de criticidad y priorización.</a:t>
            </a:r>
          </a:p>
          <a:p>
            <a:pPr marL="114300" indent="0" algn="just">
              <a:spcAft>
                <a:spcPts val="600"/>
              </a:spcAft>
              <a:buNone/>
              <a:defRPr sz="1800">
                <a:solidFill>
                  <a:srgbClr val="141414"/>
                </a:solidFill>
                <a:latin typeface="Arial"/>
              </a:defRPr>
            </a:pPr>
            <a:r>
              <a:rPr lang="es-MX" sz="26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Aplicación del Valor Monetario Esperado (VME) para apoyar decisiones.</a:t>
            </a:r>
          </a:p>
          <a:p>
            <a:pPr marL="0" indent="0" algn="just">
              <a:buNone/>
            </a:pPr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2160315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356B65-D6B3-09AC-24F1-487C58C87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b="1" kern="0" noProof="0" dirty="0">
                <a:solidFill>
                  <a:schemeClr val="accent1"/>
                </a:solidFill>
                <a:ea typeface="+mn-ea"/>
                <a:cs typeface="Arial" panose="020B0604020202020204" pitchFamily="34" charset="0"/>
              </a:rPr>
              <a:t>Objetivo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FA9FFEB-3993-4A4E-BA47-10ED6A9FDF6F}"/>
              </a:ext>
            </a:extLst>
          </p:cNvPr>
          <p:cNvSpPr txBox="1"/>
          <p:nvPr/>
        </p:nvSpPr>
        <p:spPr>
          <a:xfrm>
            <a:off x="962025" y="1447800"/>
            <a:ext cx="10515600" cy="419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>
              <a:defRPr sz="1900" b="0" i="0">
                <a:solidFill>
                  <a:srgbClr val="141414"/>
                </a:solidFill>
                <a:latin typeface="Arial"/>
              </a:defRPr>
            </a:pPr>
            <a:r>
              <a:rPr lang="es-MX" sz="2800" noProof="0" dirty="0"/>
              <a:t>Resolver ejercicios prácticos de gestión de riesgos mediante el uso de probabilidad, impacto, criticidad y Valor Monetario Esperado.</a:t>
            </a:r>
          </a:p>
          <a:p>
            <a:pPr>
              <a:defRPr sz="1900" b="0" i="0">
                <a:solidFill>
                  <a:srgbClr val="141414"/>
                </a:solidFill>
                <a:latin typeface="Arial"/>
              </a:defRPr>
            </a:pPr>
            <a:endParaRPr lang="es-MX" sz="2800" noProof="0" dirty="0"/>
          </a:p>
          <a:p>
            <a:pPr>
              <a:defRPr sz="1900" b="0" i="0">
                <a:solidFill>
                  <a:srgbClr val="141414"/>
                </a:solidFill>
                <a:latin typeface="Arial"/>
              </a:defRPr>
            </a:pPr>
            <a:r>
              <a:rPr lang="es-MX" sz="2800" noProof="0" dirty="0"/>
              <a:t>El propósito es fortalecer la toma de decisiones ante eventos inciertos que pueden afectar la entrega de un proyecto.</a:t>
            </a:r>
          </a:p>
          <a:p>
            <a:pPr marL="342900">
              <a:spcAft>
                <a:spcPts val="600"/>
              </a:spcAft>
              <a:defRPr sz="1800">
                <a:solidFill>
                  <a:srgbClr val="141414"/>
                </a:solidFill>
                <a:latin typeface="Arial"/>
              </a:defRPr>
            </a:pPr>
            <a:r>
              <a:rPr lang="es-MX" sz="2400" noProof="0" dirty="0"/>
              <a:t>Identificar riesgos a partir de casos.</a:t>
            </a:r>
          </a:p>
          <a:p>
            <a:pPr marL="342900">
              <a:spcAft>
                <a:spcPts val="600"/>
              </a:spcAft>
              <a:defRPr sz="1800">
                <a:solidFill>
                  <a:srgbClr val="141414"/>
                </a:solidFill>
                <a:latin typeface="Arial"/>
              </a:defRPr>
            </a:pPr>
            <a:r>
              <a:rPr lang="es-MX" sz="2400" noProof="0" dirty="0"/>
              <a:t>Diferenciar riesgo e incidencia.</a:t>
            </a:r>
          </a:p>
          <a:p>
            <a:pPr marL="342900">
              <a:spcAft>
                <a:spcPts val="600"/>
              </a:spcAft>
              <a:defRPr sz="1800">
                <a:solidFill>
                  <a:srgbClr val="141414"/>
                </a:solidFill>
                <a:latin typeface="Arial"/>
              </a:defRPr>
            </a:pPr>
            <a:r>
              <a:rPr lang="es-MX" sz="2400" noProof="0" dirty="0"/>
              <a:t>Calcular criticidad y nivel de prioridad.</a:t>
            </a:r>
          </a:p>
          <a:p>
            <a:pPr marL="342900">
              <a:spcAft>
                <a:spcPts val="600"/>
              </a:spcAft>
              <a:defRPr sz="1800">
                <a:solidFill>
                  <a:srgbClr val="141414"/>
                </a:solidFill>
                <a:latin typeface="Arial"/>
              </a:defRPr>
            </a:pPr>
            <a:r>
              <a:rPr lang="es-MX" sz="2400" noProof="0" dirty="0"/>
              <a:t>Evaluar alternativas con base en VME.</a:t>
            </a:r>
          </a:p>
          <a:p>
            <a:pPr algn="just">
              <a:spcAft>
                <a:spcPts val="600"/>
              </a:spcAft>
            </a:pPr>
            <a:endParaRPr lang="es-MX" sz="2800" noProof="0" dirty="0"/>
          </a:p>
          <a:p>
            <a:pPr algn="just">
              <a:spcAft>
                <a:spcPts val="600"/>
              </a:spcAft>
            </a:pPr>
            <a:endParaRPr lang="es-MX" sz="2800" noProof="0" dirty="0"/>
          </a:p>
        </p:txBody>
      </p:sp>
    </p:spTree>
    <p:extLst>
      <p:ext uri="{BB962C8B-B14F-4D97-AF65-F5344CB8AC3E}">
        <p14:creationId xmlns:p14="http://schemas.microsoft.com/office/powerpoint/2010/main" val="8723643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9709BD-43C8-E083-574C-CD048A14B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s-MX" b="1" kern="0" noProof="0" dirty="0">
                <a:solidFill>
                  <a:schemeClr val="accent1"/>
                </a:solidFill>
                <a:ea typeface="+mn-ea"/>
                <a:cs typeface="Arial" panose="020B0604020202020204" pitchFamily="34" charset="0"/>
              </a:rPr>
              <a:t>Justificación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070AEA3-E762-4E94-80BA-2A1F43151F0F}"/>
              </a:ext>
            </a:extLst>
          </p:cNvPr>
          <p:cNvSpPr txBox="1"/>
          <p:nvPr/>
        </p:nvSpPr>
        <p:spPr>
          <a:xfrm>
            <a:off x="838200" y="1905000"/>
            <a:ext cx="10515600" cy="41910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s-MX"/>
            </a:defPPr>
            <a:lvl1pPr algn="just">
              <a:defRPr sz="2800"/>
            </a:lvl1pPr>
          </a:lstStyle>
          <a:p>
            <a:pPr>
              <a:spcAft>
                <a:spcPts val="1400"/>
              </a:spcAft>
            </a:pPr>
            <a:r>
              <a:rPr lang="es-MX" dirty="0"/>
              <a:t>La gestión de riesgos permite anticipar situaciones que pueden afectar el desarrollo de un proyecto y tomar decisiones antes de que generen retrasos, costos o problemas de calidad. Este banco de ejercicios permite aplicar de forma práctica conceptos como probabilidad, impacto, criticidad y Valor Monetario Esperado, fortaleciendo el análisis y la toma de decisiones ante diferentes escenarios de riesgo.</a:t>
            </a:r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10972691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11155680" cy="5029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4400" b="1" kern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MX" noProof="0" dirty="0"/>
              <a:t>Criterios utilizados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24559"/>
            <a:ext cx="10972800" cy="5943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900" b="0" i="0">
                <a:solidFill>
                  <a:srgbClr val="141414"/>
                </a:solidFill>
                <a:latin typeface="Arial"/>
              </a:defRPr>
            </a:pPr>
            <a:r>
              <a:rPr lang="es-MX" noProof="0" dirty="0"/>
              <a:t>Para resolver los ejercicios se utiliza una escala de 1 a 5 para probabilidad e impacto. La criticidad se obtiene multiplicando ambos valores.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3405" y="2766060"/>
            <a:ext cx="10698480" cy="1077218"/>
          </a:xfrm>
          <a:prstGeom prst="rect">
            <a:avLst/>
          </a:prstGeom>
          <a:noFill/>
        </p:spPr>
        <p:txBody>
          <a:bodyPr wrap="square" rIns="45720">
            <a:spAutoFit/>
          </a:bodyPr>
          <a:lstStyle/>
          <a:p>
            <a:pPr marL="342900">
              <a:spcAft>
                <a:spcPts val="600"/>
              </a:spcAft>
              <a:defRPr sz="1800">
                <a:solidFill>
                  <a:srgbClr val="141414"/>
                </a:solidFill>
                <a:latin typeface="Arial"/>
              </a:defRPr>
            </a:pPr>
            <a:r>
              <a:rPr lang="es-MX" noProof="0" dirty="0"/>
              <a:t>Criticidad = Probabilidad × Impacto.</a:t>
            </a:r>
          </a:p>
          <a:p>
            <a:pPr marL="342900">
              <a:spcAft>
                <a:spcPts val="600"/>
              </a:spcAft>
              <a:defRPr sz="1800">
                <a:solidFill>
                  <a:srgbClr val="141414"/>
                </a:solidFill>
                <a:latin typeface="Arial"/>
              </a:defRPr>
            </a:pPr>
            <a:r>
              <a:rPr lang="es-MX" noProof="0" dirty="0"/>
              <a:t>Bajo: 1 a 4. Medio: 5 a 9. Alto: 10 a 16. Crítico: 17 a 25.</a:t>
            </a:r>
          </a:p>
          <a:p>
            <a:pPr marL="342900">
              <a:spcAft>
                <a:spcPts val="600"/>
              </a:spcAft>
              <a:defRPr sz="1800">
                <a:solidFill>
                  <a:srgbClr val="141414"/>
                </a:solidFill>
                <a:latin typeface="Arial"/>
              </a:defRPr>
            </a:pPr>
            <a:r>
              <a:rPr lang="es-MX" noProof="0" dirty="0"/>
              <a:t>VME = Probabilidad porcentual × Impacto monetario.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18288"/>
          </a:xfrm>
          <a:prstGeom prst="rect">
            <a:avLst/>
          </a:prstGeom>
          <a:solidFill>
            <a:srgbClr val="B4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11384280" y="6473952"/>
            <a:ext cx="36576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>
              <a:defRPr sz="800" b="0" i="0">
                <a:solidFill>
                  <a:srgbClr val="5A5A5A"/>
                </a:solidFill>
                <a:latin typeface="Arial"/>
              </a:defRPr>
            </a:pPr>
            <a:r>
              <a:rPr lang="es-MX" noProof="0" dirty="0"/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11155680" cy="5029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defPPr>
              <a:defRPr lang="es-MX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4400" b="1" kern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MX" dirty="0"/>
              <a:t>Identificación de riesgos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07592"/>
            <a:ext cx="11109960" cy="6858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500" b="0" i="0">
                <a:solidFill>
                  <a:srgbClr val="141414"/>
                </a:solidFill>
                <a:latin typeface="Arial"/>
              </a:defRPr>
            </a:pPr>
            <a:r>
              <a:rPr lang="es-MX" noProof="0" dirty="0"/>
              <a:t>Un equipo desarrolla una simulación para una planta embotelladora. Durante la revisión detecta parámetros incompletos, posibles errores de configuración y retrasos por repetición de pruebas.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7475399"/>
              </p:ext>
            </p:extLst>
          </p:nvPr>
        </p:nvGraphicFramePr>
        <p:xfrm>
          <a:off x="502920" y="2121408"/>
          <a:ext cx="11155679" cy="1554480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980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s-MX" noProof="0" dirty="0">
                          <a:solidFill>
                            <a:schemeClr val="tx1"/>
                          </a:solidFill>
                        </a:rPr>
                        <a:t>ID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s-MX" noProof="0" dirty="0">
                          <a:solidFill>
                            <a:schemeClr val="tx1"/>
                          </a:solidFill>
                        </a:rPr>
                        <a:t>Riesgo identificado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s-MX" noProof="0" dirty="0">
                          <a:solidFill>
                            <a:schemeClr val="tx1"/>
                          </a:solidFill>
                        </a:rPr>
                        <a:t>Tipo</a:t>
                      </a:r>
                    </a:p>
                  </a:txBody>
                  <a:tcPr marL="54864" marR="36576" marT="27432" marB="2743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 lang="es-MX" noProof="0" dirty="0"/>
                        <a:t>R1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 lang="es-MX" noProof="0" dirty="0"/>
                        <a:t>Parámetros incompletos para validar tiempos y capacidades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 lang="es-MX" noProof="0" dirty="0"/>
                        <a:t>Información</a:t>
                      </a:r>
                    </a:p>
                  </a:txBody>
                  <a:tcPr marL="54864" marR="36576" marT="27432" marB="2743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 lang="es-MX" noProof="0" dirty="0"/>
                        <a:t>R2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 lang="es-MX" noProof="0" dirty="0"/>
                        <a:t>Errores en condiciones de flujo y recursos del modelo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 lang="es-MX" noProof="0" dirty="0"/>
                        <a:t>Técnico</a:t>
                      </a:r>
                    </a:p>
                  </a:txBody>
                  <a:tcPr marL="54864" marR="36576" marT="27432" marB="2743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 lang="es-MX" noProof="0" dirty="0"/>
                        <a:t>R3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 lang="es-MX" noProof="0" dirty="0"/>
                        <a:t>Repetición de pruebas por resultados inconsistentes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 lang="es-MX" noProof="0" dirty="0"/>
                        <a:t>Tiempo / calidad</a:t>
                      </a:r>
                    </a:p>
                  </a:txBody>
                  <a:tcPr marL="54864" marR="36576" marT="27432" marB="2743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215383"/>
            <a:ext cx="11109960" cy="486287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400" b="0" i="0">
                <a:solidFill>
                  <a:srgbClr val="141414"/>
                </a:solidFill>
                <a:latin typeface="Arial"/>
              </a:defRPr>
            </a:pPr>
            <a:r>
              <a:rPr lang="es-MX" b="1" noProof="0" dirty="0"/>
              <a:t>PROCEDIMIENTO</a:t>
            </a:r>
          </a:p>
          <a:p>
            <a:pPr algn="l">
              <a:defRPr sz="1400" b="0" i="0">
                <a:solidFill>
                  <a:srgbClr val="141414"/>
                </a:solidFill>
                <a:latin typeface="Arial"/>
              </a:defRPr>
            </a:pPr>
            <a:r>
              <a:rPr lang="es-MX" noProof="0" dirty="0"/>
              <a:t>Los eventos se revisan como situaciones futuras e inciertas. Cada uno puede afectar el resultado del proyecto si ocurre.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221223"/>
            <a:ext cx="11109960" cy="486287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400" b="0" i="0">
                <a:solidFill>
                  <a:srgbClr val="141414"/>
                </a:solidFill>
                <a:latin typeface="Arial"/>
              </a:defRPr>
            </a:pPr>
            <a:r>
              <a:rPr lang="es-MX" b="1" noProof="0" dirty="0"/>
              <a:t>Resultado e interpretación</a:t>
            </a:r>
          </a:p>
          <a:p>
            <a:pPr algn="l">
              <a:defRPr sz="1400" b="0" i="0">
                <a:solidFill>
                  <a:srgbClr val="141414"/>
                </a:solidFill>
                <a:latin typeface="Arial"/>
              </a:defRPr>
            </a:pPr>
            <a:r>
              <a:rPr lang="es-MX" noProof="0" dirty="0"/>
              <a:t>Los tres eventos son riesgos porque todavía no han ocurrido, pero pueden afectar la calidad de la simulación o retrasar la entrega.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11112"/>
            <a:ext cx="12191695" cy="18288"/>
          </a:xfrm>
          <a:prstGeom prst="rect">
            <a:avLst/>
          </a:prstGeom>
          <a:solidFill>
            <a:srgbClr val="B4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11384280" y="6473952"/>
            <a:ext cx="36576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>
              <a:defRPr sz="800" b="0" i="0">
                <a:solidFill>
                  <a:srgbClr val="5A5A5A"/>
                </a:solidFill>
                <a:latin typeface="Arial"/>
              </a:defRPr>
            </a:pPr>
            <a:r>
              <a:rPr lang="es-MX" noProof="0" dirty="0"/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11155680" cy="5170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>
            <a:defPPr>
              <a:defRPr lang="es-MX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4400" b="1" kern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MX" dirty="0"/>
              <a:t>Diferencia entre riesgo e incidencia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07592"/>
            <a:ext cx="11109960" cy="6858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500" b="0" i="0">
                <a:solidFill>
                  <a:srgbClr val="141414"/>
                </a:solidFill>
                <a:latin typeface="Arial"/>
              </a:defRPr>
            </a:pPr>
            <a:r>
              <a:rPr lang="es-MX" noProof="0" dirty="0"/>
              <a:t>En un proyecto de software se reportan estas situaciones: posible falta de datos, error ya detectado en el código, retraso posible por pruebas y falla confirmada en una librería.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9799324"/>
              </p:ext>
            </p:extLst>
          </p:nvPr>
        </p:nvGraphicFramePr>
        <p:xfrm>
          <a:off x="502920" y="2121408"/>
          <a:ext cx="11155680" cy="18288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s-MX" noProof="0" dirty="0">
                          <a:solidFill>
                            <a:schemeClr val="tx1"/>
                          </a:solidFill>
                        </a:rPr>
                        <a:t>Situación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s-MX" noProof="0" dirty="0">
                          <a:solidFill>
                            <a:schemeClr val="tx1"/>
                          </a:solidFill>
                        </a:rPr>
                        <a:t>Clasificación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s-MX" noProof="0" dirty="0">
                          <a:solidFill>
                            <a:schemeClr val="tx1"/>
                          </a:solidFill>
                        </a:rPr>
                        <a:t>Justificación</a:t>
                      </a:r>
                    </a:p>
                  </a:txBody>
                  <a:tcPr marL="54864" marR="36576" marT="27432" marB="2743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 lang="es-MX" noProof="0" dirty="0">
                          <a:solidFill>
                            <a:schemeClr val="tx1"/>
                          </a:solidFill>
                        </a:rPr>
                        <a:t>Falta posible de datos reales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 lang="es-MX" noProof="0" dirty="0">
                          <a:solidFill>
                            <a:schemeClr val="tx1"/>
                          </a:solidFill>
                        </a:rPr>
                        <a:t>Riesgo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 lang="es-MX" noProof="0" dirty="0">
                          <a:solidFill>
                            <a:schemeClr val="tx1"/>
                          </a:solidFill>
                        </a:rPr>
                        <a:t>Puede ocurrir y afectar la validación.</a:t>
                      </a:r>
                    </a:p>
                  </a:txBody>
                  <a:tcPr marL="54864" marR="36576" marT="27432" marB="2743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 lang="es-MX" noProof="0" dirty="0">
                          <a:solidFill>
                            <a:schemeClr val="tx1"/>
                          </a:solidFill>
                        </a:rPr>
                        <a:t>Error ya detectado en el código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 lang="es-MX" noProof="0" dirty="0">
                          <a:solidFill>
                            <a:schemeClr val="tx1"/>
                          </a:solidFill>
                        </a:rPr>
                        <a:t>Incidencia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 lang="es-MX" noProof="0" dirty="0">
                          <a:solidFill>
                            <a:schemeClr val="tx1"/>
                          </a:solidFill>
                        </a:rPr>
                        <a:t>Ya ocurrió y requiere corrección.</a:t>
                      </a:r>
                    </a:p>
                  </a:txBody>
                  <a:tcPr marL="54864" marR="36576" marT="27432" marB="2743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 lang="es-MX" noProof="0" dirty="0">
                          <a:solidFill>
                            <a:schemeClr val="tx1"/>
                          </a:solidFill>
                        </a:rPr>
                        <a:t>Retraso posible por pruebas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 lang="es-MX" noProof="0" dirty="0">
                          <a:solidFill>
                            <a:schemeClr val="tx1"/>
                          </a:solidFill>
                        </a:rPr>
                        <a:t>Riesgo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 lang="es-MX" noProof="0" dirty="0">
                          <a:solidFill>
                            <a:schemeClr val="tx1"/>
                          </a:solidFill>
                        </a:rPr>
                        <a:t>Es incierto y puede afectar el calendario.</a:t>
                      </a:r>
                    </a:p>
                  </a:txBody>
                  <a:tcPr marL="54864" marR="36576" marT="27432" marB="2743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 lang="es-MX" noProof="0" dirty="0">
                          <a:solidFill>
                            <a:schemeClr val="tx1"/>
                          </a:solidFill>
                        </a:rPr>
                        <a:t>Falla confirmada en librería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 lang="es-MX" noProof="0" dirty="0">
                          <a:solidFill>
                            <a:schemeClr val="tx1"/>
                          </a:solidFill>
                        </a:rPr>
                        <a:t>Incidencia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 lang="es-MX" noProof="0" dirty="0">
                          <a:solidFill>
                            <a:schemeClr val="tx1"/>
                          </a:solidFill>
                        </a:rPr>
                        <a:t>Ya existe y debe atenderse.</a:t>
                      </a:r>
                    </a:p>
                  </a:txBody>
                  <a:tcPr marL="54864" marR="36576" marT="27432" marB="27432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489704"/>
            <a:ext cx="11109960" cy="486287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400" b="0" i="0">
                <a:solidFill>
                  <a:srgbClr val="141414"/>
                </a:solidFill>
                <a:latin typeface="Arial"/>
              </a:defRPr>
            </a:pPr>
            <a:r>
              <a:rPr lang="es-MX" sz="1400" b="1" dirty="0">
                <a:solidFill>
                  <a:srgbClr val="141414"/>
                </a:solidFill>
                <a:latin typeface="Arial"/>
              </a:rPr>
              <a:t>PROCEDIMIENTO</a:t>
            </a:r>
            <a:endParaRPr lang="es-MX" sz="1400" dirty="0">
              <a:solidFill>
                <a:srgbClr val="141414"/>
              </a:solidFill>
              <a:latin typeface="Arial"/>
            </a:endParaRPr>
          </a:p>
          <a:p>
            <a:pPr algn="l">
              <a:defRPr sz="1400" b="0" i="0">
                <a:solidFill>
                  <a:srgbClr val="141414"/>
                </a:solidFill>
                <a:latin typeface="Arial"/>
              </a:defRPr>
            </a:pPr>
            <a:r>
              <a:rPr lang="es-MX" noProof="0" dirty="0"/>
              <a:t>Primero se determina si el evento ya ocurrió. Si ya ocurrió, se trata como incidencia; si todavía es incierto, se considera riesgo.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495544"/>
            <a:ext cx="11109960" cy="486287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400" b="0" i="0">
                <a:solidFill>
                  <a:srgbClr val="141414"/>
                </a:solidFill>
                <a:latin typeface="Arial"/>
              </a:defRPr>
            </a:pPr>
            <a:r>
              <a:rPr lang="es-MX" sz="1400" b="1" dirty="0">
                <a:solidFill>
                  <a:srgbClr val="141414"/>
                </a:solidFill>
                <a:latin typeface="Arial"/>
              </a:rPr>
              <a:t>Resultado e interpretación</a:t>
            </a:r>
            <a:endParaRPr lang="es-MX" sz="1400" dirty="0">
              <a:solidFill>
                <a:srgbClr val="141414"/>
              </a:solidFill>
              <a:latin typeface="Arial"/>
            </a:endParaRPr>
          </a:p>
          <a:p>
            <a:pPr algn="l">
              <a:defRPr sz="1400" b="0" i="0">
                <a:solidFill>
                  <a:srgbClr val="141414"/>
                </a:solidFill>
                <a:latin typeface="Arial"/>
              </a:defRPr>
            </a:pPr>
            <a:r>
              <a:rPr lang="es-MX" noProof="0" dirty="0"/>
              <a:t>La diferencia central es el momento: el riesgo puede ocurrir; la incidencia ya ocurrió.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11112"/>
            <a:ext cx="12191695" cy="18288"/>
          </a:xfrm>
          <a:prstGeom prst="rect">
            <a:avLst/>
          </a:prstGeom>
          <a:solidFill>
            <a:srgbClr val="B4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11384280" y="6473952"/>
            <a:ext cx="36576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>
              <a:defRPr sz="800" b="0" i="0">
                <a:solidFill>
                  <a:srgbClr val="5A5A5A"/>
                </a:solidFill>
                <a:latin typeface="Arial"/>
              </a:defRPr>
            </a:pPr>
            <a:r>
              <a:rPr lang="es-MX" noProof="0" dirty="0"/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11155680" cy="5170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>
            <a:defPPr>
              <a:defRPr lang="es-MX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4400" b="1" kern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dirty="0"/>
              <a:t> </a:t>
            </a:r>
            <a:r>
              <a:rPr dirty="0" err="1"/>
              <a:t>Asignación</a:t>
            </a:r>
            <a:r>
              <a:rPr dirty="0"/>
              <a:t> de </a:t>
            </a:r>
            <a:r>
              <a:rPr dirty="0" err="1"/>
              <a:t>probabilidad</a:t>
            </a:r>
            <a:r>
              <a:rPr dirty="0"/>
              <a:t> e </a:t>
            </a:r>
            <a:r>
              <a:rPr dirty="0" err="1"/>
              <a:t>impacto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02920" y="1005840"/>
            <a:ext cx="228600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700" b="1" i="0">
                <a:solidFill>
                  <a:srgbClr val="4472C4"/>
                </a:solidFill>
                <a:latin typeface="Arial"/>
              </a:defRPr>
            </a:pPr>
            <a:r>
              <a:t>Planteamiento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07592"/>
            <a:ext cx="11109960" cy="6858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500" b="0" i="0">
                <a:solidFill>
                  <a:srgbClr val="141414"/>
                </a:solidFill>
                <a:latin typeface="Arial"/>
              </a:defRPr>
            </a:pPr>
            <a:r>
              <a:t>Se identifican tres riesgos: mejoras menores al programa final, errores de configuración en Bizagi e inconsistencias lógicas en JavaFX.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2920133"/>
              </p:ext>
            </p:extLst>
          </p:nvPr>
        </p:nvGraphicFramePr>
        <p:xfrm>
          <a:off x="502920" y="2121408"/>
          <a:ext cx="11155680" cy="1737360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Riesgo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Probabilidad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Impacto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Justificación</a:t>
                      </a:r>
                    </a:p>
                  </a:txBody>
                  <a:tcPr marL="54864" marR="36576" marT="27432" marB="2743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Mejoras al programa final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Baja (2)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Bajo (2)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No afecta la fecha final.</a:t>
                      </a:r>
                    </a:p>
                  </a:txBody>
                  <a:tcPr marL="54864" marR="36576" marT="27432" marB="2743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Configuración en Bizagi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Media (3)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Alto (4)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Puede generar retrabajo y retraso.</a:t>
                      </a:r>
                    </a:p>
                  </a:txBody>
                  <a:tcPr marL="54864" marR="36576" marT="27432" marB="2743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Concurrencia en JavaFX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Media (3)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Alto (4)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</a:rPr>
                        <a:t>Puede</a:t>
                      </a:r>
                      <a:r>
                        <a:rPr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dirty="0" err="1">
                          <a:solidFill>
                            <a:schemeClr val="tx1"/>
                          </a:solidFill>
                        </a:rPr>
                        <a:t>alterar</a:t>
                      </a:r>
                      <a:r>
                        <a:rPr dirty="0">
                          <a:solidFill>
                            <a:schemeClr val="tx1"/>
                          </a:solidFill>
                        </a:rPr>
                        <a:t> colas y </a:t>
                      </a:r>
                      <a:r>
                        <a:rPr dirty="0" err="1">
                          <a:solidFill>
                            <a:schemeClr val="tx1"/>
                          </a:solidFill>
                        </a:rPr>
                        <a:t>resultados</a:t>
                      </a:r>
                      <a:r>
                        <a:rPr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 marL="54864" marR="36576" marT="27432" marB="2743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4087368"/>
            <a:ext cx="219456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600" b="1" i="0">
                <a:solidFill>
                  <a:srgbClr val="4472C4"/>
                </a:solidFill>
                <a:latin typeface="Arial"/>
              </a:defRPr>
            </a:pPr>
            <a:r>
              <a:t>Procedimiento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398264"/>
            <a:ext cx="11109960" cy="6400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400" b="0" i="0">
                <a:solidFill>
                  <a:srgbClr val="141414"/>
                </a:solidFill>
                <a:latin typeface="Arial"/>
              </a:defRPr>
            </a:pPr>
            <a:r>
              <a:t>Se asignan valores con base en la escala del reporte: 1 muy bajo, 2 bajo, 3 medio, 4 alto y 5 muy alto.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093208"/>
            <a:ext cx="365760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600" b="1" i="0">
                <a:solidFill>
                  <a:srgbClr val="4472C4"/>
                </a:solidFill>
                <a:latin typeface="Arial"/>
              </a:defRPr>
            </a:pPr>
            <a:r>
              <a:t>Resultado e interpretación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404104"/>
            <a:ext cx="11109960" cy="9601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400" b="0" i="0">
                <a:solidFill>
                  <a:srgbClr val="141414"/>
                </a:solidFill>
                <a:latin typeface="Arial"/>
              </a:defRPr>
            </a:pPr>
            <a:r>
              <a:t>Los riesgos técnicos de simulación reciben mayor impacto porque pueden afectar la calidad del resultado y la fecha de entrega.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11112"/>
            <a:ext cx="12191695" cy="18288"/>
          </a:xfrm>
          <a:prstGeom prst="rect">
            <a:avLst/>
          </a:prstGeom>
          <a:solidFill>
            <a:srgbClr val="B4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384280" y="6473952"/>
            <a:ext cx="36576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>
              <a:defRPr sz="800" b="0" i="0">
                <a:solidFill>
                  <a:srgbClr val="5A5A5A"/>
                </a:solidFill>
                <a:latin typeface="Arial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11155680" cy="7325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s-MX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4400" b="1" kern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dirty="0" err="1"/>
              <a:t>Cálculo</a:t>
            </a:r>
            <a:r>
              <a:rPr dirty="0"/>
              <a:t> de </a:t>
            </a:r>
            <a:r>
              <a:rPr dirty="0" err="1"/>
              <a:t>criticidad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02920" y="1005840"/>
            <a:ext cx="228600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700" b="1" i="0">
                <a:solidFill>
                  <a:srgbClr val="4472C4"/>
                </a:solidFill>
                <a:latin typeface="Arial"/>
              </a:defRPr>
            </a:pPr>
            <a:r>
              <a:t>Planteamiento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07592"/>
            <a:ext cx="11109960" cy="6858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500" b="0" i="0">
                <a:solidFill>
                  <a:srgbClr val="141414"/>
                </a:solidFill>
                <a:latin typeface="Arial"/>
              </a:defRPr>
            </a:pPr>
            <a:r>
              <a:t>Con los valores asignados en el ejercicio anterior, calcula la criticidad de cada riesgo.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5590619"/>
              </p:ext>
            </p:extLst>
          </p:nvPr>
        </p:nvGraphicFramePr>
        <p:xfrm>
          <a:off x="502920" y="2121408"/>
          <a:ext cx="10424160" cy="16459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Riesgo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P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I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Operación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Criticidad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Nivel</a:t>
                      </a:r>
                    </a:p>
                  </a:txBody>
                  <a:tcPr marL="54864" marR="36576" marT="27432" marB="2743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B1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2 × 2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Bajo</a:t>
                      </a:r>
                    </a:p>
                  </a:txBody>
                  <a:tcPr marL="54864" marR="36576" marT="27432" marB="2743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J1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3 × 4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Alto</a:t>
                      </a:r>
                    </a:p>
                  </a:txBody>
                  <a:tcPr marL="54864" marR="36576" marT="27432" marB="2743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R1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 dirty="0">
                          <a:solidFill>
                            <a:schemeClr val="tx1"/>
                          </a:solidFill>
                        </a:rPr>
                        <a:t>3 × 4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 dirty="0">
                          <a:solidFill>
                            <a:schemeClr val="tx1"/>
                          </a:solidFill>
                        </a:rPr>
                        <a:t>Alto</a:t>
                      </a:r>
                    </a:p>
                  </a:txBody>
                  <a:tcPr marL="54864" marR="36576" marT="27432" marB="2743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306823"/>
            <a:ext cx="11109960" cy="486287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400" b="0" i="0">
                <a:solidFill>
                  <a:srgbClr val="141414"/>
                </a:solidFill>
                <a:latin typeface="Arial"/>
              </a:defRPr>
            </a:pPr>
            <a:r>
              <a:rPr lang="es-MX" sz="1400" b="1" dirty="0">
                <a:solidFill>
                  <a:srgbClr val="141414"/>
                </a:solidFill>
                <a:latin typeface="Arial"/>
              </a:rPr>
              <a:t>PROCEDIMIENTO</a:t>
            </a:r>
            <a:endParaRPr lang="es-MX" sz="1400" dirty="0">
              <a:solidFill>
                <a:srgbClr val="141414"/>
              </a:solidFill>
              <a:latin typeface="Arial"/>
            </a:endParaRPr>
          </a:p>
          <a:p>
            <a:pPr algn="l">
              <a:defRPr sz="1400" b="0" i="0">
                <a:solidFill>
                  <a:srgbClr val="141414"/>
                </a:solidFill>
                <a:latin typeface="Arial"/>
              </a:defRPr>
            </a:pPr>
            <a:r>
              <a:rPr dirty="0"/>
              <a:t>La </a:t>
            </a:r>
            <a:r>
              <a:rPr dirty="0" err="1"/>
              <a:t>criticidad</a:t>
            </a:r>
            <a:r>
              <a:rPr dirty="0"/>
              <a:t> se </a:t>
            </a:r>
            <a:r>
              <a:rPr dirty="0" err="1"/>
              <a:t>calcula</a:t>
            </a:r>
            <a:r>
              <a:rPr dirty="0"/>
              <a:t> </a:t>
            </a:r>
            <a:r>
              <a:rPr dirty="0" err="1"/>
              <a:t>multiplicando</a:t>
            </a:r>
            <a:r>
              <a:rPr dirty="0"/>
              <a:t> </a:t>
            </a:r>
            <a:r>
              <a:rPr dirty="0" err="1"/>
              <a:t>probabilidad</a:t>
            </a:r>
            <a:r>
              <a:rPr dirty="0"/>
              <a:t> por </a:t>
            </a:r>
            <a:r>
              <a:rPr dirty="0" err="1"/>
              <a:t>impacto</a:t>
            </a:r>
            <a:r>
              <a:rPr dirty="0"/>
              <a:t>. </a:t>
            </a:r>
            <a:r>
              <a:rPr dirty="0" err="1"/>
              <a:t>Después</a:t>
            </a:r>
            <a:r>
              <a:rPr dirty="0"/>
              <a:t> se </a:t>
            </a:r>
            <a:r>
              <a:rPr dirty="0" err="1"/>
              <a:t>compara</a:t>
            </a:r>
            <a:r>
              <a:rPr dirty="0"/>
              <a:t> el </a:t>
            </a:r>
            <a:r>
              <a:rPr dirty="0" err="1"/>
              <a:t>resultado</a:t>
            </a:r>
            <a:r>
              <a:rPr dirty="0"/>
              <a:t> con </a:t>
            </a:r>
            <a:r>
              <a:rPr dirty="0" err="1"/>
              <a:t>los</a:t>
            </a:r>
            <a:r>
              <a:rPr dirty="0"/>
              <a:t> rangos de </a:t>
            </a:r>
            <a:r>
              <a:rPr dirty="0" err="1"/>
              <a:t>nivel</a:t>
            </a:r>
            <a:r>
              <a:rPr dirty="0"/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312663"/>
            <a:ext cx="11109960" cy="486287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400" b="0" i="0">
                <a:solidFill>
                  <a:srgbClr val="141414"/>
                </a:solidFill>
                <a:latin typeface="Arial"/>
              </a:defRPr>
            </a:pPr>
            <a:r>
              <a:rPr lang="es-MX" sz="1400" b="1" dirty="0">
                <a:solidFill>
                  <a:srgbClr val="141414"/>
                </a:solidFill>
                <a:latin typeface="Arial"/>
              </a:rPr>
              <a:t>Resultado e interpretación</a:t>
            </a:r>
            <a:endParaRPr lang="es-MX" sz="1400" dirty="0">
              <a:solidFill>
                <a:srgbClr val="141414"/>
              </a:solidFill>
              <a:latin typeface="Arial"/>
            </a:endParaRPr>
          </a:p>
          <a:p>
            <a:pPr algn="l">
              <a:defRPr sz="1400" b="0" i="0">
                <a:solidFill>
                  <a:srgbClr val="141414"/>
                </a:solidFill>
                <a:latin typeface="Arial"/>
              </a:defRPr>
            </a:pPr>
            <a:r>
              <a:rPr dirty="0"/>
              <a:t>J1 y R1 </a:t>
            </a:r>
            <a:r>
              <a:rPr dirty="0" err="1"/>
              <a:t>requieren</a:t>
            </a:r>
            <a:r>
              <a:rPr dirty="0"/>
              <a:t> mayor </a:t>
            </a:r>
            <a:r>
              <a:rPr dirty="0" err="1"/>
              <a:t>seguimiento</a:t>
            </a:r>
            <a:r>
              <a:rPr dirty="0"/>
              <a:t> </a:t>
            </a:r>
            <a:r>
              <a:rPr dirty="0" err="1"/>
              <a:t>porque</a:t>
            </a:r>
            <a:r>
              <a:rPr dirty="0"/>
              <a:t> </a:t>
            </a:r>
            <a:r>
              <a:rPr dirty="0" err="1"/>
              <a:t>obtienen</a:t>
            </a:r>
            <a:r>
              <a:rPr dirty="0"/>
              <a:t> </a:t>
            </a:r>
            <a:r>
              <a:rPr dirty="0" err="1"/>
              <a:t>nivel</a:t>
            </a:r>
            <a:r>
              <a:rPr dirty="0"/>
              <a:t> alto; B1 se </a:t>
            </a:r>
            <a:r>
              <a:rPr dirty="0" err="1"/>
              <a:t>mantiene</a:t>
            </a:r>
            <a:r>
              <a:rPr dirty="0"/>
              <a:t> bajo </a:t>
            </a:r>
            <a:r>
              <a:rPr dirty="0" err="1"/>
              <a:t>observación</a:t>
            </a:r>
            <a:r>
              <a:rPr dirty="0"/>
              <a:t> </a:t>
            </a:r>
            <a:r>
              <a:rPr dirty="0" err="1"/>
              <a:t>preventiva</a:t>
            </a:r>
            <a:r>
              <a:rPr dirty="0"/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11112"/>
            <a:ext cx="12191695" cy="18288"/>
          </a:xfrm>
          <a:prstGeom prst="rect">
            <a:avLst/>
          </a:prstGeom>
          <a:solidFill>
            <a:srgbClr val="B4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384280" y="6473952"/>
            <a:ext cx="36576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>
              <a:defRPr sz="800" b="0" i="0">
                <a:solidFill>
                  <a:srgbClr val="5A5A5A"/>
                </a:solidFill>
                <a:latin typeface="Arial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79" y="292609"/>
            <a:ext cx="11409045" cy="10149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s-MX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4400" b="1" kern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dirty="0" err="1"/>
              <a:t>Priorización</a:t>
            </a:r>
            <a:r>
              <a:rPr dirty="0"/>
              <a:t> </a:t>
            </a:r>
            <a:r>
              <a:rPr dirty="0" err="1"/>
              <a:t>mediante</a:t>
            </a:r>
            <a:r>
              <a:rPr dirty="0"/>
              <a:t> </a:t>
            </a:r>
            <a:r>
              <a:rPr dirty="0" err="1"/>
              <a:t>matriz</a:t>
            </a:r>
            <a:r>
              <a:rPr dirty="0"/>
              <a:t> de </a:t>
            </a:r>
            <a:r>
              <a:rPr dirty="0" err="1"/>
              <a:t>riesgos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02920" y="1307592"/>
            <a:ext cx="11109960" cy="6858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500" b="0" i="0">
                <a:solidFill>
                  <a:srgbClr val="141414"/>
                </a:solidFill>
                <a:latin typeface="Arial"/>
              </a:defRPr>
            </a:pPr>
            <a:r>
              <a:rPr dirty="0"/>
              <a:t>Ordena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riesgos</a:t>
            </a:r>
            <a:r>
              <a:rPr dirty="0"/>
              <a:t> B1, J1 y R1 </a:t>
            </a:r>
            <a:r>
              <a:rPr dirty="0" err="1"/>
              <a:t>según</a:t>
            </a:r>
            <a:r>
              <a:rPr dirty="0"/>
              <a:t> </a:t>
            </a:r>
            <a:r>
              <a:rPr dirty="0" err="1"/>
              <a:t>su</a:t>
            </a:r>
            <a:r>
              <a:rPr dirty="0"/>
              <a:t> </a:t>
            </a:r>
            <a:r>
              <a:rPr dirty="0" err="1"/>
              <a:t>criticidad</a:t>
            </a:r>
            <a:r>
              <a:rPr dirty="0"/>
              <a:t> para </a:t>
            </a:r>
            <a:r>
              <a:rPr dirty="0" err="1"/>
              <a:t>decidir</a:t>
            </a:r>
            <a:r>
              <a:rPr dirty="0"/>
              <a:t> </a:t>
            </a:r>
            <a:r>
              <a:rPr dirty="0" err="1"/>
              <a:t>cuál</a:t>
            </a:r>
            <a:r>
              <a:rPr dirty="0"/>
              <a:t> </a:t>
            </a:r>
            <a:r>
              <a:rPr dirty="0" err="1"/>
              <a:t>debe</a:t>
            </a:r>
            <a:r>
              <a:rPr dirty="0"/>
              <a:t> </a:t>
            </a:r>
            <a:r>
              <a:rPr dirty="0" err="1"/>
              <a:t>atenderse</a:t>
            </a:r>
            <a:r>
              <a:rPr dirty="0"/>
              <a:t> primero.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3679924"/>
              </p:ext>
            </p:extLst>
          </p:nvPr>
        </p:nvGraphicFramePr>
        <p:xfrm>
          <a:off x="502920" y="2121408"/>
          <a:ext cx="11155680" cy="14173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24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Prioridad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Riesgo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Criticidad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Nivel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Decisión</a:t>
                      </a:r>
                    </a:p>
                  </a:txBody>
                  <a:tcPr marL="54864" marR="36576" marT="27432" marB="2743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J1 y R1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Alto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Seguimiento inmediato</a:t>
                      </a:r>
                    </a:p>
                  </a:txBody>
                  <a:tcPr marL="54864" marR="36576" marT="27432" marB="2743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 dirty="0">
                          <a:solidFill>
                            <a:schemeClr val="tx1"/>
                          </a:solidFill>
                        </a:rPr>
                        <a:t>B1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Bajo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</a:rPr>
                        <a:t>Seguimiento</a:t>
                      </a:r>
                      <a:r>
                        <a:rPr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dirty="0" err="1">
                          <a:solidFill>
                            <a:schemeClr val="tx1"/>
                          </a:solidFill>
                        </a:rPr>
                        <a:t>preventivo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54864" marR="36576" marT="27432" marB="2743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078224"/>
            <a:ext cx="11109960" cy="486287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400" b="0" i="0">
                <a:solidFill>
                  <a:srgbClr val="141414"/>
                </a:solidFill>
                <a:latin typeface="Arial"/>
              </a:defRPr>
            </a:pPr>
            <a:r>
              <a:rPr lang="es-MX" sz="1400" b="1" dirty="0">
                <a:solidFill>
                  <a:srgbClr val="141414"/>
                </a:solidFill>
                <a:latin typeface="Arial"/>
              </a:rPr>
              <a:t>PROCEDIMIENTO</a:t>
            </a:r>
            <a:endParaRPr lang="es-MX" sz="1400" dirty="0">
              <a:solidFill>
                <a:srgbClr val="141414"/>
              </a:solidFill>
              <a:latin typeface="Arial"/>
            </a:endParaRPr>
          </a:p>
          <a:p>
            <a:pPr algn="l">
              <a:defRPr sz="1400" b="0" i="0">
                <a:solidFill>
                  <a:srgbClr val="141414"/>
                </a:solidFill>
                <a:latin typeface="Arial"/>
              </a:defRPr>
            </a:pPr>
            <a:r>
              <a:rPr dirty="0"/>
              <a:t>Los </a:t>
            </a:r>
            <a:r>
              <a:rPr dirty="0" err="1"/>
              <a:t>riesgos</a:t>
            </a:r>
            <a:r>
              <a:rPr dirty="0"/>
              <a:t> con mayor </a:t>
            </a:r>
            <a:r>
              <a:rPr dirty="0" err="1"/>
              <a:t>puntuación</a:t>
            </a:r>
            <a:r>
              <a:rPr dirty="0"/>
              <a:t> se </a:t>
            </a:r>
            <a:r>
              <a:rPr dirty="0" err="1"/>
              <a:t>colocan</a:t>
            </a:r>
            <a:r>
              <a:rPr dirty="0"/>
              <a:t> primero. Si hay </a:t>
            </a:r>
            <a:r>
              <a:rPr dirty="0" err="1"/>
              <a:t>empate</a:t>
            </a:r>
            <a:r>
              <a:rPr dirty="0"/>
              <a:t>, se </a:t>
            </a:r>
            <a:r>
              <a:rPr dirty="0" err="1"/>
              <a:t>considera</a:t>
            </a:r>
            <a:r>
              <a:rPr dirty="0"/>
              <a:t> </a:t>
            </a:r>
            <a:r>
              <a:rPr dirty="0" err="1"/>
              <a:t>cercanía</a:t>
            </a:r>
            <a:r>
              <a:rPr dirty="0"/>
              <a:t> de </a:t>
            </a:r>
            <a:r>
              <a:rPr dirty="0" err="1"/>
              <a:t>entrega</a:t>
            </a:r>
            <a:r>
              <a:rPr dirty="0"/>
              <a:t> o </a:t>
            </a:r>
            <a:r>
              <a:rPr dirty="0" err="1"/>
              <a:t>efecto</a:t>
            </a:r>
            <a:r>
              <a:rPr dirty="0"/>
              <a:t> </a:t>
            </a:r>
            <a:r>
              <a:rPr dirty="0" err="1"/>
              <a:t>sobre</a:t>
            </a:r>
            <a:r>
              <a:rPr dirty="0"/>
              <a:t> la </a:t>
            </a:r>
            <a:r>
              <a:rPr dirty="0" err="1"/>
              <a:t>calidad</a:t>
            </a:r>
            <a:r>
              <a:rPr dirty="0"/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084064"/>
            <a:ext cx="11109960" cy="486287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400" b="0" i="0">
                <a:solidFill>
                  <a:srgbClr val="141414"/>
                </a:solidFill>
                <a:latin typeface="Arial"/>
              </a:defRPr>
            </a:pPr>
            <a:r>
              <a:rPr lang="es-MX" sz="1400" b="1" dirty="0">
                <a:solidFill>
                  <a:srgbClr val="141414"/>
                </a:solidFill>
                <a:latin typeface="Arial"/>
              </a:rPr>
              <a:t>Resultado e interpretación</a:t>
            </a:r>
            <a:endParaRPr lang="es-MX" sz="1400" dirty="0">
              <a:solidFill>
                <a:srgbClr val="141414"/>
              </a:solidFill>
              <a:latin typeface="Arial"/>
            </a:endParaRPr>
          </a:p>
          <a:p>
            <a:pPr algn="l">
              <a:defRPr sz="1400" b="0" i="0">
                <a:solidFill>
                  <a:srgbClr val="141414"/>
                </a:solidFill>
                <a:latin typeface="Arial"/>
              </a:defRPr>
            </a:pPr>
            <a:r>
              <a:rPr dirty="0"/>
              <a:t>J1 y R1 </a:t>
            </a:r>
            <a:r>
              <a:rPr dirty="0" err="1"/>
              <a:t>quedan</a:t>
            </a:r>
            <a:r>
              <a:rPr dirty="0"/>
              <a:t> </a:t>
            </a:r>
            <a:r>
              <a:rPr dirty="0" err="1"/>
              <a:t>empatados</a:t>
            </a:r>
            <a:r>
              <a:rPr dirty="0"/>
              <a:t> en primer </a:t>
            </a:r>
            <a:r>
              <a:rPr dirty="0" err="1"/>
              <a:t>lugar</a:t>
            </a:r>
            <a:r>
              <a:rPr dirty="0"/>
              <a:t> </a:t>
            </a:r>
            <a:r>
              <a:rPr dirty="0" err="1"/>
              <a:t>porque</a:t>
            </a:r>
            <a:r>
              <a:rPr dirty="0"/>
              <a:t> ambos </a:t>
            </a:r>
            <a:r>
              <a:rPr dirty="0" err="1"/>
              <a:t>tienen</a:t>
            </a:r>
            <a:r>
              <a:rPr dirty="0"/>
              <a:t> </a:t>
            </a:r>
            <a:r>
              <a:rPr dirty="0" err="1"/>
              <a:t>criticidad</a:t>
            </a:r>
            <a:r>
              <a:rPr dirty="0"/>
              <a:t> 12 y </a:t>
            </a:r>
            <a:r>
              <a:rPr dirty="0" err="1"/>
              <a:t>nivel</a:t>
            </a:r>
            <a:r>
              <a:rPr dirty="0"/>
              <a:t> alto.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11112"/>
            <a:ext cx="12191695" cy="18288"/>
          </a:xfrm>
          <a:prstGeom prst="rect">
            <a:avLst/>
          </a:prstGeom>
          <a:solidFill>
            <a:srgbClr val="B4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384280" y="6473952"/>
            <a:ext cx="36576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>
              <a:defRPr sz="800" b="0" i="0">
                <a:solidFill>
                  <a:srgbClr val="5A5A5A"/>
                </a:solidFill>
                <a:latin typeface="Arial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1115568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3000" b="1" i="0">
                <a:solidFill>
                  <a:srgbClr val="4472C4"/>
                </a:solidFill>
                <a:latin typeface="Arial"/>
              </a:defRPr>
            </a:pPr>
            <a:r>
              <a:t>Ejercicio 6. Cálculo del Valor Monetario Esperado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07592"/>
            <a:ext cx="11109960" cy="6858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500" b="0" i="0">
                <a:solidFill>
                  <a:srgbClr val="141414"/>
                </a:solidFill>
                <a:latin typeface="Arial"/>
              </a:defRPr>
            </a:pPr>
            <a:r>
              <a:t>Un riesgo tiene 40 % de probabilidad de ocurrir y, si sucede, generaría un costo adicional de $2,500 MXN.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2941554"/>
              </p:ext>
            </p:extLst>
          </p:nvPr>
        </p:nvGraphicFramePr>
        <p:xfrm>
          <a:off x="502920" y="2121408"/>
          <a:ext cx="11155679" cy="1874519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980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4903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Dato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Valor</a:t>
                      </a:r>
                    </a:p>
                  </a:txBody>
                  <a:tcPr marL="54864" marR="36576" marT="27432" marB="2743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03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Probabilidad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40 % = 0.40</a:t>
                      </a:r>
                    </a:p>
                  </a:txBody>
                  <a:tcPr marL="54864" marR="36576" marT="27432" marB="2743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903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Impacto monetario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$2,500 MXN</a:t>
                      </a:r>
                    </a:p>
                  </a:txBody>
                  <a:tcPr marL="54864" marR="36576" marT="27432" marB="2743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903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Fórmula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VME = Probabilidad × Impacto</a:t>
                      </a:r>
                    </a:p>
                  </a:txBody>
                  <a:tcPr marL="54864" marR="36576" marT="27432" marB="2743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907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Operación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 dirty="0"/>
                        <a:t>0.40 × 2,500 = 1,000</a:t>
                      </a:r>
                    </a:p>
                  </a:txBody>
                  <a:tcPr marL="54864" marR="36576" marT="27432" marB="27432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535423"/>
            <a:ext cx="11109960" cy="486287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400" b="0" i="0">
                <a:solidFill>
                  <a:srgbClr val="141414"/>
                </a:solidFill>
                <a:latin typeface="Arial"/>
              </a:defRPr>
            </a:pPr>
            <a:r>
              <a:rPr lang="es-MX" sz="1400" b="1" dirty="0">
                <a:solidFill>
                  <a:srgbClr val="141414"/>
                </a:solidFill>
                <a:latin typeface="Arial"/>
              </a:rPr>
              <a:t>PROCEDIMIENTO</a:t>
            </a:r>
            <a:endParaRPr lang="es-MX" sz="1400" dirty="0">
              <a:solidFill>
                <a:srgbClr val="141414"/>
              </a:solidFill>
              <a:latin typeface="Arial"/>
            </a:endParaRPr>
          </a:p>
          <a:p>
            <a:pPr algn="l">
              <a:defRPr sz="1400" b="0" i="0">
                <a:solidFill>
                  <a:srgbClr val="141414"/>
                </a:solidFill>
                <a:latin typeface="Arial"/>
              </a:defRPr>
            </a:pPr>
            <a:r>
              <a:rPr dirty="0"/>
              <a:t>Se </a:t>
            </a:r>
            <a:r>
              <a:rPr dirty="0" err="1"/>
              <a:t>convierte</a:t>
            </a:r>
            <a:r>
              <a:rPr dirty="0"/>
              <a:t> la </a:t>
            </a:r>
            <a:r>
              <a:rPr dirty="0" err="1"/>
              <a:t>probabilidad</a:t>
            </a:r>
            <a:r>
              <a:rPr dirty="0"/>
              <a:t> </a:t>
            </a:r>
            <a:r>
              <a:rPr dirty="0" err="1"/>
              <a:t>porcentual</a:t>
            </a:r>
            <a:r>
              <a:rPr dirty="0"/>
              <a:t> a decimal y se </a:t>
            </a:r>
            <a:r>
              <a:rPr dirty="0" err="1"/>
              <a:t>multiplica</a:t>
            </a:r>
            <a:r>
              <a:rPr dirty="0"/>
              <a:t> por el </a:t>
            </a:r>
            <a:r>
              <a:rPr dirty="0" err="1"/>
              <a:t>costo</a:t>
            </a:r>
            <a:r>
              <a:rPr dirty="0"/>
              <a:t> </a:t>
            </a:r>
            <a:r>
              <a:rPr dirty="0" err="1"/>
              <a:t>estimado</a:t>
            </a:r>
            <a:r>
              <a:rPr dirty="0"/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541263"/>
            <a:ext cx="11109960" cy="486287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400" b="0" i="0">
                <a:solidFill>
                  <a:srgbClr val="141414"/>
                </a:solidFill>
                <a:latin typeface="Arial"/>
              </a:defRPr>
            </a:pPr>
            <a:r>
              <a:rPr lang="es-MX" sz="1400" b="1" dirty="0">
                <a:solidFill>
                  <a:srgbClr val="141414"/>
                </a:solidFill>
                <a:latin typeface="Arial"/>
              </a:rPr>
              <a:t>Resultado e interpretación</a:t>
            </a:r>
            <a:endParaRPr lang="es-MX" sz="1400" dirty="0">
              <a:solidFill>
                <a:srgbClr val="141414"/>
              </a:solidFill>
              <a:latin typeface="Arial"/>
            </a:endParaRPr>
          </a:p>
          <a:p>
            <a:pPr algn="l">
              <a:defRPr sz="1400" b="0" i="0">
                <a:solidFill>
                  <a:srgbClr val="141414"/>
                </a:solidFill>
                <a:latin typeface="Arial"/>
              </a:defRPr>
            </a:pPr>
            <a:r>
              <a:rPr dirty="0"/>
              <a:t>El VME es de $1,000 MXN. Ese </a:t>
            </a:r>
            <a:r>
              <a:rPr dirty="0" err="1"/>
              <a:t>monto</a:t>
            </a:r>
            <a:r>
              <a:rPr dirty="0"/>
              <a:t> </a:t>
            </a:r>
            <a:r>
              <a:rPr dirty="0" err="1"/>
              <a:t>representa</a:t>
            </a:r>
            <a:r>
              <a:rPr dirty="0"/>
              <a:t> el valor </a:t>
            </a:r>
            <a:r>
              <a:rPr dirty="0" err="1"/>
              <a:t>monetario</a:t>
            </a:r>
            <a:r>
              <a:rPr dirty="0"/>
              <a:t> </a:t>
            </a:r>
            <a:r>
              <a:rPr dirty="0" err="1"/>
              <a:t>esperado</a:t>
            </a:r>
            <a:r>
              <a:rPr dirty="0"/>
              <a:t> del </a:t>
            </a:r>
            <a:r>
              <a:rPr dirty="0" err="1"/>
              <a:t>riesgo</a:t>
            </a:r>
            <a:r>
              <a:rPr dirty="0"/>
              <a:t> para fines de análisis.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11112"/>
            <a:ext cx="12191695" cy="18288"/>
          </a:xfrm>
          <a:prstGeom prst="rect">
            <a:avLst/>
          </a:prstGeom>
          <a:solidFill>
            <a:srgbClr val="B4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384280" y="6473952"/>
            <a:ext cx="36576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>
              <a:defRPr sz="800" b="0" i="0">
                <a:solidFill>
                  <a:srgbClr val="5A5A5A"/>
                </a:solidFill>
                <a:latin typeface="Arial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11155680" cy="51706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3000" b="1" i="0">
                <a:solidFill>
                  <a:srgbClr val="4472C4"/>
                </a:solidFill>
                <a:latin typeface="Arial"/>
              </a:defRPr>
            </a:pPr>
            <a:r>
              <a:rPr dirty="0" err="1"/>
              <a:t>Comparación</a:t>
            </a:r>
            <a:r>
              <a:rPr dirty="0"/>
              <a:t> de </a:t>
            </a:r>
            <a:r>
              <a:rPr dirty="0" err="1"/>
              <a:t>alternativas</a:t>
            </a:r>
            <a:r>
              <a:rPr dirty="0"/>
              <a:t> </a:t>
            </a:r>
            <a:r>
              <a:rPr dirty="0" err="1"/>
              <a:t>mediante</a:t>
            </a:r>
            <a:r>
              <a:rPr dirty="0"/>
              <a:t> VME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07592"/>
            <a:ext cx="11109960" cy="6858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500" b="0" i="0">
                <a:solidFill>
                  <a:srgbClr val="141414"/>
                </a:solidFill>
                <a:latin typeface="Arial"/>
              </a:defRPr>
            </a:pPr>
            <a:r>
              <a:t>El equipo debe decidir si invierte en una revisión preventiva. Sin revisión, el riesgo tiene 50 % de probabilidad y costo de $4,000. Con revisión, el riesgo baja a 20 %, pero la revisión cuesta $500.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3553727"/>
              </p:ext>
            </p:extLst>
          </p:nvPr>
        </p:nvGraphicFramePr>
        <p:xfrm>
          <a:off x="502920" y="2121408"/>
          <a:ext cx="11155680" cy="13716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dirty="0">
                          <a:solidFill>
                            <a:schemeClr val="tx1"/>
                          </a:solidFill>
                        </a:rPr>
                        <a:t>Alternativa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Cálculo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VME / costo esperado</a:t>
                      </a:r>
                    </a:p>
                  </a:txBody>
                  <a:tcPr marL="54864" marR="36576" marT="27432" marB="2743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Sin revisión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0.50 × $4,000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$2,000</a:t>
                      </a:r>
                    </a:p>
                  </a:txBody>
                  <a:tcPr marL="54864" marR="36576" marT="27432" marB="2743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 dirty="0">
                          <a:solidFill>
                            <a:schemeClr val="tx1"/>
                          </a:solidFill>
                        </a:rPr>
                        <a:t>Con </a:t>
                      </a:r>
                      <a:r>
                        <a:rPr dirty="0" err="1">
                          <a:solidFill>
                            <a:schemeClr val="tx1"/>
                          </a:solidFill>
                        </a:rPr>
                        <a:t>revisión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(0.20 × $4,000) + $500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 dirty="0">
                          <a:solidFill>
                            <a:schemeClr val="tx1"/>
                          </a:solidFill>
                        </a:rPr>
                        <a:t>$1,300</a:t>
                      </a:r>
                    </a:p>
                  </a:txBody>
                  <a:tcPr marL="54864" marR="36576" marT="27432" marB="2743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032504"/>
            <a:ext cx="11109960" cy="486287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400" b="0" i="0">
                <a:solidFill>
                  <a:srgbClr val="141414"/>
                </a:solidFill>
                <a:latin typeface="Arial"/>
              </a:defRPr>
            </a:pPr>
            <a:r>
              <a:rPr lang="es-MX" sz="1400" b="1" dirty="0">
                <a:solidFill>
                  <a:srgbClr val="141414"/>
                </a:solidFill>
                <a:latin typeface="Arial"/>
              </a:rPr>
              <a:t>PROCEDIMIENTO</a:t>
            </a:r>
            <a:endParaRPr lang="es-MX" sz="1400" dirty="0">
              <a:solidFill>
                <a:srgbClr val="141414"/>
              </a:solidFill>
              <a:latin typeface="Arial"/>
            </a:endParaRPr>
          </a:p>
          <a:p>
            <a:pPr algn="l">
              <a:defRPr sz="1400" b="0" i="0">
                <a:solidFill>
                  <a:srgbClr val="141414"/>
                </a:solidFill>
                <a:latin typeface="Arial"/>
              </a:defRPr>
            </a:pPr>
            <a:r>
              <a:rPr dirty="0"/>
              <a:t>Se </a:t>
            </a:r>
            <a:r>
              <a:rPr dirty="0" err="1"/>
              <a:t>calcula</a:t>
            </a:r>
            <a:r>
              <a:rPr dirty="0"/>
              <a:t> el </a:t>
            </a:r>
            <a:r>
              <a:rPr dirty="0" err="1"/>
              <a:t>costo</a:t>
            </a:r>
            <a:r>
              <a:rPr dirty="0"/>
              <a:t> </a:t>
            </a:r>
            <a:r>
              <a:rPr dirty="0" err="1"/>
              <a:t>esperado</a:t>
            </a:r>
            <a:r>
              <a:rPr dirty="0"/>
              <a:t> de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alternativa</a:t>
            </a:r>
            <a:r>
              <a:rPr dirty="0"/>
              <a:t> y se </a:t>
            </a:r>
            <a:r>
              <a:rPr dirty="0" err="1"/>
              <a:t>elige</a:t>
            </a:r>
            <a:r>
              <a:rPr dirty="0"/>
              <a:t> la que </a:t>
            </a:r>
            <a:r>
              <a:rPr dirty="0" err="1"/>
              <a:t>representa</a:t>
            </a:r>
            <a:r>
              <a:rPr dirty="0"/>
              <a:t> </a:t>
            </a:r>
            <a:r>
              <a:rPr dirty="0" err="1"/>
              <a:t>menor</a:t>
            </a:r>
            <a:r>
              <a:rPr dirty="0"/>
              <a:t> </a:t>
            </a:r>
            <a:r>
              <a:rPr dirty="0" err="1"/>
              <a:t>exposición</a:t>
            </a:r>
            <a:r>
              <a:rPr dirty="0"/>
              <a:t> </a:t>
            </a:r>
            <a:r>
              <a:rPr dirty="0" err="1"/>
              <a:t>económica</a:t>
            </a:r>
            <a:r>
              <a:rPr dirty="0"/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038344"/>
            <a:ext cx="11109960" cy="486287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400" b="0" i="0">
                <a:solidFill>
                  <a:srgbClr val="141414"/>
                </a:solidFill>
                <a:latin typeface="Arial"/>
              </a:defRPr>
            </a:pPr>
            <a:r>
              <a:rPr lang="es-MX" sz="1400" b="1" dirty="0">
                <a:solidFill>
                  <a:srgbClr val="141414"/>
                </a:solidFill>
                <a:latin typeface="Arial"/>
              </a:rPr>
              <a:t>Resultado e interpretación</a:t>
            </a:r>
            <a:endParaRPr lang="es-MX" sz="1400" dirty="0">
              <a:solidFill>
                <a:srgbClr val="141414"/>
              </a:solidFill>
              <a:latin typeface="Arial"/>
            </a:endParaRPr>
          </a:p>
          <a:p>
            <a:pPr algn="l">
              <a:defRPr sz="1400" b="0" i="0">
                <a:solidFill>
                  <a:srgbClr val="141414"/>
                </a:solidFill>
                <a:latin typeface="Arial"/>
              </a:defRPr>
            </a:pPr>
            <a:r>
              <a:rPr dirty="0" err="1"/>
              <a:t>Conviene</a:t>
            </a:r>
            <a:r>
              <a:rPr dirty="0"/>
              <a:t> </a:t>
            </a:r>
            <a:r>
              <a:rPr dirty="0" err="1"/>
              <a:t>realizar</a:t>
            </a:r>
            <a:r>
              <a:rPr dirty="0"/>
              <a:t> la </a:t>
            </a:r>
            <a:r>
              <a:rPr dirty="0" err="1"/>
              <a:t>revisión</a:t>
            </a:r>
            <a:r>
              <a:rPr dirty="0"/>
              <a:t> </a:t>
            </a:r>
            <a:r>
              <a:rPr dirty="0" err="1"/>
              <a:t>preventiva</a:t>
            </a:r>
            <a:r>
              <a:rPr dirty="0"/>
              <a:t>, </a:t>
            </a:r>
            <a:r>
              <a:rPr dirty="0" err="1"/>
              <a:t>porque</a:t>
            </a:r>
            <a:r>
              <a:rPr dirty="0"/>
              <a:t> reduce el </a:t>
            </a:r>
            <a:r>
              <a:rPr dirty="0" err="1"/>
              <a:t>costo</a:t>
            </a:r>
            <a:r>
              <a:rPr dirty="0"/>
              <a:t> </a:t>
            </a:r>
            <a:r>
              <a:rPr dirty="0" err="1"/>
              <a:t>esperado</a:t>
            </a:r>
            <a:r>
              <a:rPr dirty="0"/>
              <a:t> de $2,000 a $1,300 MXN.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11112"/>
            <a:ext cx="12191695" cy="18288"/>
          </a:xfrm>
          <a:prstGeom prst="rect">
            <a:avLst/>
          </a:prstGeom>
          <a:solidFill>
            <a:srgbClr val="B4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384280" y="6473952"/>
            <a:ext cx="36576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>
              <a:defRPr sz="800" b="0" i="0">
                <a:solidFill>
                  <a:srgbClr val="5A5A5A"/>
                </a:solidFill>
                <a:latin typeface="Arial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11155680" cy="51706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3000" b="1" i="0">
                <a:solidFill>
                  <a:srgbClr val="4472C4"/>
                </a:solidFill>
                <a:latin typeface="Arial"/>
              </a:defRPr>
            </a:pPr>
            <a:r>
              <a:rPr dirty="0" err="1"/>
              <a:t>Selección</a:t>
            </a:r>
            <a:r>
              <a:rPr dirty="0"/>
              <a:t> de </a:t>
            </a:r>
            <a:r>
              <a:rPr dirty="0" err="1"/>
              <a:t>estrategia</a:t>
            </a:r>
            <a:r>
              <a:rPr dirty="0"/>
              <a:t> de </a:t>
            </a:r>
            <a:r>
              <a:rPr dirty="0" err="1"/>
              <a:t>respuesta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02920" y="1307592"/>
            <a:ext cx="11109960" cy="6858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500" b="0" i="0">
                <a:solidFill>
                  <a:srgbClr val="141414"/>
                </a:solidFill>
                <a:latin typeface="Arial"/>
              </a:defRPr>
            </a:pPr>
            <a:r>
              <a:t>Relaciona cada riesgo con una estrategia de respuesta: evitar, mitigar, transferir/compartir o aceptar.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369791"/>
              </p:ext>
            </p:extLst>
          </p:nvPr>
        </p:nvGraphicFramePr>
        <p:xfrm>
          <a:off x="502920" y="2121408"/>
          <a:ext cx="11155680" cy="18288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Riesgo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Estrategia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Justificación</a:t>
                      </a:r>
                    </a:p>
                  </a:txBody>
                  <a:tcPr marL="54864" marR="36576" marT="27432" marB="2743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Configuración incorrecta del modelo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Mitigar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Se reduce con pruebas parciales y validación.</a:t>
                      </a:r>
                    </a:p>
                  </a:txBody>
                  <a:tcPr marL="54864" marR="36576" marT="27432" marB="2743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Uso de una herramienta no compatible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Evitar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Se cambia la herramienta antes de avanzar.</a:t>
                      </a:r>
                    </a:p>
                  </a:txBody>
                  <a:tcPr marL="54864" marR="36576" marT="27432" marB="2743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Falta de conocimiento técnico específico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Compartir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Se solicita apoyo o revisión especializada.</a:t>
                      </a:r>
                    </a:p>
                  </a:txBody>
                  <a:tcPr marL="54864" marR="36576" marT="27432" marB="2743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Mejora menor sin efecto en fecha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</a:rPr>
                        <a:t>Aceptar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 dirty="0">
                          <a:solidFill>
                            <a:schemeClr val="tx1"/>
                          </a:solidFill>
                        </a:rPr>
                        <a:t>Se </a:t>
                      </a:r>
                      <a:r>
                        <a:rPr dirty="0" err="1">
                          <a:solidFill>
                            <a:schemeClr val="tx1"/>
                          </a:solidFill>
                        </a:rPr>
                        <a:t>registra</a:t>
                      </a:r>
                      <a:r>
                        <a:rPr dirty="0">
                          <a:solidFill>
                            <a:schemeClr val="tx1"/>
                          </a:solidFill>
                        </a:rPr>
                        <a:t> y se </a:t>
                      </a:r>
                      <a:r>
                        <a:rPr dirty="0" err="1">
                          <a:solidFill>
                            <a:schemeClr val="tx1"/>
                          </a:solidFill>
                        </a:rPr>
                        <a:t>vigila</a:t>
                      </a:r>
                      <a:r>
                        <a:rPr dirty="0">
                          <a:solidFill>
                            <a:schemeClr val="tx1"/>
                          </a:solidFill>
                        </a:rPr>
                        <a:t> sin </a:t>
                      </a:r>
                      <a:r>
                        <a:rPr dirty="0" err="1">
                          <a:solidFill>
                            <a:schemeClr val="tx1"/>
                          </a:solidFill>
                        </a:rPr>
                        <a:t>acción</a:t>
                      </a:r>
                      <a:r>
                        <a:rPr dirty="0">
                          <a:solidFill>
                            <a:schemeClr val="tx1"/>
                          </a:solidFill>
                        </a:rPr>
                        <a:t> mayor.</a:t>
                      </a:r>
                    </a:p>
                  </a:txBody>
                  <a:tcPr marL="54864" marR="36576" marT="27432" marB="27432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489704"/>
            <a:ext cx="11109960" cy="486287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400" b="0" i="0">
                <a:solidFill>
                  <a:srgbClr val="141414"/>
                </a:solidFill>
                <a:latin typeface="Arial"/>
              </a:defRPr>
            </a:pPr>
            <a:r>
              <a:rPr lang="es-MX" sz="1400" b="1" dirty="0">
                <a:solidFill>
                  <a:srgbClr val="141414"/>
                </a:solidFill>
                <a:latin typeface="Arial"/>
              </a:rPr>
              <a:t>PROCEDIMIENTO</a:t>
            </a:r>
            <a:endParaRPr lang="es-MX" sz="1400" dirty="0">
              <a:solidFill>
                <a:srgbClr val="141414"/>
              </a:solidFill>
              <a:latin typeface="Arial"/>
            </a:endParaRPr>
          </a:p>
          <a:p>
            <a:pPr algn="l">
              <a:defRPr sz="1400" b="0" i="0">
                <a:solidFill>
                  <a:srgbClr val="141414"/>
                </a:solidFill>
                <a:latin typeface="Arial"/>
              </a:defRPr>
            </a:pPr>
            <a:r>
              <a:rPr dirty="0"/>
              <a:t>La </a:t>
            </a:r>
            <a:r>
              <a:rPr dirty="0" err="1"/>
              <a:t>estrategia</a:t>
            </a:r>
            <a:r>
              <a:rPr dirty="0"/>
              <a:t> se </a:t>
            </a:r>
            <a:r>
              <a:rPr dirty="0" err="1"/>
              <a:t>selecciona</a:t>
            </a:r>
            <a:r>
              <a:rPr dirty="0"/>
              <a:t> </a:t>
            </a:r>
            <a:r>
              <a:rPr dirty="0" err="1"/>
              <a:t>según</a:t>
            </a:r>
            <a:r>
              <a:rPr dirty="0"/>
              <a:t> la causa del </a:t>
            </a:r>
            <a:r>
              <a:rPr dirty="0" err="1"/>
              <a:t>riesgo</a:t>
            </a:r>
            <a:r>
              <a:rPr dirty="0"/>
              <a:t> y el </a:t>
            </a:r>
            <a:r>
              <a:rPr dirty="0" err="1"/>
              <a:t>nivel</a:t>
            </a:r>
            <a:r>
              <a:rPr dirty="0"/>
              <a:t> de control que </a:t>
            </a:r>
            <a:r>
              <a:rPr dirty="0" err="1"/>
              <a:t>tiene</a:t>
            </a:r>
            <a:r>
              <a:rPr dirty="0"/>
              <a:t> el </a:t>
            </a:r>
            <a:r>
              <a:rPr dirty="0" err="1"/>
              <a:t>equipo</a:t>
            </a:r>
            <a:r>
              <a:rPr dirty="0"/>
              <a:t> </a:t>
            </a:r>
            <a:r>
              <a:rPr dirty="0" err="1"/>
              <a:t>sobre</a:t>
            </a:r>
            <a:r>
              <a:rPr dirty="0"/>
              <a:t> </a:t>
            </a:r>
            <a:r>
              <a:rPr dirty="0" err="1"/>
              <a:t>él</a:t>
            </a:r>
            <a:r>
              <a:rPr dirty="0"/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495544"/>
            <a:ext cx="11109960" cy="486287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400" b="0" i="0">
                <a:solidFill>
                  <a:srgbClr val="141414"/>
                </a:solidFill>
                <a:latin typeface="Arial"/>
              </a:defRPr>
            </a:pPr>
            <a:r>
              <a:rPr lang="es-MX" sz="1400" b="1" dirty="0">
                <a:solidFill>
                  <a:srgbClr val="141414"/>
                </a:solidFill>
                <a:latin typeface="Arial"/>
              </a:rPr>
              <a:t>Resultado e interpretación</a:t>
            </a:r>
            <a:endParaRPr lang="es-MX" sz="1400" dirty="0">
              <a:solidFill>
                <a:srgbClr val="141414"/>
              </a:solidFill>
              <a:latin typeface="Arial"/>
            </a:endParaRPr>
          </a:p>
          <a:p>
            <a:pPr algn="l">
              <a:defRPr sz="1400" b="0" i="0">
                <a:solidFill>
                  <a:srgbClr val="141414"/>
                </a:solidFill>
                <a:latin typeface="Arial"/>
              </a:defRPr>
            </a:pPr>
            <a:r>
              <a:rPr dirty="0"/>
              <a:t>La </a:t>
            </a:r>
            <a:r>
              <a:rPr dirty="0" err="1"/>
              <a:t>mitigación</a:t>
            </a:r>
            <a:r>
              <a:rPr dirty="0"/>
              <a:t> es la </a:t>
            </a:r>
            <a:r>
              <a:rPr dirty="0" err="1"/>
              <a:t>estrategia</a:t>
            </a:r>
            <a:r>
              <a:rPr dirty="0"/>
              <a:t> </a:t>
            </a:r>
            <a:r>
              <a:rPr dirty="0" err="1"/>
              <a:t>más</a:t>
            </a:r>
            <a:r>
              <a:rPr dirty="0"/>
              <a:t> </a:t>
            </a:r>
            <a:r>
              <a:rPr dirty="0" err="1"/>
              <a:t>usada</a:t>
            </a:r>
            <a:r>
              <a:rPr dirty="0"/>
              <a:t> </a:t>
            </a:r>
            <a:r>
              <a:rPr dirty="0" err="1"/>
              <a:t>cuando</a:t>
            </a:r>
            <a:r>
              <a:rPr dirty="0"/>
              <a:t> el </a:t>
            </a:r>
            <a:r>
              <a:rPr dirty="0" err="1"/>
              <a:t>riesgo</a:t>
            </a:r>
            <a:r>
              <a:rPr dirty="0"/>
              <a:t>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reducirse</a:t>
            </a:r>
            <a:r>
              <a:rPr dirty="0"/>
              <a:t> con </a:t>
            </a:r>
            <a:r>
              <a:rPr dirty="0" err="1"/>
              <a:t>pruebas</a:t>
            </a:r>
            <a:r>
              <a:rPr dirty="0"/>
              <a:t>, </a:t>
            </a:r>
            <a:r>
              <a:rPr dirty="0" err="1"/>
              <a:t>revisión</a:t>
            </a:r>
            <a:r>
              <a:rPr dirty="0"/>
              <a:t> y </a:t>
            </a:r>
            <a:r>
              <a:rPr dirty="0" err="1"/>
              <a:t>evidencia</a:t>
            </a:r>
            <a:r>
              <a:rPr dirty="0"/>
              <a:t> </a:t>
            </a:r>
            <a:r>
              <a:rPr dirty="0" err="1"/>
              <a:t>temprana</a:t>
            </a:r>
            <a:r>
              <a:rPr dirty="0"/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11112"/>
            <a:ext cx="12191695" cy="18288"/>
          </a:xfrm>
          <a:prstGeom prst="rect">
            <a:avLst/>
          </a:prstGeom>
          <a:solidFill>
            <a:srgbClr val="B4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384280" y="6473952"/>
            <a:ext cx="36576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>
              <a:defRPr sz="800" b="0" i="0">
                <a:solidFill>
                  <a:srgbClr val="5A5A5A"/>
                </a:solidFill>
                <a:latin typeface="Arial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11155680" cy="51706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3000" b="1" i="0">
                <a:solidFill>
                  <a:srgbClr val="4472C4"/>
                </a:solidFill>
                <a:latin typeface="Arial"/>
              </a:defRPr>
            </a:pPr>
            <a:r>
              <a:rPr dirty="0"/>
              <a:t>Riesgo residual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07592"/>
            <a:ext cx="11109960" cy="6858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500" b="0" i="0">
                <a:solidFill>
                  <a:srgbClr val="141414"/>
                </a:solidFill>
                <a:latin typeface="Arial"/>
              </a:defRPr>
            </a:pPr>
            <a:r>
              <a:t>Un riesgo inicial tiene P=4 e I=4. Después de aplicar pruebas preventivas, la probabilidad baja a 2 y el impacto queda en 4.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4249224"/>
              </p:ext>
            </p:extLst>
          </p:nvPr>
        </p:nvGraphicFramePr>
        <p:xfrm>
          <a:off x="502920" y="2121408"/>
          <a:ext cx="11155680" cy="14630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Momento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P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I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Operación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Criticidad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Nivel</a:t>
                      </a:r>
                    </a:p>
                  </a:txBody>
                  <a:tcPr marL="54864" marR="36576" marT="27432" marB="2743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Antes de mitigar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4 × 4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16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Alto</a:t>
                      </a:r>
                    </a:p>
                  </a:txBody>
                  <a:tcPr marL="54864" marR="36576" marT="27432" marB="2743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Después de mitigar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2 × 4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 dirty="0">
                          <a:solidFill>
                            <a:schemeClr val="tx1"/>
                          </a:solidFill>
                        </a:rPr>
                        <a:t>Medio</a:t>
                      </a:r>
                    </a:p>
                  </a:txBody>
                  <a:tcPr marL="54864" marR="36576" marT="27432" marB="2743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123944"/>
            <a:ext cx="11109960" cy="486287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400" b="0" i="0">
                <a:solidFill>
                  <a:srgbClr val="141414"/>
                </a:solidFill>
                <a:latin typeface="Arial"/>
              </a:defRPr>
            </a:pPr>
            <a:r>
              <a:rPr lang="es-MX" sz="1400" b="1" dirty="0">
                <a:solidFill>
                  <a:srgbClr val="141414"/>
                </a:solidFill>
                <a:latin typeface="Arial"/>
              </a:rPr>
              <a:t>PROCEDIMIENTO</a:t>
            </a:r>
            <a:endParaRPr lang="es-MX" sz="1400" dirty="0">
              <a:solidFill>
                <a:srgbClr val="141414"/>
              </a:solidFill>
              <a:latin typeface="Arial"/>
            </a:endParaRPr>
          </a:p>
          <a:p>
            <a:pPr algn="l">
              <a:defRPr sz="1400" b="0" i="0">
                <a:solidFill>
                  <a:srgbClr val="141414"/>
                </a:solidFill>
                <a:latin typeface="Arial"/>
              </a:defRPr>
            </a:pPr>
            <a:r>
              <a:rPr dirty="0"/>
              <a:t>Se </a:t>
            </a:r>
            <a:r>
              <a:rPr dirty="0" err="1"/>
              <a:t>calcula</a:t>
            </a:r>
            <a:r>
              <a:rPr dirty="0"/>
              <a:t> la </a:t>
            </a:r>
            <a:r>
              <a:rPr dirty="0" err="1"/>
              <a:t>criticidad</a:t>
            </a:r>
            <a:r>
              <a:rPr dirty="0"/>
              <a:t> antes y </a:t>
            </a:r>
            <a:r>
              <a:rPr dirty="0" err="1"/>
              <a:t>después</a:t>
            </a:r>
            <a:r>
              <a:rPr dirty="0"/>
              <a:t> de </a:t>
            </a:r>
            <a:r>
              <a:rPr dirty="0" err="1"/>
              <a:t>aplicar</a:t>
            </a:r>
            <a:r>
              <a:rPr dirty="0"/>
              <a:t> la </a:t>
            </a:r>
            <a:r>
              <a:rPr dirty="0" err="1"/>
              <a:t>acción</a:t>
            </a:r>
            <a:r>
              <a:rPr dirty="0"/>
              <a:t> </a:t>
            </a:r>
            <a:r>
              <a:rPr dirty="0" err="1"/>
              <a:t>preventiva</a:t>
            </a:r>
            <a:r>
              <a:rPr dirty="0"/>
              <a:t> para </a:t>
            </a:r>
            <a:r>
              <a:rPr dirty="0" err="1"/>
              <a:t>identificar</a:t>
            </a:r>
            <a:r>
              <a:rPr dirty="0"/>
              <a:t> el </a:t>
            </a:r>
            <a:r>
              <a:rPr dirty="0" err="1"/>
              <a:t>riesgo</a:t>
            </a:r>
            <a:r>
              <a:rPr dirty="0"/>
              <a:t> residual.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29783"/>
            <a:ext cx="11109960" cy="486287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400" b="0" i="0">
                <a:solidFill>
                  <a:srgbClr val="141414"/>
                </a:solidFill>
                <a:latin typeface="Arial"/>
              </a:defRPr>
            </a:pPr>
            <a:r>
              <a:rPr lang="es-MX" sz="1400" b="1" dirty="0">
                <a:solidFill>
                  <a:srgbClr val="141414"/>
                </a:solidFill>
                <a:latin typeface="Arial"/>
              </a:rPr>
              <a:t>Resultado e interpretación</a:t>
            </a:r>
            <a:endParaRPr lang="es-MX" sz="1400" dirty="0">
              <a:solidFill>
                <a:srgbClr val="141414"/>
              </a:solidFill>
              <a:latin typeface="Arial"/>
            </a:endParaRPr>
          </a:p>
          <a:p>
            <a:pPr algn="l">
              <a:defRPr sz="1400" b="0" i="0">
                <a:solidFill>
                  <a:srgbClr val="141414"/>
                </a:solidFill>
                <a:latin typeface="Arial"/>
              </a:defRPr>
            </a:pPr>
            <a:r>
              <a:rPr dirty="0"/>
              <a:t>La </a:t>
            </a:r>
            <a:r>
              <a:rPr dirty="0" err="1"/>
              <a:t>mitigación</a:t>
            </a:r>
            <a:r>
              <a:rPr dirty="0"/>
              <a:t> </a:t>
            </a:r>
            <a:r>
              <a:rPr dirty="0" err="1"/>
              <a:t>redujo</a:t>
            </a:r>
            <a:r>
              <a:rPr dirty="0"/>
              <a:t> la </a:t>
            </a:r>
            <a:r>
              <a:rPr dirty="0" err="1"/>
              <a:t>criticidad</a:t>
            </a:r>
            <a:r>
              <a:rPr dirty="0"/>
              <a:t> de 16 a 8. El </a:t>
            </a:r>
            <a:r>
              <a:rPr dirty="0" err="1"/>
              <a:t>riesgo</a:t>
            </a:r>
            <a:r>
              <a:rPr dirty="0"/>
              <a:t> no </a:t>
            </a:r>
            <a:r>
              <a:rPr dirty="0" err="1"/>
              <a:t>desaparece</a:t>
            </a:r>
            <a:r>
              <a:rPr dirty="0"/>
              <a:t>, </a:t>
            </a:r>
            <a:r>
              <a:rPr dirty="0" err="1"/>
              <a:t>pero</a:t>
            </a:r>
            <a:r>
              <a:rPr dirty="0"/>
              <a:t> baja de alto a medio.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11112"/>
            <a:ext cx="12191695" cy="18288"/>
          </a:xfrm>
          <a:prstGeom prst="rect">
            <a:avLst/>
          </a:prstGeom>
          <a:solidFill>
            <a:srgbClr val="B4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384280" y="6473952"/>
            <a:ext cx="36576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>
              <a:defRPr sz="800" b="0" i="0">
                <a:solidFill>
                  <a:srgbClr val="5A5A5A"/>
                </a:solidFill>
                <a:latin typeface="Arial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11155680" cy="51706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3000" b="1" i="0">
                <a:solidFill>
                  <a:srgbClr val="4472C4"/>
                </a:solidFill>
                <a:latin typeface="Arial"/>
              </a:defRPr>
            </a:pPr>
            <a:r>
              <a:rPr dirty="0"/>
              <a:t>Caso </a:t>
            </a:r>
            <a:r>
              <a:rPr dirty="0" err="1"/>
              <a:t>integrador</a:t>
            </a:r>
            <a:r>
              <a:rPr dirty="0"/>
              <a:t> de </a:t>
            </a:r>
            <a:r>
              <a:rPr dirty="0" err="1"/>
              <a:t>gestión</a:t>
            </a:r>
            <a:r>
              <a:rPr dirty="0"/>
              <a:t> de </a:t>
            </a:r>
            <a:r>
              <a:rPr dirty="0" err="1"/>
              <a:t>riesgos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02920" y="1307592"/>
            <a:ext cx="11109960" cy="6858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500" b="0" i="0">
                <a:solidFill>
                  <a:srgbClr val="141414"/>
                </a:solidFill>
                <a:latin typeface="Arial"/>
              </a:defRPr>
            </a:pPr>
            <a:r>
              <a:t>Un reporte integra tres proyectos: taller mecánico, planta embotelladora y taller de electrónica. Se identifican riesgos técnicos, retrasos posibles y costos directos no cuantificados.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8659768"/>
              </p:ext>
            </p:extLst>
          </p:nvPr>
        </p:nvGraphicFramePr>
        <p:xfrm>
          <a:off x="502920" y="2121408"/>
          <a:ext cx="11155680" cy="16002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Proyecto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dirty="0">
                          <a:solidFill>
                            <a:schemeClr val="tx1"/>
                          </a:solidFill>
                        </a:rPr>
                        <a:t>Riesgo principal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P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I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Nivel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Retraso</a:t>
                      </a:r>
                    </a:p>
                  </a:txBody>
                  <a:tcPr marL="54864" marR="36576" marT="27432" marB="2743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Brandon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Mejoras al programa final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Bajo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Sin retraso reportado</a:t>
                      </a:r>
                    </a:p>
                  </a:txBody>
                  <a:tcPr marL="54864" marR="36576" marT="27432" marB="2743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Josefina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Configuración y validación de simulación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Alto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2 a 4 días</a:t>
                      </a:r>
                    </a:p>
                  </a:txBody>
                  <a:tcPr marL="54864" marR="36576" marT="27432" marB="2743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Roberto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Concurrencia y colas en JavaFX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Alto</a:t>
                      </a:r>
                    </a:p>
                  </a:txBody>
                  <a:tcPr marL="54864" marR="36576" marT="27432" marB="27432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 dirty="0">
                          <a:solidFill>
                            <a:schemeClr val="tx1"/>
                          </a:solidFill>
                        </a:rPr>
                        <a:t>1 a 2 días</a:t>
                      </a:r>
                    </a:p>
                  </a:txBody>
                  <a:tcPr marL="54864" marR="36576" marT="27432" marB="2743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261104"/>
            <a:ext cx="11109960" cy="486287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400" b="0" i="0">
                <a:solidFill>
                  <a:srgbClr val="141414"/>
                </a:solidFill>
                <a:latin typeface="Arial"/>
              </a:defRPr>
            </a:pPr>
            <a:r>
              <a:rPr lang="es-MX" sz="1400" b="1" dirty="0">
                <a:solidFill>
                  <a:srgbClr val="141414"/>
                </a:solidFill>
                <a:latin typeface="Arial"/>
              </a:rPr>
              <a:t>PROCEDIMIENTO</a:t>
            </a:r>
            <a:endParaRPr lang="es-MX" sz="1400" dirty="0">
              <a:solidFill>
                <a:srgbClr val="141414"/>
              </a:solidFill>
              <a:latin typeface="Arial"/>
            </a:endParaRPr>
          </a:p>
          <a:p>
            <a:pPr algn="l">
              <a:defRPr sz="1400" b="0" i="0">
                <a:solidFill>
                  <a:srgbClr val="141414"/>
                </a:solidFill>
                <a:latin typeface="Arial"/>
              </a:defRPr>
            </a:pPr>
            <a:r>
              <a:rPr dirty="0"/>
              <a:t>Se </a:t>
            </a:r>
            <a:r>
              <a:rPr dirty="0" err="1"/>
              <a:t>consolidan</a:t>
            </a:r>
            <a:r>
              <a:rPr dirty="0"/>
              <a:t>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riesgos</a:t>
            </a:r>
            <a:r>
              <a:rPr dirty="0"/>
              <a:t>, se </a:t>
            </a:r>
            <a:r>
              <a:rPr dirty="0" err="1"/>
              <a:t>calcula</a:t>
            </a:r>
            <a:r>
              <a:rPr dirty="0"/>
              <a:t> la </a:t>
            </a:r>
            <a:r>
              <a:rPr dirty="0" err="1"/>
              <a:t>criticidad</a:t>
            </a:r>
            <a:r>
              <a:rPr dirty="0"/>
              <a:t> y se </a:t>
            </a:r>
            <a:r>
              <a:rPr dirty="0" err="1"/>
              <a:t>prioriza</a:t>
            </a:r>
            <a:r>
              <a:rPr dirty="0"/>
              <a:t> la </a:t>
            </a:r>
            <a:r>
              <a:rPr dirty="0" err="1"/>
              <a:t>atención</a:t>
            </a:r>
            <a:r>
              <a:rPr dirty="0"/>
              <a:t> </a:t>
            </a:r>
            <a:r>
              <a:rPr dirty="0" err="1"/>
              <a:t>según</a:t>
            </a:r>
            <a:r>
              <a:rPr dirty="0"/>
              <a:t> el </a:t>
            </a:r>
            <a:r>
              <a:rPr dirty="0" err="1"/>
              <a:t>nivel</a:t>
            </a:r>
            <a:r>
              <a:rPr dirty="0"/>
              <a:t> </a:t>
            </a:r>
            <a:r>
              <a:rPr dirty="0" err="1"/>
              <a:t>obtenido</a:t>
            </a:r>
            <a:r>
              <a:rPr dirty="0"/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266944"/>
            <a:ext cx="11109960" cy="486287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400" b="0" i="0">
                <a:solidFill>
                  <a:srgbClr val="141414"/>
                </a:solidFill>
                <a:latin typeface="Arial"/>
              </a:defRPr>
            </a:pPr>
            <a:r>
              <a:rPr lang="es-MX" sz="1400" b="1" dirty="0">
                <a:solidFill>
                  <a:srgbClr val="141414"/>
                </a:solidFill>
                <a:latin typeface="Arial"/>
              </a:rPr>
              <a:t>Resultado e interpretación</a:t>
            </a:r>
            <a:endParaRPr lang="es-MX" sz="1400" dirty="0">
              <a:solidFill>
                <a:srgbClr val="141414"/>
              </a:solidFill>
              <a:latin typeface="Arial"/>
            </a:endParaRPr>
          </a:p>
          <a:p>
            <a:pPr algn="l">
              <a:defRPr sz="1400" b="0" i="0">
                <a:solidFill>
                  <a:srgbClr val="141414"/>
                </a:solidFill>
                <a:latin typeface="Arial"/>
              </a:defRPr>
            </a:pPr>
            <a:r>
              <a:rPr dirty="0"/>
              <a:t>Josefina y Roberto </a:t>
            </a:r>
            <a:r>
              <a:rPr dirty="0" err="1"/>
              <a:t>requieren</a:t>
            </a:r>
            <a:r>
              <a:rPr dirty="0"/>
              <a:t> </a:t>
            </a:r>
            <a:r>
              <a:rPr dirty="0" err="1"/>
              <a:t>seguimiento</a:t>
            </a:r>
            <a:r>
              <a:rPr dirty="0"/>
              <a:t> </a:t>
            </a:r>
            <a:r>
              <a:rPr dirty="0" err="1"/>
              <a:t>prioritario</a:t>
            </a:r>
            <a:r>
              <a:rPr dirty="0"/>
              <a:t> por </a:t>
            </a:r>
            <a:r>
              <a:rPr dirty="0" err="1"/>
              <a:t>nivel</a:t>
            </a:r>
            <a:r>
              <a:rPr dirty="0"/>
              <a:t> alto. Brandon </a:t>
            </a:r>
            <a:r>
              <a:rPr dirty="0" err="1"/>
              <a:t>queda</a:t>
            </a:r>
            <a:r>
              <a:rPr dirty="0"/>
              <a:t> con </a:t>
            </a:r>
            <a:r>
              <a:rPr dirty="0" err="1"/>
              <a:t>seguimiento</a:t>
            </a:r>
            <a:r>
              <a:rPr dirty="0"/>
              <a:t> </a:t>
            </a:r>
            <a:r>
              <a:rPr dirty="0" err="1"/>
              <a:t>preventivo</a:t>
            </a:r>
            <a:r>
              <a:rPr dirty="0"/>
              <a:t> por </a:t>
            </a:r>
            <a:r>
              <a:rPr dirty="0" err="1"/>
              <a:t>nivel</a:t>
            </a:r>
            <a:r>
              <a:rPr dirty="0"/>
              <a:t> bajo.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11112"/>
            <a:ext cx="12191695" cy="18288"/>
          </a:xfrm>
          <a:prstGeom prst="rect">
            <a:avLst/>
          </a:prstGeom>
          <a:solidFill>
            <a:srgbClr val="B4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384280" y="6473952"/>
            <a:ext cx="36576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>
              <a:defRPr sz="800" b="0" i="0">
                <a:solidFill>
                  <a:srgbClr val="5A5A5A"/>
                </a:solidFill>
                <a:latin typeface="Arial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3D33A2-D3E3-6E18-13D6-760FFD4E6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850" y="184151"/>
            <a:ext cx="10515600" cy="99695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 b="1" kern="0" dirty="0">
                <a:solidFill>
                  <a:schemeClr val="accent1"/>
                </a:solidFill>
                <a:ea typeface="+mn-ea"/>
                <a:cs typeface="Arial" panose="020B0604020202020204" pitchFamily="34" charset="0"/>
              </a:rPr>
              <a:t>Bitácora de seguimiento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07AA67AA-6806-89C2-6B4E-9417DEF49E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0764020"/>
              </p:ext>
            </p:extLst>
          </p:nvPr>
        </p:nvGraphicFramePr>
        <p:xfrm>
          <a:off x="971550" y="1438275"/>
          <a:ext cx="10382249" cy="5389808"/>
        </p:xfrm>
        <a:graphic>
          <a:graphicData uri="http://schemas.openxmlformats.org/drawingml/2006/table">
            <a:tbl>
              <a:tblPr>
                <a:tableStyleId>{FABFCF23-3B69-468F-B69F-88F6DE6A72F2}</a:tableStyleId>
              </a:tblPr>
              <a:tblGrid>
                <a:gridCol w="1307764">
                  <a:extLst>
                    <a:ext uri="{9D8B030D-6E8A-4147-A177-3AD203B41FA5}">
                      <a16:colId xmlns:a16="http://schemas.microsoft.com/office/drawing/2014/main" val="56158003"/>
                    </a:ext>
                  </a:extLst>
                </a:gridCol>
                <a:gridCol w="5142863">
                  <a:extLst>
                    <a:ext uri="{9D8B030D-6E8A-4147-A177-3AD203B41FA5}">
                      <a16:colId xmlns:a16="http://schemas.microsoft.com/office/drawing/2014/main" val="320637564"/>
                    </a:ext>
                  </a:extLst>
                </a:gridCol>
                <a:gridCol w="2390584">
                  <a:extLst>
                    <a:ext uri="{9D8B030D-6E8A-4147-A177-3AD203B41FA5}">
                      <a16:colId xmlns:a16="http://schemas.microsoft.com/office/drawing/2014/main" val="1828894420"/>
                    </a:ext>
                  </a:extLst>
                </a:gridCol>
                <a:gridCol w="1541038">
                  <a:extLst>
                    <a:ext uri="{9D8B030D-6E8A-4147-A177-3AD203B41FA5}">
                      <a16:colId xmlns:a16="http://schemas.microsoft.com/office/drawing/2014/main" val="92996563"/>
                    </a:ext>
                  </a:extLst>
                </a:gridCol>
              </a:tblGrid>
              <a:tr h="2639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400" b="1" noProof="0" dirty="0">
                          <a:solidFill>
                            <a:schemeClr val="tx1"/>
                          </a:solidFill>
                        </a:rPr>
                        <a:t>Fecha</a:t>
                      </a:r>
                    </a:p>
                  </a:txBody>
                  <a:tcPr marL="43083" marR="43083" marT="21541" marB="21541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400" b="1" noProof="0" dirty="0">
                          <a:solidFill>
                            <a:schemeClr val="tx1"/>
                          </a:solidFill>
                        </a:rPr>
                        <a:t>Actividad realizada</a:t>
                      </a:r>
                    </a:p>
                  </a:txBody>
                  <a:tcPr marL="43083" marR="43083" marT="21541" marB="21541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400" b="1" noProof="0" dirty="0">
                          <a:solidFill>
                            <a:schemeClr val="tx1"/>
                          </a:solidFill>
                        </a:rPr>
                        <a:t>Proyecto(s)</a:t>
                      </a:r>
                    </a:p>
                  </a:txBody>
                  <a:tcPr marL="43083" marR="43083" marT="21541" marB="21541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400" b="1" noProof="0" dirty="0">
                          <a:solidFill>
                            <a:schemeClr val="tx1"/>
                          </a:solidFill>
                        </a:rPr>
                        <a:t>Estado / resultado</a:t>
                      </a:r>
                    </a:p>
                  </a:txBody>
                  <a:tcPr marL="43083" marR="43083" marT="21541" marB="21541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4490964"/>
                  </a:ext>
                </a:extLst>
              </a:tr>
              <a:tr h="5284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400" noProof="0" dirty="0">
                          <a:solidFill>
                            <a:schemeClr val="tx1"/>
                          </a:solidFill>
                        </a:rPr>
                        <a:t>17/08/2026</a:t>
                      </a:r>
                    </a:p>
                  </a:txBody>
                  <a:tcPr marL="43083" marR="43083" marT="21541" marB="2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400" noProof="0" dirty="0">
                          <a:solidFill>
                            <a:schemeClr val="tx1"/>
                          </a:solidFill>
                        </a:rPr>
                        <a:t>Inicio formal de los proyectos y revisión de actas.</a:t>
                      </a:r>
                    </a:p>
                  </a:txBody>
                  <a:tcPr marL="43083" marR="43083" marT="21541" marB="2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400" noProof="0" dirty="0">
                          <a:solidFill>
                            <a:schemeClr val="tx1"/>
                          </a:solidFill>
                        </a:rPr>
                        <a:t>Brandon, Josefina y Roberto</a:t>
                      </a:r>
                    </a:p>
                  </a:txBody>
                  <a:tcPr marL="43083" marR="43083" marT="21541" marB="2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400" noProof="0" dirty="0">
                          <a:solidFill>
                            <a:schemeClr val="tx1"/>
                          </a:solidFill>
                        </a:rPr>
                        <a:t>Inicio</a:t>
                      </a:r>
                    </a:p>
                  </a:txBody>
                  <a:tcPr marL="43083" marR="43083" marT="21541" marB="21541" anchor="ctr"/>
                </a:tc>
                <a:extLst>
                  <a:ext uri="{0D108BD9-81ED-4DB2-BD59-A6C34878D82A}">
                    <a16:rowId xmlns:a16="http://schemas.microsoft.com/office/drawing/2014/main" val="1210720439"/>
                  </a:ext>
                </a:extLst>
              </a:tr>
              <a:tr h="5284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400" noProof="0" dirty="0">
                          <a:solidFill>
                            <a:schemeClr val="tx1"/>
                          </a:solidFill>
                        </a:rPr>
                        <a:t>24–30/08/2026</a:t>
                      </a:r>
                    </a:p>
                  </a:txBody>
                  <a:tcPr marL="43083" marR="43083" marT="21541" marB="2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400" noProof="0" dirty="0">
                          <a:solidFill>
                            <a:schemeClr val="tx1"/>
                          </a:solidFill>
                        </a:rPr>
                        <a:t>Definición de actividades, metodología y seguimiento inicial.</a:t>
                      </a:r>
                    </a:p>
                  </a:txBody>
                  <a:tcPr marL="43083" marR="43083" marT="21541" marB="2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400" noProof="0" dirty="0">
                          <a:solidFill>
                            <a:schemeClr val="tx1"/>
                          </a:solidFill>
                        </a:rPr>
                        <a:t>Brandon, Josefina y Roberto</a:t>
                      </a:r>
                    </a:p>
                  </a:txBody>
                  <a:tcPr marL="43083" marR="43083" marT="21541" marB="2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400" noProof="0" dirty="0">
                          <a:solidFill>
                            <a:schemeClr val="tx1"/>
                          </a:solidFill>
                        </a:rPr>
                        <a:t>En proceso</a:t>
                      </a:r>
                    </a:p>
                  </a:txBody>
                  <a:tcPr marL="43083" marR="43083" marT="21541" marB="21541" anchor="ctr"/>
                </a:tc>
                <a:extLst>
                  <a:ext uri="{0D108BD9-81ED-4DB2-BD59-A6C34878D82A}">
                    <a16:rowId xmlns:a16="http://schemas.microsoft.com/office/drawing/2014/main" val="3173676853"/>
                  </a:ext>
                </a:extLst>
              </a:tr>
              <a:tr h="3699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400" noProof="0" dirty="0">
                          <a:solidFill>
                            <a:schemeClr val="tx1"/>
                          </a:solidFill>
                        </a:rPr>
                        <a:t>01/09/2026</a:t>
                      </a:r>
                    </a:p>
                  </a:txBody>
                  <a:tcPr marL="43083" marR="43083" marT="21541" marB="2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400" noProof="0" dirty="0">
                          <a:solidFill>
                            <a:schemeClr val="tx1"/>
                          </a:solidFill>
                        </a:rPr>
                        <a:t>Revisión de avances y evidencias disponibles.</a:t>
                      </a:r>
                    </a:p>
                  </a:txBody>
                  <a:tcPr marL="43083" marR="43083" marT="21541" marB="2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400" noProof="0" dirty="0">
                          <a:solidFill>
                            <a:schemeClr val="tx1"/>
                          </a:solidFill>
                        </a:rPr>
                        <a:t>Brandon, Josefina y Roberto</a:t>
                      </a:r>
                    </a:p>
                  </a:txBody>
                  <a:tcPr marL="43083" marR="43083" marT="21541" marB="2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400" noProof="0" dirty="0">
                          <a:solidFill>
                            <a:schemeClr val="tx1"/>
                          </a:solidFill>
                        </a:rPr>
                        <a:t>Seguimiento</a:t>
                      </a:r>
                    </a:p>
                  </a:txBody>
                  <a:tcPr marL="43083" marR="43083" marT="21541" marB="21541" anchor="ctr"/>
                </a:tc>
                <a:extLst>
                  <a:ext uri="{0D108BD9-81ED-4DB2-BD59-A6C34878D82A}">
                    <a16:rowId xmlns:a16="http://schemas.microsoft.com/office/drawing/2014/main" val="1895027296"/>
                  </a:ext>
                </a:extLst>
              </a:tr>
              <a:tr h="6869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400" noProof="0" dirty="0">
                          <a:solidFill>
                            <a:schemeClr val="tx1"/>
                          </a:solidFill>
                        </a:rPr>
                        <a:t>03/09/2026</a:t>
                      </a:r>
                    </a:p>
                  </a:txBody>
                  <a:tcPr marL="43083" marR="43083" marT="21541" marB="2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400" noProof="0" dirty="0">
                          <a:solidFill>
                            <a:schemeClr val="tx1"/>
                          </a:solidFill>
                        </a:rPr>
                        <a:t>Aclaración de actividades pendientes y actualización del seguimiento.</a:t>
                      </a:r>
                    </a:p>
                  </a:txBody>
                  <a:tcPr marL="43083" marR="43083" marT="21541" marB="2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400" noProof="0" dirty="0">
                          <a:solidFill>
                            <a:schemeClr val="tx1"/>
                          </a:solidFill>
                        </a:rPr>
                        <a:t>Brandon, Josefina y Roberto</a:t>
                      </a:r>
                    </a:p>
                  </a:txBody>
                  <a:tcPr marL="43083" marR="43083" marT="21541" marB="2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400" noProof="0" dirty="0">
                          <a:solidFill>
                            <a:schemeClr val="tx1"/>
                          </a:solidFill>
                        </a:rPr>
                        <a:t>En proceso</a:t>
                      </a:r>
                    </a:p>
                  </a:txBody>
                  <a:tcPr marL="43083" marR="43083" marT="21541" marB="21541" anchor="ctr"/>
                </a:tc>
                <a:extLst>
                  <a:ext uri="{0D108BD9-81ED-4DB2-BD59-A6C34878D82A}">
                    <a16:rowId xmlns:a16="http://schemas.microsoft.com/office/drawing/2014/main" val="3955577356"/>
                  </a:ext>
                </a:extLst>
              </a:tr>
              <a:tr h="5284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400" noProof="0" dirty="0">
                          <a:solidFill>
                            <a:schemeClr val="tx1"/>
                          </a:solidFill>
                        </a:rPr>
                        <a:t>08/09/2026</a:t>
                      </a:r>
                    </a:p>
                  </a:txBody>
                  <a:tcPr marL="43083" marR="43083" marT="21541" marB="2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400" noProof="0" dirty="0">
                          <a:solidFill>
                            <a:schemeClr val="tx1"/>
                          </a:solidFill>
                        </a:rPr>
                        <a:t>Revisión de solicitudes y documentación pendiente.</a:t>
                      </a:r>
                    </a:p>
                  </a:txBody>
                  <a:tcPr marL="43083" marR="43083" marT="21541" marB="2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400" noProof="0" dirty="0">
                          <a:solidFill>
                            <a:schemeClr val="tx1"/>
                          </a:solidFill>
                        </a:rPr>
                        <a:t>Brandon, Josefina y Roberto</a:t>
                      </a:r>
                    </a:p>
                  </a:txBody>
                  <a:tcPr marL="43083" marR="43083" marT="21541" marB="2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400" noProof="0" dirty="0">
                          <a:solidFill>
                            <a:schemeClr val="tx1"/>
                          </a:solidFill>
                        </a:rPr>
                        <a:t>Seguimiento</a:t>
                      </a:r>
                    </a:p>
                  </a:txBody>
                  <a:tcPr marL="43083" marR="43083" marT="21541" marB="21541" anchor="ctr"/>
                </a:tc>
                <a:extLst>
                  <a:ext uri="{0D108BD9-81ED-4DB2-BD59-A6C34878D82A}">
                    <a16:rowId xmlns:a16="http://schemas.microsoft.com/office/drawing/2014/main" val="1917262771"/>
                  </a:ext>
                </a:extLst>
              </a:tr>
              <a:tr h="3699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400" noProof="0" dirty="0">
                          <a:solidFill>
                            <a:schemeClr val="tx1"/>
                          </a:solidFill>
                        </a:rPr>
                        <a:t>10/09/2026</a:t>
                      </a:r>
                    </a:p>
                  </a:txBody>
                  <a:tcPr marL="43083" marR="43083" marT="21541" marB="2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400" noProof="0" dirty="0">
                          <a:solidFill>
                            <a:schemeClr val="tx1"/>
                          </a:solidFill>
                        </a:rPr>
                        <a:t>Recepción y revisión de correcciones.</a:t>
                      </a:r>
                    </a:p>
                  </a:txBody>
                  <a:tcPr marL="43083" marR="43083" marT="21541" marB="2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400" noProof="0" dirty="0">
                          <a:solidFill>
                            <a:schemeClr val="tx1"/>
                          </a:solidFill>
                        </a:rPr>
                        <a:t>Brandon y Roberto</a:t>
                      </a:r>
                    </a:p>
                  </a:txBody>
                  <a:tcPr marL="43083" marR="43083" marT="21541" marB="2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400" noProof="0" dirty="0">
                          <a:solidFill>
                            <a:schemeClr val="tx1"/>
                          </a:solidFill>
                        </a:rPr>
                        <a:t>Revisado</a:t>
                      </a:r>
                    </a:p>
                  </a:txBody>
                  <a:tcPr marL="43083" marR="43083" marT="21541" marB="21541" anchor="ctr"/>
                </a:tc>
                <a:extLst>
                  <a:ext uri="{0D108BD9-81ED-4DB2-BD59-A6C34878D82A}">
                    <a16:rowId xmlns:a16="http://schemas.microsoft.com/office/drawing/2014/main" val="3281638212"/>
                  </a:ext>
                </a:extLst>
              </a:tr>
              <a:tr h="5284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400" noProof="0" dirty="0">
                          <a:solidFill>
                            <a:schemeClr val="tx1"/>
                          </a:solidFill>
                        </a:rPr>
                        <a:t>11/09/2026</a:t>
                      </a:r>
                    </a:p>
                  </a:txBody>
                  <a:tcPr marL="43083" marR="43083" marT="21541" marB="2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400" noProof="0" dirty="0">
                          <a:solidFill>
                            <a:schemeClr val="tx1"/>
                          </a:solidFill>
                        </a:rPr>
                        <a:t>Recepción de cuestionarios, modelos y avances.</a:t>
                      </a:r>
                    </a:p>
                  </a:txBody>
                  <a:tcPr marL="43083" marR="43083" marT="21541" marB="2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400" noProof="0" dirty="0">
                          <a:solidFill>
                            <a:schemeClr val="tx1"/>
                          </a:solidFill>
                        </a:rPr>
                        <a:t>Josefina</a:t>
                      </a:r>
                    </a:p>
                  </a:txBody>
                  <a:tcPr marL="43083" marR="43083" marT="21541" marB="2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400" noProof="0" dirty="0">
                          <a:solidFill>
                            <a:schemeClr val="tx1"/>
                          </a:solidFill>
                        </a:rPr>
                        <a:t>Revisado</a:t>
                      </a:r>
                    </a:p>
                  </a:txBody>
                  <a:tcPr marL="43083" marR="43083" marT="21541" marB="21541" anchor="ctr"/>
                </a:tc>
                <a:extLst>
                  <a:ext uri="{0D108BD9-81ED-4DB2-BD59-A6C34878D82A}">
                    <a16:rowId xmlns:a16="http://schemas.microsoft.com/office/drawing/2014/main" val="913349037"/>
                  </a:ext>
                </a:extLst>
              </a:tr>
              <a:tr h="5284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400" noProof="0" dirty="0">
                          <a:solidFill>
                            <a:schemeClr val="tx1"/>
                          </a:solidFill>
                        </a:rPr>
                        <a:t>16/09/2026</a:t>
                      </a:r>
                    </a:p>
                  </a:txBody>
                  <a:tcPr marL="43083" marR="43083" marT="21541" marB="2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400" noProof="0" dirty="0">
                          <a:solidFill>
                            <a:schemeClr val="tx1"/>
                          </a:solidFill>
                        </a:rPr>
                        <a:t>Solicitud y recepción de cuestionarios para identificación de riesgos.</a:t>
                      </a:r>
                    </a:p>
                  </a:txBody>
                  <a:tcPr marL="43083" marR="43083" marT="21541" marB="2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400" noProof="0" dirty="0">
                          <a:solidFill>
                            <a:schemeClr val="tx1"/>
                          </a:solidFill>
                        </a:rPr>
                        <a:t>Brandon, Josefina y Roberto</a:t>
                      </a:r>
                    </a:p>
                  </a:txBody>
                  <a:tcPr marL="43083" marR="43083" marT="21541" marB="2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400" noProof="0" dirty="0">
                          <a:solidFill>
                            <a:schemeClr val="tx1"/>
                          </a:solidFill>
                        </a:rPr>
                        <a:t>Completado</a:t>
                      </a:r>
                    </a:p>
                  </a:txBody>
                  <a:tcPr marL="43083" marR="43083" marT="21541" marB="21541" anchor="ctr"/>
                </a:tc>
                <a:extLst>
                  <a:ext uri="{0D108BD9-81ED-4DB2-BD59-A6C34878D82A}">
                    <a16:rowId xmlns:a16="http://schemas.microsoft.com/office/drawing/2014/main" val="2924383611"/>
                  </a:ext>
                </a:extLst>
              </a:tr>
              <a:tr h="5284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400" noProof="0" dirty="0">
                          <a:solidFill>
                            <a:schemeClr val="tx1"/>
                          </a:solidFill>
                        </a:rPr>
                        <a:t>16/09/2026</a:t>
                      </a:r>
                    </a:p>
                  </a:txBody>
                  <a:tcPr marL="43083" marR="43083" marT="21541" marB="2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400" noProof="0" dirty="0">
                          <a:solidFill>
                            <a:schemeClr val="tx1"/>
                          </a:solidFill>
                        </a:rPr>
                        <a:t>Valoración de probabilidad, impacto y criticidad.</a:t>
                      </a:r>
                    </a:p>
                  </a:txBody>
                  <a:tcPr marL="43083" marR="43083" marT="21541" marB="2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400" noProof="0" dirty="0">
                          <a:solidFill>
                            <a:schemeClr val="tx1"/>
                          </a:solidFill>
                        </a:rPr>
                        <a:t>Brandon, Josefina y Roberto</a:t>
                      </a:r>
                    </a:p>
                  </a:txBody>
                  <a:tcPr marL="43083" marR="43083" marT="21541" marB="2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400" noProof="0" dirty="0">
                          <a:solidFill>
                            <a:schemeClr val="tx1"/>
                          </a:solidFill>
                        </a:rPr>
                        <a:t>Completado</a:t>
                      </a:r>
                    </a:p>
                  </a:txBody>
                  <a:tcPr marL="43083" marR="43083" marT="21541" marB="21541" anchor="ctr"/>
                </a:tc>
                <a:extLst>
                  <a:ext uri="{0D108BD9-81ED-4DB2-BD59-A6C34878D82A}">
                    <a16:rowId xmlns:a16="http://schemas.microsoft.com/office/drawing/2014/main" val="3168717878"/>
                  </a:ext>
                </a:extLst>
              </a:tr>
              <a:tr h="5284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400" noProof="0" dirty="0">
                          <a:solidFill>
                            <a:schemeClr val="tx1"/>
                          </a:solidFill>
                        </a:rPr>
                        <a:t>16/09/2026</a:t>
                      </a:r>
                    </a:p>
                  </a:txBody>
                  <a:tcPr marL="43083" marR="43083" marT="21541" marB="2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400" noProof="0" dirty="0">
                          <a:solidFill>
                            <a:schemeClr val="tx1"/>
                          </a:solidFill>
                        </a:rPr>
                        <a:t>Elaboración del reporte de riesgos y banco de ejercicios.</a:t>
                      </a:r>
                    </a:p>
                  </a:txBody>
                  <a:tcPr marL="43083" marR="43083" marT="21541" marB="2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400" noProof="0" dirty="0">
                          <a:solidFill>
                            <a:schemeClr val="tx1"/>
                          </a:solidFill>
                        </a:rPr>
                        <a:t>Rafael Aquino</a:t>
                      </a:r>
                    </a:p>
                  </a:txBody>
                  <a:tcPr marL="43083" marR="43083" marT="21541" marB="2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400" noProof="0" dirty="0">
                          <a:solidFill>
                            <a:schemeClr val="tx1"/>
                          </a:solidFill>
                        </a:rPr>
                        <a:t>En elaboración</a:t>
                      </a:r>
                    </a:p>
                  </a:txBody>
                  <a:tcPr marL="43083" marR="43083" marT="21541" marB="21541" anchor="ctr"/>
                </a:tc>
                <a:extLst>
                  <a:ext uri="{0D108BD9-81ED-4DB2-BD59-A6C34878D82A}">
                    <a16:rowId xmlns:a16="http://schemas.microsoft.com/office/drawing/2014/main" val="35112245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99873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79426-6B7C-BABC-05A1-74D6EB287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s-MX" b="1" kern="0" noProof="0" dirty="0">
                <a:solidFill>
                  <a:schemeClr val="accent1"/>
                </a:solidFill>
                <a:ea typeface="+mn-ea"/>
                <a:cs typeface="Arial" panose="020B0604020202020204" pitchFamily="34" charset="0"/>
              </a:rPr>
              <a:t>Evidencias de Monday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E7525F8D-5A8B-FC94-92F6-5EBC64BBFE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1440" y="2349000"/>
            <a:ext cx="3840000" cy="216000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8EF45B48-2FF7-AF1E-32BD-CD975D7DC0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1440" y="4612640"/>
            <a:ext cx="3840000" cy="216000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FBCF6255-3323-BD47-E909-437A1684E3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1440" y="85360"/>
            <a:ext cx="3840000" cy="21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1330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s-MX" sz="4400" b="1" kern="0" noProof="0" dirty="0">
                <a:solidFill>
                  <a:schemeClr val="accent1"/>
                </a:solidFill>
                <a:latin typeface="+mj-lt"/>
                <a:cs typeface="Arial" panose="020B0604020202020204" pitchFamily="34" charset="0"/>
              </a:rPr>
              <a:t>Evidencias en Trello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21101FAA-4E3F-FA0F-5A7C-73B0D456D9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1" y="1310005"/>
            <a:ext cx="8761942" cy="492859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39" y="320040"/>
            <a:ext cx="11501119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s-MX" sz="4400" b="1" kern="0" noProof="0" dirty="0">
                <a:solidFill>
                  <a:schemeClr val="accent1"/>
                </a:solidFill>
                <a:latin typeface="+mj-lt"/>
                <a:cs typeface="Arial" panose="020B0604020202020204" pitchFamily="34" charset="0"/>
              </a:rPr>
              <a:t>Evidencias de los cuestionarios de riesgos-Brandon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endParaRPr lang="es-MX" sz="4400" b="1" kern="0" noProof="0" dirty="0">
              <a:solidFill>
                <a:schemeClr val="accent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16280" y="1758076"/>
            <a:ext cx="2941320" cy="22449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MX" sz="1500" b="1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CUESTIONARIO-004</a:t>
            </a:r>
          </a:p>
          <a:p>
            <a:r>
              <a:rPr lang="es-MX" sz="1500" b="1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respondido y utilizado para la identificación y valoración de riesgos del proyecto de taller mecánico.</a:t>
            </a:r>
          </a:p>
        </p:txBody>
      </p:sp>
      <p:sp>
        <p:nvSpPr>
          <p:cNvPr id="5" name="Text 3"/>
          <p:cNvSpPr/>
          <p:nvPr/>
        </p:nvSpPr>
        <p:spPr>
          <a:xfrm>
            <a:off x="685800" y="2103120"/>
            <a:ext cx="32004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s-MX" noProof="0" dirty="0"/>
          </a:p>
        </p:txBody>
      </p:sp>
      <p:sp>
        <p:nvSpPr>
          <p:cNvPr id="8" name="Text 6"/>
          <p:cNvSpPr/>
          <p:nvPr/>
        </p:nvSpPr>
        <p:spPr>
          <a:xfrm>
            <a:off x="4480560" y="2103120"/>
            <a:ext cx="32004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s-MX" noProof="0" dirty="0"/>
          </a:p>
        </p:txBody>
      </p:sp>
      <p:sp>
        <p:nvSpPr>
          <p:cNvPr id="11" name="Text 9"/>
          <p:cNvSpPr/>
          <p:nvPr/>
        </p:nvSpPr>
        <p:spPr>
          <a:xfrm>
            <a:off x="8275320" y="2103120"/>
            <a:ext cx="32004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s-MX" noProof="0" dirty="0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1E284DFD-C6F0-D203-A792-4CEA14B4BA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4440" y="1284446"/>
            <a:ext cx="8275319" cy="465486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4">
            <a:extLst>
              <a:ext uri="{FF2B5EF4-FFF2-40B4-BE49-F238E27FC236}">
                <a16:creationId xmlns:a16="http://schemas.microsoft.com/office/drawing/2014/main" id="{8B44DB69-CEC4-4DCA-AD64-F3E73AB7692F}"/>
              </a:ext>
            </a:extLst>
          </p:cNvPr>
          <p:cNvSpPr/>
          <p:nvPr/>
        </p:nvSpPr>
        <p:spPr>
          <a:xfrm>
            <a:off x="537351" y="2133600"/>
            <a:ext cx="3189111" cy="1534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s-MX" sz="1500" b="1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CUESTIONARIO-005</a:t>
            </a:r>
          </a:p>
          <a:p>
            <a:pPr marL="0" indent="0" algn="just">
              <a:buNone/>
            </a:pPr>
            <a:r>
              <a:rPr lang="es-MX" sz="1500" b="1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respondido y utilizado para la identificación y valoración de riesgos del proyecto de planta embotelladora.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8287D19-AC98-1516-7C87-DBCC5D4243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6462" y="1635760"/>
            <a:ext cx="8275200" cy="465480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8C80E209-C83B-513C-AED2-DDE0A4D25FDC}"/>
              </a:ext>
            </a:extLst>
          </p:cNvPr>
          <p:cNvSpPr txBox="1"/>
          <p:nvPr/>
        </p:nvSpPr>
        <p:spPr>
          <a:xfrm>
            <a:off x="603884" y="312321"/>
            <a:ext cx="11283315" cy="859254"/>
          </a:xfrm>
          <a:prstGeom prst="rect">
            <a:avLst/>
          </a:prstGeom>
          <a:noFill/>
          <a:ln/>
        </p:spPr>
        <p:txBody>
          <a:bodyPr wrap="square" rtlCol="0" anchor="t"/>
          <a:lstStyle>
            <a:defPPr>
              <a:defRPr lang="es-MX"/>
            </a:defPPr>
            <a:lvl1pPr>
              <a:lnSpc>
                <a:spcPct val="90000"/>
              </a:lnSpc>
              <a:spcBef>
                <a:spcPct val="0"/>
              </a:spcBef>
              <a:defRPr sz="4400" b="1" kern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MX" noProof="0" dirty="0"/>
              <a:t>Evidencias de los cuestionarios de riesgos-Josefina</a:t>
            </a:r>
          </a:p>
          <a:p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21106897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7">
            <a:extLst>
              <a:ext uri="{FF2B5EF4-FFF2-40B4-BE49-F238E27FC236}">
                <a16:creationId xmlns:a16="http://schemas.microsoft.com/office/drawing/2014/main" id="{EAB8CD4B-F5DC-DFAF-BAD4-27B5194D493F}"/>
              </a:ext>
            </a:extLst>
          </p:cNvPr>
          <p:cNvSpPr/>
          <p:nvPr/>
        </p:nvSpPr>
        <p:spPr>
          <a:xfrm>
            <a:off x="558800" y="1727200"/>
            <a:ext cx="2956560" cy="1595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s-MX" sz="1500" b="1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CUESTIONARIO-006</a:t>
            </a:r>
            <a:endParaRPr lang="es-MX" sz="1500" noProof="0" dirty="0"/>
          </a:p>
          <a:p>
            <a:pPr algn="just"/>
            <a:r>
              <a:rPr lang="es-MX" sz="1500" b="1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respondido y utilizado para la identificación y valoración de riesgos del proyecto de taller de electrónica.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8BFAF68-CBCC-B1FD-0CED-739FD2E10385}"/>
              </a:ext>
            </a:extLst>
          </p:cNvPr>
          <p:cNvSpPr txBox="1"/>
          <p:nvPr/>
        </p:nvSpPr>
        <p:spPr>
          <a:xfrm>
            <a:off x="731520" y="297081"/>
            <a:ext cx="11308080" cy="817344"/>
          </a:xfrm>
          <a:prstGeom prst="rect">
            <a:avLst/>
          </a:prstGeom>
          <a:noFill/>
          <a:ln/>
        </p:spPr>
        <p:txBody>
          <a:bodyPr wrap="square" rtlCol="0" anchor="t"/>
          <a:lstStyle>
            <a:defPPr>
              <a:defRPr lang="es-MX"/>
            </a:defPPr>
            <a:lvl1pPr>
              <a:lnSpc>
                <a:spcPct val="90000"/>
              </a:lnSpc>
              <a:spcBef>
                <a:spcPct val="0"/>
              </a:spcBef>
              <a:defRPr sz="4400" b="1" kern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MX" noProof="0" dirty="0"/>
              <a:t>Evidencias de los cuestionarios de riesgos-Roberto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3294A58-0D80-1A84-E26B-C3B0E09BCB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5360" y="1513840"/>
            <a:ext cx="8275200" cy="465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2889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1115568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3000" b="1" i="0">
                <a:solidFill>
                  <a:srgbClr val="4472C4"/>
                </a:solidFill>
                <a:latin typeface="Arial"/>
              </a:defRPr>
            </a:pPr>
            <a:r>
              <a:t>Conclusión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972800" cy="2979277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900" b="0" i="0">
                <a:solidFill>
                  <a:srgbClr val="141414"/>
                </a:solidFill>
                <a:latin typeface="Arial"/>
              </a:defRPr>
            </a:pPr>
            <a:r>
              <a:rPr dirty="0"/>
              <a:t>El banco de </a:t>
            </a:r>
            <a:r>
              <a:rPr dirty="0" err="1"/>
              <a:t>ejercicios</a:t>
            </a:r>
            <a:r>
              <a:rPr dirty="0"/>
              <a:t> </a:t>
            </a:r>
            <a:r>
              <a:rPr dirty="0" err="1"/>
              <a:t>permitió</a:t>
            </a:r>
            <a:r>
              <a:rPr dirty="0"/>
              <a:t> </a:t>
            </a:r>
            <a:r>
              <a:rPr dirty="0" err="1"/>
              <a:t>aplicar</a:t>
            </a:r>
            <a:r>
              <a:rPr dirty="0"/>
              <a:t> </a:t>
            </a:r>
            <a:r>
              <a:rPr dirty="0" err="1"/>
              <a:t>conceptos</a:t>
            </a:r>
            <a:r>
              <a:rPr dirty="0"/>
              <a:t> de </a:t>
            </a:r>
            <a:r>
              <a:rPr dirty="0" err="1"/>
              <a:t>gestión</a:t>
            </a:r>
            <a:r>
              <a:rPr dirty="0"/>
              <a:t> de </a:t>
            </a:r>
            <a:r>
              <a:rPr dirty="0" err="1"/>
              <a:t>riesgos</a:t>
            </a:r>
            <a:r>
              <a:rPr dirty="0"/>
              <a:t> a </a:t>
            </a:r>
            <a:r>
              <a:rPr dirty="0" err="1"/>
              <a:t>situaciones</a:t>
            </a:r>
            <a:r>
              <a:rPr dirty="0"/>
              <a:t> </a:t>
            </a:r>
            <a:r>
              <a:rPr dirty="0" err="1"/>
              <a:t>concretas</a:t>
            </a:r>
            <a:r>
              <a:rPr dirty="0"/>
              <a:t> de </a:t>
            </a:r>
            <a:r>
              <a:rPr dirty="0" err="1"/>
              <a:t>proyectos</a:t>
            </a:r>
            <a:r>
              <a:rPr dirty="0"/>
              <a:t> de </a:t>
            </a:r>
            <a:r>
              <a:rPr dirty="0" err="1"/>
              <a:t>simulación</a:t>
            </a:r>
            <a:r>
              <a:rPr dirty="0"/>
              <a:t>.</a:t>
            </a:r>
            <a:endParaRPr lang="es-MX" dirty="0"/>
          </a:p>
          <a:p>
            <a:pPr>
              <a:defRPr sz="1900" b="0" i="0">
                <a:solidFill>
                  <a:srgbClr val="141414"/>
                </a:solidFill>
                <a:latin typeface="Arial"/>
              </a:defRPr>
            </a:pPr>
            <a:r>
              <a:rPr lang="es-MX" dirty="0"/>
              <a:t>La criticidad ayudó a ordenar riesgos por prioridad, mientras que el VME permitió comparar alternativas cuando existen impactos monetarios cuantificables.</a:t>
            </a:r>
          </a:p>
          <a:p>
            <a:pPr>
              <a:defRPr sz="1900" b="0" i="0">
                <a:solidFill>
                  <a:srgbClr val="141414"/>
                </a:solidFill>
                <a:latin typeface="Arial"/>
              </a:defRPr>
            </a:pPr>
            <a:r>
              <a:rPr lang="es-MX" dirty="0"/>
              <a:t>Los riesgos altos no significan que el problema ya ocurrió; indican mayor necesidad de prevención y seguimiento.</a:t>
            </a:r>
          </a:p>
          <a:p>
            <a:pPr>
              <a:defRPr sz="1900" b="0" i="0">
                <a:solidFill>
                  <a:srgbClr val="141414"/>
                </a:solidFill>
                <a:latin typeface="Arial"/>
              </a:defRPr>
            </a:pPr>
            <a:r>
              <a:rPr lang="es-MX" dirty="0"/>
              <a:t>Las acciones preventivas, contingencias y evidencias permiten mantener controlado el proyecto hasta su cierre.</a:t>
            </a:r>
          </a:p>
          <a:p>
            <a:pPr>
              <a:defRPr sz="1900" b="0" i="0">
                <a:solidFill>
                  <a:srgbClr val="141414"/>
                </a:solidFill>
                <a:latin typeface="Arial"/>
              </a:defRPr>
            </a:pPr>
            <a:endParaRPr lang="es-MX" dirty="0"/>
          </a:p>
          <a:p>
            <a:pPr algn="l">
              <a:defRPr sz="1900" b="0" i="0">
                <a:solidFill>
                  <a:srgbClr val="141414"/>
                </a:solidFill>
                <a:latin typeface="Arial"/>
              </a:defRPr>
            </a:pP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0" y="6611112"/>
            <a:ext cx="12191695" cy="18288"/>
          </a:xfrm>
          <a:prstGeom prst="rect">
            <a:avLst/>
          </a:prstGeom>
          <a:solidFill>
            <a:srgbClr val="B4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384280" y="6473952"/>
            <a:ext cx="36576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>
              <a:defRPr sz="800" b="0" i="0">
                <a:solidFill>
                  <a:srgbClr val="5A5A5A"/>
                </a:solidFill>
                <a:latin typeface="Arial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s-MX" sz="4400" b="1" kern="0" noProof="0" dirty="0">
                <a:solidFill>
                  <a:schemeClr val="accent1"/>
                </a:solidFill>
                <a:latin typeface="+mj-lt"/>
                <a:cs typeface="Arial" panose="020B0604020202020204" pitchFamily="34" charset="0"/>
              </a:rPr>
              <a:t>Fuentes de información</a:t>
            </a:r>
          </a:p>
        </p:txBody>
      </p:sp>
      <p:sp>
        <p:nvSpPr>
          <p:cNvPr id="3" name="Text 1"/>
          <p:cNvSpPr/>
          <p:nvPr/>
        </p:nvSpPr>
        <p:spPr>
          <a:xfrm>
            <a:off x="777240" y="1417320"/>
            <a:ext cx="106070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 lang="es-MX" noProof="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6CACA15-3599-4380-7F3F-C3E7536CBDBC}"/>
              </a:ext>
            </a:extLst>
          </p:cNvPr>
          <p:cNvSpPr txBox="1"/>
          <p:nvPr/>
        </p:nvSpPr>
        <p:spPr>
          <a:xfrm>
            <a:off x="1143000" y="1417320"/>
            <a:ext cx="10469880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s-MX" dirty="0"/>
              <a:t>Aquino Villanueva, R. (2026). GPTI [Repositorio de GitHub]. </a:t>
            </a:r>
            <a:r>
              <a:rPr lang="es-MX"/>
              <a:t>https://github.com/rafaelrav8770/GPTI</a:t>
            </a:r>
            <a:endParaRPr lang="es-MX" sz="1800" kern="100" noProof="0">
              <a:effectLst/>
              <a:latin typeface="+mn-lt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0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s-MX" sz="1800" kern="100" noProof="0" dirty="0">
                <a:effectLst/>
                <a:latin typeface="+mn-lt"/>
                <a:ea typeface="Arial" panose="020B0604020202020204" pitchFamily="34" charset="0"/>
                <a:cs typeface="Arial" panose="020B0604020202020204" pitchFamily="34" charset="0"/>
              </a:rPr>
              <a:t>Project Management </a:t>
            </a:r>
            <a:r>
              <a:rPr lang="es-MX" sz="1800" kern="100" noProof="0" dirty="0" err="1">
                <a:effectLst/>
                <a:latin typeface="+mn-lt"/>
                <a:ea typeface="Arial" panose="020B0604020202020204" pitchFamily="34" charset="0"/>
                <a:cs typeface="Arial" panose="020B0604020202020204" pitchFamily="34" charset="0"/>
              </a:rPr>
              <a:t>Institute</a:t>
            </a:r>
            <a:r>
              <a:rPr lang="es-MX" sz="1800" kern="100" noProof="0" dirty="0">
                <a:effectLst/>
                <a:latin typeface="+mn-lt"/>
                <a:ea typeface="Arial" panose="020B0604020202020204" pitchFamily="34" charset="0"/>
                <a:cs typeface="Arial" panose="020B0604020202020204" pitchFamily="34" charset="0"/>
              </a:rPr>
              <a:t>. (s.f.). </a:t>
            </a:r>
            <a:r>
              <a:rPr lang="es-MX" sz="1800" i="1" kern="100" noProof="0" dirty="0">
                <a:effectLst/>
                <a:latin typeface="+mn-lt"/>
                <a:ea typeface="Arial" panose="020B0604020202020204" pitchFamily="34" charset="0"/>
                <a:cs typeface="Arial" panose="020B0604020202020204" pitchFamily="34" charset="0"/>
              </a:rPr>
              <a:t>Gestionando proyectos: analizando riesgos</a:t>
            </a:r>
            <a:r>
              <a:rPr lang="es-MX" sz="1800" kern="100" noProof="0" dirty="0">
                <a:effectLst/>
                <a:latin typeface="+mn-lt"/>
                <a:ea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MX" sz="1800" u="sng" kern="100" noProof="0" dirty="0">
                <a:solidFill>
                  <a:schemeClr val="tx1"/>
                </a:solidFill>
                <a:effectLst/>
                <a:latin typeface="+mn-lt"/>
                <a:ea typeface="Arial" panose="020B0604020202020204" pitchFamily="34" charset="0"/>
                <a:cs typeface="Arial" panose="020B0604020202020204" pitchFamily="34" charset="0"/>
                <a:hlinkClick r:id="rId3"/>
              </a:rPr>
              <a:t>https://www.pmi.org/learning/library/es-gestionando-proyectos-analizando-riesgos-7166</a:t>
            </a:r>
            <a:endParaRPr lang="es-MX" sz="1800" kern="100" noProof="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0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s-MX" sz="1800" kern="100" noProof="0" dirty="0">
                <a:effectLst/>
                <a:latin typeface="+mn-lt"/>
                <a:ea typeface="Arial" panose="020B0604020202020204" pitchFamily="34" charset="0"/>
                <a:cs typeface="Arial" panose="020B0604020202020204" pitchFamily="34" charset="0"/>
              </a:rPr>
              <a:t>Project Management </a:t>
            </a:r>
            <a:r>
              <a:rPr lang="es-MX" sz="1800" kern="100" noProof="0" dirty="0" err="1">
                <a:effectLst/>
                <a:latin typeface="+mn-lt"/>
                <a:ea typeface="Arial" panose="020B0604020202020204" pitchFamily="34" charset="0"/>
                <a:cs typeface="Arial" panose="020B0604020202020204" pitchFamily="34" charset="0"/>
              </a:rPr>
              <a:t>Institute</a:t>
            </a:r>
            <a:r>
              <a:rPr lang="es-MX" sz="1800" kern="100" noProof="0" dirty="0">
                <a:effectLst/>
                <a:latin typeface="+mn-lt"/>
                <a:ea typeface="Arial" panose="020B0604020202020204" pitchFamily="34" charset="0"/>
                <a:cs typeface="Arial" panose="020B0604020202020204" pitchFamily="34" charset="0"/>
              </a:rPr>
              <a:t>. (s.f.). </a:t>
            </a:r>
            <a:r>
              <a:rPr lang="es-MX" sz="1800" i="1" kern="100" noProof="0" dirty="0">
                <a:effectLst/>
                <a:latin typeface="+mn-lt"/>
                <a:ea typeface="Arial" panose="020B0604020202020204" pitchFamily="34" charset="0"/>
                <a:cs typeface="Arial" panose="020B0604020202020204" pitchFamily="34" charset="0"/>
              </a:rPr>
              <a:t>Planificación de riesgos desmitificada</a:t>
            </a:r>
            <a:r>
              <a:rPr lang="es-MX" sz="1800" kern="100" noProof="0" dirty="0">
                <a:effectLst/>
                <a:latin typeface="+mn-lt"/>
                <a:ea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MX" sz="1800" u="sng" kern="100" noProof="0" dirty="0">
                <a:solidFill>
                  <a:schemeClr val="tx1"/>
                </a:solidFill>
                <a:effectLst/>
                <a:latin typeface="+mn-lt"/>
                <a:ea typeface="Arial" panose="020B0604020202020204" pitchFamily="34" charset="0"/>
                <a:cs typeface="Arial" panose="020B0604020202020204" pitchFamily="34" charset="0"/>
                <a:hlinkClick r:id="rId4"/>
              </a:rPr>
              <a:t>https://www.pmi.org/learning/library/es-desmitificando-el-enfoque-practico-de-la-planificacion-de-riesgos-7331</a:t>
            </a:r>
            <a:endParaRPr lang="es-MX" sz="1800" kern="100" noProof="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0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s-MX" sz="1800" kern="100" noProof="0" dirty="0">
                <a:effectLst/>
                <a:latin typeface="+mn-lt"/>
                <a:ea typeface="Arial" panose="020B0604020202020204" pitchFamily="34" charset="0"/>
                <a:cs typeface="Arial" panose="020B0604020202020204" pitchFamily="34" charset="0"/>
              </a:rPr>
              <a:t>EALDE Business School. (2025). </a:t>
            </a:r>
            <a:r>
              <a:rPr lang="es-MX" sz="1800" i="1" kern="100" noProof="0" dirty="0">
                <a:effectLst/>
                <a:latin typeface="+mn-lt"/>
                <a:ea typeface="Arial" panose="020B0604020202020204" pitchFamily="34" charset="0"/>
                <a:cs typeface="Arial" panose="020B0604020202020204" pitchFamily="34" charset="0"/>
              </a:rPr>
              <a:t>El análisis cualitativo y cuantitativo en la Gestión de Riesgos</a:t>
            </a:r>
            <a:r>
              <a:rPr lang="es-MX" sz="1800" kern="100" noProof="0" dirty="0">
                <a:effectLst/>
                <a:latin typeface="+mn-lt"/>
                <a:ea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MX" sz="1800" u="sng" kern="100" noProof="0" dirty="0">
                <a:solidFill>
                  <a:schemeClr val="tx1"/>
                </a:solidFill>
                <a:effectLst/>
                <a:latin typeface="+mn-lt"/>
                <a:ea typeface="Arial" panose="020B0604020202020204" pitchFamily="34" charset="0"/>
                <a:cs typeface="Arial" panose="020B0604020202020204" pitchFamily="34" charset="0"/>
                <a:hlinkClick r:id="rId5"/>
              </a:rPr>
              <a:t>https://www.ealde.es/analisis-cualitativo-cuantitativo-gestion-de-riesgos-direccion-de-proyectos/</a:t>
            </a:r>
            <a:endParaRPr lang="es-MX" sz="1200" kern="100" noProof="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50304-FA36-777B-AECD-E44A948C8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26424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D26F97-0637-4BE2-099A-2C5BCA29A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2358183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4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0D1821E-CF15-40AD-89DA-26CE10A34454}">
  <we:reference id="wa200010725" version="1.0.0.1" store="es-ES" storeType="OMEX"/>
  <we:alternateReferences>
    <we:reference id="WA200010725" version="1.0.0.1" store="" storeType="OMEX"/>
  </we:alternateReferences>
  <we:properties>
    <we:property name="claude.fileId" value="&quot;e78c2c7e-1b71-4de1-b1d3-4cbb7b484aef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3643</TotalTime>
  <Words>1912</Words>
  <Application>Microsoft Office PowerPoint</Application>
  <PresentationFormat>Panorámica</PresentationFormat>
  <Paragraphs>342</Paragraphs>
  <Slides>25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30" baseType="lpstr">
      <vt:lpstr>Arial</vt:lpstr>
      <vt:lpstr>Calibri</vt:lpstr>
      <vt:lpstr>Calibri Light</vt:lpstr>
      <vt:lpstr>Wingdings</vt:lpstr>
      <vt:lpstr>Tema de Office</vt:lpstr>
      <vt:lpstr>Presentación de PowerPoint</vt:lpstr>
      <vt:lpstr>Presentación de PowerPoint</vt:lpstr>
      <vt:lpstr>Objetivo</vt:lpstr>
      <vt:lpstr>Justificación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Bitácora de seguimiento</vt:lpstr>
      <vt:lpstr>Evidencias de Monday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rafael aquino villanueva</dc:creator>
  <cp:lastModifiedBy>rafael aquino villanueva</cp:lastModifiedBy>
  <cp:revision>82</cp:revision>
  <dcterms:created xsi:type="dcterms:W3CDTF">2026-02-14T13:39:49Z</dcterms:created>
  <dcterms:modified xsi:type="dcterms:W3CDTF">2026-09-17T18:29:30Z</dcterms:modified>
</cp:coreProperties>
</file>