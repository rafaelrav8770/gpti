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3"/>
  </p:notesMasterIdLst>
  <p:sldIdLst>
    <p:sldId id="256" r:id="rId3"/>
    <p:sldId id="257" r:id="rId4"/>
    <p:sldId id="258" r:id="rId5"/>
    <p:sldId id="259" r:id="rId6"/>
    <p:sldId id="280" r:id="rId7"/>
    <p:sldId id="261" r:id="rId8"/>
    <p:sldId id="262" r:id="rId9"/>
    <p:sldId id="276" r:id="rId10"/>
    <p:sldId id="264" r:id="rId11"/>
    <p:sldId id="265" r:id="rId12"/>
    <p:sldId id="266" r:id="rId13"/>
    <p:sldId id="267" r:id="rId14"/>
    <p:sldId id="278" r:id="rId15"/>
    <p:sldId id="269" r:id="rId16"/>
    <p:sldId id="277" r:id="rId17"/>
    <p:sldId id="271" r:id="rId18"/>
    <p:sldId id="279" r:id="rId19"/>
    <p:sldId id="273" r:id="rId20"/>
    <p:sldId id="274" r:id="rId21"/>
    <p:sldId id="283" r:id="rId22"/>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4C1A8A3-306A-4EB7-A6B1-4F7E0EB9C5D6}" styleName="Estilo medio 3 - Énfasis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A111915-BE36-4E01-A7E5-04B1672EAD32}" styleName="Estilo claro 2 - Acento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buNone/>
              <a:defRPr sz="6000"/>
            </a:lvl1pPr>
          </a:lstStyle>
          <a:p>
            <a:r>
              <a:t>Haga clic para modificar el estilo de título del patrón</a:t>
            </a:r>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Haga clic para modificar el estilo de subtítulo del patrón</a:t>
            </a:r>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idx="10"/>
          </p:nvPr>
        </p:nvSpPr>
        <p:spPr/>
        <p:txBody>
          <a:bodyPr/>
          <a:lstStyle/>
          <a:p>
            <a:fld id="{B744A13C-A177-47DD-903A-D74B08377F6A}" type="datetimeFigureOut">
              <a:t>03/10/2026</a:t>
            </a:fld>
            <a:endParaRPr/>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t>Haga clic para modificar el estilo de título del patrón</a:t>
            </a:r>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idx="10"/>
          </p:nvPr>
        </p:nvSpPr>
        <p:spPr/>
        <p:txBody>
          <a:bodyPr/>
          <a:lstStyle/>
          <a:p>
            <a:fld id="{B744A13C-A177-47DD-903A-D74B08377F6A}" type="datetimeFigureOut">
              <a:t>03/10/2026</a:t>
            </a:fld>
            <a:endParaRPr/>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buNone/>
              <a:defRPr sz="6000"/>
            </a:lvl1pPr>
          </a:lstStyle>
          <a:p>
            <a:r>
              <a:t>Haga clic para modificar el estilo de título del patrón</a:t>
            </a:r>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idx="10"/>
          </p:nvPr>
        </p:nvSpPr>
        <p:spPr/>
        <p:txBody>
          <a:bodyPr/>
          <a:lstStyle/>
          <a:p>
            <a:fld id="{B744A13C-A177-47DD-903A-D74B08377F6A}" type="datetimeFigureOut">
              <a:t>03/10/2026</a:t>
            </a:fld>
            <a:endParaRPr/>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t>Haga clic para modificar el estilo de título del patrón</a:t>
            </a:r>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idx="1"/>
          </p:nvPr>
        </p:nvSpPr>
        <p:spPr>
          <a:xfrm>
            <a:off x="838200" y="1825625"/>
            <a:ext cx="5181600" cy="435133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idx="2"/>
          </p:nvPr>
        </p:nvSpPr>
        <p:spPr>
          <a:xfrm>
            <a:off x="6172200" y="1825625"/>
            <a:ext cx="5181600" cy="435133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idx="10"/>
          </p:nvPr>
        </p:nvSpPr>
        <p:spPr/>
        <p:txBody>
          <a:bodyPr/>
          <a:lstStyle/>
          <a:p>
            <a:fld id="{B744A13C-A177-47DD-903A-D74B08377F6A}" type="datetimeFigureOut">
              <a:t>03/10/2026</a:t>
            </a:fld>
            <a:endParaRPr/>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t>Haga clic para modificar el estilo de título del patrón</a:t>
            </a:r>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idx="2"/>
          </p:nvPr>
        </p:nvSpPr>
        <p:spPr>
          <a:xfrm>
            <a:off x="839788" y="2505075"/>
            <a:ext cx="5157787" cy="368458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idx="4"/>
          </p:nvPr>
        </p:nvSpPr>
        <p:spPr>
          <a:xfrm>
            <a:off x="6172200" y="2505075"/>
            <a:ext cx="5183188" cy="368458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idx="10"/>
          </p:nvPr>
        </p:nvSpPr>
        <p:spPr/>
        <p:txBody>
          <a:bodyPr/>
          <a:lstStyle/>
          <a:p>
            <a:fld id="{B744A13C-A177-47DD-903A-D74B08377F6A}" type="datetimeFigureOut">
              <a:t>03/10/2026</a:t>
            </a:fld>
            <a:endParaRPr/>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idx="11"/>
          </p:nvPr>
        </p:nvSpPr>
        <p:spPr/>
        <p:txBody>
          <a:bodyPr/>
          <a:lstStyle/>
          <a:p>
            <a:endParaRPr/>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t>Haga clic para modificar el estilo de título del patrón</a:t>
            </a:r>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idx="10"/>
          </p:nvPr>
        </p:nvSpPr>
        <p:spPr/>
        <p:txBody>
          <a:bodyPr/>
          <a:lstStyle/>
          <a:p>
            <a:fld id="{B744A13C-A177-47DD-903A-D74B08377F6A}" type="datetimeFigureOut">
              <a:t>03/10/2026</a:t>
            </a:fld>
            <a:endParaRPr/>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idx="11"/>
          </p:nvPr>
        </p:nvSpPr>
        <p:spPr/>
        <p:txBody>
          <a:bodyPr/>
          <a:lstStyle/>
          <a:p>
            <a:endParaRPr/>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idx="10"/>
          </p:nvPr>
        </p:nvSpPr>
        <p:spPr/>
        <p:txBody>
          <a:bodyPr/>
          <a:lstStyle/>
          <a:p>
            <a:fld id="{B744A13C-A177-47DD-903A-D74B08377F6A}" type="datetimeFigureOut">
              <a:t>03/10/2026</a:t>
            </a:fld>
            <a:endParaRPr/>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idx="11"/>
          </p:nvPr>
        </p:nvSpPr>
        <p:spPr/>
        <p:txBody>
          <a:bodyPr/>
          <a:lstStyle/>
          <a:p>
            <a:endParaRPr/>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buNone/>
              <a:defRPr sz="3200"/>
            </a:lvl1pPr>
          </a:lstStyle>
          <a:p>
            <a:r>
              <a:t>Haga clic para modificar el estilo de título del patrón</a:t>
            </a:r>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idx="10"/>
          </p:nvPr>
        </p:nvSpPr>
        <p:spPr/>
        <p:txBody>
          <a:bodyPr/>
          <a:lstStyle/>
          <a:p>
            <a:fld id="{B744A13C-A177-47DD-903A-D74B08377F6A}" type="datetimeFigureOut">
              <a:t>03/10/2026</a:t>
            </a:fld>
            <a:endParaRPr/>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buNone/>
              <a:defRPr sz="3200"/>
            </a:lvl1pPr>
          </a:lstStyle>
          <a:p>
            <a:r>
              <a:t>Haga clic para modificar el estilo de título del patrón</a:t>
            </a:r>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idx="10"/>
          </p:nvPr>
        </p:nvSpPr>
        <p:spPr/>
        <p:txBody>
          <a:bodyPr/>
          <a:lstStyle/>
          <a:p>
            <a:fld id="{B744A13C-A177-47DD-903A-D74B08377F6A}" type="datetimeFigureOut">
              <a:t>03/10/2026</a:t>
            </a:fld>
            <a:endParaRPr/>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t>Haga clic para modificar el estilo de título del patrón</a:t>
            </a:r>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idx="1"/>
          </p:nvPr>
        </p:nvSpPr>
        <p:spPr/>
        <p:txBody>
          <a:bodyPr vert="eaVert"/>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idx="10"/>
          </p:nvPr>
        </p:nvSpPr>
        <p:spPr/>
        <p:txBody>
          <a:bodyPr/>
          <a:lstStyle/>
          <a:p>
            <a:fld id="{B744A13C-A177-47DD-903A-D74B08377F6A}" type="datetimeFigureOut">
              <a:t>03/10/2026</a:t>
            </a:fld>
            <a:endParaRPr/>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p:nvPr>
        </p:nvSpPr>
        <p:spPr>
          <a:xfrm>
            <a:off x="8724900" y="365125"/>
            <a:ext cx="2628900" cy="5811838"/>
          </a:xfrm>
        </p:spPr>
        <p:txBody>
          <a:bodyPr vert="eaVert"/>
          <a:lstStyle/>
          <a:p>
            <a:r>
              <a:t>Haga clic para modificar el estilo de título del patrón</a:t>
            </a:r>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idx="1"/>
          </p:nvPr>
        </p:nvSpPr>
        <p:spPr>
          <a:xfrm>
            <a:off x="838200" y="365125"/>
            <a:ext cx="7734300" cy="5811838"/>
          </a:xfrm>
        </p:spPr>
        <p:txBody>
          <a:bodyPr vert="eaVert"/>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idx="10"/>
          </p:nvPr>
        </p:nvSpPr>
        <p:spPr/>
        <p:txBody>
          <a:bodyPr/>
          <a:lstStyle/>
          <a:p>
            <a:fld id="{B744A13C-A177-47DD-903A-D74B08377F6A}" type="datetimeFigureOut">
              <a:t>03/10/2026</a:t>
            </a:fld>
            <a:endParaRPr/>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buNone/>
              <a:defRPr sz="6000"/>
            </a:lvl1pPr>
          </a:lstStyle>
          <a:p>
            <a:r>
              <a:t>Haga clic para modificar el estilo de título del patrón</a:t>
            </a:r>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Haga clic para modificar el estilo de subtítulo del patrón</a:t>
            </a:r>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idx="10"/>
          </p:nvPr>
        </p:nvSpPr>
        <p:spPr/>
        <p:txBody>
          <a:bodyPr/>
          <a:lstStyle/>
          <a:p>
            <a:fld id="{B744A13C-A177-47DD-903A-D74B08377F6A}" type="datetimeFigureOut">
              <a:t>03/10/2026</a:t>
            </a:fld>
            <a:endParaRPr/>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t>Haga clic para modificar el estilo de título del patrón</a:t>
            </a:r>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idx="10"/>
          </p:nvPr>
        </p:nvSpPr>
        <p:spPr/>
        <p:txBody>
          <a:bodyPr/>
          <a:lstStyle/>
          <a:p>
            <a:fld id="{B744A13C-A177-47DD-903A-D74B08377F6A}" type="datetimeFigureOut">
              <a:t>03/10/2026</a:t>
            </a:fld>
            <a:endParaRPr/>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buNone/>
              <a:defRPr sz="6000"/>
            </a:lvl1pPr>
          </a:lstStyle>
          <a:p>
            <a:r>
              <a:t>Haga clic para modificar el estilo de título del patrón</a:t>
            </a:r>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idx="10"/>
          </p:nvPr>
        </p:nvSpPr>
        <p:spPr/>
        <p:txBody>
          <a:bodyPr/>
          <a:lstStyle/>
          <a:p>
            <a:fld id="{B744A13C-A177-47DD-903A-D74B08377F6A}" type="datetimeFigureOut">
              <a:t>03/10/2026</a:t>
            </a:fld>
            <a:endParaRPr/>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t>Haga clic para modificar el estilo de título del patrón</a:t>
            </a:r>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idx="1"/>
          </p:nvPr>
        </p:nvSpPr>
        <p:spPr>
          <a:xfrm>
            <a:off x="838200" y="1825625"/>
            <a:ext cx="5181600" cy="435133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idx="2"/>
          </p:nvPr>
        </p:nvSpPr>
        <p:spPr>
          <a:xfrm>
            <a:off x="6172200" y="1825625"/>
            <a:ext cx="5181600" cy="435133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idx="10"/>
          </p:nvPr>
        </p:nvSpPr>
        <p:spPr/>
        <p:txBody>
          <a:bodyPr/>
          <a:lstStyle/>
          <a:p>
            <a:fld id="{B744A13C-A177-47DD-903A-D74B08377F6A}" type="datetimeFigureOut">
              <a:t>03/10/2026</a:t>
            </a:fld>
            <a:endParaRPr/>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t>Haga clic para modificar el estilo de título del patrón</a:t>
            </a:r>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idx="2"/>
          </p:nvPr>
        </p:nvSpPr>
        <p:spPr>
          <a:xfrm>
            <a:off x="839788" y="2505075"/>
            <a:ext cx="5157787" cy="368458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idx="4"/>
          </p:nvPr>
        </p:nvSpPr>
        <p:spPr>
          <a:xfrm>
            <a:off x="6172200" y="2505075"/>
            <a:ext cx="5183188" cy="368458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idx="10"/>
          </p:nvPr>
        </p:nvSpPr>
        <p:spPr/>
        <p:txBody>
          <a:bodyPr/>
          <a:lstStyle/>
          <a:p>
            <a:fld id="{B744A13C-A177-47DD-903A-D74B08377F6A}" type="datetimeFigureOut">
              <a:t>03/10/2026</a:t>
            </a:fld>
            <a:endParaRPr/>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idx="11"/>
          </p:nvPr>
        </p:nvSpPr>
        <p:spPr/>
        <p:txBody>
          <a:bodyPr/>
          <a:lstStyle/>
          <a:p>
            <a:endParaRPr/>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t>Haga clic para modificar el estilo de título del patrón</a:t>
            </a:r>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idx="10"/>
          </p:nvPr>
        </p:nvSpPr>
        <p:spPr/>
        <p:txBody>
          <a:bodyPr/>
          <a:lstStyle/>
          <a:p>
            <a:fld id="{B744A13C-A177-47DD-903A-D74B08377F6A}" type="datetimeFigureOut">
              <a:t>03/10/2026</a:t>
            </a:fld>
            <a:endParaRPr/>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idx="11"/>
          </p:nvPr>
        </p:nvSpPr>
        <p:spPr/>
        <p:txBody>
          <a:bodyPr/>
          <a:lstStyle/>
          <a:p>
            <a:endParaRPr/>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idx="10"/>
          </p:nvPr>
        </p:nvSpPr>
        <p:spPr/>
        <p:txBody>
          <a:bodyPr/>
          <a:lstStyle/>
          <a:p>
            <a:fld id="{B744A13C-A177-47DD-903A-D74B08377F6A}" type="datetimeFigureOut">
              <a:t>03/10/2026</a:t>
            </a:fld>
            <a:endParaRPr/>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idx="11"/>
          </p:nvPr>
        </p:nvSpPr>
        <p:spPr/>
        <p:txBody>
          <a:bodyPr/>
          <a:lstStyle/>
          <a:p>
            <a:endParaRPr/>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buNone/>
              <a:defRPr sz="3200"/>
            </a:lvl1pPr>
          </a:lstStyle>
          <a:p>
            <a:r>
              <a:t>Haga clic para modificar el estilo de título del patrón</a:t>
            </a:r>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idx="10"/>
          </p:nvPr>
        </p:nvSpPr>
        <p:spPr/>
        <p:txBody>
          <a:bodyPr/>
          <a:lstStyle/>
          <a:p>
            <a:fld id="{B744A13C-A177-47DD-903A-D74B08377F6A}" type="datetimeFigureOut">
              <a:t>03/10/2026</a:t>
            </a:fld>
            <a:endParaRPr/>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buNone/>
              <a:defRPr sz="3200"/>
            </a:lvl1pPr>
          </a:lstStyle>
          <a:p>
            <a:r>
              <a:t>Haga clic para modificar el estilo de título del patrón</a:t>
            </a:r>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idx="10"/>
          </p:nvPr>
        </p:nvSpPr>
        <p:spPr/>
        <p:txBody>
          <a:bodyPr/>
          <a:lstStyle/>
          <a:p>
            <a:fld id="{B744A13C-A177-47DD-903A-D74B08377F6A}" type="datetimeFigureOut">
              <a:t>03/10/2026</a:t>
            </a:fld>
            <a:endParaRPr/>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t>Haga clic para modificar el estilo de título del patrón</a:t>
            </a:r>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idx="1"/>
          </p:nvPr>
        </p:nvSpPr>
        <p:spPr/>
        <p:txBody>
          <a:bodyPr vert="eaVert"/>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idx="10"/>
          </p:nvPr>
        </p:nvSpPr>
        <p:spPr/>
        <p:txBody>
          <a:bodyPr/>
          <a:lstStyle/>
          <a:p>
            <a:fld id="{B744A13C-A177-47DD-903A-D74B08377F6A}" type="datetimeFigureOut">
              <a:t>03/10/2026</a:t>
            </a:fld>
            <a:endParaRPr/>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p:nvPr>
        </p:nvSpPr>
        <p:spPr>
          <a:xfrm>
            <a:off x="8724900" y="365125"/>
            <a:ext cx="2628900" cy="5811838"/>
          </a:xfrm>
        </p:spPr>
        <p:txBody>
          <a:bodyPr vert="eaVert"/>
          <a:lstStyle/>
          <a:p>
            <a:r>
              <a:t>Haga clic para modificar el estilo de título del patrón</a:t>
            </a:r>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idx="1"/>
          </p:nvPr>
        </p:nvSpPr>
        <p:spPr>
          <a:xfrm>
            <a:off x="838200" y="365125"/>
            <a:ext cx="7734300" cy="5811838"/>
          </a:xfrm>
        </p:spPr>
        <p:txBody>
          <a:bodyPr vert="eaVert"/>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idx="10"/>
          </p:nvPr>
        </p:nvSpPr>
        <p:spPr/>
        <p:txBody>
          <a:bodyPr/>
          <a:lstStyle/>
          <a:p>
            <a:fld id="{B744A13C-A177-47DD-903A-D74B08377F6A}" type="datetimeFigureOut">
              <a:t>03/10/2026</a:t>
            </a:fld>
            <a:endParaRPr/>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idx="12"/>
          </p:nvPr>
        </p:nvSpPr>
        <p:spPr/>
        <p:txBody>
          <a:bodyPr/>
          <a:lstStyle/>
          <a:p>
            <a:fld id="{DBDC0401-0789-4F42-8B4F-18107AD06626}" type="slidenum">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Haga clic para modificar el estilo de título del patrón</a:t>
            </a:r>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B744A13C-A177-47DD-903A-D74B08377F6A}" type="datetimeFigureOut">
              <a:t>03/10/2026</a:t>
            </a:fld>
            <a:endParaRPr/>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DBDC0401-0789-4F42-8B4F-18107AD06626}"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Haga clic para modificar el estilo de título del patrón</a:t>
            </a:r>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B744A13C-A177-47DD-903A-D74B08377F6A}" type="datetimeFigureOut">
              <a:t>03/10/2026</a:t>
            </a:fld>
            <a:endParaRPr/>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DBDC0401-0789-4F42-8B4F-18107AD06626}" type="slidenum">
              <a:t>‹Nº›</a:t>
            </a:fld>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hyperlink" Target="https://www.pmi.org/learning/library/earned-value-management-systems-analysis-8026" TargetMode="External"/><Relationship Id="rId3" Type="http://schemas.openxmlformats.org/officeDocument/2006/relationships/hyperlink" Target="https://github.com/rafaelrav8770/GPTI" TargetMode="External"/><Relationship Id="rId7" Type="http://schemas.openxmlformats.org/officeDocument/2006/relationships/hyperlink" Target="https://www.pmi.org/standards/pmbok" TargetMode="External"/><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hyperlink" Target="https://www.pmi.org/learning/library/forgotten-phase-close-out-3142" TargetMode="External"/><Relationship Id="rId5" Type="http://schemas.openxmlformats.org/officeDocument/2006/relationships/hyperlink" Target="https://www.pmi.org/learning/library/lessons-learned-early-often-6746" TargetMode="External"/><Relationship Id="rId4" Type="http://schemas.openxmlformats.org/officeDocument/2006/relationships/hyperlink" Target="https://www.pmi.org/learning/library/importance-of-closing-process-group-9949" TargetMode="External"/><Relationship Id="rId9" Type="http://schemas.openxmlformats.org/officeDocument/2006/relationships/hyperlink" Target="https://www.cengage.com/c/information-technology-project-management-9e-schwalbe/978133710135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Imagen 25"/>
          <p:cNvPicPr>
            <a:picLocks noChangeAspect="1"/>
          </p:cNvPicPr>
          <p:nvPr/>
        </p:nvPicPr>
        <p:blipFill>
          <a:blip r:embed="rId3">
            <a:lum bright="70000" contrast="-70000"/>
          </a:blip>
          <a:stretch>
            <a:fillRect/>
          </a:stretch>
        </p:blipFill>
        <p:spPr>
          <a:xfrm>
            <a:off x="3091815" y="510540"/>
            <a:ext cx="5303520" cy="5836920"/>
          </a:xfrm>
          <a:prstGeom prst="rect">
            <a:avLst/>
          </a:prstGeom>
        </p:spPr>
      </p:pic>
      <p:pic>
        <p:nvPicPr>
          <p:cNvPr id="31" name="Imagen 10"/>
          <p:cNvPicPr>
            <a:picLocks noChangeAspect="1"/>
          </p:cNvPicPr>
          <p:nvPr/>
        </p:nvPicPr>
        <p:blipFill>
          <a:blip r:embed="rId4"/>
          <a:srcRect/>
          <a:stretch>
            <a:fillRect/>
          </a:stretch>
        </p:blipFill>
        <p:spPr>
          <a:xfrm>
            <a:off x="9145905" y="46990"/>
            <a:ext cx="2301875" cy="1016000"/>
          </a:xfrm>
          <a:prstGeom prst="rect">
            <a:avLst/>
          </a:prstGeom>
          <a:ln>
            <a:noFill/>
          </a:ln>
        </p:spPr>
      </p:pic>
      <p:pic>
        <p:nvPicPr>
          <p:cNvPr id="32" name="Imagen 11"/>
          <p:cNvPicPr>
            <a:picLocks noChangeAspect="1"/>
          </p:cNvPicPr>
          <p:nvPr/>
        </p:nvPicPr>
        <p:blipFill rotWithShape="1">
          <a:blip r:embed="rId5"/>
          <a:srcRect/>
          <a:stretch/>
        </p:blipFill>
        <p:spPr>
          <a:xfrm>
            <a:off x="277495" y="46990"/>
            <a:ext cx="1516380" cy="1089660"/>
          </a:xfrm>
          <a:prstGeom prst="rect">
            <a:avLst/>
          </a:prstGeom>
          <a:ln>
            <a:noFill/>
          </a:ln>
        </p:spPr>
      </p:pic>
      <p:sp>
        <p:nvSpPr>
          <p:cNvPr id="14" name="CuadroTexto 13">
            <a:extLst>
              <a:ext uri="{FF2B5EF4-FFF2-40B4-BE49-F238E27FC236}">
                <a16:creationId xmlns:a16="http://schemas.microsoft.com/office/drawing/2014/main" id="{29E7C584-C5C9-2730-50A7-5B38CB386E43}"/>
              </a:ext>
            </a:extLst>
          </p:cNvPr>
          <p:cNvSpPr>
            <a:spLocks noGrp="1"/>
          </p:cNvSpPr>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noProof="0" dirty="0">
                <a:latin typeface="Arial"/>
                <a:ea typeface="Arial"/>
                <a:cs typeface="Arial"/>
              </a:rPr>
              <a:t>TECNOLÓGICO NACIONAL DE MÉXICO</a:t>
            </a:r>
            <a:endParaRPr lang="es-MX" sz="1600" kern="100" noProof="0" dirty="0">
              <a:latin typeface="Arial"/>
              <a:ea typeface="Arial"/>
              <a:cs typeface="Arial"/>
            </a:endParaRPr>
          </a:p>
          <a:p>
            <a:pPr algn="ctr">
              <a:lnSpc>
                <a:spcPct val="107000"/>
              </a:lnSpc>
              <a:spcAft>
                <a:spcPts val="800"/>
              </a:spcAft>
              <a:buNone/>
            </a:pPr>
            <a:r>
              <a:rPr lang="es-MX" sz="1800" b="1" noProof="0" dirty="0">
                <a:latin typeface="Arial"/>
                <a:ea typeface="Arial"/>
                <a:cs typeface="Arial"/>
              </a:rPr>
              <a:t>UNIDAD ACADÉMICA VENUSTIANO CARRANZA</a:t>
            </a:r>
            <a:endParaRPr lang="es-MX" sz="1600" kern="100" noProof="0" dirty="0">
              <a:latin typeface="Arial"/>
              <a:ea typeface="Arial"/>
              <a:cs typeface="Arial"/>
            </a:endParaRPr>
          </a:p>
        </p:txBody>
      </p:sp>
      <p:sp>
        <p:nvSpPr>
          <p:cNvPr id="16" name="CuadroTexto 15">
            <a:extLst>
              <a:ext uri="{FF2B5EF4-FFF2-40B4-BE49-F238E27FC236}">
                <a16:creationId xmlns:a16="http://schemas.microsoft.com/office/drawing/2014/main" id="{A4A9E771-2CE9-85CC-E1A4-169697077E49}"/>
              </a:ext>
            </a:extLst>
          </p:cNvPr>
          <p:cNvSpPr>
            <a:spLocks noGrp="1"/>
          </p:cNvSpPr>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s-MX" sz="1800" b="1" noProof="0" dirty="0">
                <a:latin typeface="Arial"/>
                <a:ea typeface="Arial"/>
                <a:cs typeface="Arial"/>
              </a:rPr>
              <a:t>“INGENIERÍA EN SISTEMAS COMPUTACIONALES”</a:t>
            </a:r>
            <a:endParaRPr lang="es-MX" sz="1800" kern="100" noProof="0" dirty="0">
              <a:latin typeface="Arial"/>
              <a:ea typeface="Arial"/>
              <a:cs typeface="Arial"/>
            </a:endParaRPr>
          </a:p>
        </p:txBody>
      </p:sp>
      <p:sp>
        <p:nvSpPr>
          <p:cNvPr id="18" name="CuadroTexto 17">
            <a:extLst>
              <a:ext uri="{FF2B5EF4-FFF2-40B4-BE49-F238E27FC236}">
                <a16:creationId xmlns:a16="http://schemas.microsoft.com/office/drawing/2014/main" id="{1FA8327A-BF41-1978-27AD-7942D85077F5}"/>
              </a:ext>
            </a:extLst>
          </p:cNvPr>
          <p:cNvSpPr>
            <a:spLocks noGrp="1"/>
          </p:cNvSpPr>
          <p:nvPr/>
        </p:nvSpPr>
        <p:spPr>
          <a:xfrm>
            <a:off x="2238375" y="1695450"/>
            <a:ext cx="6715125" cy="1295324"/>
          </a:xfrm>
          <a:prstGeom prst="rect">
            <a:avLst/>
          </a:prstGeom>
          <a:noFill/>
        </p:spPr>
        <p:txBody>
          <a:bodyPr anchor="ctr"/>
          <a:lstStyle/>
          <a:p>
            <a:pPr algn="ctr">
              <a:lnSpc>
                <a:spcPct val="100000"/>
              </a:lnSpc>
              <a:spcAft>
                <a:spcPts val="800"/>
              </a:spcAft>
              <a:buNone/>
              <a:defRPr sz="1425" b="1">
                <a:solidFill>
                  <a:srgbClr val="000000"/>
                </a:solidFill>
                <a:latin typeface="Arial"/>
                <a:ea typeface="Arial"/>
                <a:cs typeface="Arial"/>
              </a:defRPr>
            </a:pPr>
            <a:r>
              <a:rPr lang="es-MX" sz="1425" b="1" noProof="0" dirty="0">
                <a:solidFill>
                  <a:srgbClr val="000000"/>
                </a:solidFill>
                <a:latin typeface="Arial"/>
                <a:ea typeface="Arial"/>
                <a:cs typeface="Arial"/>
              </a:rPr>
              <a:t>GESTION DE PROYECTOS DE TI</a:t>
            </a:r>
          </a:p>
          <a:p>
            <a:pPr algn="ctr">
              <a:lnSpc>
                <a:spcPct val="100000"/>
              </a:lnSpc>
              <a:spcAft>
                <a:spcPts val="800"/>
              </a:spcAft>
              <a:buNone/>
              <a:defRPr sz="1425" b="1">
                <a:solidFill>
                  <a:srgbClr val="000000"/>
                </a:solidFill>
                <a:latin typeface="Arial"/>
                <a:ea typeface="Arial"/>
                <a:cs typeface="Arial"/>
              </a:defRPr>
            </a:pPr>
            <a:r>
              <a:rPr lang="es-MX" sz="1425" b="1" noProof="0" dirty="0">
                <a:solidFill>
                  <a:srgbClr val="000000"/>
                </a:solidFill>
                <a:latin typeface="Arial"/>
                <a:ea typeface="Arial"/>
                <a:cs typeface="Arial"/>
              </a:rPr>
              <a:t>ACTIVIDAD  </a:t>
            </a:r>
            <a:endParaRPr lang="es-MX" sz="2000" kern="100" noProof="0" dirty="0">
              <a:latin typeface="Arial"/>
              <a:ea typeface="Arial"/>
              <a:cs typeface="Arial"/>
            </a:endParaRPr>
          </a:p>
          <a:p>
            <a:pPr algn="ctr">
              <a:lnSpc>
                <a:spcPct val="107000"/>
              </a:lnSpc>
              <a:spcAft>
                <a:spcPts val="800"/>
              </a:spcAft>
              <a:buNone/>
              <a:defRPr sz="1425" b="1">
                <a:solidFill>
                  <a:srgbClr val="000000"/>
                </a:solidFill>
                <a:latin typeface="Arial"/>
                <a:ea typeface="Arial"/>
                <a:cs typeface="Arial"/>
              </a:defRPr>
            </a:pPr>
            <a:r>
              <a:rPr lang="es-MX" sz="1425" b="1" noProof="0" dirty="0">
                <a:solidFill>
                  <a:srgbClr val="000000"/>
                </a:solidFill>
                <a:latin typeface="Arial"/>
                <a:ea typeface="Arial"/>
                <a:cs typeface="Arial"/>
              </a:rPr>
              <a:t>ACTIVIDAD 6.2 – REPORTE DE PRÁCTICA:</a:t>
            </a:r>
            <a:endParaRPr lang="es-MX" sz="2000" kern="100" noProof="0" dirty="0">
              <a:latin typeface="Arial"/>
              <a:ea typeface="Arial"/>
              <a:cs typeface="Arial"/>
            </a:endParaRPr>
          </a:p>
          <a:p>
            <a:pPr algn="ctr">
              <a:lnSpc>
                <a:spcPct val="107000"/>
              </a:lnSpc>
              <a:spcAft>
                <a:spcPts val="800"/>
              </a:spcAft>
              <a:buNone/>
              <a:defRPr sz="1425" b="1">
                <a:solidFill>
                  <a:srgbClr val="000000"/>
                </a:solidFill>
                <a:latin typeface="Arial"/>
                <a:ea typeface="Arial"/>
                <a:cs typeface="Arial"/>
              </a:defRPr>
            </a:pPr>
            <a:r>
              <a:rPr lang="es-MX" sz="1425" b="1" noProof="0" dirty="0">
                <a:solidFill>
                  <a:srgbClr val="000000"/>
                </a:solidFill>
                <a:latin typeface="Arial"/>
                <a:ea typeface="Arial"/>
                <a:cs typeface="Arial"/>
              </a:rPr>
              <a:t>EVALUACIÓN Y CIERRE DE PROYECTOS DE TI</a:t>
            </a:r>
          </a:p>
        </p:txBody>
      </p:sp>
      <p:graphicFrame>
        <p:nvGraphicFramePr>
          <p:cNvPr id="36" name="Tabla 18"/>
          <p:cNvGraphicFramePr/>
          <p:nvPr>
            <p:extLst>
              <p:ext uri="{D42A27DB-BD31-4B8C-83A1-F6EECF244321}">
                <p14:modId xmlns:p14="http://schemas.microsoft.com/office/powerpoint/2010/main" val="142340317"/>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20000"/>
                    </a:ext>
                  </a:extLst>
                </a:gridCol>
                <a:gridCol w="1808480">
                  <a:extLst>
                    <a:ext uri="{9D8B030D-6E8A-4147-A177-3AD203B41FA5}">
                      <a16:colId xmlns:a16="http://schemas.microsoft.com/office/drawing/2014/main" val="20001"/>
                    </a:ext>
                  </a:extLst>
                </a:gridCol>
              </a:tblGrid>
              <a:tr h="254000">
                <a:tc>
                  <a:txBody>
                    <a:bodyPr/>
                    <a:lstStyle/>
                    <a:p>
                      <a:pPr marL="0" algn="ctr" defTabSz="914400">
                        <a:lnSpc>
                          <a:spcPct val="107000"/>
                        </a:lnSpc>
                        <a:spcAft>
                          <a:spcPts val="800"/>
                        </a:spcAft>
                        <a:buNone/>
                      </a:pPr>
                      <a:r>
                        <a:rPr lang="es-MX" sz="1200" b="1" noProof="0" dirty="0">
                          <a:solidFill>
                            <a:schemeClr val="tx1"/>
                          </a:solidFill>
                          <a:latin typeface="+mn-lt"/>
                          <a:ea typeface="+mn-lt"/>
                          <a:cs typeface="+mn-lt"/>
                        </a:rPr>
                        <a:t>SEMESTRE</a:t>
                      </a: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algn="ctr" defTabSz="914400">
                        <a:lnSpc>
                          <a:spcPct val="107000"/>
                        </a:lnSpc>
                        <a:spcAft>
                          <a:spcPts val="800"/>
                        </a:spcAft>
                        <a:buNone/>
                      </a:pPr>
                      <a:r>
                        <a:rPr lang="es-MX" sz="1200" b="1" noProof="0" dirty="0">
                          <a:solidFill>
                            <a:schemeClr val="tx1"/>
                          </a:solidFill>
                          <a:latin typeface="+mn-lt"/>
                          <a:ea typeface="+mn-lt"/>
                          <a:cs typeface="+mn-lt"/>
                        </a:rPr>
                        <a:t>SEPTIMO</a:t>
                      </a: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r h="254000">
                <a:tc>
                  <a:txBody>
                    <a:bodyPr/>
                    <a:lstStyle/>
                    <a:p>
                      <a:pPr marL="0" algn="ctr" defTabSz="914400">
                        <a:lnSpc>
                          <a:spcPct val="107000"/>
                        </a:lnSpc>
                        <a:spcAft>
                          <a:spcPts val="800"/>
                        </a:spcAft>
                        <a:buNone/>
                      </a:pPr>
                      <a:r>
                        <a:rPr lang="es-MX" sz="1200" b="1" noProof="0" dirty="0">
                          <a:solidFill>
                            <a:schemeClr val="tx1"/>
                          </a:solidFill>
                          <a:latin typeface="+mn-lt"/>
                          <a:ea typeface="+mn-lt"/>
                          <a:cs typeface="+mn-lt"/>
                        </a:rPr>
                        <a:t>NOMBRE DEL ALUMNO</a:t>
                      </a: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algn="ctr" defTabSz="914400">
                        <a:lnSpc>
                          <a:spcPct val="107000"/>
                        </a:lnSpc>
                        <a:spcAft>
                          <a:spcPts val="800"/>
                        </a:spcAft>
                        <a:buNone/>
                      </a:pPr>
                      <a:r>
                        <a:rPr lang="es-MX" sz="1200" b="1" noProof="0" dirty="0">
                          <a:solidFill>
                            <a:schemeClr val="tx1"/>
                          </a:solidFill>
                          <a:latin typeface="+mn-lt"/>
                          <a:ea typeface="+mn-lt"/>
                          <a:cs typeface="+mn-lt"/>
                        </a:rPr>
                        <a:t>MATRICULA</a:t>
                      </a: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1"/>
                  </a:ext>
                </a:extLst>
              </a:tr>
              <a:tr h="254000">
                <a:tc>
                  <a:txBody>
                    <a:bodyPr/>
                    <a:lstStyle/>
                    <a:p>
                      <a:pPr marL="0" algn="ctr" defTabSz="914400">
                        <a:lnSpc>
                          <a:spcPct val="107000"/>
                        </a:lnSpc>
                        <a:spcAft>
                          <a:spcPts val="800"/>
                        </a:spcAft>
                        <a:buNone/>
                      </a:pPr>
                      <a:r>
                        <a:rPr lang="es-MX" sz="1200" b="1" noProof="0" dirty="0">
                          <a:solidFill>
                            <a:schemeClr val="tx1"/>
                          </a:solidFill>
                          <a:latin typeface="+mn-lt"/>
                          <a:ea typeface="+mn-lt"/>
                          <a:cs typeface="+mn-lt"/>
                        </a:rPr>
                        <a:t>Rafael Aquino Villanueva</a:t>
                      </a: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marL="0" algn="ctr" defTabSz="914400">
                        <a:lnSpc>
                          <a:spcPct val="107000"/>
                        </a:lnSpc>
                        <a:spcAft>
                          <a:spcPts val="800"/>
                        </a:spcAft>
                        <a:buNone/>
                      </a:pPr>
                      <a:r>
                        <a:rPr lang="es-MX" sz="1200" b="1" noProof="0" dirty="0">
                          <a:solidFill>
                            <a:schemeClr val="tx1"/>
                          </a:solidFill>
                          <a:latin typeface="+mn-lt"/>
                          <a:ea typeface="+mn-lt"/>
                          <a:cs typeface="+mn-lt"/>
                        </a:rPr>
                        <a:t>231260073</a:t>
                      </a: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a:spLocks noGrp="1"/>
          </p:cNvSpPr>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s-MX" sz="1800" b="1" noProof="0" dirty="0">
                <a:latin typeface="Arial"/>
                <a:ea typeface="Arial"/>
                <a:cs typeface="Arial"/>
              </a:rPr>
              <a:t>PRESENTA</a:t>
            </a:r>
            <a:endParaRPr lang="es-MX" sz="2000" kern="100" noProof="0" dirty="0">
              <a:latin typeface="Arial"/>
              <a:ea typeface="Arial"/>
              <a:cs typeface="Arial"/>
            </a:endParaRPr>
          </a:p>
          <a:p>
            <a:pPr algn="ctr">
              <a:lnSpc>
                <a:spcPct val="107000"/>
              </a:lnSpc>
              <a:spcAft>
                <a:spcPts val="800"/>
              </a:spcAft>
              <a:buNone/>
            </a:pPr>
            <a:r>
              <a:rPr lang="es-MX" sz="1800" b="1" noProof="0" dirty="0">
                <a:latin typeface="Arial"/>
                <a:ea typeface="Arial"/>
                <a:cs typeface="Arial"/>
              </a:rPr>
              <a:t> </a:t>
            </a:r>
            <a:endParaRPr lang="es-MX" sz="2000" kern="100" noProof="0" dirty="0">
              <a:latin typeface="Arial"/>
              <a:ea typeface="Arial"/>
              <a:cs typeface="Arial"/>
            </a:endParaRPr>
          </a:p>
          <a:p>
            <a:pPr algn="ctr">
              <a:lnSpc>
                <a:spcPct val="107000"/>
              </a:lnSpc>
              <a:spcAft>
                <a:spcPts val="800"/>
              </a:spcAft>
              <a:buNone/>
            </a:pPr>
            <a:r>
              <a:rPr lang="es-MX" sz="1800" b="1" noProof="0" dirty="0">
                <a:latin typeface="Arial"/>
                <a:ea typeface="Arial"/>
                <a:cs typeface="Arial"/>
              </a:rPr>
              <a:t> </a:t>
            </a:r>
            <a:endParaRPr lang="es-MX" sz="2000" kern="100" noProof="0" dirty="0">
              <a:latin typeface="Arial"/>
              <a:ea typeface="Arial"/>
              <a:cs typeface="Arial"/>
            </a:endParaRPr>
          </a:p>
        </p:txBody>
      </p:sp>
      <p:sp>
        <p:nvSpPr>
          <p:cNvPr id="23" name="CuadroTexto 22">
            <a:extLst>
              <a:ext uri="{FF2B5EF4-FFF2-40B4-BE49-F238E27FC236}">
                <a16:creationId xmlns:a16="http://schemas.microsoft.com/office/drawing/2014/main" id="{D2284A4D-D83A-881E-63B3-639ACAB1ACB4}"/>
              </a:ext>
            </a:extLst>
          </p:cNvPr>
          <p:cNvSpPr>
            <a:spLocks noGrp="1"/>
          </p:cNvSpPr>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s-MX" sz="1600" b="1" noProof="0" dirty="0">
                <a:latin typeface="Arial"/>
                <a:ea typeface="Arial"/>
                <a:cs typeface="Arial"/>
              </a:rPr>
              <a:t>DOCENTE</a:t>
            </a:r>
            <a:endParaRPr lang="es-MX" sz="1800" kern="100" noProof="0" dirty="0">
              <a:latin typeface="Arial"/>
              <a:ea typeface="Arial"/>
              <a:cs typeface="Arial"/>
            </a:endParaRPr>
          </a:p>
          <a:p>
            <a:pPr algn="ctr">
              <a:lnSpc>
                <a:spcPct val="150000"/>
              </a:lnSpc>
              <a:spcAft>
                <a:spcPts val="800"/>
              </a:spcAft>
              <a:buNone/>
            </a:pPr>
            <a:r>
              <a:rPr lang="es-MX" sz="1800" b="1" noProof="0" dirty="0">
                <a:latin typeface="Arial"/>
                <a:ea typeface="Arial"/>
                <a:cs typeface="Arial"/>
              </a:rPr>
              <a:t>ING. FRANCISCO JAVIER MINGO VELAZQUEZ</a:t>
            </a:r>
            <a:endParaRPr lang="es-MX" sz="1800" kern="100" noProof="0" dirty="0">
              <a:latin typeface="Arial"/>
              <a:ea typeface="Arial"/>
              <a:cs typeface="Arial"/>
            </a:endParaRPr>
          </a:p>
        </p:txBody>
      </p:sp>
      <p:sp>
        <p:nvSpPr>
          <p:cNvPr id="25" name="CuadroTexto 24">
            <a:extLst>
              <a:ext uri="{FF2B5EF4-FFF2-40B4-BE49-F238E27FC236}">
                <a16:creationId xmlns:a16="http://schemas.microsoft.com/office/drawing/2014/main" id="{2669DBE5-FAF1-35CF-08F0-D08353CB1B1B}"/>
              </a:ext>
            </a:extLst>
          </p:cNvPr>
          <p:cNvSpPr>
            <a:spLocks noGrp="1"/>
          </p:cNvSpPr>
          <p:nvPr/>
        </p:nvSpPr>
        <p:spPr>
          <a:xfrm>
            <a:off x="1793875" y="6265557"/>
            <a:ext cx="7812505" cy="1067816"/>
          </a:xfrm>
          <a:prstGeom prst="rect">
            <a:avLst/>
          </a:prstGeom>
          <a:noFill/>
        </p:spPr>
        <p:txBody>
          <a:bodyPr wrap="square">
            <a:spAutoFit/>
          </a:bodyPr>
          <a:lstStyle/>
          <a:p>
            <a:pPr algn="r">
              <a:lnSpc>
                <a:spcPct val="107000"/>
              </a:lnSpc>
              <a:spcAft>
                <a:spcPts val="800"/>
              </a:spcAft>
              <a:buNone/>
            </a:pPr>
            <a:r>
              <a:rPr lang="es-MX" sz="2000" b="1" noProof="0">
                <a:latin typeface="Arial"/>
                <a:ea typeface="Arial"/>
                <a:cs typeface="Arial"/>
              </a:rPr>
              <a:t>03 </a:t>
            </a:r>
            <a:r>
              <a:rPr lang="es-MX" sz="2000" b="1" noProof="0" dirty="0">
                <a:latin typeface="Arial"/>
                <a:ea typeface="Arial"/>
                <a:cs typeface="Arial"/>
              </a:rPr>
              <a:t>DE OCTUBRE DE 2026</a:t>
            </a:r>
            <a:r>
              <a:rPr lang="es-MX" sz="1800" b="1" noProof="0" dirty="0">
                <a:latin typeface="Arial"/>
                <a:ea typeface="Arial"/>
                <a:cs typeface="Arial"/>
              </a:rPr>
              <a:t> VENUSTIANO CARRANZA, CHIAPAS</a:t>
            </a:r>
            <a:endParaRPr lang="es-MX" sz="2000" b="1" kern="100" noProof="0" dirty="0">
              <a:latin typeface="Arial"/>
              <a:ea typeface="Arial"/>
              <a:cs typeface="Arial"/>
            </a:endParaRPr>
          </a:p>
          <a:p>
            <a:pPr>
              <a:buNone/>
            </a:pPr>
            <a:br>
              <a:rPr lang="es-MX" sz="1800" b="1" noProof="0" dirty="0">
                <a:latin typeface="Arial"/>
                <a:ea typeface="Arial"/>
                <a:cs typeface="Arial"/>
              </a:rPr>
            </a:br>
            <a:endParaRPr lang="es-MX" b="1" noProof="0" dirty="0"/>
          </a:p>
        </p:txBody>
      </p:sp>
    </p:spTree>
    <p:extLst>
      <p:ext uri="{BB962C8B-B14F-4D97-AF65-F5344CB8AC3E}">
        <p14:creationId xmlns:p14="http://schemas.microsoft.com/office/powerpoint/2010/main" val="1055832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14D53654-9E80-4DE1-AC34-19EA8A124388}"/>
              </a:ext>
            </a:extLst>
          </p:cNvPr>
          <p:cNvSpPr>
            <a:spLocks noGrp="1"/>
          </p:cNvSpPr>
          <p:nvPr/>
        </p:nvSpPr>
        <p:spPr>
          <a:xfrm>
            <a:off x="552450" y="323850"/>
            <a:ext cx="11068050" cy="781050"/>
          </a:xfrm>
          <a:prstGeom prst="rect">
            <a:avLst/>
          </a:prstGeom>
          <a:noFill/>
          <a:ln w="0">
            <a:noFill/>
          </a:ln>
        </p:spPr>
        <p:txBody>
          <a:bodyPr anchor="ctr"/>
          <a:lstStyle/>
          <a:p>
            <a:pPr algn="ctr">
              <a:defRPr sz="3150" b="1">
                <a:solidFill>
                  <a:srgbClr val="4472C4"/>
                </a:solidFill>
                <a:latin typeface="Calibri Light"/>
                <a:ea typeface="Calibri Light"/>
                <a:cs typeface="Calibri Light"/>
              </a:defRPr>
            </a:pPr>
            <a:r>
              <a:rPr lang="es-MX" sz="3150" b="1" noProof="0" dirty="0">
                <a:solidFill>
                  <a:srgbClr val="000000"/>
                </a:solidFill>
                <a:latin typeface="Calibri"/>
                <a:ea typeface="Calibri"/>
                <a:cs typeface="Calibri"/>
              </a:rPr>
              <a:t>Introducción</a:t>
            </a:r>
          </a:p>
        </p:txBody>
      </p:sp>
      <p:sp>
        <p:nvSpPr>
          <p:cNvPr id="2" name="Rectángulo 1">
            <a:extLst>
              <a:ext uri="{FF2B5EF4-FFF2-40B4-BE49-F238E27FC236}">
                <a16:creationId xmlns:a16="http://schemas.microsoft.com/office/drawing/2014/main" id="{D3E80DAD-53EA-4F09-A9A4-243065D4CED2}"/>
              </a:ext>
            </a:extLst>
          </p:cNvPr>
          <p:cNvSpPr>
            <a:spLocks noGrp="1"/>
          </p:cNvSpPr>
          <p:nvPr/>
        </p:nvSpPr>
        <p:spPr>
          <a:xfrm>
            <a:off x="819150" y="1476375"/>
            <a:ext cx="10553700" cy="4476750"/>
          </a:xfrm>
          <a:prstGeom prst="rect">
            <a:avLst/>
          </a:prstGeom>
          <a:noFill/>
          <a:ln w="0">
            <a:noFill/>
          </a:ln>
        </p:spPr>
        <p:txBody>
          <a:bodyPr anchor="t"/>
          <a:lstStyle/>
          <a:p>
            <a:pPr algn="just">
              <a:defRPr sz="1950" b="0">
                <a:solidFill>
                  <a:srgbClr val="000000"/>
                </a:solidFill>
                <a:latin typeface="Calibri"/>
                <a:ea typeface="Calibri"/>
                <a:cs typeface="Calibri"/>
              </a:defRPr>
            </a:pPr>
            <a:r>
              <a:rPr lang="es-MX" sz="1950" b="0" noProof="0" dirty="0">
                <a:solidFill>
                  <a:srgbClr val="000000"/>
                </a:solidFill>
                <a:latin typeface="Calibri"/>
                <a:ea typeface="Calibri"/>
                <a:cs typeface="Calibri"/>
              </a:rPr>
              <a:t>La evaluación y el cierre son la etapa final de la gestión de un proyecto de TI. En ella se mide si el proyecto alcanzó sus objetivos, se registran las lecciones aprendidas y se formaliza la entrega mediante la documentación final. En esta práctica se evalúan y cierran tres proyectos académicos: taller mecánico, planta embotelladora y taller de electrónica, apoyándose en la información registrada en Microsoft Project, Jira y Trello.</a:t>
            </a:r>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854917D5-9419-458A-A26D-606F7E932DB9}"/>
              </a:ext>
            </a:extLst>
          </p:cNvPr>
          <p:cNvSpPr>
            <a:spLocks noGrp="1"/>
          </p:cNvSpPr>
          <p:nvPr/>
        </p:nvSpPr>
        <p:spPr>
          <a:xfrm>
            <a:off x="552450" y="323850"/>
            <a:ext cx="11068050" cy="781050"/>
          </a:xfrm>
          <a:prstGeom prst="rect">
            <a:avLst/>
          </a:prstGeom>
          <a:noFill/>
          <a:ln w="0">
            <a:noFill/>
          </a:ln>
        </p:spPr>
        <p:txBody>
          <a:bodyPr anchor="ctr"/>
          <a:lstStyle/>
          <a:p>
            <a:pPr algn="ctr">
              <a:defRPr sz="3150" b="1">
                <a:solidFill>
                  <a:srgbClr val="4472C4"/>
                </a:solidFill>
                <a:latin typeface="Calibri Light"/>
                <a:ea typeface="Calibri Light"/>
                <a:cs typeface="Calibri Light"/>
              </a:defRPr>
            </a:pPr>
            <a:r>
              <a:rPr lang="es-MX" sz="3150" b="1" noProof="0" dirty="0">
                <a:solidFill>
                  <a:srgbClr val="000000"/>
                </a:solidFill>
                <a:latin typeface="Calibri"/>
                <a:ea typeface="Calibri"/>
                <a:cs typeface="Calibri"/>
              </a:rPr>
              <a:t>Objetivo</a:t>
            </a:r>
          </a:p>
        </p:txBody>
      </p:sp>
      <p:sp>
        <p:nvSpPr>
          <p:cNvPr id="2" name="Rectángulo 1">
            <a:extLst>
              <a:ext uri="{FF2B5EF4-FFF2-40B4-BE49-F238E27FC236}">
                <a16:creationId xmlns:a16="http://schemas.microsoft.com/office/drawing/2014/main" id="{EA6313A1-B9F4-468D-8F09-83057C75F960}"/>
              </a:ext>
            </a:extLst>
          </p:cNvPr>
          <p:cNvSpPr>
            <a:spLocks noGrp="1"/>
          </p:cNvSpPr>
          <p:nvPr/>
        </p:nvSpPr>
        <p:spPr>
          <a:xfrm>
            <a:off x="819150" y="1476375"/>
            <a:ext cx="10553700" cy="4476750"/>
          </a:xfrm>
          <a:prstGeom prst="rect">
            <a:avLst/>
          </a:prstGeom>
          <a:noFill/>
          <a:ln w="0">
            <a:noFill/>
          </a:ln>
        </p:spPr>
        <p:txBody>
          <a:bodyPr anchor="t"/>
          <a:lstStyle/>
          <a:p>
            <a:pPr algn="just">
              <a:defRPr sz="1950" b="0">
                <a:solidFill>
                  <a:srgbClr val="000000"/>
                </a:solidFill>
                <a:latin typeface="Calibri"/>
                <a:ea typeface="Calibri"/>
                <a:cs typeface="Calibri"/>
              </a:defRPr>
            </a:pPr>
            <a:r>
              <a:rPr lang="es-MX" sz="1950" b="0" noProof="0" dirty="0">
                <a:solidFill>
                  <a:srgbClr val="000000"/>
                </a:solidFill>
                <a:latin typeface="Calibri"/>
                <a:ea typeface="Calibri"/>
                <a:cs typeface="Calibri"/>
              </a:rPr>
              <a:t>Evaluar el éxito de los proyectos de Brandon, Josefina y Roberto, identificar las lecciones aprendidas y formalizar su cierre mediante la verificación de entregables y la documentación final.</a:t>
            </a:r>
          </a:p>
        </p:txBody>
      </p:sp>
    </p:spTree>
    <p:extLst>
      <p:ext uri="{BB962C8B-B14F-4D97-AF65-F5344CB8AC3E}">
        <p14:creationId xmlns:p14="http://schemas.microsoft.com/office/powerpoint/2010/main" val="872364332"/>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3CE16BBE-F8F5-48DB-AF34-973E541F9BF0}"/>
              </a:ext>
            </a:extLst>
          </p:cNvPr>
          <p:cNvSpPr>
            <a:spLocks noGrp="1"/>
          </p:cNvSpPr>
          <p:nvPr/>
        </p:nvSpPr>
        <p:spPr>
          <a:xfrm>
            <a:off x="552450" y="323850"/>
            <a:ext cx="11068050" cy="781050"/>
          </a:xfrm>
          <a:prstGeom prst="rect">
            <a:avLst/>
          </a:prstGeom>
          <a:noFill/>
          <a:ln w="0">
            <a:noFill/>
          </a:ln>
        </p:spPr>
        <p:txBody>
          <a:bodyPr anchor="ctr"/>
          <a:lstStyle/>
          <a:p>
            <a:pPr algn="ctr">
              <a:defRPr sz="3150" b="1">
                <a:solidFill>
                  <a:srgbClr val="4472C4"/>
                </a:solidFill>
                <a:latin typeface="Calibri Light"/>
                <a:ea typeface="Calibri Light"/>
                <a:cs typeface="Calibri Light"/>
              </a:defRPr>
            </a:pPr>
            <a:r>
              <a:rPr lang="es-MX" sz="3150" b="1" noProof="0" dirty="0">
                <a:solidFill>
                  <a:srgbClr val="000000"/>
                </a:solidFill>
                <a:latin typeface="Calibri"/>
                <a:ea typeface="Calibri"/>
                <a:cs typeface="Calibri"/>
              </a:rPr>
              <a:t>Justificación</a:t>
            </a:r>
          </a:p>
        </p:txBody>
      </p:sp>
      <p:sp>
        <p:nvSpPr>
          <p:cNvPr id="2" name="Rectángulo 1">
            <a:extLst>
              <a:ext uri="{FF2B5EF4-FFF2-40B4-BE49-F238E27FC236}">
                <a16:creationId xmlns:a16="http://schemas.microsoft.com/office/drawing/2014/main" id="{F23D43B3-FC9A-4079-A1B1-C6C2F45B5336}"/>
              </a:ext>
            </a:extLst>
          </p:cNvPr>
          <p:cNvSpPr>
            <a:spLocks noGrp="1"/>
          </p:cNvSpPr>
          <p:nvPr/>
        </p:nvSpPr>
        <p:spPr>
          <a:xfrm>
            <a:off x="819150" y="1476375"/>
            <a:ext cx="10553700" cy="4476750"/>
          </a:xfrm>
          <a:prstGeom prst="rect">
            <a:avLst/>
          </a:prstGeom>
          <a:noFill/>
          <a:ln w="0">
            <a:noFill/>
          </a:ln>
        </p:spPr>
        <p:txBody>
          <a:bodyPr anchor="t"/>
          <a:lstStyle/>
          <a:p>
            <a:pPr algn="just">
              <a:defRPr sz="1950" b="0">
                <a:solidFill>
                  <a:srgbClr val="000000"/>
                </a:solidFill>
                <a:latin typeface="Calibri"/>
                <a:ea typeface="Calibri"/>
                <a:cs typeface="Calibri"/>
              </a:defRPr>
            </a:pPr>
            <a:r>
              <a:rPr lang="es-MX" sz="1950" b="0" noProof="0" dirty="0">
                <a:solidFill>
                  <a:srgbClr val="000000"/>
                </a:solidFill>
                <a:latin typeface="Calibri"/>
                <a:ea typeface="Calibri"/>
                <a:cs typeface="Calibri"/>
              </a:rPr>
              <a:t>Cerrar un proyecto sin evaluarlo impide saber si cumplió lo planeado y hace que se repitan los mismos errores. Medir el éxito, documentar las lecciones aprendidas y formalizar el cierre permite confirmar la aceptación de los entregables, dejar evidencia verificable y mejorar la planeación de proyectos futuros.</a:t>
            </a:r>
          </a:p>
        </p:txBody>
      </p:sp>
    </p:spTree>
    <p:extLst>
      <p:ext uri="{BB962C8B-B14F-4D97-AF65-F5344CB8AC3E}">
        <p14:creationId xmlns:p14="http://schemas.microsoft.com/office/powerpoint/2010/main" val="1097269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7AD9AB6E-8DFF-4E0E-9A3C-8A2548961162}"/>
              </a:ext>
            </a:extLst>
          </p:cNvPr>
          <p:cNvSpPr>
            <a:spLocks noGrp="1"/>
          </p:cNvSpPr>
          <p:nvPr/>
        </p:nvSpPr>
        <p:spPr>
          <a:xfrm>
            <a:off x="552450" y="323850"/>
            <a:ext cx="11068050" cy="781050"/>
          </a:xfrm>
          <a:prstGeom prst="rect">
            <a:avLst/>
          </a:prstGeom>
          <a:noFill/>
          <a:ln w="0">
            <a:noFill/>
          </a:ln>
        </p:spPr>
        <p:txBody>
          <a:bodyPr anchor="ctr"/>
          <a:lstStyle/>
          <a:p>
            <a:pPr algn="ctr">
              <a:defRPr sz="3150" b="1">
                <a:solidFill>
                  <a:srgbClr val="4472C4"/>
                </a:solidFill>
                <a:latin typeface="Calibri Light"/>
                <a:ea typeface="Calibri Light"/>
                <a:cs typeface="Calibri Light"/>
              </a:defRPr>
            </a:pPr>
            <a:r>
              <a:rPr lang="es-MX" sz="3150" b="1" noProof="0" dirty="0">
                <a:solidFill>
                  <a:srgbClr val="000000"/>
                </a:solidFill>
                <a:latin typeface="Calibri"/>
                <a:ea typeface="Calibri"/>
                <a:cs typeface="Calibri"/>
              </a:rPr>
              <a:t>Alcance de la práctica</a:t>
            </a:r>
          </a:p>
        </p:txBody>
      </p:sp>
      <p:sp>
        <p:nvSpPr>
          <p:cNvPr id="2" name="Rectángulo 1">
            <a:extLst>
              <a:ext uri="{FF2B5EF4-FFF2-40B4-BE49-F238E27FC236}">
                <a16:creationId xmlns:a16="http://schemas.microsoft.com/office/drawing/2014/main" id="{A5192830-EBAA-43CF-A6EE-ED0B16028773}"/>
              </a:ext>
            </a:extLst>
          </p:cNvPr>
          <p:cNvSpPr>
            <a:spLocks noGrp="1"/>
          </p:cNvSpPr>
          <p:nvPr/>
        </p:nvSpPr>
        <p:spPr>
          <a:xfrm>
            <a:off x="819150" y="1476375"/>
            <a:ext cx="10553700" cy="4476750"/>
          </a:xfrm>
          <a:prstGeom prst="rect">
            <a:avLst/>
          </a:prstGeom>
          <a:noFill/>
          <a:ln w="0">
            <a:noFill/>
          </a:ln>
        </p:spPr>
        <p:txBody>
          <a:bodyPr anchor="t"/>
          <a:lstStyle/>
          <a:p>
            <a:pPr algn="just">
              <a:defRPr sz="1950" b="0">
                <a:solidFill>
                  <a:srgbClr val="000000"/>
                </a:solidFill>
                <a:latin typeface="Calibri"/>
                <a:ea typeface="Calibri"/>
                <a:cs typeface="Calibri"/>
              </a:defRPr>
            </a:pPr>
            <a:r>
              <a:rPr lang="es-MX" sz="1950" b="0" noProof="0" dirty="0">
                <a:solidFill>
                  <a:srgbClr val="000000"/>
                </a:solidFill>
                <a:latin typeface="Calibri"/>
                <a:ea typeface="Calibri"/>
                <a:cs typeface="Calibri"/>
              </a:rPr>
              <a:t>La práctica abarca la definición de los criterios de éxito (alcance, tiempo, calidad, documentación y aceptación) y la comparación entre lo planeado y lo real en cada proyecto. También comprende el registro de las lecciones aprendidas, la verificación de los entregables, la elaboración de los documentos de cierre y la integración de las evidencias finales.</a:t>
            </a:r>
          </a:p>
        </p:txBody>
      </p:sp>
    </p:spTree>
    <p:extLst>
      <p:ext uri="{BB962C8B-B14F-4D97-AF65-F5344CB8AC3E}">
        <p14:creationId xmlns:p14="http://schemas.microsoft.com/office/powerpoint/2010/main" val="3626898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0">
            <a:extLst>
              <a:ext uri="{FF2B5EF4-FFF2-40B4-BE49-F238E27FC236}">
                <a16:creationId xmlns:a16="http://schemas.microsoft.com/office/drawing/2014/main" id="{FF25C0CF-575D-9E89-9096-9AACEF4706EB}"/>
              </a:ext>
            </a:extLst>
          </p:cNvPr>
          <p:cNvSpPr>
            <a:spLocks noGrp="1"/>
          </p:cNvSpPr>
          <p:nvPr/>
        </p:nvSpPr>
        <p:spPr>
          <a:xfrm>
            <a:off x="548640" y="320040"/>
            <a:ext cx="11064240" cy="822960"/>
          </a:xfrm>
          <a:prstGeom prst="rect">
            <a:avLst/>
          </a:prstGeom>
          <a:noFill/>
        </p:spPr>
        <p:txBody>
          <a:bodyPr wrap="square" anchor="t"/>
          <a:lstStyle/>
          <a:p>
            <a:pPr marL="0" indent="0" algn="ctr">
              <a:lnSpc>
                <a:spcPct val="90000"/>
              </a:lnSpc>
              <a:spcBef>
                <a:spcPct val="0"/>
              </a:spcBef>
              <a:buNone/>
            </a:pPr>
            <a:r>
              <a:rPr lang="es-MX" sz="4400" b="1" noProof="0" dirty="0">
                <a:solidFill>
                  <a:srgbClr val="000000"/>
                </a:solidFill>
                <a:latin typeface="Calibri"/>
                <a:ea typeface="Calibri"/>
                <a:cs typeface="Calibri"/>
              </a:rPr>
              <a:t>Proyectos analizados</a:t>
            </a:r>
          </a:p>
        </p:txBody>
      </p:sp>
      <p:graphicFrame>
        <p:nvGraphicFramePr>
          <p:cNvPr id="11" name="Table 0"/>
          <p:cNvGraphicFramePr/>
          <p:nvPr>
            <p:extLst>
              <p:ext uri="{D42A27DB-BD31-4B8C-83A1-F6EECF244321}">
                <p14:modId xmlns:p14="http://schemas.microsoft.com/office/powerpoint/2010/main" val="1122833135"/>
              </p:ext>
            </p:extLst>
          </p:nvPr>
        </p:nvGraphicFramePr>
        <p:xfrm>
          <a:off x="548640" y="1371600"/>
          <a:ext cx="11064240" cy="2209800"/>
        </p:xfrm>
        <a:graphic>
          <a:graphicData uri="http://schemas.openxmlformats.org/drawingml/2006/table">
            <a:tbl>
              <a:tblPr>
                <a:tableStyleId>{BDBED569-4797-4DF1-A0F4-6AAB3CD982D8}</a:tableStyleId>
              </a:tblPr>
              <a:tblGrid>
                <a:gridCol w="21945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4480560">
                  <a:extLst>
                    <a:ext uri="{9D8B030D-6E8A-4147-A177-3AD203B41FA5}">
                      <a16:colId xmlns:a16="http://schemas.microsoft.com/office/drawing/2014/main" val="20003"/>
                    </a:ext>
                  </a:extLst>
                </a:gridCol>
              </a:tblGrid>
              <a:tr h="0">
                <a:tc>
                  <a:txBody>
                    <a:bodyPr/>
                    <a:lstStyle/>
                    <a:p>
                      <a:pPr marL="0" indent="0" algn="ctr">
                        <a:buNone/>
                      </a:pPr>
                      <a:r>
                        <a:rPr lang="es-MX" sz="1300" b="1" noProof="0" dirty="0">
                          <a:solidFill>
                            <a:schemeClr val="tx1"/>
                          </a:solidFill>
                        </a:rPr>
                        <a:t>Proyecto</a:t>
                      </a:r>
                      <a:endParaRPr lang="es-MX" sz="1300" b="1" noProof="0" dirty="0">
                        <a:solidFill>
                          <a:schemeClr val="tx1"/>
                        </a:solidFill>
                        <a:latin typeface="Calibri"/>
                        <a:ea typeface="Calibri"/>
                        <a:cs typeface="Calibri"/>
                      </a:endParaRPr>
                    </a:p>
                  </a:txBody>
                  <a:tcPr anchor="ctr">
                    <a:solidFill>
                      <a:schemeClr val="accent5"/>
                    </a:solidFill>
                  </a:tcPr>
                </a:tc>
                <a:tc>
                  <a:txBody>
                    <a:bodyPr/>
                    <a:lstStyle/>
                    <a:p>
                      <a:pPr marL="0" indent="0" algn="ctr">
                        <a:buNone/>
                      </a:pPr>
                      <a:r>
                        <a:rPr lang="es-MX" sz="1300" b="1" noProof="0" dirty="0">
                          <a:solidFill>
                            <a:schemeClr val="tx1"/>
                          </a:solidFill>
                        </a:rPr>
                        <a:t>Responsable</a:t>
                      </a:r>
                      <a:endParaRPr lang="es-MX" sz="1300" b="1" noProof="0" dirty="0">
                        <a:solidFill>
                          <a:schemeClr val="tx1"/>
                        </a:solidFill>
                        <a:latin typeface="Calibri"/>
                        <a:ea typeface="Calibri"/>
                        <a:cs typeface="Calibri"/>
                      </a:endParaRPr>
                    </a:p>
                  </a:txBody>
                  <a:tcPr anchor="ctr">
                    <a:solidFill>
                      <a:schemeClr val="accent5"/>
                    </a:solidFill>
                  </a:tcPr>
                </a:tc>
                <a:tc>
                  <a:txBody>
                    <a:bodyPr/>
                    <a:lstStyle/>
                    <a:p>
                      <a:pPr marL="0" indent="0" algn="ctr">
                        <a:buNone/>
                      </a:pPr>
                      <a:r>
                        <a:rPr lang="es-MX" sz="1300" b="1" noProof="0" dirty="0">
                          <a:solidFill>
                            <a:schemeClr val="tx1"/>
                          </a:solidFill>
                        </a:rPr>
                        <a:t>Periodo de seguimiento</a:t>
                      </a:r>
                      <a:endParaRPr lang="es-MX" sz="1300" b="1" noProof="0" dirty="0">
                        <a:solidFill>
                          <a:schemeClr val="tx1"/>
                        </a:solidFill>
                        <a:latin typeface="Calibri"/>
                        <a:ea typeface="Calibri"/>
                        <a:cs typeface="Calibri"/>
                      </a:endParaRPr>
                    </a:p>
                  </a:txBody>
                  <a:tcPr anchor="ctr">
                    <a:solidFill>
                      <a:schemeClr val="accent5"/>
                    </a:solidFill>
                  </a:tcPr>
                </a:tc>
                <a:tc>
                  <a:txBody>
                    <a:bodyPr/>
                    <a:lstStyle/>
                    <a:p>
                      <a:pPr marL="0" indent="0" algn="ctr">
                        <a:buNone/>
                      </a:pPr>
                      <a:r>
                        <a:rPr lang="es-MX" sz="1300" b="1" noProof="0" dirty="0">
                          <a:solidFill>
                            <a:schemeClr val="tx1"/>
                          </a:solidFill>
                        </a:rPr>
                        <a:t>Objetivo del seguimiento</a:t>
                      </a:r>
                      <a:endParaRPr lang="es-MX" sz="1300" b="1" noProof="0" dirty="0">
                        <a:solidFill>
                          <a:schemeClr val="tx1"/>
                        </a:solidFill>
                        <a:latin typeface="Calibri"/>
                        <a:ea typeface="Calibri"/>
                        <a:cs typeface="Calibri"/>
                      </a:endParaRPr>
                    </a:p>
                  </a:txBody>
                  <a:tcPr anchor="ctr">
                    <a:solidFill>
                      <a:schemeClr val="accent5"/>
                    </a:solidFill>
                  </a:tcPr>
                </a:tc>
                <a:extLst>
                  <a:ext uri="{0D108BD9-81ED-4DB2-BD59-A6C34878D82A}">
                    <a16:rowId xmlns:a16="http://schemas.microsoft.com/office/drawing/2014/main" val="10000"/>
                  </a:ext>
                </a:extLst>
              </a:tr>
              <a:tr h="0">
                <a:tc>
                  <a:txBody>
                    <a:bodyPr/>
                    <a:lstStyle/>
                    <a:p>
                      <a:pPr marL="0" indent="0" algn="l">
                        <a:buNone/>
                      </a:pPr>
                      <a:r>
                        <a:rPr lang="es-MX" sz="1800" noProof="0" dirty="0">
                          <a:solidFill>
                            <a:schemeClr val="tx1"/>
                          </a:solidFill>
                          <a:latin typeface="+mn-lt"/>
                          <a:ea typeface="+mn-lt"/>
                          <a:cs typeface="+mn-lt"/>
                        </a:rPr>
                        <a:t>Taller mecánico</a:t>
                      </a:r>
                    </a:p>
                  </a:txBody>
                  <a:tcPr anchor="ctr"/>
                </a:tc>
                <a:tc>
                  <a:txBody>
                    <a:bodyPr/>
                    <a:lstStyle/>
                    <a:p>
                      <a:pPr marL="0" indent="0" algn="l">
                        <a:buNone/>
                      </a:pPr>
                      <a:r>
                        <a:rPr lang="es-MX" sz="1800" noProof="0" dirty="0">
                          <a:solidFill>
                            <a:schemeClr val="tx1"/>
                          </a:solidFill>
                          <a:latin typeface="+mn-lt"/>
                          <a:ea typeface="+mn-lt"/>
                          <a:cs typeface="+mn-lt"/>
                        </a:rPr>
                        <a:t>Brandon </a:t>
                      </a:r>
                      <a:r>
                        <a:rPr lang="es-MX" sz="1800" noProof="0" dirty="0" err="1">
                          <a:solidFill>
                            <a:schemeClr val="tx1"/>
                          </a:solidFill>
                          <a:latin typeface="+mn-lt"/>
                          <a:ea typeface="+mn-lt"/>
                          <a:cs typeface="+mn-lt"/>
                        </a:rPr>
                        <a:t>Farith</a:t>
                      </a:r>
                      <a:r>
                        <a:rPr lang="es-MX" sz="1800" noProof="0" dirty="0">
                          <a:solidFill>
                            <a:schemeClr val="tx1"/>
                          </a:solidFill>
                          <a:latin typeface="+mn-lt"/>
                          <a:ea typeface="+mn-lt"/>
                          <a:cs typeface="+mn-lt"/>
                        </a:rPr>
                        <a:t> López Nanga</a:t>
                      </a:r>
                    </a:p>
                  </a:txBody>
                  <a:tcPr anchor="ctr"/>
                </a:tc>
                <a:tc>
                  <a:txBody>
                    <a:bodyPr/>
                    <a:lstStyle/>
                    <a:p>
                      <a:pPr marL="0" indent="0" algn="l">
                        <a:buNone/>
                      </a:pPr>
                      <a:r>
                        <a:rPr lang="es-MX" sz="1800" noProof="0" dirty="0">
                          <a:solidFill>
                            <a:schemeClr val="tx1"/>
                          </a:solidFill>
                          <a:latin typeface="+mn-lt"/>
                          <a:ea typeface="+mn-lt"/>
                          <a:cs typeface="+mn-lt"/>
                        </a:rPr>
                        <a:t>17/08/2026 al 11/10/2026</a:t>
                      </a:r>
                    </a:p>
                  </a:txBody>
                  <a:tcPr anchor="ctr"/>
                </a:tc>
                <a:tc>
                  <a:txBody>
                    <a:bodyPr/>
                    <a:lstStyle/>
                    <a:p>
                      <a:pPr marL="0" indent="0" algn="l">
                        <a:buNone/>
                      </a:pPr>
                      <a:r>
                        <a:rPr lang="es-MX" sz="1800" noProof="0" dirty="0">
                          <a:solidFill>
                            <a:schemeClr val="tx1"/>
                          </a:solidFill>
                          <a:latin typeface="+mn-lt"/>
                          <a:ea typeface="+mn-lt"/>
                          <a:cs typeface="+mn-lt"/>
                        </a:rPr>
                        <a:t>Controlar mejoras del sistema, pruebas y entrega final.</a:t>
                      </a:r>
                    </a:p>
                  </a:txBody>
                  <a:tcPr anchor="ctr"/>
                </a:tc>
                <a:extLst>
                  <a:ext uri="{0D108BD9-81ED-4DB2-BD59-A6C34878D82A}">
                    <a16:rowId xmlns:a16="http://schemas.microsoft.com/office/drawing/2014/main" val="10001"/>
                  </a:ext>
                </a:extLst>
              </a:tr>
              <a:tr h="0">
                <a:tc>
                  <a:txBody>
                    <a:bodyPr/>
                    <a:lstStyle/>
                    <a:p>
                      <a:pPr marL="0" indent="0" algn="l">
                        <a:buNone/>
                      </a:pPr>
                      <a:r>
                        <a:rPr lang="es-MX" sz="1800" noProof="0" dirty="0">
                          <a:solidFill>
                            <a:schemeClr val="tx1"/>
                          </a:solidFill>
                          <a:latin typeface="+mn-lt"/>
                          <a:ea typeface="+mn-lt"/>
                          <a:cs typeface="+mn-lt"/>
                        </a:rPr>
                        <a:t>Planta embotelladora</a:t>
                      </a:r>
                    </a:p>
                  </a:txBody>
                  <a:tcPr anchor="ctr"/>
                </a:tc>
                <a:tc>
                  <a:txBody>
                    <a:bodyPr/>
                    <a:lstStyle/>
                    <a:p>
                      <a:pPr marL="0" indent="0" algn="l">
                        <a:buNone/>
                      </a:pPr>
                      <a:r>
                        <a:rPr lang="es-MX" sz="1800" noProof="0" dirty="0">
                          <a:solidFill>
                            <a:schemeClr val="tx1"/>
                          </a:solidFill>
                          <a:latin typeface="+mn-lt"/>
                          <a:ea typeface="+mn-lt"/>
                          <a:cs typeface="+mn-lt"/>
                        </a:rPr>
                        <a:t>Josefina Nieto Hernández</a:t>
                      </a:r>
                    </a:p>
                  </a:txBody>
                  <a:tcPr anchor="ctr"/>
                </a:tc>
                <a:tc>
                  <a:txBody>
                    <a:bodyPr/>
                    <a:lstStyle/>
                    <a:p>
                      <a:pPr marL="0" indent="0" algn="l">
                        <a:buNone/>
                      </a:pPr>
                      <a:r>
                        <a:rPr lang="es-MX" sz="1800" noProof="0" dirty="0">
                          <a:solidFill>
                            <a:schemeClr val="tx1"/>
                          </a:solidFill>
                          <a:latin typeface="+mn-lt"/>
                          <a:ea typeface="+mn-lt"/>
                          <a:cs typeface="+mn-lt"/>
                        </a:rPr>
                        <a:t>17/08/2026 al 11/10/2026</a:t>
                      </a:r>
                    </a:p>
                  </a:txBody>
                  <a:tcPr anchor="ctr"/>
                </a:tc>
                <a:tc>
                  <a:txBody>
                    <a:bodyPr/>
                    <a:lstStyle/>
                    <a:p>
                      <a:r>
                        <a:rPr lang="es-MX" sz="1800" noProof="0" dirty="0">
                          <a:solidFill>
                            <a:schemeClr val="tx1"/>
                          </a:solidFill>
                          <a:latin typeface="+mn-lt"/>
                          <a:ea typeface="+mn-lt"/>
                          <a:cs typeface="+mn-lt"/>
                        </a:rPr>
                        <a:t>Dar seguimiento al modelo, pruebas y reporte de resultados.</a:t>
                      </a:r>
                    </a:p>
                  </a:txBody>
                  <a:tcPr anchor="ctr"/>
                </a:tc>
                <a:extLst>
                  <a:ext uri="{0D108BD9-81ED-4DB2-BD59-A6C34878D82A}">
                    <a16:rowId xmlns:a16="http://schemas.microsoft.com/office/drawing/2014/main" val="10002"/>
                  </a:ext>
                </a:extLst>
              </a:tr>
              <a:tr h="0">
                <a:tc>
                  <a:txBody>
                    <a:bodyPr/>
                    <a:lstStyle/>
                    <a:p>
                      <a:pPr marL="0" indent="0" algn="l">
                        <a:buNone/>
                      </a:pPr>
                      <a:r>
                        <a:rPr lang="es-MX" sz="1800" noProof="0" dirty="0">
                          <a:solidFill>
                            <a:schemeClr val="tx1"/>
                          </a:solidFill>
                          <a:latin typeface="+mn-lt"/>
                          <a:ea typeface="+mn-lt"/>
                          <a:cs typeface="+mn-lt"/>
                        </a:rPr>
                        <a:t>Taller de electrónica</a:t>
                      </a:r>
                    </a:p>
                  </a:txBody>
                  <a:tcPr anchor="ctr"/>
                </a:tc>
                <a:tc>
                  <a:txBody>
                    <a:bodyPr/>
                    <a:lstStyle/>
                    <a:p>
                      <a:pPr marL="0" indent="0" algn="l">
                        <a:buNone/>
                      </a:pPr>
                      <a:r>
                        <a:rPr lang="es-MX" sz="1800" noProof="0" dirty="0">
                          <a:solidFill>
                            <a:schemeClr val="tx1"/>
                          </a:solidFill>
                          <a:latin typeface="+mn-lt"/>
                          <a:ea typeface="+mn-lt"/>
                          <a:cs typeface="+mn-lt"/>
                        </a:rPr>
                        <a:t>Roberto Carlos </a:t>
                      </a:r>
                      <a:r>
                        <a:rPr lang="es-MX" sz="1800" noProof="0" dirty="0" err="1">
                          <a:solidFill>
                            <a:schemeClr val="tx1"/>
                          </a:solidFill>
                          <a:latin typeface="+mn-lt"/>
                          <a:ea typeface="+mn-lt"/>
                          <a:cs typeface="+mn-lt"/>
                        </a:rPr>
                        <a:t>Cahuare</a:t>
                      </a:r>
                      <a:r>
                        <a:rPr lang="es-MX" sz="1800" noProof="0" dirty="0">
                          <a:solidFill>
                            <a:schemeClr val="tx1"/>
                          </a:solidFill>
                          <a:latin typeface="+mn-lt"/>
                          <a:ea typeface="+mn-lt"/>
                          <a:cs typeface="+mn-lt"/>
                        </a:rPr>
                        <a:t> Moreno</a:t>
                      </a:r>
                    </a:p>
                  </a:txBody>
                  <a:tcPr anchor="ctr"/>
                </a:tc>
                <a:tc>
                  <a:txBody>
                    <a:bodyPr/>
                    <a:lstStyle/>
                    <a:p>
                      <a:pPr marL="0" indent="0" algn="l">
                        <a:buNone/>
                      </a:pPr>
                      <a:r>
                        <a:rPr lang="es-MX" sz="1800" noProof="0" dirty="0">
                          <a:solidFill>
                            <a:schemeClr val="tx1"/>
                          </a:solidFill>
                          <a:latin typeface="+mn-lt"/>
                          <a:ea typeface="+mn-lt"/>
                          <a:cs typeface="+mn-lt"/>
                        </a:rPr>
                        <a:t>17/08/2026 al 11/10/2026</a:t>
                      </a:r>
                    </a:p>
                  </a:txBody>
                  <a:tcPr anchor="ctr"/>
                </a:tc>
                <a:tc>
                  <a:txBody>
                    <a:bodyPr/>
                    <a:lstStyle/>
                    <a:p>
                      <a:pPr marL="0" indent="0" algn="l">
                        <a:buNone/>
                      </a:pPr>
                      <a:r>
                        <a:rPr lang="es-MX" sz="1800" noProof="0" dirty="0">
                          <a:solidFill>
                            <a:schemeClr val="tx1"/>
                          </a:solidFill>
                          <a:latin typeface="+mn-lt"/>
                          <a:ea typeface="+mn-lt"/>
                          <a:cs typeface="+mn-lt"/>
                        </a:rPr>
                        <a:t>Controlar implementación, pruebas y análisis final.</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38522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7086BDA-2947-4D7D-B0AD-C45F9DAC3309}"/>
              </a:ext>
            </a:extLst>
          </p:cNvPr>
          <p:cNvSpPr>
            <a:spLocks noGrp="1"/>
          </p:cNvSpPr>
          <p:nvPr/>
        </p:nvSpPr>
        <p:spPr>
          <a:xfrm>
            <a:off x="228600" y="242490"/>
            <a:ext cx="11064240" cy="822960"/>
          </a:xfrm>
          <a:prstGeom prst="rect">
            <a:avLst/>
          </a:prstGeom>
          <a:noFill/>
        </p:spPr>
        <p:txBody>
          <a:bodyPr wrap="square" anchor="t"/>
          <a:lstStyle/>
          <a:p>
            <a:pPr algn="ctr">
              <a:lnSpc>
                <a:spcPct val="90000"/>
              </a:lnSpc>
              <a:spcBef>
                <a:spcPct val="0"/>
              </a:spcBef>
              <a:buNone/>
            </a:pPr>
            <a:r>
              <a:rPr lang="es-MX" sz="4400" b="1" noProof="0" dirty="0">
                <a:solidFill>
                  <a:srgbClr val="000000"/>
                </a:solidFill>
                <a:latin typeface="Calibri"/>
                <a:ea typeface="Calibri"/>
                <a:cs typeface="Calibri"/>
              </a:rPr>
              <a:t>Herramientas de seguimiento utilizadas</a:t>
            </a:r>
          </a:p>
        </p:txBody>
      </p:sp>
      <p:graphicFrame>
        <p:nvGraphicFramePr>
          <p:cNvPr id="11" name="Table 0"/>
          <p:cNvGraphicFramePr/>
          <p:nvPr>
            <p:extLst>
              <p:ext uri="{D42A27DB-BD31-4B8C-83A1-F6EECF244321}">
                <p14:modId xmlns:p14="http://schemas.microsoft.com/office/powerpoint/2010/main" val="1601484584"/>
              </p:ext>
            </p:extLst>
          </p:nvPr>
        </p:nvGraphicFramePr>
        <p:xfrm>
          <a:off x="548640" y="1371600"/>
          <a:ext cx="10424160" cy="3139440"/>
        </p:xfrm>
        <a:graphic>
          <a:graphicData uri="http://schemas.openxmlformats.org/drawingml/2006/table">
            <a:tbl>
              <a:tblPr/>
              <a:tblGrid>
                <a:gridCol w="15544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0">
                <a:tc>
                  <a:txBody>
                    <a:bodyPr/>
                    <a:lstStyle/>
                    <a:p>
                      <a:pPr marL="0" indent="0" algn="ctr">
                        <a:buNone/>
                      </a:pPr>
                      <a:r>
                        <a:rPr lang="es-MX" sz="1600" b="1" noProof="0" dirty="0">
                          <a:solidFill>
                            <a:schemeClr val="tx1"/>
                          </a:solidFill>
                          <a:latin typeface="+mn-lt"/>
                          <a:ea typeface="+mn-lt"/>
                          <a:cs typeface="+mn-lt"/>
                        </a:rPr>
                        <a:t>Proyecto</a:t>
                      </a: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4472C4"/>
                    </a:solidFill>
                  </a:tcPr>
                </a:tc>
                <a:tc>
                  <a:txBody>
                    <a:bodyPr/>
                    <a:lstStyle/>
                    <a:p>
                      <a:pPr marL="0" indent="0" algn="ctr">
                        <a:buNone/>
                      </a:pPr>
                      <a:r>
                        <a:rPr lang="es-MX" sz="1600" b="1" noProof="0" dirty="0">
                          <a:solidFill>
                            <a:schemeClr val="tx1"/>
                          </a:solidFill>
                          <a:latin typeface="+mn-lt"/>
                          <a:ea typeface="+mn-lt"/>
                          <a:cs typeface="+mn-lt"/>
                        </a:rPr>
                        <a:t>Microsoft Project</a:t>
                      </a: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4472C4"/>
                    </a:solidFill>
                  </a:tcPr>
                </a:tc>
                <a:tc>
                  <a:txBody>
                    <a:bodyPr/>
                    <a:lstStyle/>
                    <a:p>
                      <a:pPr marL="0" indent="0" algn="ctr">
                        <a:buNone/>
                      </a:pPr>
                      <a:r>
                        <a:rPr lang="es-MX" sz="1600" b="1" noProof="0" dirty="0">
                          <a:solidFill>
                            <a:schemeClr val="tx1"/>
                          </a:solidFill>
                          <a:latin typeface="+mn-lt"/>
                          <a:ea typeface="+mn-lt"/>
                          <a:cs typeface="+mn-lt"/>
                        </a:rPr>
                        <a:t>Jira</a:t>
                      </a: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4472C4"/>
                    </a:solidFill>
                  </a:tcPr>
                </a:tc>
                <a:tc>
                  <a:txBody>
                    <a:bodyPr/>
                    <a:lstStyle/>
                    <a:p>
                      <a:pPr marL="0" indent="0" algn="ctr">
                        <a:buNone/>
                      </a:pPr>
                      <a:r>
                        <a:rPr lang="es-MX" sz="1600" b="1" noProof="0" dirty="0">
                          <a:solidFill>
                            <a:schemeClr val="tx1"/>
                          </a:solidFill>
                          <a:latin typeface="+mn-lt"/>
                          <a:ea typeface="+mn-lt"/>
                          <a:cs typeface="+mn-lt"/>
                        </a:rPr>
                        <a:t>Trello</a:t>
                      </a: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4472C4"/>
                    </a:solidFill>
                  </a:tcPr>
                </a:tc>
                <a:extLst>
                  <a:ext uri="{0D108BD9-81ED-4DB2-BD59-A6C34878D82A}">
                    <a16:rowId xmlns:a16="http://schemas.microsoft.com/office/drawing/2014/main" val="10000"/>
                  </a:ext>
                </a:extLst>
              </a:tr>
              <a:tr h="0">
                <a:tc>
                  <a:txBody>
                    <a:bodyPr/>
                    <a:lstStyle/>
                    <a:p>
                      <a:pPr marL="0" indent="0" algn="l">
                        <a:buNone/>
                      </a:pPr>
                      <a:r>
                        <a:rPr lang="es-MX" sz="1600" noProof="0" dirty="0">
                          <a:solidFill>
                            <a:schemeClr val="tx1"/>
                          </a:solidFill>
                          <a:latin typeface="+mn-lt"/>
                          <a:ea typeface="+mn-lt"/>
                          <a:cs typeface="+mn-lt"/>
                        </a:rPr>
                        <a:t>Brandon</a:t>
                      </a: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FFFFFF"/>
                    </a:solidFill>
                  </a:tcPr>
                </a:tc>
                <a:tc>
                  <a:txBody>
                    <a:bodyPr/>
                    <a:lstStyle/>
                    <a:p>
                      <a:pPr marL="0" indent="0" algn="l">
                        <a:buNone/>
                      </a:pPr>
                      <a:r>
                        <a:rPr lang="es-MX" sz="1600" noProof="0" dirty="0">
                          <a:solidFill>
                            <a:schemeClr val="tx1"/>
                          </a:solidFill>
                          <a:latin typeface="+mn-lt"/>
                          <a:ea typeface="+mn-lt"/>
                          <a:cs typeface="+mn-lt"/>
                        </a:rPr>
                        <a:t>Cronograma del taller mecánico</a:t>
                      </a: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FFFFFF"/>
                    </a:solidFill>
                  </a:tcPr>
                </a:tc>
                <a:tc>
                  <a:txBody>
                    <a:bodyPr/>
                    <a:lstStyle/>
                    <a:p>
                      <a:pPr marL="0" indent="0" algn="l">
                        <a:buNone/>
                      </a:pPr>
                      <a:r>
                        <a:rPr lang="es-MX" sz="1600" noProof="0" dirty="0"/>
                        <a:t>Épica SCRUM-6 y tareas</a:t>
                      </a:r>
                      <a:endParaRPr lang="es-MX" sz="1600" kern="1200" noProof="0" dirty="0">
                        <a:solidFill>
                          <a:schemeClr val="tx1"/>
                        </a:solidFill>
                        <a:latin typeface="+mn-lt"/>
                        <a:ea typeface="+mn-lt"/>
                        <a:cs typeface="+mn-lt"/>
                      </a:endParaRP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FFFFFF"/>
                    </a:solidFill>
                  </a:tcPr>
                </a:tc>
                <a:tc>
                  <a:txBody>
                    <a:bodyPr/>
                    <a:lstStyle/>
                    <a:p>
                      <a:pPr marL="0" indent="0" algn="l">
                        <a:buNone/>
                      </a:pPr>
                      <a:r>
                        <a:rPr lang="es-MX" sz="1600" noProof="0" dirty="0">
                          <a:solidFill>
                            <a:schemeClr val="tx1"/>
                          </a:solidFill>
                          <a:latin typeface="+mn-lt"/>
                          <a:ea typeface="+mn-lt"/>
                          <a:cs typeface="+mn-lt"/>
                        </a:rPr>
                        <a:t>Tarjetas de avances y evidencias</a:t>
                      </a: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s-MX" sz="1600" noProof="0" dirty="0">
                          <a:solidFill>
                            <a:schemeClr val="tx1"/>
                          </a:solidFill>
                          <a:latin typeface="+mn-lt"/>
                          <a:ea typeface="+mn-lt"/>
                          <a:cs typeface="+mn-lt"/>
                        </a:rPr>
                        <a:t>Josefina</a:t>
                      </a: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FFFFFF"/>
                    </a:solidFill>
                  </a:tcPr>
                </a:tc>
                <a:tc>
                  <a:txBody>
                    <a:bodyPr/>
                    <a:lstStyle/>
                    <a:p>
                      <a:r>
                        <a:rPr lang="es-MX" sz="1600" noProof="0" dirty="0">
                          <a:solidFill>
                            <a:schemeClr val="tx1"/>
                          </a:solidFill>
                          <a:latin typeface="+mn-lt"/>
                          <a:ea typeface="+mn-lt"/>
                          <a:cs typeface="+mn-lt"/>
                        </a:rPr>
                        <a:t>Cronograma de planta embotelladora</a:t>
                      </a: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FFFFFF"/>
                    </a:solidFill>
                  </a:tcPr>
                </a:tc>
                <a:tc>
                  <a:txBody>
                    <a:bodyPr/>
                    <a:lstStyle/>
                    <a:p>
                      <a:r>
                        <a:rPr lang="es-MX" sz="1600" noProof="0" dirty="0"/>
                        <a:t>Épica SCRUM-5 y tareas</a:t>
                      </a:r>
                      <a:endParaRPr lang="es-MX" sz="1600" kern="1200" noProof="0" dirty="0">
                        <a:solidFill>
                          <a:schemeClr val="tx1"/>
                        </a:solidFill>
                        <a:latin typeface="+mn-lt"/>
                        <a:ea typeface="+mn-lt"/>
                        <a:cs typeface="+mn-lt"/>
                      </a:endParaRP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FFFFFF"/>
                    </a:solidFill>
                  </a:tcPr>
                </a:tc>
                <a:tc>
                  <a:txBody>
                    <a:bodyPr/>
                    <a:lstStyle/>
                    <a:p>
                      <a:r>
                        <a:rPr lang="es-MX" sz="1600" noProof="0" dirty="0">
                          <a:solidFill>
                            <a:schemeClr val="tx1"/>
                          </a:solidFill>
                          <a:latin typeface="+mn-lt"/>
                          <a:ea typeface="+mn-lt"/>
                          <a:cs typeface="+mn-lt"/>
                        </a:rPr>
                        <a:t>Tarjetas de modelo y pruebas</a:t>
                      </a: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FFFFFF"/>
                    </a:solidFill>
                  </a:tcPr>
                </a:tc>
                <a:extLst>
                  <a:ext uri="{0D108BD9-81ED-4DB2-BD59-A6C34878D82A}">
                    <a16:rowId xmlns:a16="http://schemas.microsoft.com/office/drawing/2014/main" val="10002"/>
                  </a:ext>
                </a:extLst>
              </a:tr>
              <a:tr h="0">
                <a:tc>
                  <a:txBody>
                    <a:bodyPr/>
                    <a:lstStyle/>
                    <a:p>
                      <a:pPr marL="0" indent="0" algn="l">
                        <a:buNone/>
                      </a:pPr>
                      <a:r>
                        <a:rPr lang="es-MX" sz="1600" noProof="0" dirty="0">
                          <a:solidFill>
                            <a:schemeClr val="tx1"/>
                          </a:solidFill>
                          <a:latin typeface="+mn-lt"/>
                          <a:ea typeface="+mn-lt"/>
                          <a:cs typeface="+mn-lt"/>
                        </a:rPr>
                        <a:t>Roberto</a:t>
                      </a: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FFFFFF"/>
                    </a:solidFill>
                  </a:tcPr>
                </a:tc>
                <a:tc>
                  <a:txBody>
                    <a:bodyPr/>
                    <a:lstStyle/>
                    <a:p>
                      <a:r>
                        <a:rPr lang="es-MX" sz="1600" noProof="0" dirty="0">
                          <a:solidFill>
                            <a:schemeClr val="tx1"/>
                          </a:solidFill>
                          <a:latin typeface="+mn-lt"/>
                          <a:ea typeface="+mn-lt"/>
                          <a:cs typeface="+mn-lt"/>
                        </a:rPr>
                        <a:t>Cronograma de taller electrónico</a:t>
                      </a: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FFFFFF"/>
                    </a:solidFill>
                  </a:tcPr>
                </a:tc>
                <a:tc>
                  <a:txBody>
                    <a:bodyPr/>
                    <a:lstStyle/>
                    <a:p>
                      <a:r>
                        <a:rPr lang="es-MX" sz="1600" noProof="0" dirty="0"/>
                        <a:t>Épica SCRUM-7 y tareas</a:t>
                      </a:r>
                      <a:endParaRPr lang="es-MX" sz="1600" kern="1200" noProof="0" dirty="0">
                        <a:solidFill>
                          <a:schemeClr val="tx1"/>
                        </a:solidFill>
                        <a:latin typeface="+mn-lt"/>
                        <a:ea typeface="+mn-lt"/>
                        <a:cs typeface="+mn-lt"/>
                      </a:endParaRP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FFFFFF"/>
                    </a:solidFill>
                  </a:tcPr>
                </a:tc>
                <a:tc>
                  <a:txBody>
                    <a:bodyPr/>
                    <a:lstStyle/>
                    <a:p>
                      <a:pPr marL="0" indent="0" algn="l">
                        <a:buNone/>
                      </a:pPr>
                      <a:r>
                        <a:rPr lang="es-MX" sz="1600" noProof="0" dirty="0">
                          <a:solidFill>
                            <a:schemeClr val="tx1"/>
                          </a:solidFill>
                          <a:latin typeface="+mn-lt"/>
                          <a:ea typeface="+mn-lt"/>
                          <a:cs typeface="+mn-lt"/>
                        </a:rPr>
                        <a:t>Tarjetas de implementación y pruebas</a:t>
                      </a: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s-MX" sz="1600" noProof="0" dirty="0">
                          <a:solidFill>
                            <a:schemeClr val="tx1"/>
                          </a:solidFill>
                          <a:latin typeface="+mn-lt"/>
                          <a:ea typeface="+mn-lt"/>
                          <a:cs typeface="+mn-lt"/>
                        </a:rPr>
                        <a:t>Control general</a:t>
                      </a: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FFFFFF"/>
                    </a:solidFill>
                  </a:tcPr>
                </a:tc>
                <a:tc>
                  <a:txBody>
                    <a:bodyPr/>
                    <a:lstStyle/>
                    <a:p>
                      <a:r>
                        <a:rPr lang="es-MX" sz="1600" noProof="0" dirty="0">
                          <a:solidFill>
                            <a:schemeClr val="tx1"/>
                          </a:solidFill>
                          <a:latin typeface="+mn-lt"/>
                          <a:ea typeface="+mn-lt"/>
                          <a:cs typeface="+mn-lt"/>
                        </a:rPr>
                        <a:t>Fechas de referencia</a:t>
                      </a: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FFFFFF"/>
                    </a:solidFill>
                  </a:tcPr>
                </a:tc>
                <a:tc>
                  <a:txBody>
                    <a:bodyPr/>
                    <a:lstStyle/>
                    <a:p>
                      <a:r>
                        <a:rPr lang="es-MX" sz="1600" noProof="0" dirty="0">
                          <a:solidFill>
                            <a:schemeClr val="tx1"/>
                          </a:solidFill>
                          <a:latin typeface="+mn-lt"/>
                          <a:ea typeface="+mn-lt"/>
                          <a:cs typeface="+mn-lt"/>
                        </a:rPr>
                        <a:t>Estado del trabajo</a:t>
                      </a: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FFFFFF"/>
                    </a:solidFill>
                  </a:tcPr>
                </a:tc>
                <a:tc>
                  <a:txBody>
                    <a:bodyPr/>
                    <a:lstStyle/>
                    <a:p>
                      <a:pPr marL="0" indent="0" algn="l">
                        <a:buNone/>
                      </a:pPr>
                      <a:r>
                        <a:rPr lang="es-MX" sz="1600" noProof="0" dirty="0">
                          <a:solidFill>
                            <a:schemeClr val="tx1"/>
                          </a:solidFill>
                          <a:latin typeface="+mn-lt"/>
                          <a:ea typeface="+mn-lt"/>
                          <a:cs typeface="+mn-lt"/>
                        </a:rPr>
                        <a:t>Evidencia de seguimiento</a:t>
                      </a:r>
                    </a:p>
                  </a:txBody>
                  <a:tcPr anchor="ctr">
                    <a:lnL w="9525" cmpd="sng">
                      <a:solidFill>
                        <a:srgbClr val="B4C7E7"/>
                      </a:solidFill>
                      <a:prstDash val="solid"/>
                    </a:lnL>
                    <a:lnR w="9525" cmpd="sng">
                      <a:solidFill>
                        <a:srgbClr val="B4C7E7"/>
                      </a:solidFill>
                      <a:prstDash val="solid"/>
                    </a:lnR>
                    <a:lnT w="9525" cmpd="sng">
                      <a:solidFill>
                        <a:srgbClr val="B4C7E7"/>
                      </a:solidFill>
                      <a:prstDash val="solid"/>
                    </a:lnT>
                    <a:lnB w="9525" cmpd="sng">
                      <a:solidFill>
                        <a:srgbClr val="B4C7E7"/>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8" name="Text 1">
            <a:extLst>
              <a:ext uri="{FF2B5EF4-FFF2-40B4-BE49-F238E27FC236}">
                <a16:creationId xmlns:a16="http://schemas.microsoft.com/office/drawing/2014/main" id="{81F7A3B0-6EA6-897F-FB10-55AF36AD57B7}"/>
              </a:ext>
            </a:extLst>
          </p:cNvPr>
          <p:cNvSpPr>
            <a:spLocks noGrp="1"/>
          </p:cNvSpPr>
          <p:nvPr/>
        </p:nvSpPr>
        <p:spPr>
          <a:xfrm>
            <a:off x="685800" y="5101389"/>
            <a:ext cx="10789920" cy="1102641"/>
          </a:xfrm>
          <a:prstGeom prst="rect">
            <a:avLst/>
          </a:prstGeom>
          <a:noFill/>
        </p:spPr>
        <p:txBody>
          <a:bodyPr vert="horz" wrap="square" anchor="t">
            <a:noAutofit/>
          </a:bodyPr>
          <a:lstStyle/>
          <a:p>
            <a:pPr algn="just">
              <a:spcAft>
                <a:spcPts val="600"/>
              </a:spcAft>
              <a:buNone/>
            </a:pPr>
            <a:r>
              <a:rPr lang="es-MX" sz="2800" noProof="0" dirty="0">
                <a:solidFill>
                  <a:srgbClr val="262626"/>
                </a:solidFill>
              </a:rPr>
              <a:t>Microsoft Project concentró las fechas de referencia, Jira organizó las épicas y tareas, y Trello reunió las evidencias de seguimiento.</a:t>
            </a:r>
          </a:p>
        </p:txBody>
      </p:sp>
    </p:spTree>
    <p:extLst>
      <p:ext uri="{BB962C8B-B14F-4D97-AF65-F5344CB8AC3E}">
        <p14:creationId xmlns:p14="http://schemas.microsoft.com/office/powerpoint/2010/main" val="1331120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E1BF8CA4-4723-423F-8F51-2E9727208C99}"/>
              </a:ext>
            </a:extLst>
          </p:cNvPr>
          <p:cNvSpPr>
            <a:spLocks noGrp="1"/>
          </p:cNvSpPr>
          <p:nvPr/>
        </p:nvSpPr>
        <p:spPr>
          <a:xfrm>
            <a:off x="552450" y="323850"/>
            <a:ext cx="11068050" cy="781050"/>
          </a:xfrm>
          <a:prstGeom prst="rect">
            <a:avLst/>
          </a:prstGeom>
          <a:noFill/>
          <a:ln w="0">
            <a:noFill/>
          </a:ln>
        </p:spPr>
        <p:txBody>
          <a:bodyPr anchor="ctr"/>
          <a:lstStyle/>
          <a:p>
            <a:pPr algn="ctr">
              <a:defRPr sz="3150" b="1">
                <a:solidFill>
                  <a:srgbClr val="4472C4"/>
                </a:solidFill>
                <a:latin typeface="Calibri Light"/>
                <a:ea typeface="Calibri Light"/>
                <a:cs typeface="Calibri Light"/>
              </a:defRPr>
            </a:pPr>
            <a:r>
              <a:rPr lang="es-MX" sz="3150" b="1" noProof="0" dirty="0">
                <a:solidFill>
                  <a:srgbClr val="000000"/>
                </a:solidFill>
                <a:latin typeface="Calibri"/>
                <a:ea typeface="Calibri"/>
                <a:cs typeface="Calibri"/>
              </a:rPr>
              <a:t>Medición de éxito de los proyectos</a:t>
            </a:r>
          </a:p>
        </p:txBody>
      </p:sp>
      <p:graphicFrame>
        <p:nvGraphicFramePr>
          <p:cNvPr id="5" name="Tabla 4"/>
          <p:cNvGraphicFramePr/>
          <p:nvPr>
            <p:extLst>
              <p:ext uri="{D42A27DB-BD31-4B8C-83A1-F6EECF244321}">
                <p14:modId xmlns:p14="http://schemas.microsoft.com/office/powerpoint/2010/main" val="549465943"/>
              </p:ext>
            </p:extLst>
          </p:nvPr>
        </p:nvGraphicFramePr>
        <p:xfrm>
          <a:off x="428625" y="1333500"/>
          <a:ext cx="11437049" cy="4036424"/>
        </p:xfrm>
        <a:graphic>
          <a:graphicData uri="http://schemas.openxmlformats.org/drawingml/2006/table">
            <a:tbl>
              <a:tblPr/>
              <a:tblGrid>
                <a:gridCol w="1531049">
                  <a:extLst>
                    <a:ext uri="{9D8B030D-6E8A-4147-A177-3AD203B41FA5}">
                      <a16:colId xmlns:a16="http://schemas.microsoft.com/office/drawing/2014/main" val="20000"/>
                    </a:ext>
                  </a:extLst>
                </a:gridCol>
                <a:gridCol w="3253105">
                  <a:extLst>
                    <a:ext uri="{9D8B030D-6E8A-4147-A177-3AD203B41FA5}">
                      <a16:colId xmlns:a16="http://schemas.microsoft.com/office/drawing/2014/main" val="20001"/>
                    </a:ext>
                  </a:extLst>
                </a:gridCol>
                <a:gridCol w="2164080">
                  <a:extLst>
                    <a:ext uri="{9D8B030D-6E8A-4147-A177-3AD203B41FA5}">
                      <a16:colId xmlns:a16="http://schemas.microsoft.com/office/drawing/2014/main" val="20002"/>
                    </a:ext>
                  </a:extLst>
                </a:gridCol>
                <a:gridCol w="2059940">
                  <a:extLst>
                    <a:ext uri="{9D8B030D-6E8A-4147-A177-3AD203B41FA5}">
                      <a16:colId xmlns:a16="http://schemas.microsoft.com/office/drawing/2014/main" val="20003"/>
                    </a:ext>
                  </a:extLst>
                </a:gridCol>
                <a:gridCol w="2428875">
                  <a:extLst>
                    <a:ext uri="{9D8B030D-6E8A-4147-A177-3AD203B41FA5}">
                      <a16:colId xmlns:a16="http://schemas.microsoft.com/office/drawing/2014/main" val="20004"/>
                    </a:ext>
                  </a:extLst>
                </a:gridCol>
              </a:tblGrid>
              <a:tr h="544286">
                <a:tc>
                  <a:txBody>
                    <a:bodyPr/>
                    <a:lstStyle/>
                    <a:p>
                      <a:pPr algn="ctr"/>
                      <a:r>
                        <a:rPr lang="es-MX" sz="2000" b="1" noProof="0" dirty="0">
                          <a:solidFill>
                            <a:schemeClr val="tx1"/>
                          </a:solidFill>
                          <a:latin typeface="Calibri"/>
                          <a:ea typeface="Calibri"/>
                          <a:cs typeface="Calibri"/>
                        </a:rPr>
                        <a:t>Criterio</a:t>
                      </a:r>
                    </a:p>
                  </a:txBody>
                  <a:tcPr anchor="ctr">
                    <a:solidFill>
                      <a:srgbClr val="4472C4"/>
                    </a:solidFill>
                  </a:tcPr>
                </a:tc>
                <a:tc>
                  <a:txBody>
                    <a:bodyPr/>
                    <a:lstStyle/>
                    <a:p>
                      <a:pPr algn="ctr"/>
                      <a:r>
                        <a:rPr lang="es-MX" sz="2000" b="1" noProof="0" dirty="0">
                          <a:solidFill>
                            <a:schemeClr val="tx1"/>
                          </a:solidFill>
                          <a:latin typeface="Calibri"/>
                          <a:ea typeface="Calibri"/>
                          <a:cs typeface="Calibri"/>
                        </a:rPr>
                        <a:t>Indicador</a:t>
                      </a:r>
                    </a:p>
                  </a:txBody>
                  <a:tcPr anchor="ctr">
                    <a:solidFill>
                      <a:srgbClr val="4472C4"/>
                    </a:solidFill>
                  </a:tcPr>
                </a:tc>
                <a:tc>
                  <a:txBody>
                    <a:bodyPr/>
                    <a:lstStyle/>
                    <a:p>
                      <a:pPr algn="ctr"/>
                      <a:r>
                        <a:rPr lang="es-MX" sz="2000" b="1" noProof="0" dirty="0">
                          <a:solidFill>
                            <a:schemeClr val="tx1"/>
                          </a:solidFill>
                          <a:latin typeface="Calibri"/>
                          <a:ea typeface="Calibri"/>
                          <a:cs typeface="Calibri"/>
                        </a:rPr>
                        <a:t>Brandon</a:t>
                      </a:r>
                    </a:p>
                  </a:txBody>
                  <a:tcPr anchor="ctr">
                    <a:solidFill>
                      <a:srgbClr val="4472C4"/>
                    </a:solidFill>
                  </a:tcPr>
                </a:tc>
                <a:tc>
                  <a:txBody>
                    <a:bodyPr/>
                    <a:lstStyle/>
                    <a:p>
                      <a:pPr algn="ctr"/>
                      <a:r>
                        <a:rPr lang="es-MX" sz="2000" b="1" noProof="0" dirty="0">
                          <a:solidFill>
                            <a:schemeClr val="tx1"/>
                          </a:solidFill>
                          <a:latin typeface="Calibri"/>
                          <a:ea typeface="Calibri"/>
                          <a:cs typeface="Calibri"/>
                        </a:rPr>
                        <a:t>Josefina</a:t>
                      </a:r>
                    </a:p>
                  </a:txBody>
                  <a:tcPr anchor="ctr">
                    <a:solidFill>
                      <a:srgbClr val="4472C4"/>
                    </a:solidFill>
                  </a:tcPr>
                </a:tc>
                <a:tc>
                  <a:txBody>
                    <a:bodyPr/>
                    <a:lstStyle/>
                    <a:p>
                      <a:pPr algn="ctr"/>
                      <a:r>
                        <a:rPr lang="es-MX" sz="2000" b="1" noProof="0" dirty="0">
                          <a:solidFill>
                            <a:schemeClr val="tx1"/>
                          </a:solidFill>
                          <a:latin typeface="Calibri"/>
                          <a:ea typeface="Calibri"/>
                          <a:cs typeface="Calibri"/>
                        </a:rPr>
                        <a:t>Roberto</a:t>
                      </a:r>
                    </a:p>
                  </a:txBody>
                  <a:tcPr anchor="ctr">
                    <a:solidFill>
                      <a:srgbClr val="4472C4"/>
                    </a:solidFill>
                  </a:tcPr>
                </a:tc>
                <a:extLst>
                  <a:ext uri="{0D108BD9-81ED-4DB2-BD59-A6C34878D82A}">
                    <a16:rowId xmlns:a16="http://schemas.microsoft.com/office/drawing/2014/main" val="10000"/>
                  </a:ext>
                </a:extLst>
              </a:tr>
              <a:tr h="544286">
                <a:tc>
                  <a:txBody>
                    <a:bodyPr/>
                    <a:lstStyle/>
                    <a:p>
                      <a:pPr algn="l"/>
                      <a:r>
                        <a:rPr lang="es-MX" sz="1600" b="0" noProof="0" dirty="0">
                          <a:solidFill>
                            <a:schemeClr val="tx1"/>
                          </a:solidFill>
                          <a:latin typeface="Calibri"/>
                          <a:ea typeface="Calibri"/>
                          <a:cs typeface="Calibri"/>
                        </a:rPr>
                        <a:t>Alcance</a:t>
                      </a:r>
                    </a:p>
                  </a:txBody>
                  <a:tcPr anchor="ctr">
                    <a:solidFill>
                      <a:srgbClr val="FFFFFF"/>
                    </a:solidFill>
                  </a:tcPr>
                </a:tc>
                <a:tc>
                  <a:txBody>
                    <a:bodyPr/>
                    <a:lstStyle/>
                    <a:p>
                      <a:pPr algn="l"/>
                      <a:r>
                        <a:rPr lang="es-MX" sz="1600" b="0" noProof="0" dirty="0">
                          <a:solidFill>
                            <a:schemeClr val="tx1"/>
                          </a:solidFill>
                          <a:latin typeface="Calibri"/>
                          <a:ea typeface="Calibri"/>
                          <a:cs typeface="Calibri"/>
                        </a:rPr>
                        <a:t>Entregables entregados / planeados</a:t>
                      </a:r>
                    </a:p>
                  </a:txBody>
                  <a:tcPr anchor="ctr">
                    <a:solidFill>
                      <a:srgbClr val="FFFFFF"/>
                    </a:solidFill>
                  </a:tcPr>
                </a:tc>
                <a:tc>
                  <a:txBody>
                    <a:bodyPr/>
                    <a:lstStyle/>
                    <a:p>
                      <a:pPr algn="l"/>
                      <a:r>
                        <a:rPr lang="es-MX" sz="1600" b="0" noProof="0" dirty="0">
                          <a:solidFill>
                            <a:schemeClr val="tx1"/>
                          </a:solidFill>
                          <a:latin typeface="Calibri"/>
                          <a:ea typeface="Calibri"/>
                          <a:cs typeface="Calibri"/>
                        </a:rPr>
                        <a:t>100 %</a:t>
                      </a:r>
                    </a:p>
                  </a:txBody>
                  <a:tcPr anchor="ctr">
                    <a:solidFill>
                      <a:srgbClr val="FFFFFF"/>
                    </a:solidFill>
                  </a:tcPr>
                </a:tc>
                <a:tc>
                  <a:txBody>
                    <a:bodyPr/>
                    <a:lstStyle/>
                    <a:p>
                      <a:pPr algn="l"/>
                      <a:r>
                        <a:rPr lang="es-MX" sz="1600" b="0" noProof="0" dirty="0">
                          <a:solidFill>
                            <a:schemeClr val="tx1"/>
                          </a:solidFill>
                          <a:latin typeface="Calibri"/>
                          <a:ea typeface="Calibri"/>
                          <a:cs typeface="Calibri"/>
                        </a:rPr>
                        <a:t>100 %</a:t>
                      </a:r>
                    </a:p>
                  </a:txBody>
                  <a:tcPr anchor="ctr">
                    <a:solidFill>
                      <a:srgbClr val="FFFFFF"/>
                    </a:solidFill>
                  </a:tcPr>
                </a:tc>
                <a:tc>
                  <a:txBody>
                    <a:bodyPr/>
                    <a:lstStyle/>
                    <a:p>
                      <a:pPr algn="l"/>
                      <a:r>
                        <a:rPr lang="es-MX" sz="1600" b="0" noProof="0" dirty="0">
                          <a:solidFill>
                            <a:schemeClr val="tx1"/>
                          </a:solidFill>
                          <a:latin typeface="Calibri"/>
                          <a:ea typeface="Calibri"/>
                          <a:cs typeface="Calibri"/>
                        </a:rPr>
                        <a:t>100 %</a:t>
                      </a:r>
                    </a:p>
                  </a:txBody>
                  <a:tcPr anchor="ctr">
                    <a:solidFill>
                      <a:srgbClr val="FFFFFF"/>
                    </a:solidFill>
                  </a:tcPr>
                </a:tc>
                <a:extLst>
                  <a:ext uri="{0D108BD9-81ED-4DB2-BD59-A6C34878D82A}">
                    <a16:rowId xmlns:a16="http://schemas.microsoft.com/office/drawing/2014/main" val="10001"/>
                  </a:ext>
                </a:extLst>
              </a:tr>
              <a:tr h="544286">
                <a:tc>
                  <a:txBody>
                    <a:bodyPr/>
                    <a:lstStyle/>
                    <a:p>
                      <a:pPr algn="l"/>
                      <a:r>
                        <a:rPr lang="es-MX" sz="1600" b="0" noProof="0" dirty="0">
                          <a:solidFill>
                            <a:schemeClr val="tx1"/>
                          </a:solidFill>
                          <a:latin typeface="Calibri"/>
                          <a:ea typeface="Calibri"/>
                          <a:cs typeface="Calibri"/>
                        </a:rPr>
                        <a:t>Tiempo</a:t>
                      </a:r>
                    </a:p>
                  </a:txBody>
                  <a:tcPr anchor="ctr">
                    <a:solidFill>
                      <a:srgbClr val="EAF0F8"/>
                    </a:solidFill>
                  </a:tcPr>
                </a:tc>
                <a:tc>
                  <a:txBody>
                    <a:bodyPr/>
                    <a:lstStyle/>
                    <a:p>
                      <a:pPr algn="l"/>
                      <a:r>
                        <a:rPr lang="es-MX" sz="1600" b="0" noProof="0" dirty="0">
                          <a:solidFill>
                            <a:schemeClr val="tx1"/>
                          </a:solidFill>
                          <a:latin typeface="Calibri"/>
                          <a:ea typeface="Calibri"/>
                          <a:cs typeface="Calibri"/>
                        </a:rPr>
                        <a:t>Fecha real vs. fecha planeada (11/10/2026)</a:t>
                      </a:r>
                    </a:p>
                  </a:txBody>
                  <a:tcPr anchor="ctr">
                    <a:solidFill>
                      <a:srgbClr val="EAF0F8"/>
                    </a:solidFill>
                  </a:tcPr>
                </a:tc>
                <a:tc>
                  <a:txBody>
                    <a:bodyPr/>
                    <a:lstStyle/>
                    <a:p>
                      <a:pPr algn="l"/>
                      <a:r>
                        <a:rPr lang="es-MX" sz="1600" b="0" noProof="0" dirty="0">
                          <a:solidFill>
                            <a:schemeClr val="tx1"/>
                          </a:solidFill>
                          <a:latin typeface="Calibri"/>
                          <a:ea typeface="Calibri"/>
                          <a:cs typeface="Calibri"/>
                        </a:rPr>
                        <a:t>29/09 (antes)</a:t>
                      </a:r>
                    </a:p>
                  </a:txBody>
                  <a:tcPr anchor="ctr">
                    <a:solidFill>
                      <a:srgbClr val="EAF0F8"/>
                    </a:solidFill>
                  </a:tcPr>
                </a:tc>
                <a:tc>
                  <a:txBody>
                    <a:bodyPr/>
                    <a:lstStyle/>
                    <a:p>
                      <a:pPr algn="l"/>
                      <a:r>
                        <a:rPr lang="es-MX" sz="1600" b="0" noProof="0" dirty="0">
                          <a:solidFill>
                            <a:schemeClr val="tx1"/>
                          </a:solidFill>
                          <a:latin typeface="Calibri"/>
                          <a:ea typeface="Calibri"/>
                          <a:cs typeface="Calibri"/>
                        </a:rPr>
                        <a:t>02/10 (antes)</a:t>
                      </a:r>
                    </a:p>
                  </a:txBody>
                  <a:tcPr anchor="ctr">
                    <a:solidFill>
                      <a:srgbClr val="EAF0F8"/>
                    </a:solidFill>
                  </a:tcPr>
                </a:tc>
                <a:tc>
                  <a:txBody>
                    <a:bodyPr/>
                    <a:lstStyle/>
                    <a:p>
                      <a:pPr algn="l"/>
                      <a:r>
                        <a:rPr lang="es-MX" sz="1600" b="0" noProof="0" dirty="0">
                          <a:solidFill>
                            <a:schemeClr val="tx1"/>
                          </a:solidFill>
                          <a:latin typeface="Calibri"/>
                          <a:ea typeface="Calibri"/>
                          <a:cs typeface="Calibri"/>
                        </a:rPr>
                        <a:t>02/10 (antes)</a:t>
                      </a:r>
                    </a:p>
                  </a:txBody>
                  <a:tcPr anchor="ctr">
                    <a:solidFill>
                      <a:srgbClr val="EAF0F8"/>
                    </a:solidFill>
                  </a:tcPr>
                </a:tc>
                <a:extLst>
                  <a:ext uri="{0D108BD9-81ED-4DB2-BD59-A6C34878D82A}">
                    <a16:rowId xmlns:a16="http://schemas.microsoft.com/office/drawing/2014/main" val="10002"/>
                  </a:ext>
                </a:extLst>
              </a:tr>
              <a:tr h="544286">
                <a:tc>
                  <a:txBody>
                    <a:bodyPr/>
                    <a:lstStyle/>
                    <a:p>
                      <a:pPr algn="l"/>
                      <a:r>
                        <a:rPr lang="es-MX" sz="1600" b="0" noProof="0" dirty="0">
                          <a:solidFill>
                            <a:schemeClr val="tx1"/>
                          </a:solidFill>
                          <a:latin typeface="Calibri"/>
                          <a:ea typeface="Calibri"/>
                          <a:cs typeface="Calibri"/>
                        </a:rPr>
                        <a:t>Calidad</a:t>
                      </a:r>
                    </a:p>
                  </a:txBody>
                  <a:tcPr anchor="ctr">
                    <a:solidFill>
                      <a:srgbClr val="FFFFFF"/>
                    </a:solidFill>
                  </a:tcPr>
                </a:tc>
                <a:tc>
                  <a:txBody>
                    <a:bodyPr/>
                    <a:lstStyle/>
                    <a:p>
                      <a:pPr algn="l"/>
                      <a:r>
                        <a:rPr lang="es-MX" sz="1600" b="0" noProof="0" dirty="0">
                          <a:solidFill>
                            <a:schemeClr val="tx1"/>
                          </a:solidFill>
                          <a:latin typeface="Calibri"/>
                          <a:ea typeface="Calibri"/>
                          <a:cs typeface="Calibri"/>
                        </a:rPr>
                        <a:t>Pruebas documentadas</a:t>
                      </a:r>
                    </a:p>
                  </a:txBody>
                  <a:tcPr anchor="ctr">
                    <a:solidFill>
                      <a:srgbClr val="FFFFFF"/>
                    </a:solidFill>
                  </a:tcPr>
                </a:tc>
                <a:tc>
                  <a:txBody>
                    <a:bodyPr/>
                    <a:lstStyle/>
                    <a:p>
                      <a:pPr algn="l"/>
                      <a:r>
                        <a:rPr lang="es-MX" sz="1600" b="0" noProof="0" dirty="0">
                          <a:solidFill>
                            <a:schemeClr val="tx1"/>
                          </a:solidFill>
                          <a:latin typeface="Calibri"/>
                          <a:ea typeface="Calibri"/>
                          <a:cs typeface="Calibri"/>
                        </a:rPr>
                        <a:t>Ejecución del programa</a:t>
                      </a:r>
                    </a:p>
                  </a:txBody>
                  <a:tcPr anchor="ctr">
                    <a:solidFill>
                      <a:srgbClr val="FFFFFF"/>
                    </a:solidFill>
                  </a:tcPr>
                </a:tc>
                <a:tc>
                  <a:txBody>
                    <a:bodyPr/>
                    <a:lstStyle/>
                    <a:p>
                      <a:pPr algn="l"/>
                      <a:r>
                        <a:rPr lang="es-MX" sz="1600" b="0" noProof="0" dirty="0">
                          <a:solidFill>
                            <a:schemeClr val="tx1"/>
                          </a:solidFill>
                          <a:latin typeface="Calibri"/>
                          <a:ea typeface="Calibri"/>
                          <a:cs typeface="Calibri"/>
                        </a:rPr>
                        <a:t>Escenario base y alternativos</a:t>
                      </a:r>
                    </a:p>
                  </a:txBody>
                  <a:tcPr anchor="ctr">
                    <a:solidFill>
                      <a:srgbClr val="FFFFFF"/>
                    </a:solidFill>
                  </a:tcPr>
                </a:tc>
                <a:tc>
                  <a:txBody>
                    <a:bodyPr/>
                    <a:lstStyle/>
                    <a:p>
                      <a:pPr algn="l"/>
                      <a:r>
                        <a:rPr lang="es-MX" sz="1600" b="0" noProof="0" dirty="0">
                          <a:solidFill>
                            <a:schemeClr val="tx1"/>
                          </a:solidFill>
                          <a:latin typeface="Calibri"/>
                          <a:ea typeface="Calibri"/>
                          <a:cs typeface="Calibri"/>
                        </a:rPr>
                        <a:t>Escenario actual y mejorado</a:t>
                      </a:r>
                    </a:p>
                  </a:txBody>
                  <a:tcPr anchor="ctr">
                    <a:solidFill>
                      <a:srgbClr val="FFFFFF"/>
                    </a:solidFill>
                  </a:tcPr>
                </a:tc>
                <a:extLst>
                  <a:ext uri="{0D108BD9-81ED-4DB2-BD59-A6C34878D82A}">
                    <a16:rowId xmlns:a16="http://schemas.microsoft.com/office/drawing/2014/main" val="10003"/>
                  </a:ext>
                </a:extLst>
              </a:tr>
              <a:tr h="544286">
                <a:tc>
                  <a:txBody>
                    <a:bodyPr/>
                    <a:lstStyle/>
                    <a:p>
                      <a:pPr algn="l"/>
                      <a:r>
                        <a:rPr lang="es-MX" sz="1600" b="0" noProof="0" dirty="0">
                          <a:solidFill>
                            <a:schemeClr val="tx1"/>
                          </a:solidFill>
                          <a:latin typeface="Calibri"/>
                          <a:ea typeface="Calibri"/>
                          <a:cs typeface="Calibri"/>
                        </a:rPr>
                        <a:t>Documentación</a:t>
                      </a:r>
                    </a:p>
                  </a:txBody>
                  <a:tcPr anchor="ctr">
                    <a:solidFill>
                      <a:srgbClr val="EAF0F8"/>
                    </a:solidFill>
                  </a:tcPr>
                </a:tc>
                <a:tc>
                  <a:txBody>
                    <a:bodyPr/>
                    <a:lstStyle/>
                    <a:p>
                      <a:pPr algn="l"/>
                      <a:r>
                        <a:rPr lang="es-MX" sz="1600" b="0" noProof="0" dirty="0">
                          <a:solidFill>
                            <a:schemeClr val="tx1"/>
                          </a:solidFill>
                          <a:latin typeface="Calibri"/>
                          <a:ea typeface="Calibri"/>
                          <a:cs typeface="Calibri"/>
                        </a:rPr>
                        <a:t>Manuales y expediente</a:t>
                      </a:r>
                    </a:p>
                  </a:txBody>
                  <a:tcPr anchor="ctr">
                    <a:solidFill>
                      <a:srgbClr val="EAF0F8"/>
                    </a:solidFill>
                  </a:tcPr>
                </a:tc>
                <a:tc>
                  <a:txBody>
                    <a:bodyPr/>
                    <a:lstStyle/>
                    <a:p>
                      <a:pPr algn="l"/>
                      <a:r>
                        <a:rPr lang="es-MX" sz="1600" b="0" noProof="0" dirty="0">
                          <a:solidFill>
                            <a:schemeClr val="tx1"/>
                          </a:solidFill>
                          <a:latin typeface="Calibri"/>
                          <a:ea typeface="Calibri"/>
                          <a:cs typeface="Calibri"/>
                        </a:rPr>
                        <a:t>Completo</a:t>
                      </a:r>
                    </a:p>
                  </a:txBody>
                  <a:tcPr anchor="ctr">
                    <a:solidFill>
                      <a:srgbClr val="EAF0F8"/>
                    </a:solidFill>
                  </a:tcPr>
                </a:tc>
                <a:tc>
                  <a:txBody>
                    <a:bodyPr/>
                    <a:lstStyle/>
                    <a:p>
                      <a:pPr algn="l"/>
                      <a:r>
                        <a:rPr lang="es-MX" sz="1600" b="0" noProof="0" dirty="0">
                          <a:solidFill>
                            <a:schemeClr val="tx1"/>
                          </a:solidFill>
                          <a:latin typeface="Calibri"/>
                          <a:ea typeface="Calibri"/>
                          <a:cs typeface="Calibri"/>
                        </a:rPr>
                        <a:t>Completo</a:t>
                      </a:r>
                    </a:p>
                  </a:txBody>
                  <a:tcPr anchor="ctr">
                    <a:solidFill>
                      <a:srgbClr val="EAF0F8"/>
                    </a:solidFill>
                  </a:tcPr>
                </a:tc>
                <a:tc>
                  <a:txBody>
                    <a:bodyPr/>
                    <a:lstStyle/>
                    <a:p>
                      <a:pPr algn="l"/>
                      <a:r>
                        <a:rPr lang="es-MX" sz="1600" b="0" noProof="0" dirty="0">
                          <a:solidFill>
                            <a:schemeClr val="tx1"/>
                          </a:solidFill>
                          <a:latin typeface="Calibri"/>
                          <a:ea typeface="Calibri"/>
                          <a:cs typeface="Calibri"/>
                        </a:rPr>
                        <a:t>Completo</a:t>
                      </a:r>
                    </a:p>
                  </a:txBody>
                  <a:tcPr anchor="ctr">
                    <a:solidFill>
                      <a:srgbClr val="EAF0F8"/>
                    </a:solidFill>
                  </a:tcPr>
                </a:tc>
                <a:extLst>
                  <a:ext uri="{0D108BD9-81ED-4DB2-BD59-A6C34878D82A}">
                    <a16:rowId xmlns:a16="http://schemas.microsoft.com/office/drawing/2014/main" val="10004"/>
                  </a:ext>
                </a:extLst>
              </a:tr>
              <a:tr h="544286">
                <a:tc>
                  <a:txBody>
                    <a:bodyPr/>
                    <a:lstStyle/>
                    <a:p>
                      <a:pPr algn="l"/>
                      <a:r>
                        <a:rPr lang="es-MX" sz="1600" b="0" noProof="0" dirty="0">
                          <a:solidFill>
                            <a:schemeClr val="tx1"/>
                          </a:solidFill>
                          <a:latin typeface="Calibri"/>
                          <a:ea typeface="Calibri"/>
                          <a:cs typeface="Calibri"/>
                        </a:rPr>
                        <a:t>Aceptación</a:t>
                      </a:r>
                    </a:p>
                  </a:txBody>
                  <a:tcPr anchor="ctr">
                    <a:solidFill>
                      <a:srgbClr val="FFFFFF"/>
                    </a:solidFill>
                  </a:tcPr>
                </a:tc>
                <a:tc>
                  <a:txBody>
                    <a:bodyPr/>
                    <a:lstStyle/>
                    <a:p>
                      <a:pPr algn="l"/>
                      <a:r>
                        <a:rPr lang="es-MX" sz="1600" b="0" noProof="0" dirty="0">
                          <a:solidFill>
                            <a:schemeClr val="tx1"/>
                          </a:solidFill>
                          <a:latin typeface="Calibri"/>
                          <a:ea typeface="Calibri"/>
                          <a:cs typeface="Calibri"/>
                        </a:rPr>
                        <a:t>Acta de cierre</a:t>
                      </a:r>
                    </a:p>
                  </a:txBody>
                  <a:tcPr anchor="ctr">
                    <a:solidFill>
                      <a:srgbClr val="FFFFFF"/>
                    </a:solidFill>
                  </a:tcPr>
                </a:tc>
                <a:tc>
                  <a:txBody>
                    <a:bodyPr/>
                    <a:lstStyle/>
                    <a:p>
                      <a:pPr algn="l"/>
                      <a:r>
                        <a:rPr lang="es-MX" sz="1600" dirty="0"/>
                        <a:t>SI</a:t>
                      </a:r>
                      <a:endParaRPr lang="es-MX" sz="1600" b="0" noProof="0" dirty="0">
                        <a:solidFill>
                          <a:schemeClr val="tx1"/>
                        </a:solidFill>
                        <a:latin typeface="Calibri"/>
                        <a:ea typeface="Calibri"/>
                        <a:cs typeface="Calibri"/>
                      </a:endParaRPr>
                    </a:p>
                  </a:txBody>
                  <a:tcPr anchor="ctr">
                    <a:solidFill>
                      <a:srgbClr val="FFFFFF"/>
                    </a:solidFill>
                  </a:tcPr>
                </a:tc>
                <a:tc>
                  <a:txBody>
                    <a:bodyPr/>
                    <a:lstStyle/>
                    <a:p>
                      <a:pPr algn="l"/>
                      <a:r>
                        <a:rPr lang="es-MX" sz="1600" dirty="0"/>
                        <a:t>SI</a:t>
                      </a:r>
                      <a:endParaRPr lang="es-MX" sz="1600" b="0" noProof="0" dirty="0">
                        <a:solidFill>
                          <a:schemeClr val="tx1"/>
                        </a:solidFill>
                        <a:latin typeface="Calibri"/>
                        <a:ea typeface="Calibri"/>
                        <a:cs typeface="Calibri"/>
                      </a:endParaRPr>
                    </a:p>
                  </a:txBody>
                  <a:tcPr anchor="ctr">
                    <a:solidFill>
                      <a:srgbClr val="FFFFFF"/>
                    </a:solidFill>
                  </a:tcPr>
                </a:tc>
                <a:tc>
                  <a:txBody>
                    <a:bodyPr/>
                    <a:lstStyle/>
                    <a:p>
                      <a:pPr algn="l"/>
                      <a:r>
                        <a:rPr lang="es-MX" sz="1600" dirty="0"/>
                        <a:t>SI</a:t>
                      </a:r>
                      <a:endParaRPr lang="es-MX" sz="1600" b="0" noProof="0" dirty="0">
                        <a:solidFill>
                          <a:schemeClr val="tx1"/>
                        </a:solidFill>
                        <a:latin typeface="Calibri"/>
                        <a:ea typeface="Calibri"/>
                        <a:cs typeface="Calibri"/>
                      </a:endParaRPr>
                    </a:p>
                  </a:txBody>
                  <a:tcPr anchor="ctr">
                    <a:solidFill>
                      <a:srgbClr val="FFFFFF"/>
                    </a:solidFill>
                  </a:tcPr>
                </a:tc>
                <a:extLst>
                  <a:ext uri="{0D108BD9-81ED-4DB2-BD59-A6C34878D82A}">
                    <a16:rowId xmlns:a16="http://schemas.microsoft.com/office/drawing/2014/main" val="10005"/>
                  </a:ext>
                </a:extLst>
              </a:tr>
              <a:tr h="544286">
                <a:tc>
                  <a:txBody>
                    <a:bodyPr/>
                    <a:lstStyle/>
                    <a:p>
                      <a:pPr algn="l"/>
                      <a:r>
                        <a:rPr lang="es-MX" sz="2000" b="1" noProof="0" dirty="0">
                          <a:solidFill>
                            <a:schemeClr val="tx1"/>
                          </a:solidFill>
                          <a:latin typeface="Calibri"/>
                          <a:ea typeface="Calibri"/>
                          <a:cs typeface="Calibri"/>
                        </a:rPr>
                        <a:t>Resultado</a:t>
                      </a:r>
                    </a:p>
                  </a:txBody>
                  <a:tcPr anchor="ctr">
                    <a:solidFill>
                      <a:srgbClr val="D9EAD3"/>
                    </a:solidFill>
                  </a:tcPr>
                </a:tc>
                <a:tc>
                  <a:txBody>
                    <a:bodyPr/>
                    <a:lstStyle/>
                    <a:p>
                      <a:endParaRPr lang="es-MX" sz="4000" noProof="0" dirty="0">
                        <a:solidFill>
                          <a:schemeClr val="tx1"/>
                        </a:solidFill>
                      </a:endParaRPr>
                    </a:p>
                  </a:txBody>
                  <a:tcPr anchor="ctr">
                    <a:solidFill>
                      <a:srgbClr val="D9EAD3"/>
                    </a:solidFill>
                  </a:tcPr>
                </a:tc>
                <a:tc>
                  <a:txBody>
                    <a:bodyPr/>
                    <a:lstStyle/>
                    <a:p>
                      <a:pPr algn="ctr"/>
                      <a:r>
                        <a:rPr lang="es-MX" sz="2000" b="1" noProof="0" dirty="0">
                          <a:solidFill>
                            <a:schemeClr val="tx1"/>
                          </a:solidFill>
                          <a:latin typeface="Calibri"/>
                          <a:ea typeface="Calibri"/>
                          <a:cs typeface="Calibri"/>
                        </a:rPr>
                        <a:t>Exitoso</a:t>
                      </a:r>
                    </a:p>
                  </a:txBody>
                  <a:tcPr anchor="ctr">
                    <a:solidFill>
                      <a:srgbClr val="D9EAD3"/>
                    </a:solidFill>
                  </a:tcPr>
                </a:tc>
                <a:tc>
                  <a:txBody>
                    <a:bodyPr/>
                    <a:lstStyle/>
                    <a:p>
                      <a:pPr algn="ctr"/>
                      <a:r>
                        <a:rPr lang="es-MX" sz="2000" b="1" noProof="0" dirty="0">
                          <a:solidFill>
                            <a:schemeClr val="tx1"/>
                          </a:solidFill>
                          <a:latin typeface="Calibri"/>
                          <a:ea typeface="Calibri"/>
                          <a:cs typeface="Calibri"/>
                        </a:rPr>
                        <a:t>Exitoso</a:t>
                      </a:r>
                    </a:p>
                  </a:txBody>
                  <a:tcPr anchor="ctr">
                    <a:solidFill>
                      <a:srgbClr val="D9EAD3"/>
                    </a:solidFill>
                  </a:tcPr>
                </a:tc>
                <a:tc>
                  <a:txBody>
                    <a:bodyPr/>
                    <a:lstStyle/>
                    <a:p>
                      <a:pPr algn="ctr"/>
                      <a:r>
                        <a:rPr lang="es-MX" sz="2000" b="1" noProof="0" dirty="0">
                          <a:solidFill>
                            <a:schemeClr val="tx1"/>
                          </a:solidFill>
                          <a:latin typeface="Calibri"/>
                          <a:ea typeface="Calibri"/>
                          <a:cs typeface="Calibri"/>
                        </a:rPr>
                        <a:t>Exitoso</a:t>
                      </a:r>
                    </a:p>
                  </a:txBody>
                  <a:tcPr anchor="ctr">
                    <a:solidFill>
                      <a:srgbClr val="D9EAD3"/>
                    </a:solidFill>
                  </a:tcPr>
                </a:tc>
                <a:extLst>
                  <a:ext uri="{0D108BD9-81ED-4DB2-BD59-A6C34878D82A}">
                    <a16:rowId xmlns:a16="http://schemas.microsoft.com/office/drawing/2014/main" val="10006"/>
                  </a:ext>
                </a:extLst>
              </a:tr>
            </a:tbl>
          </a:graphicData>
        </a:graphic>
      </p:graphicFrame>
      <p:sp>
        <p:nvSpPr>
          <p:cNvPr id="3" name="Rectángulo 2">
            <a:extLst>
              <a:ext uri="{FF2B5EF4-FFF2-40B4-BE49-F238E27FC236}">
                <a16:creationId xmlns:a16="http://schemas.microsoft.com/office/drawing/2014/main" id="{BFF589E6-2D84-4DBB-BFAE-09C9D1F5E735}"/>
              </a:ext>
            </a:extLst>
          </p:cNvPr>
          <p:cNvSpPr>
            <a:spLocks noGrp="1"/>
          </p:cNvSpPr>
          <p:nvPr/>
        </p:nvSpPr>
        <p:spPr>
          <a:xfrm>
            <a:off x="666750" y="5381625"/>
            <a:ext cx="10858500" cy="857250"/>
          </a:xfrm>
          <a:prstGeom prst="rect">
            <a:avLst/>
          </a:prstGeom>
          <a:noFill/>
          <a:ln w="0">
            <a:noFill/>
          </a:ln>
        </p:spPr>
        <p:txBody>
          <a:bodyPr anchor="ctr"/>
          <a:lstStyle/>
          <a:p>
            <a:pPr algn="just">
              <a:defRPr sz="1425" b="1">
                <a:solidFill>
                  <a:srgbClr val="333333"/>
                </a:solidFill>
                <a:latin typeface="Calibri"/>
                <a:ea typeface="Calibri"/>
                <a:cs typeface="Calibri"/>
              </a:defRPr>
            </a:pPr>
            <a:r>
              <a:rPr lang="es-MX" sz="1425" b="1" noProof="0" dirty="0">
                <a:solidFill>
                  <a:srgbClr val="333333"/>
                </a:solidFill>
                <a:latin typeface="Calibri"/>
                <a:ea typeface="Calibri"/>
                <a:cs typeface="Calibri"/>
              </a:rPr>
              <a:t>Un proyecto se consideró exitoso al entregar todo lo comprometido, concluir dentro del plazo planeado, contar con pruebas documentadas y obtener la aceptación formal mediante su acta de cierre.</a:t>
            </a:r>
          </a:p>
        </p:txBody>
      </p:sp>
    </p:spTree>
    <p:extLst>
      <p:ext uri="{BB962C8B-B14F-4D97-AF65-F5344CB8AC3E}">
        <p14:creationId xmlns:p14="http://schemas.microsoft.com/office/powerpoint/2010/main" val="3320945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4A6CD94A-2A52-472E-AE36-D07132680EE6}"/>
              </a:ext>
            </a:extLst>
          </p:cNvPr>
          <p:cNvSpPr>
            <a:spLocks noGrp="1"/>
          </p:cNvSpPr>
          <p:nvPr/>
        </p:nvSpPr>
        <p:spPr>
          <a:xfrm>
            <a:off x="552450" y="323850"/>
            <a:ext cx="11068050" cy="781050"/>
          </a:xfrm>
          <a:prstGeom prst="rect">
            <a:avLst/>
          </a:prstGeom>
          <a:noFill/>
          <a:ln w="0">
            <a:noFill/>
          </a:ln>
        </p:spPr>
        <p:txBody>
          <a:bodyPr anchor="ctr"/>
          <a:lstStyle/>
          <a:p>
            <a:pPr algn="ctr">
              <a:defRPr sz="3150" b="1">
                <a:solidFill>
                  <a:srgbClr val="4472C4"/>
                </a:solidFill>
                <a:latin typeface="Calibri Light"/>
                <a:ea typeface="Calibri Light"/>
                <a:cs typeface="Calibri Light"/>
              </a:defRPr>
            </a:pPr>
            <a:r>
              <a:rPr lang="es-MX" sz="3150" b="1" noProof="0" dirty="0">
                <a:solidFill>
                  <a:srgbClr val="000000"/>
                </a:solidFill>
                <a:latin typeface="Calibri"/>
                <a:ea typeface="Calibri"/>
                <a:cs typeface="Calibri"/>
              </a:rPr>
              <a:t>Lecciones aprendidas</a:t>
            </a:r>
          </a:p>
        </p:txBody>
      </p:sp>
      <p:graphicFrame>
        <p:nvGraphicFramePr>
          <p:cNvPr id="4" name="Tabla 3"/>
          <p:cNvGraphicFramePr/>
          <p:nvPr>
            <p:extLst>
              <p:ext uri="{D42A27DB-BD31-4B8C-83A1-F6EECF244321}">
                <p14:modId xmlns:p14="http://schemas.microsoft.com/office/powerpoint/2010/main" val="1918878024"/>
              </p:ext>
            </p:extLst>
          </p:nvPr>
        </p:nvGraphicFramePr>
        <p:xfrm>
          <a:off x="523875" y="1381125"/>
          <a:ext cx="11144250" cy="4572000"/>
        </p:xfrm>
        <a:graphic>
          <a:graphicData uri="http://schemas.openxmlformats.org/drawingml/2006/table">
            <a:tbl>
              <a:tblPr/>
              <a:tblGrid>
                <a:gridCol w="2381250">
                  <a:extLst>
                    <a:ext uri="{9D8B030D-6E8A-4147-A177-3AD203B41FA5}">
                      <a16:colId xmlns:a16="http://schemas.microsoft.com/office/drawing/2014/main" val="20000"/>
                    </a:ext>
                  </a:extLst>
                </a:gridCol>
                <a:gridCol w="4953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762000">
                <a:tc>
                  <a:txBody>
                    <a:bodyPr/>
                    <a:lstStyle/>
                    <a:p>
                      <a:pPr algn="ctr"/>
                      <a:r>
                        <a:rPr lang="es-MX" sz="1800" b="1" noProof="0" dirty="0">
                          <a:solidFill>
                            <a:schemeClr val="tx1"/>
                          </a:solidFill>
                          <a:latin typeface="Calibri"/>
                          <a:ea typeface="Calibri"/>
                          <a:cs typeface="Calibri"/>
                        </a:rPr>
                        <a:t>Situación</a:t>
                      </a:r>
                    </a:p>
                  </a:txBody>
                  <a:tcPr anchor="ctr">
                    <a:solidFill>
                      <a:srgbClr val="4472C4"/>
                    </a:solidFill>
                  </a:tcPr>
                </a:tc>
                <a:tc>
                  <a:txBody>
                    <a:bodyPr/>
                    <a:lstStyle/>
                    <a:p>
                      <a:pPr algn="ctr"/>
                      <a:r>
                        <a:rPr lang="es-MX" sz="1800" b="1" noProof="0" dirty="0">
                          <a:solidFill>
                            <a:schemeClr val="tx1"/>
                          </a:solidFill>
                          <a:latin typeface="Calibri"/>
                          <a:ea typeface="Calibri"/>
                          <a:cs typeface="Calibri"/>
                        </a:rPr>
                        <a:t>Qué funcionó / qué falló</a:t>
                      </a:r>
                    </a:p>
                  </a:txBody>
                  <a:tcPr anchor="ctr">
                    <a:solidFill>
                      <a:srgbClr val="4472C4"/>
                    </a:solidFill>
                  </a:tcPr>
                </a:tc>
                <a:tc>
                  <a:txBody>
                    <a:bodyPr/>
                    <a:lstStyle/>
                    <a:p>
                      <a:pPr algn="ctr"/>
                      <a:r>
                        <a:rPr lang="es-MX" sz="1800" b="1" noProof="0" dirty="0">
                          <a:solidFill>
                            <a:schemeClr val="tx1"/>
                          </a:solidFill>
                          <a:latin typeface="Calibri"/>
                          <a:ea typeface="Calibri"/>
                          <a:cs typeface="Calibri"/>
                        </a:rPr>
                        <a:t>Recomendación</a:t>
                      </a:r>
                    </a:p>
                  </a:txBody>
                  <a:tcPr anchor="ctr">
                    <a:solidFill>
                      <a:srgbClr val="4472C4"/>
                    </a:solidFill>
                  </a:tcPr>
                </a:tc>
                <a:extLst>
                  <a:ext uri="{0D108BD9-81ED-4DB2-BD59-A6C34878D82A}">
                    <a16:rowId xmlns:a16="http://schemas.microsoft.com/office/drawing/2014/main" val="10000"/>
                  </a:ext>
                </a:extLst>
              </a:tr>
              <a:tr h="762000">
                <a:tc>
                  <a:txBody>
                    <a:bodyPr/>
                    <a:lstStyle/>
                    <a:p>
                      <a:pPr algn="l"/>
                      <a:r>
                        <a:rPr lang="es-MX" sz="1600" b="0" noProof="0" dirty="0">
                          <a:solidFill>
                            <a:schemeClr val="tx1"/>
                          </a:solidFill>
                          <a:latin typeface="Calibri"/>
                          <a:ea typeface="Calibri"/>
                          <a:cs typeface="Calibri"/>
                        </a:rPr>
                        <a:t>Uso de tres herramientas</a:t>
                      </a:r>
                    </a:p>
                  </a:txBody>
                  <a:tcPr anchor="ctr">
                    <a:solidFill>
                      <a:srgbClr val="FFFFFF"/>
                    </a:solidFill>
                  </a:tcPr>
                </a:tc>
                <a:tc>
                  <a:txBody>
                    <a:bodyPr/>
                    <a:lstStyle/>
                    <a:p>
                      <a:pPr algn="l"/>
                      <a:r>
                        <a:rPr lang="es-MX" sz="1600" b="0" noProof="0" dirty="0">
                          <a:solidFill>
                            <a:schemeClr val="tx1"/>
                          </a:solidFill>
                          <a:latin typeface="Calibri"/>
                          <a:ea typeface="Calibri"/>
                          <a:cs typeface="Calibri"/>
                        </a:rPr>
                        <a:t>Fechas y estados diferentes entre Project, Jira y Trello.</a:t>
                      </a:r>
                    </a:p>
                  </a:txBody>
                  <a:tcPr anchor="ctr">
                    <a:solidFill>
                      <a:srgbClr val="FFFFFF"/>
                    </a:solidFill>
                  </a:tcPr>
                </a:tc>
                <a:tc>
                  <a:txBody>
                    <a:bodyPr/>
                    <a:lstStyle/>
                    <a:p>
                      <a:pPr algn="l"/>
                      <a:r>
                        <a:rPr lang="es-MX" sz="1600" b="0" noProof="0" dirty="0">
                          <a:solidFill>
                            <a:schemeClr val="tx1"/>
                          </a:solidFill>
                          <a:latin typeface="Calibri"/>
                          <a:ea typeface="Calibri"/>
                          <a:cs typeface="Calibri"/>
                        </a:rPr>
                        <a:t>Definir una herramienta como fuente oficial de fechas.</a:t>
                      </a:r>
                    </a:p>
                  </a:txBody>
                  <a:tcPr anchor="ctr">
                    <a:solidFill>
                      <a:srgbClr val="FFFFFF"/>
                    </a:solidFill>
                  </a:tcPr>
                </a:tc>
                <a:extLst>
                  <a:ext uri="{0D108BD9-81ED-4DB2-BD59-A6C34878D82A}">
                    <a16:rowId xmlns:a16="http://schemas.microsoft.com/office/drawing/2014/main" val="10001"/>
                  </a:ext>
                </a:extLst>
              </a:tr>
              <a:tr h="762000">
                <a:tc>
                  <a:txBody>
                    <a:bodyPr/>
                    <a:lstStyle/>
                    <a:p>
                      <a:pPr algn="l"/>
                      <a:r>
                        <a:rPr lang="es-MX" sz="1600" b="0" noProof="0" dirty="0">
                          <a:solidFill>
                            <a:schemeClr val="tx1"/>
                          </a:solidFill>
                          <a:latin typeface="Calibri"/>
                          <a:ea typeface="Calibri"/>
                          <a:cs typeface="Calibri"/>
                        </a:rPr>
                        <a:t>Registro de evidencias</a:t>
                      </a:r>
                    </a:p>
                  </a:txBody>
                  <a:tcPr anchor="ctr">
                    <a:solidFill>
                      <a:srgbClr val="EAF0F8"/>
                    </a:solidFill>
                  </a:tcPr>
                </a:tc>
                <a:tc>
                  <a:txBody>
                    <a:bodyPr/>
                    <a:lstStyle/>
                    <a:p>
                      <a:pPr algn="l"/>
                      <a:r>
                        <a:rPr lang="es-MX" sz="1600" b="0" noProof="0" dirty="0">
                          <a:solidFill>
                            <a:schemeClr val="tx1"/>
                          </a:solidFill>
                          <a:latin typeface="Calibri"/>
                          <a:ea typeface="Calibri"/>
                          <a:cs typeface="Calibri"/>
                        </a:rPr>
                        <a:t>Adjuntarlas al avanzar facilitó el cierre.</a:t>
                      </a:r>
                    </a:p>
                  </a:txBody>
                  <a:tcPr anchor="ctr">
                    <a:solidFill>
                      <a:srgbClr val="EAF0F8"/>
                    </a:solidFill>
                  </a:tcPr>
                </a:tc>
                <a:tc>
                  <a:txBody>
                    <a:bodyPr/>
                    <a:lstStyle/>
                    <a:p>
                      <a:pPr algn="l"/>
                      <a:r>
                        <a:rPr lang="es-MX" sz="1600" b="0" noProof="0" dirty="0">
                          <a:solidFill>
                            <a:schemeClr val="tx1"/>
                          </a:solidFill>
                          <a:latin typeface="Calibri"/>
                          <a:ea typeface="Calibri"/>
                          <a:cs typeface="Calibri"/>
                        </a:rPr>
                        <a:t>Subir evidencia al terminar cada actividad.</a:t>
                      </a:r>
                    </a:p>
                  </a:txBody>
                  <a:tcPr anchor="ctr">
                    <a:solidFill>
                      <a:srgbClr val="EAF0F8"/>
                    </a:solidFill>
                  </a:tcPr>
                </a:tc>
                <a:extLst>
                  <a:ext uri="{0D108BD9-81ED-4DB2-BD59-A6C34878D82A}">
                    <a16:rowId xmlns:a16="http://schemas.microsoft.com/office/drawing/2014/main" val="10002"/>
                  </a:ext>
                </a:extLst>
              </a:tr>
              <a:tr h="762000">
                <a:tc>
                  <a:txBody>
                    <a:bodyPr/>
                    <a:lstStyle/>
                    <a:p>
                      <a:pPr algn="l"/>
                      <a:r>
                        <a:rPr lang="es-MX" sz="1600" b="0" noProof="0" dirty="0">
                          <a:solidFill>
                            <a:schemeClr val="tx1"/>
                          </a:solidFill>
                          <a:latin typeface="Calibri"/>
                          <a:ea typeface="Calibri"/>
                          <a:cs typeface="Calibri"/>
                        </a:rPr>
                        <a:t>Modelado en tres herramientas BPMN</a:t>
                      </a:r>
                    </a:p>
                  </a:txBody>
                  <a:tcPr anchor="ctr">
                    <a:solidFill>
                      <a:srgbClr val="FFFFFF"/>
                    </a:solidFill>
                  </a:tcPr>
                </a:tc>
                <a:tc>
                  <a:txBody>
                    <a:bodyPr/>
                    <a:lstStyle/>
                    <a:p>
                      <a:pPr algn="l"/>
                      <a:r>
                        <a:rPr lang="es-MX" sz="1600" b="0" noProof="0" dirty="0">
                          <a:solidFill>
                            <a:schemeClr val="tx1"/>
                          </a:solidFill>
                          <a:latin typeface="Calibri"/>
                          <a:ea typeface="Calibri"/>
                          <a:cs typeface="Calibri"/>
                        </a:rPr>
                        <a:t>Permitió comparar enfoques, pero duplicó el trabajo.</a:t>
                      </a:r>
                    </a:p>
                  </a:txBody>
                  <a:tcPr anchor="ctr">
                    <a:solidFill>
                      <a:srgbClr val="FFFFFF"/>
                    </a:solidFill>
                  </a:tcPr>
                </a:tc>
                <a:tc>
                  <a:txBody>
                    <a:bodyPr/>
                    <a:lstStyle/>
                    <a:p>
                      <a:pPr algn="l"/>
                      <a:r>
                        <a:rPr lang="es-MX" sz="1600" b="0" noProof="0" dirty="0">
                          <a:solidFill>
                            <a:schemeClr val="tx1"/>
                          </a:solidFill>
                          <a:latin typeface="Calibri"/>
                          <a:ea typeface="Calibri"/>
                          <a:cs typeface="Calibri"/>
                        </a:rPr>
                        <a:t>Definir desde el inicio el alcance de cada herramienta.</a:t>
                      </a:r>
                    </a:p>
                  </a:txBody>
                  <a:tcPr anchor="ctr">
                    <a:solidFill>
                      <a:srgbClr val="FFFFFF"/>
                    </a:solidFill>
                  </a:tcPr>
                </a:tc>
                <a:extLst>
                  <a:ext uri="{0D108BD9-81ED-4DB2-BD59-A6C34878D82A}">
                    <a16:rowId xmlns:a16="http://schemas.microsoft.com/office/drawing/2014/main" val="10003"/>
                  </a:ext>
                </a:extLst>
              </a:tr>
              <a:tr h="762000">
                <a:tc>
                  <a:txBody>
                    <a:bodyPr/>
                    <a:lstStyle/>
                    <a:p>
                      <a:pPr algn="l"/>
                      <a:r>
                        <a:rPr lang="es-MX" sz="1600" b="0" noProof="0" dirty="0">
                          <a:solidFill>
                            <a:schemeClr val="tx1"/>
                          </a:solidFill>
                          <a:latin typeface="Calibri"/>
                          <a:ea typeface="Calibri"/>
                          <a:cs typeface="Calibri"/>
                        </a:rPr>
                        <a:t>Pruebas de escenarios</a:t>
                      </a:r>
                    </a:p>
                  </a:txBody>
                  <a:tcPr anchor="ctr">
                    <a:solidFill>
                      <a:srgbClr val="EAF0F8"/>
                    </a:solidFill>
                  </a:tcPr>
                </a:tc>
                <a:tc>
                  <a:txBody>
                    <a:bodyPr/>
                    <a:lstStyle/>
                    <a:p>
                      <a:pPr algn="l"/>
                      <a:r>
                        <a:rPr lang="es-MX" sz="1600" b="0" noProof="0" dirty="0">
                          <a:solidFill>
                            <a:schemeClr val="tx1"/>
                          </a:solidFill>
                          <a:latin typeface="Calibri"/>
                          <a:ea typeface="Calibri"/>
                          <a:cs typeface="Calibri"/>
                        </a:rPr>
                        <a:t>La comparación mostró mejoras, como menos colas en el taller de electrónica.</a:t>
                      </a:r>
                    </a:p>
                  </a:txBody>
                  <a:tcPr anchor="ctr">
                    <a:solidFill>
                      <a:srgbClr val="EAF0F8"/>
                    </a:solidFill>
                  </a:tcPr>
                </a:tc>
                <a:tc>
                  <a:txBody>
                    <a:bodyPr/>
                    <a:lstStyle/>
                    <a:p>
                      <a:pPr algn="l"/>
                      <a:r>
                        <a:rPr lang="es-MX" sz="1600" b="0" noProof="0" dirty="0">
                          <a:solidFill>
                            <a:schemeClr val="tx1"/>
                          </a:solidFill>
                          <a:latin typeface="Calibri"/>
                          <a:ea typeface="Calibri"/>
                          <a:cs typeface="Calibri"/>
                        </a:rPr>
                        <a:t>Incluir escenarios comparativos en todos los proyectos.</a:t>
                      </a:r>
                    </a:p>
                  </a:txBody>
                  <a:tcPr anchor="ctr">
                    <a:solidFill>
                      <a:srgbClr val="EAF0F8"/>
                    </a:solidFill>
                  </a:tcPr>
                </a:tc>
                <a:extLst>
                  <a:ext uri="{0D108BD9-81ED-4DB2-BD59-A6C34878D82A}">
                    <a16:rowId xmlns:a16="http://schemas.microsoft.com/office/drawing/2014/main" val="10004"/>
                  </a:ext>
                </a:extLst>
              </a:tr>
              <a:tr h="762000">
                <a:tc>
                  <a:txBody>
                    <a:bodyPr/>
                    <a:lstStyle/>
                    <a:p>
                      <a:pPr algn="l"/>
                      <a:r>
                        <a:rPr lang="es-MX" sz="1600" b="0" noProof="0" dirty="0">
                          <a:solidFill>
                            <a:schemeClr val="tx1"/>
                          </a:solidFill>
                          <a:latin typeface="Calibri"/>
                          <a:ea typeface="Calibri"/>
                          <a:cs typeface="Calibri"/>
                        </a:rPr>
                        <a:t>Control de cambios</a:t>
                      </a:r>
                    </a:p>
                  </a:txBody>
                  <a:tcPr anchor="ctr">
                    <a:solidFill>
                      <a:srgbClr val="FFFFFF"/>
                    </a:solidFill>
                  </a:tcPr>
                </a:tc>
                <a:tc>
                  <a:txBody>
                    <a:bodyPr/>
                    <a:lstStyle/>
                    <a:p>
                      <a:pPr algn="l"/>
                      <a:r>
                        <a:rPr lang="es-MX" sz="1600" b="0" noProof="0" dirty="0">
                          <a:solidFill>
                            <a:schemeClr val="tx1"/>
                          </a:solidFill>
                          <a:latin typeface="Calibri"/>
                          <a:ea typeface="Calibri"/>
                          <a:cs typeface="Calibri"/>
                        </a:rPr>
                        <a:t>Documentar cada ajuste dio trazabilidad.</a:t>
                      </a:r>
                    </a:p>
                  </a:txBody>
                  <a:tcPr anchor="ctr">
                    <a:solidFill>
                      <a:srgbClr val="FFFFFF"/>
                    </a:solidFill>
                  </a:tcPr>
                </a:tc>
                <a:tc>
                  <a:txBody>
                    <a:bodyPr/>
                    <a:lstStyle/>
                    <a:p>
                      <a:pPr algn="l"/>
                      <a:r>
                        <a:rPr lang="es-MX" sz="1600" b="0" noProof="0" dirty="0">
                          <a:solidFill>
                            <a:schemeClr val="tx1"/>
                          </a:solidFill>
                          <a:latin typeface="Calibri"/>
                          <a:ea typeface="Calibri"/>
                          <a:cs typeface="Calibri"/>
                        </a:rPr>
                        <a:t>Registrar causa, fecha y responsable de cada cambio.</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64120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14A5B97-1BAA-4FA5-915E-445976E40235}"/>
              </a:ext>
            </a:extLst>
          </p:cNvPr>
          <p:cNvSpPr>
            <a:spLocks noGrp="1"/>
          </p:cNvSpPr>
          <p:nvPr/>
        </p:nvSpPr>
        <p:spPr>
          <a:xfrm>
            <a:off x="548640" y="320040"/>
            <a:ext cx="11064240" cy="822960"/>
          </a:xfrm>
          <a:prstGeom prst="rect">
            <a:avLst/>
          </a:prstGeom>
          <a:noFill/>
        </p:spPr>
        <p:txBody>
          <a:bodyPr wrap="square" anchor="t"/>
          <a:lstStyle/>
          <a:p>
            <a:pPr algn="ctr">
              <a:lnSpc>
                <a:spcPct val="90000"/>
              </a:lnSpc>
              <a:spcBef>
                <a:spcPct val="0"/>
              </a:spcBef>
              <a:buNone/>
            </a:pPr>
            <a:r>
              <a:rPr lang="es-MX" sz="4400" b="1" noProof="0" dirty="0">
                <a:solidFill>
                  <a:srgbClr val="000000"/>
                </a:solidFill>
                <a:latin typeface="Calibri"/>
                <a:ea typeface="Calibri"/>
                <a:cs typeface="Calibri"/>
              </a:rPr>
              <a:t>Evidencias en Jira y Trello antes del cierre</a:t>
            </a:r>
          </a:p>
        </p:txBody>
      </p:sp>
      <p:sp>
        <p:nvSpPr>
          <p:cNvPr id="3" name="Text 1">
            <a:extLst>
              <a:ext uri="{FF2B5EF4-FFF2-40B4-BE49-F238E27FC236}">
                <a16:creationId xmlns:a16="http://schemas.microsoft.com/office/drawing/2014/main" id="{8C75FB1B-FD1F-4756-8DCF-53DEF8B11D0F}"/>
              </a:ext>
            </a:extLst>
          </p:cNvPr>
          <p:cNvSpPr>
            <a:spLocks noGrp="1"/>
          </p:cNvSpPr>
          <p:nvPr/>
        </p:nvSpPr>
        <p:spPr>
          <a:xfrm>
            <a:off x="548640" y="1463040"/>
            <a:ext cx="5372100" cy="548640"/>
          </a:xfrm>
          <a:prstGeom prst="rect">
            <a:avLst/>
          </a:prstGeom>
          <a:noFill/>
        </p:spPr>
        <p:txBody>
          <a:bodyPr wrap="square" anchor="ctr"/>
          <a:lstStyle/>
          <a:p>
            <a:pPr algn="just">
              <a:buNone/>
              <a:defRPr sz="1500">
                <a:latin typeface="Calibri"/>
                <a:ea typeface="Calibri"/>
                <a:cs typeface="Calibri"/>
              </a:defRPr>
            </a:pPr>
            <a:r>
              <a:rPr lang="es-MX" sz="1500" b="1" noProof="0" dirty="0">
                <a:latin typeface="Calibri"/>
                <a:ea typeface="Calibri"/>
                <a:cs typeface="Calibri"/>
              </a:rPr>
              <a:t>JIRA</a:t>
            </a:r>
            <a:endParaRPr lang="es-MX" sz="1500" noProof="0" dirty="0"/>
          </a:p>
          <a:p>
            <a:pPr algn="just">
              <a:buNone/>
              <a:defRPr sz="1500">
                <a:latin typeface="Calibri"/>
                <a:ea typeface="Calibri"/>
                <a:cs typeface="Calibri"/>
              </a:defRPr>
            </a:pPr>
            <a:r>
              <a:rPr lang="es-MX" sz="1500" b="1" noProof="0" dirty="0">
                <a:latin typeface="Calibri"/>
                <a:ea typeface="Calibri"/>
                <a:cs typeface="Calibri"/>
              </a:rPr>
              <a:t>Tablero con las tres épicas y sus tareas</a:t>
            </a:r>
            <a:endParaRPr lang="es-MX" sz="1500" noProof="0" dirty="0"/>
          </a:p>
        </p:txBody>
      </p:sp>
      <p:sp>
        <p:nvSpPr>
          <p:cNvPr id="6" name="Text 4">
            <a:extLst>
              <a:ext uri="{FF2B5EF4-FFF2-40B4-BE49-F238E27FC236}">
                <a16:creationId xmlns:a16="http://schemas.microsoft.com/office/drawing/2014/main" id="{BC19D564-15FD-4AFE-B620-650EE57A9F35}"/>
              </a:ext>
            </a:extLst>
          </p:cNvPr>
          <p:cNvSpPr>
            <a:spLocks noGrp="1"/>
          </p:cNvSpPr>
          <p:nvPr/>
        </p:nvSpPr>
        <p:spPr>
          <a:xfrm>
            <a:off x="6240780" y="1463040"/>
            <a:ext cx="5372100" cy="548640"/>
          </a:xfrm>
          <a:prstGeom prst="rect">
            <a:avLst/>
          </a:prstGeom>
          <a:noFill/>
        </p:spPr>
        <p:txBody>
          <a:bodyPr wrap="square" anchor="ctr"/>
          <a:lstStyle/>
          <a:p>
            <a:pPr marL="0" indent="0" algn="just">
              <a:buNone/>
            </a:pPr>
            <a:r>
              <a:rPr lang="es-MX" sz="1500" b="1" noProof="0" dirty="0">
                <a:latin typeface="Calibri"/>
                <a:ea typeface="Calibri"/>
                <a:cs typeface="Calibri"/>
              </a:rPr>
              <a:t>TRELLO</a:t>
            </a:r>
            <a:endParaRPr lang="es-MX" sz="1500" noProof="0" dirty="0"/>
          </a:p>
          <a:p>
            <a:pPr marL="0" indent="0" algn="just">
              <a:buNone/>
            </a:pPr>
            <a:r>
              <a:rPr lang="es-MX" sz="1500" b="1" noProof="0" dirty="0">
                <a:latin typeface="Calibri"/>
                <a:ea typeface="Calibri"/>
                <a:cs typeface="Calibri"/>
              </a:rPr>
              <a:t>Tarjeta o lista de seguimiento de riesgos</a:t>
            </a:r>
            <a:endParaRPr lang="es-MX" sz="1500" noProof="0" dirty="0"/>
          </a:p>
        </p:txBody>
      </p:sp>
      <p:pic>
        <p:nvPicPr>
          <p:cNvPr id="12" name="Imagen 10"/>
          <p:cNvPicPr>
            <a:picLocks noChangeAspect="1"/>
          </p:cNvPicPr>
          <p:nvPr/>
        </p:nvPicPr>
        <p:blipFill>
          <a:blip r:embed="rId3"/>
          <a:stretch>
            <a:fillRect/>
          </a:stretch>
        </p:blipFill>
        <p:spPr>
          <a:xfrm>
            <a:off x="6240780" y="2252980"/>
            <a:ext cx="4930987" cy="2773680"/>
          </a:xfrm>
          <a:prstGeom prst="rect">
            <a:avLst/>
          </a:prstGeom>
        </p:spPr>
      </p:pic>
      <p:pic>
        <p:nvPicPr>
          <p:cNvPr id="13" name="Imagen 4"/>
          <p:cNvPicPr>
            <a:picLocks noChangeAspect="1"/>
          </p:cNvPicPr>
          <p:nvPr/>
        </p:nvPicPr>
        <p:blipFill>
          <a:blip r:embed="rId4"/>
          <a:stretch>
            <a:fillRect/>
          </a:stretch>
        </p:blipFill>
        <p:spPr>
          <a:xfrm>
            <a:off x="548640" y="2252980"/>
            <a:ext cx="5176252" cy="2911642"/>
          </a:xfrm>
          <a:prstGeom prst="rect">
            <a:avLst/>
          </a:prstGeom>
        </p:spPr>
      </p:pic>
    </p:spTree>
    <p:extLst>
      <p:ext uri="{BB962C8B-B14F-4D97-AF65-F5344CB8AC3E}">
        <p14:creationId xmlns:p14="http://schemas.microsoft.com/office/powerpoint/2010/main" val="1734890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DD0032B-837E-456C-A499-3AF9F8F65700}"/>
              </a:ext>
            </a:extLst>
          </p:cNvPr>
          <p:cNvSpPr>
            <a:spLocks noGrp="1"/>
          </p:cNvSpPr>
          <p:nvPr/>
        </p:nvSpPr>
        <p:spPr>
          <a:xfrm>
            <a:off x="548640" y="320040"/>
            <a:ext cx="11064240" cy="822960"/>
          </a:xfrm>
          <a:prstGeom prst="rect">
            <a:avLst/>
          </a:prstGeom>
          <a:noFill/>
        </p:spPr>
        <p:txBody>
          <a:bodyPr wrap="square" anchor="t"/>
          <a:lstStyle/>
          <a:p>
            <a:pPr algn="ctr">
              <a:lnSpc>
                <a:spcPct val="90000"/>
              </a:lnSpc>
              <a:spcBef>
                <a:spcPct val="0"/>
              </a:spcBef>
              <a:buNone/>
            </a:pPr>
            <a:r>
              <a:rPr lang="es-MX" sz="4400" b="1" noProof="0" dirty="0">
                <a:solidFill>
                  <a:srgbClr val="000000"/>
                </a:solidFill>
                <a:latin typeface="Calibri"/>
                <a:ea typeface="Calibri"/>
                <a:cs typeface="Calibri"/>
              </a:rPr>
              <a:t>Resultados obtenidos</a:t>
            </a:r>
          </a:p>
        </p:txBody>
      </p:sp>
      <p:graphicFrame>
        <p:nvGraphicFramePr>
          <p:cNvPr id="11" name="Tabla 2"/>
          <p:cNvGraphicFramePr/>
          <p:nvPr>
            <p:extLst>
              <p:ext uri="{D42A27DB-BD31-4B8C-83A1-F6EECF244321}">
                <p14:modId xmlns:p14="http://schemas.microsoft.com/office/powerpoint/2010/main" val="3786758"/>
              </p:ext>
            </p:extLst>
          </p:nvPr>
        </p:nvGraphicFramePr>
        <p:xfrm>
          <a:off x="548640" y="1280160"/>
          <a:ext cx="10515600" cy="2926080"/>
        </p:xfrm>
        <a:graphic>
          <a:graphicData uri="http://schemas.openxmlformats.org/drawingml/2006/table">
            <a:tbl>
              <a:tblPr>
                <a:tableStyleId>{BDBED569-4797-4DF1-A0F4-6AAB3CD982D8}</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0">
                <a:tc>
                  <a:txBody>
                    <a:bodyPr/>
                    <a:lstStyle/>
                    <a:p>
                      <a:pPr algn="ctr">
                        <a:buNone/>
                      </a:pPr>
                      <a:r>
                        <a:rPr lang="es-MX" b="1" noProof="0" dirty="0"/>
                        <a:t>Resultado</a:t>
                      </a:r>
                    </a:p>
                  </a:txBody>
                  <a:tcPr anchor="ctr">
                    <a:solidFill>
                      <a:schemeClr val="accent5"/>
                    </a:solidFill>
                  </a:tcPr>
                </a:tc>
                <a:tc>
                  <a:txBody>
                    <a:bodyPr/>
                    <a:lstStyle/>
                    <a:p>
                      <a:pPr algn="ctr">
                        <a:buNone/>
                      </a:pPr>
                      <a:r>
                        <a:rPr lang="es-MX" b="1" noProof="0" dirty="0"/>
                        <a:t>Estado</a:t>
                      </a:r>
                    </a:p>
                  </a:txBody>
                  <a:tcPr anchor="ctr">
                    <a:solidFill>
                      <a:schemeClr val="accent5"/>
                    </a:solidFill>
                  </a:tcPr>
                </a:tc>
                <a:extLst>
                  <a:ext uri="{0D108BD9-81ED-4DB2-BD59-A6C34878D82A}">
                    <a16:rowId xmlns:a16="http://schemas.microsoft.com/office/drawing/2014/main" val="10000"/>
                  </a:ext>
                </a:extLst>
              </a:tr>
              <a:tr h="0">
                <a:tc>
                  <a:txBody>
                    <a:bodyPr/>
                    <a:lstStyle/>
                    <a:p>
                      <a:pPr>
                        <a:buNone/>
                      </a:pPr>
                      <a:r>
                        <a:rPr lang="es-MX" noProof="0" dirty="0"/>
                        <a:t>Proyectos gestionados</a:t>
                      </a:r>
                    </a:p>
                  </a:txBody>
                  <a:tcPr anchor="ctr"/>
                </a:tc>
                <a:tc>
                  <a:txBody>
                    <a:bodyPr/>
                    <a:lstStyle/>
                    <a:p>
                      <a:pPr>
                        <a:buNone/>
                      </a:pPr>
                      <a:r>
                        <a:rPr lang="es-MX" noProof="0" dirty="0"/>
                        <a:t>3</a:t>
                      </a:r>
                    </a:p>
                  </a:txBody>
                  <a:tcPr anchor="ctr"/>
                </a:tc>
                <a:extLst>
                  <a:ext uri="{0D108BD9-81ED-4DB2-BD59-A6C34878D82A}">
                    <a16:rowId xmlns:a16="http://schemas.microsoft.com/office/drawing/2014/main" val="10001"/>
                  </a:ext>
                </a:extLst>
              </a:tr>
              <a:tr h="0">
                <a:tc>
                  <a:txBody>
                    <a:bodyPr/>
                    <a:lstStyle/>
                    <a:p>
                      <a:pPr>
                        <a:buNone/>
                      </a:pPr>
                      <a:r>
                        <a:rPr lang="es-MX" noProof="0" dirty="0"/>
                        <a:t>Cronogramas en Microsoft Project</a:t>
                      </a:r>
                    </a:p>
                  </a:txBody>
                  <a:tcPr anchor="ctr"/>
                </a:tc>
                <a:tc>
                  <a:txBody>
                    <a:bodyPr/>
                    <a:lstStyle/>
                    <a:p>
                      <a:pPr>
                        <a:buNone/>
                      </a:pPr>
                      <a:r>
                        <a:rPr lang="es-MX" noProof="0" dirty="0"/>
                        <a:t>3 archivos separados</a:t>
                      </a:r>
                    </a:p>
                  </a:txBody>
                  <a:tcPr anchor="ctr"/>
                </a:tc>
                <a:extLst>
                  <a:ext uri="{0D108BD9-81ED-4DB2-BD59-A6C34878D82A}">
                    <a16:rowId xmlns:a16="http://schemas.microsoft.com/office/drawing/2014/main" val="10002"/>
                  </a:ext>
                </a:extLst>
              </a:tr>
              <a:tr h="0">
                <a:tc>
                  <a:txBody>
                    <a:bodyPr/>
                    <a:lstStyle/>
                    <a:p>
                      <a:pPr>
                        <a:buNone/>
                      </a:pPr>
                      <a:r>
                        <a:rPr lang="es-MX" noProof="0" dirty="0"/>
                        <a:t>Proyectos organizados en Jira</a:t>
                      </a:r>
                    </a:p>
                  </a:txBody>
                  <a:tcPr anchor="ctr"/>
                </a:tc>
                <a:tc>
                  <a:txBody>
                    <a:bodyPr/>
                    <a:lstStyle/>
                    <a:p>
                      <a:pPr>
                        <a:buNone/>
                      </a:pPr>
                      <a:r>
                        <a:rPr lang="es-MX" noProof="0" dirty="0"/>
                        <a:t>3 épicas con tareas</a:t>
                      </a:r>
                    </a:p>
                  </a:txBody>
                  <a:tcPr anchor="ctr"/>
                </a:tc>
                <a:extLst>
                  <a:ext uri="{0D108BD9-81ED-4DB2-BD59-A6C34878D82A}">
                    <a16:rowId xmlns:a16="http://schemas.microsoft.com/office/drawing/2014/main" val="10003"/>
                  </a:ext>
                </a:extLst>
              </a:tr>
              <a:tr h="0">
                <a:tc>
                  <a:txBody>
                    <a:bodyPr/>
                    <a:lstStyle/>
                    <a:p>
                      <a:pPr>
                        <a:buNone/>
                      </a:pPr>
                      <a:r>
                        <a:rPr lang="es-MX" noProof="0" dirty="0"/>
                        <a:t>Seguimiento visual en Trello</a:t>
                      </a:r>
                    </a:p>
                  </a:txBody>
                  <a:tcPr anchor="ctr"/>
                </a:tc>
                <a:tc>
                  <a:txBody>
                    <a:bodyPr/>
                    <a:lstStyle/>
                    <a:p>
                      <a:pPr>
                        <a:buNone/>
                      </a:pPr>
                      <a:r>
                        <a:rPr lang="es-MX" noProof="0" dirty="0"/>
                        <a:t>1 tablero general</a:t>
                      </a:r>
                    </a:p>
                  </a:txBody>
                  <a:tcPr anchor="ctr"/>
                </a:tc>
                <a:extLst>
                  <a:ext uri="{0D108BD9-81ED-4DB2-BD59-A6C34878D82A}">
                    <a16:rowId xmlns:a16="http://schemas.microsoft.com/office/drawing/2014/main" val="10004"/>
                  </a:ext>
                </a:extLst>
              </a:tr>
              <a:tr h="0">
                <a:tc>
                  <a:txBody>
                    <a:bodyPr/>
                    <a:lstStyle/>
                    <a:p>
                      <a:pPr>
                        <a:buNone/>
                      </a:pPr>
                      <a:r>
                        <a:rPr lang="es-MX" noProof="0" dirty="0"/>
                        <a:t>Control de cambios</a:t>
                      </a:r>
                    </a:p>
                  </a:txBody>
                  <a:tcPr anchor="ctr"/>
                </a:tc>
                <a:tc>
                  <a:txBody>
                    <a:bodyPr/>
                    <a:lstStyle/>
                    <a:p>
                      <a:pPr>
                        <a:buNone/>
                      </a:pPr>
                      <a:r>
                        <a:rPr lang="es-MX" noProof="0" dirty="0"/>
                        <a:t>Procedimiento definido</a:t>
                      </a:r>
                    </a:p>
                  </a:txBody>
                  <a:tcPr anchor="ctr"/>
                </a:tc>
                <a:extLst>
                  <a:ext uri="{0D108BD9-81ED-4DB2-BD59-A6C34878D82A}">
                    <a16:rowId xmlns:a16="http://schemas.microsoft.com/office/drawing/2014/main" val="10005"/>
                  </a:ext>
                </a:extLst>
              </a:tr>
              <a:tr h="0">
                <a:tc>
                  <a:txBody>
                    <a:bodyPr/>
                    <a:lstStyle/>
                    <a:p>
                      <a:pPr>
                        <a:buNone/>
                      </a:pPr>
                      <a:r>
                        <a:rPr lang="es-MX" noProof="0" dirty="0"/>
                        <a:t>Evidencias</a:t>
                      </a:r>
                    </a:p>
                  </a:txBody>
                  <a:tcPr anchor="ctr"/>
                </a:tc>
                <a:tc>
                  <a:txBody>
                    <a:bodyPr/>
                    <a:lstStyle/>
                    <a:p>
                      <a:pPr>
                        <a:buNone/>
                      </a:pPr>
                      <a:r>
                        <a:rPr lang="es-MX" noProof="0" dirty="0"/>
                        <a:t>Capturas y archivos vinculados</a:t>
                      </a:r>
                    </a:p>
                  </a:txBody>
                  <a:tcPr anchor="ctr"/>
                </a:tc>
                <a:extLst>
                  <a:ext uri="{0D108BD9-81ED-4DB2-BD59-A6C34878D82A}">
                    <a16:rowId xmlns:a16="http://schemas.microsoft.com/office/drawing/2014/main" val="10006"/>
                  </a:ext>
                </a:extLst>
              </a:tr>
              <a:tr h="0">
                <a:tc>
                  <a:txBody>
                    <a:bodyPr/>
                    <a:lstStyle/>
                    <a:p>
                      <a:pPr>
                        <a:buNone/>
                      </a:pPr>
                      <a:r>
                        <a:rPr lang="es-MX" noProof="0" dirty="0"/>
                        <a:t>Información entre herramientas</a:t>
                      </a:r>
                    </a:p>
                  </a:txBody>
                  <a:tcPr anchor="ctr"/>
                </a:tc>
                <a:tc>
                  <a:txBody>
                    <a:bodyPr/>
                    <a:lstStyle/>
                    <a:p>
                      <a:pPr>
                        <a:buNone/>
                      </a:pPr>
                      <a:r>
                        <a:rPr lang="es-MX" noProof="0" dirty="0"/>
                        <a:t>Revisada para mantener coincidencia</a:t>
                      </a:r>
                    </a:p>
                  </a:txBody>
                  <a:tcPr anchor="ctr"/>
                </a:tc>
                <a:extLst>
                  <a:ext uri="{0D108BD9-81ED-4DB2-BD59-A6C34878D82A}">
                    <a16:rowId xmlns:a16="http://schemas.microsoft.com/office/drawing/2014/main" val="10007"/>
                  </a:ext>
                </a:extLst>
              </a:tr>
            </a:tbl>
          </a:graphicData>
        </a:graphic>
      </p:graphicFrame>
      <p:sp>
        <p:nvSpPr>
          <p:cNvPr id="8" name="Text 1">
            <a:extLst>
              <a:ext uri="{FF2B5EF4-FFF2-40B4-BE49-F238E27FC236}">
                <a16:creationId xmlns:a16="http://schemas.microsoft.com/office/drawing/2014/main" id="{2668D994-7743-37A9-9B0A-3460CB34E74A}"/>
              </a:ext>
            </a:extLst>
          </p:cNvPr>
          <p:cNvSpPr>
            <a:spLocks noGrp="1"/>
          </p:cNvSpPr>
          <p:nvPr/>
        </p:nvSpPr>
        <p:spPr>
          <a:xfrm>
            <a:off x="548640" y="4806314"/>
            <a:ext cx="10789920" cy="1337311"/>
          </a:xfrm>
          <a:prstGeom prst="rect">
            <a:avLst/>
          </a:prstGeom>
          <a:noFill/>
        </p:spPr>
        <p:txBody>
          <a:bodyPr vert="horz" wrap="square" anchor="t">
            <a:noAutofit/>
          </a:bodyPr>
          <a:lstStyle/>
          <a:p>
            <a:pPr algn="just"/>
            <a:r>
              <a:rPr lang="es-MX" sz="2000" noProof="0" dirty="0">
                <a:solidFill>
                  <a:srgbClr val="262626"/>
                </a:solidFill>
                <a:latin typeface="Calibri"/>
                <a:ea typeface="Calibri"/>
                <a:cs typeface="Calibri"/>
              </a:rPr>
              <a:t>El uso combinado permitió planificar, organizar y supervisar los tres proyectos. Brandon, Josefina y Roberto completaron sus entregables, se registraron las evidencias finales y se elaboró un documento de cierre para cada proyecto.</a:t>
            </a:r>
          </a:p>
        </p:txBody>
      </p:sp>
    </p:spTree>
    <p:extLst>
      <p:ext uri="{BB962C8B-B14F-4D97-AF65-F5344CB8AC3E}">
        <p14:creationId xmlns:p14="http://schemas.microsoft.com/office/powerpoint/2010/main" val="497609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9C7ABA-C126-4527-9911-93203238C313}"/>
              </a:ext>
            </a:extLst>
          </p:cNvPr>
          <p:cNvSpPr>
            <a:spLocks noGrp="1"/>
          </p:cNvSpPr>
          <p:nvPr/>
        </p:nvSpPr>
        <p:spPr>
          <a:xfrm>
            <a:off x="548640" y="320040"/>
            <a:ext cx="11018520" cy="685800"/>
          </a:xfrm>
          <a:prstGeom prst="rect">
            <a:avLst/>
          </a:prstGeom>
          <a:noFill/>
        </p:spPr>
        <p:txBody>
          <a:bodyPr wrap="square" lIns="73152" tIns="73152" rIns="73152" bIns="73152" anchor="ctr">
            <a:spAutoFit/>
          </a:bodyPr>
          <a:lstStyle/>
          <a:p>
            <a:pPr algn="ctr">
              <a:buNone/>
            </a:pPr>
            <a:r>
              <a:rPr lang="es-MX" sz="3200" b="1" noProof="0" dirty="0">
                <a:solidFill>
                  <a:srgbClr val="000000"/>
                </a:solidFill>
                <a:latin typeface="Calibri"/>
                <a:ea typeface="Calibri"/>
                <a:cs typeface="Calibri"/>
              </a:rPr>
              <a:t>Cierre de los tres proyectos</a:t>
            </a:r>
          </a:p>
        </p:txBody>
      </p:sp>
      <p:graphicFrame>
        <p:nvGraphicFramePr>
          <p:cNvPr id="8" name="Table 2"/>
          <p:cNvGraphicFramePr/>
          <p:nvPr>
            <p:extLst>
              <p:ext uri="{D42A27DB-BD31-4B8C-83A1-F6EECF244321}">
                <p14:modId xmlns:p14="http://schemas.microsoft.com/office/powerpoint/2010/main" val="3030011319"/>
              </p:ext>
            </p:extLst>
          </p:nvPr>
        </p:nvGraphicFramePr>
        <p:xfrm>
          <a:off x="658368" y="1417320"/>
          <a:ext cx="10881360" cy="2331720"/>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3291840">
                  <a:extLst>
                    <a:ext uri="{9D8B030D-6E8A-4147-A177-3AD203B41FA5}">
                      <a16:colId xmlns:a16="http://schemas.microsoft.com/office/drawing/2014/main" val="20004"/>
                    </a:ext>
                  </a:extLst>
                </a:gridCol>
              </a:tblGrid>
              <a:tr h="582930">
                <a:tc>
                  <a:txBody>
                    <a:bodyPr/>
                    <a:lstStyle/>
                    <a:p>
                      <a:pPr algn="ctr">
                        <a:buNone/>
                      </a:pPr>
                      <a:r>
                        <a:rPr lang="es-MX" sz="1800" b="1" noProof="0" dirty="0">
                          <a:solidFill>
                            <a:schemeClr val="tx1"/>
                          </a:solidFill>
                          <a:latin typeface="Calibri"/>
                          <a:ea typeface="Calibri"/>
                          <a:cs typeface="Calibri"/>
                        </a:rPr>
                        <a:t>Proyecto</a:t>
                      </a:r>
                    </a:p>
                  </a:txBody>
                  <a:tcPr marL="54864" marR="54864" marT="36576" marB="36576">
                    <a:solidFill>
                      <a:srgbClr val="4472C4"/>
                    </a:solidFill>
                  </a:tcPr>
                </a:tc>
                <a:tc>
                  <a:txBody>
                    <a:bodyPr/>
                    <a:lstStyle/>
                    <a:p>
                      <a:pPr algn="ctr">
                        <a:buNone/>
                      </a:pPr>
                      <a:r>
                        <a:rPr lang="es-MX" sz="1800" b="1" noProof="0" dirty="0">
                          <a:solidFill>
                            <a:schemeClr val="tx1"/>
                          </a:solidFill>
                          <a:latin typeface="Calibri"/>
                          <a:ea typeface="Calibri"/>
                          <a:cs typeface="Calibri"/>
                        </a:rPr>
                        <a:t>Responsable</a:t>
                      </a:r>
                    </a:p>
                  </a:txBody>
                  <a:tcPr marL="54864" marR="54864" marT="36576" marB="36576">
                    <a:solidFill>
                      <a:srgbClr val="4472C4"/>
                    </a:solidFill>
                  </a:tcPr>
                </a:tc>
                <a:tc>
                  <a:txBody>
                    <a:bodyPr/>
                    <a:lstStyle/>
                    <a:p>
                      <a:pPr algn="ctr">
                        <a:buNone/>
                      </a:pPr>
                      <a:r>
                        <a:rPr lang="es-MX" sz="1800" b="1" noProof="0" dirty="0">
                          <a:solidFill>
                            <a:schemeClr val="tx1"/>
                          </a:solidFill>
                          <a:latin typeface="Calibri"/>
                          <a:ea typeface="Calibri"/>
                          <a:cs typeface="Calibri"/>
                        </a:rPr>
                        <a:t>Documento</a:t>
                      </a:r>
                    </a:p>
                  </a:txBody>
                  <a:tcPr marL="54864" marR="54864" marT="36576" marB="36576">
                    <a:solidFill>
                      <a:srgbClr val="4472C4"/>
                    </a:solidFill>
                  </a:tcPr>
                </a:tc>
                <a:tc>
                  <a:txBody>
                    <a:bodyPr/>
                    <a:lstStyle/>
                    <a:p>
                      <a:pPr algn="ctr">
                        <a:buNone/>
                      </a:pPr>
                      <a:r>
                        <a:rPr lang="es-MX" sz="1800" b="1" noProof="0" dirty="0">
                          <a:solidFill>
                            <a:schemeClr val="tx1"/>
                          </a:solidFill>
                          <a:latin typeface="Calibri"/>
                          <a:ea typeface="Calibri"/>
                          <a:cs typeface="Calibri"/>
                        </a:rPr>
                        <a:t>Fecha de cierre</a:t>
                      </a:r>
                    </a:p>
                  </a:txBody>
                  <a:tcPr marL="54864" marR="54864" marT="36576" marB="36576">
                    <a:solidFill>
                      <a:srgbClr val="4472C4"/>
                    </a:solidFill>
                  </a:tcPr>
                </a:tc>
                <a:tc>
                  <a:txBody>
                    <a:bodyPr/>
                    <a:lstStyle/>
                    <a:p>
                      <a:pPr algn="ctr">
                        <a:buNone/>
                      </a:pPr>
                      <a:r>
                        <a:rPr lang="es-MX" sz="1800" b="1" noProof="0" dirty="0">
                          <a:solidFill>
                            <a:schemeClr val="tx1"/>
                          </a:solidFill>
                          <a:latin typeface="Calibri"/>
                          <a:ea typeface="Calibri"/>
                          <a:cs typeface="Calibri"/>
                        </a:rPr>
                        <a:t>Resultado</a:t>
                      </a:r>
                    </a:p>
                  </a:txBody>
                  <a:tcPr marL="54864" marR="54864" marT="36576" marB="36576">
                    <a:solidFill>
                      <a:srgbClr val="4472C4"/>
                    </a:solidFill>
                  </a:tcPr>
                </a:tc>
                <a:extLst>
                  <a:ext uri="{0D108BD9-81ED-4DB2-BD59-A6C34878D82A}">
                    <a16:rowId xmlns:a16="http://schemas.microsoft.com/office/drawing/2014/main" val="10000"/>
                  </a:ext>
                </a:extLst>
              </a:tr>
              <a:tr h="582930">
                <a:tc>
                  <a:txBody>
                    <a:bodyPr/>
                    <a:lstStyle/>
                    <a:p>
                      <a:pPr algn="ctr">
                        <a:buNone/>
                      </a:pPr>
                      <a:r>
                        <a:rPr lang="es-MX" sz="1600" b="0" noProof="0" dirty="0">
                          <a:solidFill>
                            <a:schemeClr val="tx1"/>
                          </a:solidFill>
                          <a:latin typeface="Calibri"/>
                          <a:ea typeface="Calibri"/>
                          <a:cs typeface="Calibri"/>
                        </a:rPr>
                        <a:t>Taller mecánico</a:t>
                      </a:r>
                    </a:p>
                  </a:txBody>
                  <a:tcPr marL="54864" marR="54864" marT="36576" marB="36576">
                    <a:solidFill>
                      <a:srgbClr val="FFFFFF"/>
                    </a:solidFill>
                  </a:tcPr>
                </a:tc>
                <a:tc>
                  <a:txBody>
                    <a:bodyPr/>
                    <a:lstStyle/>
                    <a:p>
                      <a:pPr algn="ctr">
                        <a:buNone/>
                      </a:pPr>
                      <a:r>
                        <a:rPr lang="es-MX" sz="1600" b="0" noProof="0" dirty="0">
                          <a:solidFill>
                            <a:schemeClr val="tx1"/>
                          </a:solidFill>
                          <a:latin typeface="Calibri"/>
                          <a:ea typeface="Calibri"/>
                          <a:cs typeface="Calibri"/>
                        </a:rPr>
                        <a:t>Brandon </a:t>
                      </a:r>
                      <a:r>
                        <a:rPr lang="es-MX" sz="1600" b="0" noProof="0" dirty="0" err="1">
                          <a:solidFill>
                            <a:schemeClr val="tx1"/>
                          </a:solidFill>
                          <a:latin typeface="Calibri"/>
                          <a:ea typeface="Calibri"/>
                          <a:cs typeface="Calibri"/>
                        </a:rPr>
                        <a:t>Farith</a:t>
                      </a:r>
                      <a:r>
                        <a:rPr lang="es-MX" sz="1600" b="0" noProof="0" dirty="0">
                          <a:solidFill>
                            <a:schemeClr val="tx1"/>
                          </a:solidFill>
                          <a:latin typeface="Calibri"/>
                          <a:ea typeface="Calibri"/>
                          <a:cs typeface="Calibri"/>
                        </a:rPr>
                        <a:t> López Nanga</a:t>
                      </a:r>
                    </a:p>
                  </a:txBody>
                  <a:tcPr marL="54864" marR="54864" marT="36576" marB="36576">
                    <a:solidFill>
                      <a:srgbClr val="FFFFFF"/>
                    </a:solidFill>
                  </a:tcPr>
                </a:tc>
                <a:tc>
                  <a:txBody>
                    <a:bodyPr/>
                    <a:lstStyle/>
                    <a:p>
                      <a:pPr algn="ctr">
                        <a:buNone/>
                      </a:pPr>
                      <a:r>
                        <a:rPr lang="es-MX" sz="1600" b="0" noProof="0" dirty="0">
                          <a:solidFill>
                            <a:schemeClr val="tx1"/>
                          </a:solidFill>
                          <a:latin typeface="Calibri"/>
                          <a:ea typeface="Calibri"/>
                          <a:cs typeface="Calibri"/>
                        </a:rPr>
                        <a:t>ACTA-001 / PLAN-001</a:t>
                      </a:r>
                    </a:p>
                  </a:txBody>
                  <a:tcPr marL="54864" marR="54864" marT="36576" marB="36576">
                    <a:solidFill>
                      <a:srgbClr val="FFFFFF"/>
                    </a:solidFill>
                  </a:tcPr>
                </a:tc>
                <a:tc>
                  <a:txBody>
                    <a:bodyPr/>
                    <a:lstStyle/>
                    <a:p>
                      <a:pPr algn="ctr">
                        <a:buNone/>
                      </a:pPr>
                      <a:r>
                        <a:rPr lang="es-MX" sz="1600" b="0" noProof="0" dirty="0">
                          <a:solidFill>
                            <a:schemeClr val="tx1"/>
                          </a:solidFill>
                          <a:latin typeface="Calibri"/>
                          <a:ea typeface="Calibri"/>
                          <a:cs typeface="Calibri"/>
                        </a:rPr>
                        <a:t>29/09/2026</a:t>
                      </a:r>
                    </a:p>
                  </a:txBody>
                  <a:tcPr marL="54864" marR="54864" marT="36576" marB="36576">
                    <a:solidFill>
                      <a:srgbClr val="FFFFFF"/>
                    </a:solidFill>
                  </a:tcPr>
                </a:tc>
                <a:tc>
                  <a:txBody>
                    <a:bodyPr/>
                    <a:lstStyle/>
                    <a:p>
                      <a:pPr algn="ctr">
                        <a:buNone/>
                      </a:pPr>
                      <a:r>
                        <a:rPr lang="es-MX" sz="1600" b="0" noProof="0" dirty="0">
                          <a:solidFill>
                            <a:schemeClr val="tx1"/>
                          </a:solidFill>
                          <a:latin typeface="Calibri"/>
                          <a:ea typeface="Calibri"/>
                          <a:cs typeface="Calibri"/>
                        </a:rPr>
                        <a:t>Entregables aceptados y proyecto cerrado</a:t>
                      </a:r>
                    </a:p>
                  </a:txBody>
                  <a:tcPr marL="54864" marR="54864" marT="36576" marB="36576">
                    <a:solidFill>
                      <a:srgbClr val="FFFFFF"/>
                    </a:solidFill>
                  </a:tcPr>
                </a:tc>
                <a:extLst>
                  <a:ext uri="{0D108BD9-81ED-4DB2-BD59-A6C34878D82A}">
                    <a16:rowId xmlns:a16="http://schemas.microsoft.com/office/drawing/2014/main" val="10001"/>
                  </a:ext>
                </a:extLst>
              </a:tr>
              <a:tr h="582930">
                <a:tc>
                  <a:txBody>
                    <a:bodyPr/>
                    <a:lstStyle/>
                    <a:p>
                      <a:pPr algn="ctr">
                        <a:buNone/>
                      </a:pPr>
                      <a:r>
                        <a:rPr lang="es-MX" sz="1600" b="0" noProof="0" dirty="0">
                          <a:solidFill>
                            <a:schemeClr val="tx1"/>
                          </a:solidFill>
                          <a:latin typeface="Calibri"/>
                          <a:ea typeface="Calibri"/>
                          <a:cs typeface="Calibri"/>
                        </a:rPr>
                        <a:t>Planta embotelladora</a:t>
                      </a:r>
                    </a:p>
                  </a:txBody>
                  <a:tcPr marL="54864" marR="54864" marT="36576" marB="36576">
                    <a:solidFill>
                      <a:srgbClr val="F2F2F2"/>
                    </a:solidFill>
                  </a:tcPr>
                </a:tc>
                <a:tc>
                  <a:txBody>
                    <a:bodyPr/>
                    <a:lstStyle/>
                    <a:p>
                      <a:pPr algn="ctr">
                        <a:buNone/>
                      </a:pPr>
                      <a:r>
                        <a:rPr lang="es-MX" sz="1600" b="0" noProof="0" dirty="0">
                          <a:solidFill>
                            <a:schemeClr val="tx1"/>
                          </a:solidFill>
                          <a:latin typeface="Calibri"/>
                          <a:ea typeface="Calibri"/>
                          <a:cs typeface="Calibri"/>
                        </a:rPr>
                        <a:t>Josefina Nieto Hernández</a:t>
                      </a:r>
                    </a:p>
                  </a:txBody>
                  <a:tcPr marL="54864" marR="54864" marT="36576" marB="36576">
                    <a:solidFill>
                      <a:srgbClr val="F2F2F2"/>
                    </a:solidFill>
                  </a:tcPr>
                </a:tc>
                <a:tc>
                  <a:txBody>
                    <a:bodyPr/>
                    <a:lstStyle/>
                    <a:p>
                      <a:pPr algn="ctr">
                        <a:buNone/>
                      </a:pPr>
                      <a:r>
                        <a:rPr lang="es-MX" sz="1600" b="0" noProof="0" dirty="0">
                          <a:solidFill>
                            <a:schemeClr val="tx1"/>
                          </a:solidFill>
                          <a:latin typeface="Calibri"/>
                          <a:ea typeface="Calibri"/>
                          <a:cs typeface="Calibri"/>
                        </a:rPr>
                        <a:t>ACTA-002 / PLAN-002</a:t>
                      </a:r>
                    </a:p>
                  </a:txBody>
                  <a:tcPr marL="54864" marR="54864" marT="36576" marB="36576">
                    <a:solidFill>
                      <a:srgbClr val="F2F2F2"/>
                    </a:solidFill>
                  </a:tcPr>
                </a:tc>
                <a:tc>
                  <a:txBody>
                    <a:bodyPr/>
                    <a:lstStyle/>
                    <a:p>
                      <a:pPr algn="ctr">
                        <a:buNone/>
                      </a:pPr>
                      <a:r>
                        <a:rPr lang="es-MX" sz="1600" b="0" noProof="0" dirty="0">
                          <a:solidFill>
                            <a:schemeClr val="tx1"/>
                          </a:solidFill>
                          <a:latin typeface="Calibri"/>
                          <a:ea typeface="Calibri"/>
                          <a:cs typeface="Calibri"/>
                        </a:rPr>
                        <a:t>02/10/2026</a:t>
                      </a:r>
                    </a:p>
                  </a:txBody>
                  <a:tcPr marL="54864" marR="54864" marT="36576" marB="36576">
                    <a:solidFill>
                      <a:srgbClr val="F2F2F2"/>
                    </a:solidFill>
                  </a:tcPr>
                </a:tc>
                <a:tc>
                  <a:txBody>
                    <a:bodyPr/>
                    <a:lstStyle/>
                    <a:p>
                      <a:pPr algn="ctr">
                        <a:buNone/>
                      </a:pPr>
                      <a:r>
                        <a:rPr lang="es-MX" sz="1600" b="0" noProof="0" dirty="0">
                          <a:solidFill>
                            <a:schemeClr val="tx1"/>
                          </a:solidFill>
                          <a:latin typeface="Calibri"/>
                          <a:ea typeface="Calibri"/>
                          <a:cs typeface="Calibri"/>
                        </a:rPr>
                        <a:t>Entregables aceptados y proyecto cerrado</a:t>
                      </a:r>
                    </a:p>
                  </a:txBody>
                  <a:tcPr marL="54864" marR="54864" marT="36576" marB="36576">
                    <a:solidFill>
                      <a:srgbClr val="F2F2F2"/>
                    </a:solidFill>
                  </a:tcPr>
                </a:tc>
                <a:extLst>
                  <a:ext uri="{0D108BD9-81ED-4DB2-BD59-A6C34878D82A}">
                    <a16:rowId xmlns:a16="http://schemas.microsoft.com/office/drawing/2014/main" val="10002"/>
                  </a:ext>
                </a:extLst>
              </a:tr>
              <a:tr h="582930">
                <a:tc>
                  <a:txBody>
                    <a:bodyPr/>
                    <a:lstStyle/>
                    <a:p>
                      <a:pPr algn="ctr">
                        <a:buNone/>
                      </a:pPr>
                      <a:r>
                        <a:rPr lang="es-MX" sz="1600" b="0" noProof="0" dirty="0">
                          <a:solidFill>
                            <a:schemeClr val="tx1"/>
                          </a:solidFill>
                          <a:latin typeface="Calibri"/>
                          <a:ea typeface="Calibri"/>
                          <a:cs typeface="Calibri"/>
                        </a:rPr>
                        <a:t>Taller de electrónica</a:t>
                      </a:r>
                    </a:p>
                  </a:txBody>
                  <a:tcPr marL="54864" marR="54864" marT="36576" marB="36576">
                    <a:solidFill>
                      <a:srgbClr val="FFFFFF"/>
                    </a:solidFill>
                  </a:tcPr>
                </a:tc>
                <a:tc>
                  <a:txBody>
                    <a:bodyPr/>
                    <a:lstStyle/>
                    <a:p>
                      <a:pPr algn="ctr">
                        <a:buNone/>
                      </a:pPr>
                      <a:r>
                        <a:rPr lang="es-MX" sz="1600" b="0" noProof="0" dirty="0">
                          <a:solidFill>
                            <a:schemeClr val="tx1"/>
                          </a:solidFill>
                          <a:latin typeface="Calibri"/>
                          <a:ea typeface="Calibri"/>
                          <a:cs typeface="Calibri"/>
                        </a:rPr>
                        <a:t>Roberto Carlos </a:t>
                      </a:r>
                      <a:r>
                        <a:rPr lang="es-MX" sz="1600" b="0" noProof="0" dirty="0" err="1">
                          <a:solidFill>
                            <a:schemeClr val="tx1"/>
                          </a:solidFill>
                          <a:latin typeface="Calibri"/>
                          <a:ea typeface="Calibri"/>
                          <a:cs typeface="Calibri"/>
                        </a:rPr>
                        <a:t>Cahuare</a:t>
                      </a:r>
                      <a:r>
                        <a:rPr lang="es-MX" sz="1600" b="0" noProof="0" dirty="0">
                          <a:solidFill>
                            <a:schemeClr val="tx1"/>
                          </a:solidFill>
                          <a:latin typeface="Calibri"/>
                          <a:ea typeface="Calibri"/>
                          <a:cs typeface="Calibri"/>
                        </a:rPr>
                        <a:t> Moreno</a:t>
                      </a:r>
                    </a:p>
                  </a:txBody>
                  <a:tcPr marL="54864" marR="54864" marT="36576" marB="36576">
                    <a:solidFill>
                      <a:srgbClr val="FFFFFF"/>
                    </a:solidFill>
                  </a:tcPr>
                </a:tc>
                <a:tc>
                  <a:txBody>
                    <a:bodyPr/>
                    <a:lstStyle/>
                    <a:p>
                      <a:pPr algn="ctr">
                        <a:buNone/>
                      </a:pPr>
                      <a:r>
                        <a:rPr lang="es-MX" sz="1600" b="0" noProof="0" dirty="0">
                          <a:solidFill>
                            <a:schemeClr val="tx1"/>
                          </a:solidFill>
                          <a:latin typeface="Calibri"/>
                          <a:ea typeface="Calibri"/>
                          <a:cs typeface="Calibri"/>
                        </a:rPr>
                        <a:t>ACTA-003 / PLAN-003</a:t>
                      </a:r>
                    </a:p>
                  </a:txBody>
                  <a:tcPr marL="54864" marR="54864" marT="36576" marB="36576">
                    <a:solidFill>
                      <a:srgbClr val="FFFFFF"/>
                    </a:solidFill>
                  </a:tcPr>
                </a:tc>
                <a:tc>
                  <a:txBody>
                    <a:bodyPr/>
                    <a:lstStyle/>
                    <a:p>
                      <a:pPr algn="ctr">
                        <a:buNone/>
                      </a:pPr>
                      <a:r>
                        <a:rPr lang="es-MX" sz="1600" b="0" noProof="0" dirty="0">
                          <a:solidFill>
                            <a:schemeClr val="tx1"/>
                          </a:solidFill>
                          <a:latin typeface="Calibri"/>
                          <a:ea typeface="Calibri"/>
                          <a:cs typeface="Calibri"/>
                        </a:rPr>
                        <a:t>02/10/2026</a:t>
                      </a:r>
                    </a:p>
                  </a:txBody>
                  <a:tcPr marL="54864" marR="54864" marT="36576" marB="36576">
                    <a:solidFill>
                      <a:srgbClr val="FFFFFF"/>
                    </a:solidFill>
                  </a:tcPr>
                </a:tc>
                <a:tc>
                  <a:txBody>
                    <a:bodyPr/>
                    <a:lstStyle/>
                    <a:p>
                      <a:pPr algn="ctr">
                        <a:buNone/>
                      </a:pPr>
                      <a:r>
                        <a:rPr lang="es-MX" sz="1600" b="0" noProof="0" dirty="0">
                          <a:solidFill>
                            <a:schemeClr val="tx1"/>
                          </a:solidFill>
                          <a:latin typeface="Calibri"/>
                          <a:ea typeface="Calibri"/>
                          <a:cs typeface="Calibri"/>
                        </a:rPr>
                        <a:t>Entregables aceptados y proyecto cerrado</a:t>
                      </a:r>
                    </a:p>
                  </a:txBody>
                  <a:tcPr marL="54864" marR="54864" marT="36576" marB="36576">
                    <a:solidFill>
                      <a:srgbClr val="FFFFFF"/>
                    </a:solidFill>
                  </a:tcPr>
                </a:tc>
                <a:extLst>
                  <a:ext uri="{0D108BD9-81ED-4DB2-BD59-A6C34878D82A}">
                    <a16:rowId xmlns:a16="http://schemas.microsoft.com/office/drawing/2014/main" val="10003"/>
                  </a:ext>
                </a:extLst>
              </a:tr>
            </a:tbl>
          </a:graphicData>
        </a:graphic>
      </p:graphicFrame>
      <p:sp>
        <p:nvSpPr>
          <p:cNvPr id="4" name="TextBox 3">
            <a:extLst>
              <a:ext uri="{FF2B5EF4-FFF2-40B4-BE49-F238E27FC236}">
                <a16:creationId xmlns:a16="http://schemas.microsoft.com/office/drawing/2014/main" id="{B9861DB7-D81A-4E96-ABBE-C67C95980C37}"/>
              </a:ext>
            </a:extLst>
          </p:cNvPr>
          <p:cNvSpPr>
            <a:spLocks noGrp="1"/>
          </p:cNvSpPr>
          <p:nvPr/>
        </p:nvSpPr>
        <p:spPr>
          <a:xfrm>
            <a:off x="749808" y="4087368"/>
            <a:ext cx="10515600" cy="1005840"/>
          </a:xfrm>
          <a:prstGeom prst="rect">
            <a:avLst/>
          </a:prstGeom>
          <a:noFill/>
        </p:spPr>
        <p:txBody>
          <a:bodyPr wrap="square" lIns="45720" rIns="45720" anchor="t">
            <a:spAutoFit/>
          </a:bodyPr>
          <a:lstStyle/>
          <a:p>
            <a:pPr algn="just">
              <a:buNone/>
            </a:pPr>
            <a:r>
              <a:rPr lang="es-MX" sz="2000" b="0" noProof="0" dirty="0">
                <a:solidFill>
                  <a:srgbClr val="262626"/>
                </a:solidFill>
                <a:latin typeface="Calibri"/>
                <a:ea typeface="Calibri"/>
                <a:cs typeface="Calibri"/>
              </a:rPr>
              <a:t>El cierre se realizó después de revisar los entregables, registrar las evidencias y confirmar el estado final en las herramientas de seguimiento. Cada cierre cuenta con un documento en Word que se anexa al reporte. Los cuales los tres proyectos concluyeron antes de la fecha limite planeada</a:t>
            </a:r>
          </a:p>
        </p:txBody>
      </p:sp>
    </p:spTree>
    <p:extLst>
      <p:ext uri="{BB962C8B-B14F-4D97-AF65-F5344CB8AC3E}">
        <p14:creationId xmlns:p14="http://schemas.microsoft.com/office/powerpoint/2010/main" val="2118069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592CDD-6FBB-4EEE-BB77-C89BDB2A91F1}"/>
              </a:ext>
            </a:extLst>
          </p:cNvPr>
          <p:cNvSpPr>
            <a:spLocks noGrp="1"/>
          </p:cNvSpPr>
          <p:nvPr/>
        </p:nvSpPr>
        <p:spPr>
          <a:xfrm>
            <a:off x="548640" y="256032"/>
            <a:ext cx="10972800" cy="640080"/>
          </a:xfrm>
          <a:prstGeom prst="rect">
            <a:avLst/>
          </a:prstGeom>
          <a:noFill/>
        </p:spPr>
        <p:txBody>
          <a:bodyPr wrap="square" lIns="45720" tIns="27432" rIns="45720" bIns="27432" anchor="ctr">
            <a:spAutoFit/>
          </a:bodyPr>
          <a:lstStyle/>
          <a:p>
            <a:pPr algn="ctr">
              <a:buNone/>
            </a:pPr>
            <a:r>
              <a:rPr lang="es-MX" sz="3100" b="1" noProof="0" dirty="0">
                <a:solidFill>
                  <a:srgbClr val="000000"/>
                </a:solidFill>
                <a:latin typeface="Calibri"/>
                <a:ea typeface="Calibri"/>
                <a:cs typeface="Calibri"/>
              </a:rPr>
              <a:t>Cierre del proyecto: Brandon</a:t>
            </a:r>
          </a:p>
        </p:txBody>
      </p:sp>
      <p:sp>
        <p:nvSpPr>
          <p:cNvPr id="3" name="TextBox 2">
            <a:extLst>
              <a:ext uri="{FF2B5EF4-FFF2-40B4-BE49-F238E27FC236}">
                <a16:creationId xmlns:a16="http://schemas.microsoft.com/office/drawing/2014/main" id="{076B7928-489A-4F16-B9D9-9A1E94D31BB6}"/>
              </a:ext>
            </a:extLst>
          </p:cNvPr>
          <p:cNvSpPr>
            <a:spLocks noGrp="1"/>
          </p:cNvSpPr>
          <p:nvPr/>
        </p:nvSpPr>
        <p:spPr>
          <a:xfrm>
            <a:off x="713232" y="1042415"/>
            <a:ext cx="4892040" cy="475488"/>
          </a:xfrm>
          <a:prstGeom prst="rect">
            <a:avLst/>
          </a:prstGeom>
          <a:noFill/>
        </p:spPr>
        <p:txBody>
          <a:bodyPr wrap="square" lIns="45720" tIns="27432" rIns="45720" bIns="27432" anchor="t">
            <a:spAutoFit/>
          </a:bodyPr>
          <a:lstStyle/>
          <a:p>
            <a:pPr algn="just">
              <a:buNone/>
            </a:pPr>
            <a:r>
              <a:rPr lang="es-MX" sz="1450" b="1" noProof="0" dirty="0">
                <a:solidFill>
                  <a:srgbClr val="4472C4"/>
                </a:solidFill>
                <a:latin typeface="Calibri"/>
                <a:ea typeface="Calibri"/>
                <a:cs typeface="Calibri"/>
              </a:rPr>
              <a:t>Taller mecánico  |  ACTA-001  |  PLAN-001</a:t>
            </a:r>
          </a:p>
        </p:txBody>
      </p:sp>
      <p:sp>
        <p:nvSpPr>
          <p:cNvPr id="4" name="TextBox 3">
            <a:extLst>
              <a:ext uri="{FF2B5EF4-FFF2-40B4-BE49-F238E27FC236}">
                <a16:creationId xmlns:a16="http://schemas.microsoft.com/office/drawing/2014/main" id="{11C5CE8A-4ACF-4407-B651-368E2AB57FAF}"/>
              </a:ext>
            </a:extLst>
          </p:cNvPr>
          <p:cNvSpPr>
            <a:spLocks noGrp="1"/>
          </p:cNvSpPr>
          <p:nvPr/>
        </p:nvSpPr>
        <p:spPr>
          <a:xfrm>
            <a:off x="713232" y="1572768"/>
            <a:ext cx="4892040" cy="517065"/>
          </a:xfrm>
          <a:prstGeom prst="rect">
            <a:avLst/>
          </a:prstGeom>
          <a:noFill/>
        </p:spPr>
        <p:txBody>
          <a:bodyPr wrap="square" lIns="45720" tIns="27432" rIns="45720" bIns="27432" anchor="t">
            <a:spAutoFit/>
          </a:bodyPr>
          <a:lstStyle/>
          <a:p>
            <a:pPr algn="just">
              <a:buNone/>
            </a:pPr>
            <a:r>
              <a:rPr lang="es-MX" sz="1500" b="0" noProof="0" dirty="0">
                <a:solidFill>
                  <a:srgbClr val="262626"/>
                </a:solidFill>
                <a:latin typeface="Calibri"/>
                <a:ea typeface="Calibri"/>
                <a:cs typeface="Calibri"/>
              </a:rPr>
              <a:t>Responsable: Brandon </a:t>
            </a:r>
            <a:r>
              <a:rPr lang="es-MX" sz="1500" b="0" noProof="0" dirty="0" err="1">
                <a:solidFill>
                  <a:srgbClr val="262626"/>
                </a:solidFill>
                <a:latin typeface="Calibri"/>
                <a:ea typeface="Calibri"/>
                <a:cs typeface="Calibri"/>
              </a:rPr>
              <a:t>Farith</a:t>
            </a:r>
            <a:r>
              <a:rPr lang="es-MX" sz="1500" b="0" noProof="0" dirty="0">
                <a:solidFill>
                  <a:srgbClr val="262626"/>
                </a:solidFill>
                <a:latin typeface="Calibri"/>
                <a:ea typeface="Calibri"/>
                <a:cs typeface="Calibri"/>
              </a:rPr>
              <a:t> López Nanga</a:t>
            </a:r>
          </a:p>
          <a:p>
            <a:pPr algn="just">
              <a:buNone/>
            </a:pPr>
            <a:r>
              <a:rPr lang="es-MX" sz="1500" b="0" noProof="0" dirty="0">
                <a:solidFill>
                  <a:srgbClr val="262626"/>
                </a:solidFill>
                <a:latin typeface="Calibri"/>
                <a:ea typeface="Calibri"/>
                <a:cs typeface="Calibri"/>
              </a:rPr>
              <a:t>Fecha de cierre: 29 de septiembre de 2026</a:t>
            </a:r>
          </a:p>
        </p:txBody>
      </p:sp>
      <p:sp>
        <p:nvSpPr>
          <p:cNvPr id="5" name="TextBox 4">
            <a:extLst>
              <a:ext uri="{FF2B5EF4-FFF2-40B4-BE49-F238E27FC236}">
                <a16:creationId xmlns:a16="http://schemas.microsoft.com/office/drawing/2014/main" id="{170FAD42-409E-4BCF-B2E5-DC74CE344A38}"/>
              </a:ext>
            </a:extLst>
          </p:cNvPr>
          <p:cNvSpPr>
            <a:spLocks noGrp="1"/>
          </p:cNvSpPr>
          <p:nvPr/>
        </p:nvSpPr>
        <p:spPr>
          <a:xfrm>
            <a:off x="713232" y="2157984"/>
            <a:ext cx="4892040" cy="292608"/>
          </a:xfrm>
          <a:prstGeom prst="rect">
            <a:avLst/>
          </a:prstGeom>
          <a:noFill/>
        </p:spPr>
        <p:txBody>
          <a:bodyPr wrap="square" lIns="45720" tIns="27432" rIns="45720" bIns="27432" anchor="t">
            <a:spAutoFit/>
          </a:bodyPr>
          <a:lstStyle/>
          <a:p>
            <a:pPr algn="just">
              <a:buNone/>
            </a:pPr>
            <a:r>
              <a:rPr lang="es-MX" sz="1900" b="1" noProof="0" dirty="0">
                <a:solidFill>
                  <a:srgbClr val="4472C4"/>
                </a:solidFill>
                <a:latin typeface="Calibri"/>
                <a:ea typeface="Calibri"/>
                <a:cs typeface="Calibri"/>
              </a:rPr>
              <a:t>Verificación realizada</a:t>
            </a:r>
          </a:p>
        </p:txBody>
      </p:sp>
      <p:sp>
        <p:nvSpPr>
          <p:cNvPr id="6" name="TextBox 5">
            <a:extLst>
              <a:ext uri="{FF2B5EF4-FFF2-40B4-BE49-F238E27FC236}">
                <a16:creationId xmlns:a16="http://schemas.microsoft.com/office/drawing/2014/main" id="{2201A129-D165-4ED7-BC4E-088DDDC73FF3}"/>
              </a:ext>
            </a:extLst>
          </p:cNvPr>
          <p:cNvSpPr>
            <a:spLocks noGrp="1"/>
          </p:cNvSpPr>
          <p:nvPr/>
        </p:nvSpPr>
        <p:spPr>
          <a:xfrm>
            <a:off x="822960" y="2496312"/>
            <a:ext cx="4663440" cy="2377440"/>
          </a:xfrm>
          <a:prstGeom prst="rect">
            <a:avLst/>
          </a:prstGeom>
          <a:noFill/>
        </p:spPr>
        <p:txBody>
          <a:bodyPr wrap="square" lIns="36576" rIns="36576">
            <a:spAutoFit/>
          </a:bodyPr>
          <a:lstStyle/>
          <a:p>
            <a:pPr algn="just">
              <a:spcAft>
                <a:spcPts val="400"/>
              </a:spcAft>
              <a:buNone/>
              <a:defRPr sz="1400">
                <a:solidFill>
                  <a:srgbClr val="262626"/>
                </a:solidFill>
                <a:latin typeface="Calibri"/>
                <a:ea typeface="Calibri"/>
                <a:cs typeface="Calibri"/>
              </a:defRPr>
            </a:pPr>
            <a:r>
              <a:rPr lang="es-MX" noProof="0" dirty="0"/>
              <a:t>• Modelos BPMN entregados para </a:t>
            </a:r>
            <a:r>
              <a:rPr lang="es-MX" noProof="0" dirty="0" err="1"/>
              <a:t>Camunda</a:t>
            </a:r>
            <a:r>
              <a:rPr lang="es-MX" noProof="0" dirty="0"/>
              <a:t>, Bizagi y Bonita Studio.</a:t>
            </a:r>
          </a:p>
          <a:p>
            <a:pPr algn="just">
              <a:spcAft>
                <a:spcPts val="400"/>
              </a:spcAft>
              <a:buNone/>
              <a:defRPr sz="1400">
                <a:solidFill>
                  <a:srgbClr val="262626"/>
                </a:solidFill>
                <a:latin typeface="Calibri"/>
                <a:ea typeface="Calibri"/>
                <a:cs typeface="Calibri"/>
              </a:defRPr>
            </a:pPr>
            <a:r>
              <a:rPr lang="es-MX" noProof="0" dirty="0"/>
              <a:t>• Proyecto y programa integrador disponibles con evidencia de ejecución.</a:t>
            </a:r>
          </a:p>
          <a:p>
            <a:pPr algn="just">
              <a:spcAft>
                <a:spcPts val="400"/>
              </a:spcAft>
              <a:buNone/>
              <a:defRPr sz="1400">
                <a:solidFill>
                  <a:srgbClr val="262626"/>
                </a:solidFill>
                <a:latin typeface="Calibri"/>
                <a:ea typeface="Calibri"/>
                <a:cs typeface="Calibri"/>
              </a:defRPr>
            </a:pPr>
            <a:r>
              <a:rPr lang="es-MX" noProof="0" dirty="0"/>
              <a:t>• Interfaz del taller mecánico revisada en los módulos principales.</a:t>
            </a:r>
          </a:p>
          <a:p>
            <a:pPr algn="just">
              <a:spcAft>
                <a:spcPts val="400"/>
              </a:spcAft>
              <a:buNone/>
              <a:defRPr sz="1400">
                <a:solidFill>
                  <a:srgbClr val="262626"/>
                </a:solidFill>
                <a:latin typeface="Calibri"/>
                <a:ea typeface="Calibri"/>
                <a:cs typeface="Calibri"/>
              </a:defRPr>
            </a:pPr>
            <a:r>
              <a:rPr lang="es-MX" noProof="0" dirty="0"/>
              <a:t>• Manual técnico y manual de usuario incluidos en el expediente.</a:t>
            </a:r>
          </a:p>
          <a:p>
            <a:pPr algn="just">
              <a:spcAft>
                <a:spcPts val="400"/>
              </a:spcAft>
              <a:buNone/>
              <a:defRPr sz="1400">
                <a:solidFill>
                  <a:srgbClr val="262626"/>
                </a:solidFill>
                <a:latin typeface="Calibri"/>
                <a:ea typeface="Calibri"/>
                <a:cs typeface="Calibri"/>
              </a:defRPr>
            </a:pPr>
            <a:r>
              <a:rPr lang="es-MX" noProof="0" dirty="0"/>
              <a:t>• Actividades y evidencias finales registradas antes del cierre.</a:t>
            </a:r>
          </a:p>
        </p:txBody>
      </p:sp>
      <p:sp>
        <p:nvSpPr>
          <p:cNvPr id="7" name="Rounded Rectangle 6">
            <a:extLst>
              <a:ext uri="{FF2B5EF4-FFF2-40B4-BE49-F238E27FC236}">
                <a16:creationId xmlns:a16="http://schemas.microsoft.com/office/drawing/2014/main" id="{44C10C20-3506-4B7B-A282-CFA825384460}"/>
              </a:ext>
            </a:extLst>
          </p:cNvPr>
          <p:cNvSpPr>
            <a:spLocks noGrp="1"/>
          </p:cNvSpPr>
          <p:nvPr/>
        </p:nvSpPr>
        <p:spPr>
          <a:xfrm>
            <a:off x="713232" y="4956048"/>
            <a:ext cx="4892040" cy="438912"/>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lang="es-MX" sz="1400" b="1" noProof="0" dirty="0">
                <a:solidFill>
                  <a:srgbClr val="385723"/>
                </a:solidFill>
                <a:latin typeface="Calibri"/>
                <a:ea typeface="Calibri"/>
                <a:cs typeface="Calibri"/>
              </a:rPr>
              <a:t>Proyecto finalizado y documentación aceptada</a:t>
            </a:r>
          </a:p>
        </p:txBody>
      </p:sp>
      <p:sp>
        <p:nvSpPr>
          <p:cNvPr id="8" name="TextBox 7">
            <a:extLst>
              <a:ext uri="{FF2B5EF4-FFF2-40B4-BE49-F238E27FC236}">
                <a16:creationId xmlns:a16="http://schemas.microsoft.com/office/drawing/2014/main" id="{A1D6824E-67A8-43FC-BBDA-27227BAC3F63}"/>
              </a:ext>
            </a:extLst>
          </p:cNvPr>
          <p:cNvSpPr>
            <a:spLocks noGrp="1"/>
          </p:cNvSpPr>
          <p:nvPr/>
        </p:nvSpPr>
        <p:spPr>
          <a:xfrm>
            <a:off x="731520" y="5477256"/>
            <a:ext cx="4846320" cy="1040285"/>
          </a:xfrm>
          <a:prstGeom prst="rect">
            <a:avLst/>
          </a:prstGeom>
          <a:noFill/>
        </p:spPr>
        <p:txBody>
          <a:bodyPr wrap="square" lIns="45720" tIns="27432" rIns="45720" bIns="27432" anchor="t">
            <a:spAutoFit/>
          </a:bodyPr>
          <a:lstStyle/>
          <a:p>
            <a:pPr algn="just">
              <a:buNone/>
            </a:pPr>
            <a:r>
              <a:rPr lang="es-MX" sz="1600" b="0" noProof="0" dirty="0">
                <a:latin typeface="Calibri"/>
                <a:ea typeface="Calibri"/>
                <a:cs typeface="Calibri"/>
              </a:rPr>
              <a:t>El expediente cumple con los entregables definidos para el taller mecánico. El proyecto quedó cerrado después de revisar la documentación y las evidencias de funcionamiento.</a:t>
            </a:r>
          </a:p>
        </p:txBody>
      </p:sp>
      <p:pic>
        <p:nvPicPr>
          <p:cNvPr id="14" name="Imagen 13">
            <a:extLst>
              <a:ext uri="{FF2B5EF4-FFF2-40B4-BE49-F238E27FC236}">
                <a16:creationId xmlns:a16="http://schemas.microsoft.com/office/drawing/2014/main" id="{5AAE7DB9-9F10-7C8F-441E-AE8E10DBE94F}"/>
              </a:ext>
            </a:extLst>
          </p:cNvPr>
          <p:cNvPicPr>
            <a:picLocks noChangeAspect="1"/>
          </p:cNvPicPr>
          <p:nvPr/>
        </p:nvPicPr>
        <p:blipFill>
          <a:blip r:embed="rId3"/>
          <a:stretch>
            <a:fillRect/>
          </a:stretch>
        </p:blipFill>
        <p:spPr>
          <a:xfrm>
            <a:off x="5998773" y="1817225"/>
            <a:ext cx="5845986" cy="3288367"/>
          </a:xfrm>
          <a:prstGeom prst="rect">
            <a:avLst/>
          </a:prstGeom>
        </p:spPr>
      </p:pic>
    </p:spTree>
    <p:extLst>
      <p:ext uri="{BB962C8B-B14F-4D97-AF65-F5344CB8AC3E}">
        <p14:creationId xmlns:p14="http://schemas.microsoft.com/office/powerpoint/2010/main" val="1097736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461B8D-083E-4617-A34F-5F14CE4C17C4}"/>
              </a:ext>
            </a:extLst>
          </p:cNvPr>
          <p:cNvSpPr>
            <a:spLocks noGrp="1"/>
          </p:cNvSpPr>
          <p:nvPr/>
        </p:nvSpPr>
        <p:spPr>
          <a:xfrm>
            <a:off x="548640" y="256032"/>
            <a:ext cx="10972800" cy="640080"/>
          </a:xfrm>
          <a:prstGeom prst="rect">
            <a:avLst/>
          </a:prstGeom>
          <a:noFill/>
        </p:spPr>
        <p:txBody>
          <a:bodyPr wrap="square" lIns="45720" tIns="27432" rIns="45720" bIns="27432" anchor="ctr">
            <a:spAutoFit/>
          </a:bodyPr>
          <a:lstStyle/>
          <a:p>
            <a:pPr algn="ctr">
              <a:buNone/>
            </a:pPr>
            <a:r>
              <a:rPr lang="es-MX" sz="3100" b="1" noProof="0" dirty="0">
                <a:solidFill>
                  <a:srgbClr val="000000"/>
                </a:solidFill>
                <a:latin typeface="Calibri"/>
                <a:ea typeface="Calibri"/>
                <a:cs typeface="Calibri"/>
              </a:rPr>
              <a:t>Evidencias de entrega y cierre: Brandon</a:t>
            </a:r>
          </a:p>
        </p:txBody>
      </p:sp>
      <p:sp>
        <p:nvSpPr>
          <p:cNvPr id="3" name="TextBox 2">
            <a:extLst>
              <a:ext uri="{FF2B5EF4-FFF2-40B4-BE49-F238E27FC236}">
                <a16:creationId xmlns:a16="http://schemas.microsoft.com/office/drawing/2014/main" id="{4D0E17BD-0AD8-45F0-B712-365C296E4F36}"/>
              </a:ext>
            </a:extLst>
          </p:cNvPr>
          <p:cNvSpPr>
            <a:spLocks noGrp="1"/>
          </p:cNvSpPr>
          <p:nvPr/>
        </p:nvSpPr>
        <p:spPr>
          <a:xfrm>
            <a:off x="658368" y="960120"/>
            <a:ext cx="10881360" cy="530352"/>
          </a:xfrm>
          <a:prstGeom prst="rect">
            <a:avLst/>
          </a:prstGeom>
          <a:noFill/>
        </p:spPr>
        <p:txBody>
          <a:bodyPr wrap="square" lIns="45720" tIns="27432" rIns="45720" bIns="27432" anchor="t">
            <a:spAutoFit/>
          </a:bodyPr>
          <a:lstStyle/>
          <a:p>
            <a:pPr algn="just">
              <a:buNone/>
            </a:pPr>
            <a:r>
              <a:rPr lang="es-MX" sz="1700" b="0" noProof="0" dirty="0">
                <a:solidFill>
                  <a:srgbClr val="262626"/>
                </a:solidFill>
                <a:latin typeface="Calibri"/>
                <a:ea typeface="Calibri"/>
                <a:cs typeface="Calibri"/>
              </a:rPr>
              <a:t>El expediente contiene los modelos del proceso, el programa </a:t>
            </a:r>
            <a:r>
              <a:rPr lang="es-MX" sz="1700" b="0" noProof="0" dirty="0" err="1">
                <a:solidFill>
                  <a:srgbClr val="262626"/>
                </a:solidFill>
                <a:latin typeface="Calibri"/>
                <a:ea typeface="Calibri"/>
                <a:cs typeface="Calibri"/>
              </a:rPr>
              <a:t>TallerMecanicoSimulado</a:t>
            </a:r>
            <a:r>
              <a:rPr lang="es-MX" sz="1700" b="0" noProof="0" dirty="0">
                <a:solidFill>
                  <a:srgbClr val="262626"/>
                </a:solidFill>
                <a:latin typeface="Calibri"/>
                <a:ea typeface="Calibri"/>
                <a:cs typeface="Calibri"/>
              </a:rPr>
              <a:t>, la explicación del programa principal y los manuales de soporte.</a:t>
            </a:r>
          </a:p>
        </p:txBody>
      </p:sp>
      <p:pic>
        <p:nvPicPr>
          <p:cNvPr id="20" name="Picture 4"/>
          <p:cNvPicPr>
            <a:picLocks noChangeAspect="1"/>
          </p:cNvPicPr>
          <p:nvPr/>
        </p:nvPicPr>
        <p:blipFill>
          <a:blip r:embed="rId3"/>
          <a:stretch>
            <a:fillRect/>
          </a:stretch>
        </p:blipFill>
        <p:spPr>
          <a:xfrm>
            <a:off x="640080" y="2776094"/>
            <a:ext cx="3246120" cy="1260090"/>
          </a:xfrm>
          <a:prstGeom prst="rect">
            <a:avLst/>
          </a:prstGeom>
        </p:spPr>
      </p:pic>
      <p:sp>
        <p:nvSpPr>
          <p:cNvPr id="6" name="TextBox 5">
            <a:extLst>
              <a:ext uri="{FF2B5EF4-FFF2-40B4-BE49-F238E27FC236}">
                <a16:creationId xmlns:a16="http://schemas.microsoft.com/office/drawing/2014/main" id="{CE7F382A-4A98-4956-AEAA-4C1EA22B79C1}"/>
              </a:ext>
            </a:extLst>
          </p:cNvPr>
          <p:cNvSpPr>
            <a:spLocks noGrp="1"/>
          </p:cNvSpPr>
          <p:nvPr/>
        </p:nvSpPr>
        <p:spPr>
          <a:xfrm>
            <a:off x="640080" y="5330952"/>
            <a:ext cx="3246120" cy="530352"/>
          </a:xfrm>
          <a:prstGeom prst="rect">
            <a:avLst/>
          </a:prstGeom>
          <a:noFill/>
        </p:spPr>
        <p:txBody>
          <a:bodyPr wrap="square" lIns="45720" tIns="27432" rIns="45720" bIns="27432" anchor="t">
            <a:spAutoFit/>
          </a:bodyPr>
          <a:lstStyle/>
          <a:p>
            <a:pPr algn="just">
              <a:buNone/>
            </a:pPr>
            <a:r>
              <a:rPr lang="es-MX" sz="1350" b="1" noProof="0" dirty="0">
                <a:solidFill>
                  <a:srgbClr val="4472C4"/>
                </a:solidFill>
                <a:latin typeface="Calibri"/>
                <a:ea typeface="Calibri"/>
                <a:cs typeface="Calibri"/>
              </a:rPr>
              <a:t>Diagrama del proceso del taller</a:t>
            </a:r>
          </a:p>
        </p:txBody>
      </p:sp>
      <p:sp>
        <p:nvSpPr>
          <p:cNvPr id="9" name="TextBox 8">
            <a:extLst>
              <a:ext uri="{FF2B5EF4-FFF2-40B4-BE49-F238E27FC236}">
                <a16:creationId xmlns:a16="http://schemas.microsoft.com/office/drawing/2014/main" id="{AA3CF9B3-87EE-4A9F-960A-BEF893C9BF44}"/>
              </a:ext>
            </a:extLst>
          </p:cNvPr>
          <p:cNvSpPr>
            <a:spLocks noGrp="1"/>
          </p:cNvSpPr>
          <p:nvPr/>
        </p:nvSpPr>
        <p:spPr>
          <a:xfrm>
            <a:off x="4096512" y="5330952"/>
            <a:ext cx="3246120" cy="530352"/>
          </a:xfrm>
          <a:prstGeom prst="rect">
            <a:avLst/>
          </a:prstGeom>
          <a:noFill/>
        </p:spPr>
        <p:txBody>
          <a:bodyPr wrap="square" lIns="45720" tIns="27432" rIns="45720" bIns="27432" anchor="t">
            <a:spAutoFit/>
          </a:bodyPr>
          <a:lstStyle/>
          <a:p>
            <a:pPr algn="just">
              <a:buNone/>
            </a:pPr>
            <a:r>
              <a:rPr lang="es-MX" sz="1350" b="1" noProof="0" dirty="0">
                <a:solidFill>
                  <a:srgbClr val="4472C4"/>
                </a:solidFill>
                <a:latin typeface="Calibri"/>
                <a:ea typeface="Calibri"/>
                <a:cs typeface="Calibri"/>
              </a:rPr>
              <a:t>Panel principal del programa</a:t>
            </a:r>
          </a:p>
        </p:txBody>
      </p:sp>
      <p:sp>
        <p:nvSpPr>
          <p:cNvPr id="12" name="TextBox 11">
            <a:extLst>
              <a:ext uri="{FF2B5EF4-FFF2-40B4-BE49-F238E27FC236}">
                <a16:creationId xmlns:a16="http://schemas.microsoft.com/office/drawing/2014/main" id="{7D12B0CF-71CA-4B74-ACC2-BDDA8025547D}"/>
              </a:ext>
            </a:extLst>
          </p:cNvPr>
          <p:cNvSpPr>
            <a:spLocks noGrp="1"/>
          </p:cNvSpPr>
          <p:nvPr/>
        </p:nvSpPr>
        <p:spPr>
          <a:xfrm>
            <a:off x="7552944" y="5330952"/>
            <a:ext cx="3246120" cy="530352"/>
          </a:xfrm>
          <a:prstGeom prst="rect">
            <a:avLst/>
          </a:prstGeom>
          <a:noFill/>
        </p:spPr>
        <p:txBody>
          <a:bodyPr wrap="square" lIns="45720" tIns="27432" rIns="45720" bIns="27432" anchor="t">
            <a:spAutoFit/>
          </a:bodyPr>
          <a:lstStyle/>
          <a:p>
            <a:pPr algn="just">
              <a:buNone/>
            </a:pPr>
            <a:r>
              <a:rPr lang="es-MX" sz="1350" b="1" noProof="0" dirty="0">
                <a:solidFill>
                  <a:srgbClr val="4472C4"/>
                </a:solidFill>
                <a:latin typeface="Calibri"/>
                <a:ea typeface="Calibri"/>
                <a:cs typeface="Calibri"/>
              </a:rPr>
              <a:t>Registro y simulación del servicio</a:t>
            </a:r>
          </a:p>
        </p:txBody>
      </p:sp>
      <p:pic>
        <p:nvPicPr>
          <p:cNvPr id="8" name="Imagen 7">
            <a:extLst>
              <a:ext uri="{FF2B5EF4-FFF2-40B4-BE49-F238E27FC236}">
                <a16:creationId xmlns:a16="http://schemas.microsoft.com/office/drawing/2014/main" id="{0FE7910F-7F38-9C86-6DF6-0B1D8F9E5882}"/>
              </a:ext>
            </a:extLst>
          </p:cNvPr>
          <p:cNvPicPr>
            <a:picLocks noChangeAspect="1"/>
          </p:cNvPicPr>
          <p:nvPr/>
        </p:nvPicPr>
        <p:blipFill>
          <a:blip r:embed="rId4"/>
          <a:stretch>
            <a:fillRect/>
          </a:stretch>
        </p:blipFill>
        <p:spPr>
          <a:xfrm>
            <a:off x="4096512" y="2345204"/>
            <a:ext cx="3571875" cy="2009180"/>
          </a:xfrm>
          <a:prstGeom prst="rect">
            <a:avLst/>
          </a:prstGeom>
        </p:spPr>
      </p:pic>
      <p:pic>
        <p:nvPicPr>
          <p:cNvPr id="14" name="Imagen 13">
            <a:extLst>
              <a:ext uri="{FF2B5EF4-FFF2-40B4-BE49-F238E27FC236}">
                <a16:creationId xmlns:a16="http://schemas.microsoft.com/office/drawing/2014/main" id="{DCA38E87-A1EB-7E12-EC91-F3F26A8EDA5B}"/>
              </a:ext>
            </a:extLst>
          </p:cNvPr>
          <p:cNvPicPr>
            <a:picLocks noChangeAspect="1"/>
          </p:cNvPicPr>
          <p:nvPr/>
        </p:nvPicPr>
        <p:blipFill>
          <a:blip r:embed="rId5"/>
          <a:stretch>
            <a:fillRect/>
          </a:stretch>
        </p:blipFill>
        <p:spPr>
          <a:xfrm>
            <a:off x="8170217" y="2345204"/>
            <a:ext cx="3772482" cy="2122021"/>
          </a:xfrm>
          <a:prstGeom prst="rect">
            <a:avLst/>
          </a:prstGeom>
        </p:spPr>
      </p:pic>
    </p:spTree>
    <p:extLst>
      <p:ext uri="{BB962C8B-B14F-4D97-AF65-F5344CB8AC3E}">
        <p14:creationId xmlns:p14="http://schemas.microsoft.com/office/powerpoint/2010/main" val="1954278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E83915-BEAC-4455-B7D9-8574F5236DCC}"/>
              </a:ext>
            </a:extLst>
          </p:cNvPr>
          <p:cNvSpPr>
            <a:spLocks noGrp="1"/>
          </p:cNvSpPr>
          <p:nvPr/>
        </p:nvSpPr>
        <p:spPr>
          <a:xfrm>
            <a:off x="548640" y="256032"/>
            <a:ext cx="10972800" cy="640080"/>
          </a:xfrm>
          <a:prstGeom prst="rect">
            <a:avLst/>
          </a:prstGeom>
          <a:noFill/>
        </p:spPr>
        <p:txBody>
          <a:bodyPr wrap="square" lIns="45720" tIns="27432" rIns="45720" bIns="27432" anchor="ctr">
            <a:spAutoFit/>
          </a:bodyPr>
          <a:lstStyle/>
          <a:p>
            <a:pPr algn="ctr">
              <a:buNone/>
            </a:pPr>
            <a:r>
              <a:rPr lang="es-MX" sz="3100" b="1" noProof="0" dirty="0">
                <a:solidFill>
                  <a:srgbClr val="000000"/>
                </a:solidFill>
                <a:latin typeface="Calibri"/>
                <a:ea typeface="Calibri"/>
                <a:cs typeface="Calibri"/>
              </a:rPr>
              <a:t>Cierre del proyecto: Josefina</a:t>
            </a:r>
          </a:p>
        </p:txBody>
      </p:sp>
      <p:sp>
        <p:nvSpPr>
          <p:cNvPr id="3" name="TextBox 2">
            <a:extLst>
              <a:ext uri="{FF2B5EF4-FFF2-40B4-BE49-F238E27FC236}">
                <a16:creationId xmlns:a16="http://schemas.microsoft.com/office/drawing/2014/main" id="{58DE9B12-D04A-4687-BAE5-49004E76B297}"/>
              </a:ext>
            </a:extLst>
          </p:cNvPr>
          <p:cNvSpPr>
            <a:spLocks noGrp="1"/>
          </p:cNvSpPr>
          <p:nvPr/>
        </p:nvSpPr>
        <p:spPr>
          <a:xfrm>
            <a:off x="713232" y="1042415"/>
            <a:ext cx="4892040" cy="475488"/>
          </a:xfrm>
          <a:prstGeom prst="rect">
            <a:avLst/>
          </a:prstGeom>
          <a:noFill/>
        </p:spPr>
        <p:txBody>
          <a:bodyPr wrap="square" lIns="45720" tIns="27432" rIns="45720" bIns="27432" anchor="t">
            <a:spAutoFit/>
          </a:bodyPr>
          <a:lstStyle/>
          <a:p>
            <a:pPr algn="just">
              <a:buNone/>
            </a:pPr>
            <a:r>
              <a:rPr lang="es-MX" sz="1450" b="1" noProof="0" dirty="0">
                <a:solidFill>
                  <a:srgbClr val="4472C4"/>
                </a:solidFill>
                <a:latin typeface="Calibri"/>
                <a:ea typeface="Calibri"/>
                <a:cs typeface="Calibri"/>
              </a:rPr>
              <a:t>Planta embotelladora Agua Cero  |  ACTA-002  |  PLAN-002</a:t>
            </a:r>
          </a:p>
        </p:txBody>
      </p:sp>
      <p:sp>
        <p:nvSpPr>
          <p:cNvPr id="4" name="TextBox 3">
            <a:extLst>
              <a:ext uri="{FF2B5EF4-FFF2-40B4-BE49-F238E27FC236}">
                <a16:creationId xmlns:a16="http://schemas.microsoft.com/office/drawing/2014/main" id="{BA7A70F3-37BE-43F5-9A8A-DE04DCE11783}"/>
              </a:ext>
            </a:extLst>
          </p:cNvPr>
          <p:cNvSpPr>
            <a:spLocks noGrp="1"/>
          </p:cNvSpPr>
          <p:nvPr/>
        </p:nvSpPr>
        <p:spPr>
          <a:xfrm>
            <a:off x="713232" y="1572768"/>
            <a:ext cx="4892040" cy="517065"/>
          </a:xfrm>
          <a:prstGeom prst="rect">
            <a:avLst/>
          </a:prstGeom>
          <a:noFill/>
        </p:spPr>
        <p:txBody>
          <a:bodyPr wrap="square" lIns="45720" tIns="27432" rIns="45720" bIns="27432" anchor="t">
            <a:spAutoFit/>
          </a:bodyPr>
          <a:lstStyle/>
          <a:p>
            <a:pPr algn="just">
              <a:buNone/>
            </a:pPr>
            <a:r>
              <a:rPr lang="es-MX" sz="1500" b="0" noProof="0" dirty="0">
                <a:solidFill>
                  <a:srgbClr val="262626"/>
                </a:solidFill>
                <a:latin typeface="Calibri"/>
                <a:ea typeface="Calibri"/>
                <a:cs typeface="Calibri"/>
              </a:rPr>
              <a:t>Responsable: Josefina Nieto Hernández</a:t>
            </a:r>
          </a:p>
          <a:p>
            <a:pPr algn="just">
              <a:buNone/>
            </a:pPr>
            <a:r>
              <a:rPr lang="es-MX" sz="1500" b="0" noProof="0" dirty="0">
                <a:solidFill>
                  <a:srgbClr val="262626"/>
                </a:solidFill>
                <a:latin typeface="Calibri"/>
                <a:ea typeface="Calibri"/>
                <a:cs typeface="Calibri"/>
              </a:rPr>
              <a:t>Fecha de cierre: 2 de octubre de 2026</a:t>
            </a:r>
          </a:p>
        </p:txBody>
      </p:sp>
      <p:sp>
        <p:nvSpPr>
          <p:cNvPr id="5" name="TextBox 4">
            <a:extLst>
              <a:ext uri="{FF2B5EF4-FFF2-40B4-BE49-F238E27FC236}">
                <a16:creationId xmlns:a16="http://schemas.microsoft.com/office/drawing/2014/main" id="{6BC51949-6C73-45A7-A251-770FB5A97FC4}"/>
              </a:ext>
            </a:extLst>
          </p:cNvPr>
          <p:cNvSpPr>
            <a:spLocks noGrp="1"/>
          </p:cNvSpPr>
          <p:nvPr/>
        </p:nvSpPr>
        <p:spPr>
          <a:xfrm>
            <a:off x="713232" y="2157984"/>
            <a:ext cx="4892040" cy="292608"/>
          </a:xfrm>
          <a:prstGeom prst="rect">
            <a:avLst/>
          </a:prstGeom>
          <a:noFill/>
        </p:spPr>
        <p:txBody>
          <a:bodyPr wrap="square" lIns="45720" tIns="27432" rIns="45720" bIns="27432" anchor="t">
            <a:spAutoFit/>
          </a:bodyPr>
          <a:lstStyle/>
          <a:p>
            <a:pPr algn="just">
              <a:buNone/>
            </a:pPr>
            <a:r>
              <a:rPr lang="es-MX" sz="1900" b="1" noProof="0" dirty="0">
                <a:solidFill>
                  <a:srgbClr val="4472C4"/>
                </a:solidFill>
                <a:latin typeface="Calibri"/>
                <a:ea typeface="Calibri"/>
                <a:cs typeface="Calibri"/>
              </a:rPr>
              <a:t>Verificación realizada</a:t>
            </a:r>
          </a:p>
        </p:txBody>
      </p:sp>
      <p:sp>
        <p:nvSpPr>
          <p:cNvPr id="6" name="TextBox 5">
            <a:extLst>
              <a:ext uri="{FF2B5EF4-FFF2-40B4-BE49-F238E27FC236}">
                <a16:creationId xmlns:a16="http://schemas.microsoft.com/office/drawing/2014/main" id="{D25F84ED-A9A9-4B20-82C5-7BA2C1464401}"/>
              </a:ext>
            </a:extLst>
          </p:cNvPr>
          <p:cNvSpPr>
            <a:spLocks noGrp="1"/>
          </p:cNvSpPr>
          <p:nvPr/>
        </p:nvSpPr>
        <p:spPr>
          <a:xfrm>
            <a:off x="822960" y="2496312"/>
            <a:ext cx="4663440" cy="2377440"/>
          </a:xfrm>
          <a:prstGeom prst="rect">
            <a:avLst/>
          </a:prstGeom>
          <a:noFill/>
        </p:spPr>
        <p:txBody>
          <a:bodyPr wrap="square" lIns="36576" rIns="36576">
            <a:spAutoFit/>
          </a:bodyPr>
          <a:lstStyle/>
          <a:p>
            <a:pPr algn="just">
              <a:spcAft>
                <a:spcPts val="400"/>
              </a:spcAft>
              <a:buNone/>
              <a:defRPr sz="1400">
                <a:solidFill>
                  <a:srgbClr val="262626"/>
                </a:solidFill>
                <a:latin typeface="Calibri"/>
                <a:ea typeface="Calibri"/>
                <a:cs typeface="Calibri"/>
              </a:defRPr>
            </a:pPr>
            <a:r>
              <a:rPr lang="es-MX" noProof="0" dirty="0"/>
              <a:t>• Modelos del proceso entregados para </a:t>
            </a:r>
            <a:r>
              <a:rPr lang="es-MX" noProof="0" dirty="0" err="1"/>
              <a:t>Camunda</a:t>
            </a:r>
            <a:r>
              <a:rPr lang="es-MX" noProof="0" dirty="0"/>
              <a:t>, Bizagi y Bonita Studio.</a:t>
            </a:r>
          </a:p>
          <a:p>
            <a:pPr algn="just">
              <a:spcAft>
                <a:spcPts val="400"/>
              </a:spcAft>
              <a:buNone/>
              <a:defRPr sz="1400">
                <a:solidFill>
                  <a:srgbClr val="262626"/>
                </a:solidFill>
                <a:latin typeface="Calibri"/>
                <a:ea typeface="Calibri"/>
                <a:cs typeface="Calibri"/>
              </a:defRPr>
            </a:pPr>
            <a:r>
              <a:rPr lang="es-MX" noProof="0" dirty="0"/>
              <a:t>• Proyecto integrador </a:t>
            </a:r>
            <a:r>
              <a:rPr lang="es-MX" noProof="0" dirty="0" err="1"/>
              <a:t>AguaCero</a:t>
            </a:r>
            <a:r>
              <a:rPr lang="es-MX" noProof="0" dirty="0"/>
              <a:t> disponible en Java y </a:t>
            </a:r>
            <a:r>
              <a:rPr lang="es-MX" noProof="0" dirty="0" err="1"/>
              <a:t>JavaFX</a:t>
            </a:r>
            <a:r>
              <a:rPr lang="es-MX" noProof="0" dirty="0"/>
              <a:t>.</a:t>
            </a:r>
          </a:p>
          <a:p>
            <a:pPr algn="just">
              <a:spcAft>
                <a:spcPts val="400"/>
              </a:spcAft>
              <a:buNone/>
              <a:defRPr sz="1400">
                <a:solidFill>
                  <a:srgbClr val="262626"/>
                </a:solidFill>
                <a:latin typeface="Calibri"/>
                <a:ea typeface="Calibri"/>
                <a:cs typeface="Calibri"/>
              </a:defRPr>
            </a:pPr>
            <a:r>
              <a:rPr lang="es-MX" noProof="0" dirty="0"/>
              <a:t>• Pruebas del escenario base y de escenarios alternativos documentadas.</a:t>
            </a:r>
          </a:p>
          <a:p>
            <a:pPr algn="just">
              <a:spcAft>
                <a:spcPts val="400"/>
              </a:spcAft>
              <a:buNone/>
              <a:defRPr sz="1400">
                <a:solidFill>
                  <a:srgbClr val="262626"/>
                </a:solidFill>
                <a:latin typeface="Calibri"/>
                <a:ea typeface="Calibri"/>
                <a:cs typeface="Calibri"/>
              </a:defRPr>
            </a:pPr>
            <a:r>
              <a:rPr lang="es-MX" noProof="0" dirty="0"/>
              <a:t>• Resultados de producción, tiempos, costos y utilización revisados.</a:t>
            </a:r>
          </a:p>
          <a:p>
            <a:pPr algn="just">
              <a:spcAft>
                <a:spcPts val="400"/>
              </a:spcAft>
              <a:buNone/>
              <a:defRPr sz="1400">
                <a:solidFill>
                  <a:srgbClr val="262626"/>
                </a:solidFill>
                <a:latin typeface="Calibri"/>
                <a:ea typeface="Calibri"/>
                <a:cs typeface="Calibri"/>
              </a:defRPr>
            </a:pPr>
            <a:r>
              <a:rPr lang="es-MX" noProof="0" dirty="0"/>
              <a:t>• Manual de usuario, comparativo y carta motivo integrados al expediente.</a:t>
            </a:r>
          </a:p>
        </p:txBody>
      </p:sp>
      <p:sp>
        <p:nvSpPr>
          <p:cNvPr id="7" name="Rounded Rectangle 6">
            <a:extLst>
              <a:ext uri="{FF2B5EF4-FFF2-40B4-BE49-F238E27FC236}">
                <a16:creationId xmlns:a16="http://schemas.microsoft.com/office/drawing/2014/main" id="{210708F0-413F-4550-9877-42285BD8D631}"/>
              </a:ext>
            </a:extLst>
          </p:cNvPr>
          <p:cNvSpPr>
            <a:spLocks noGrp="1"/>
          </p:cNvSpPr>
          <p:nvPr/>
        </p:nvSpPr>
        <p:spPr>
          <a:xfrm>
            <a:off x="713232" y="4956048"/>
            <a:ext cx="4892040" cy="438912"/>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lang="es-MX" sz="1400" b="1" noProof="0" dirty="0">
                <a:solidFill>
                  <a:srgbClr val="385723"/>
                </a:solidFill>
                <a:latin typeface="Calibri"/>
                <a:ea typeface="Calibri"/>
                <a:cs typeface="Calibri"/>
              </a:rPr>
              <a:t>Proyecto finalizado y documentación aceptada</a:t>
            </a:r>
          </a:p>
        </p:txBody>
      </p:sp>
      <p:sp>
        <p:nvSpPr>
          <p:cNvPr id="8" name="TextBox 7">
            <a:extLst>
              <a:ext uri="{FF2B5EF4-FFF2-40B4-BE49-F238E27FC236}">
                <a16:creationId xmlns:a16="http://schemas.microsoft.com/office/drawing/2014/main" id="{26FE94A1-6095-4455-9B7B-D91FE551BCAD}"/>
              </a:ext>
            </a:extLst>
          </p:cNvPr>
          <p:cNvSpPr>
            <a:spLocks noGrp="1"/>
          </p:cNvSpPr>
          <p:nvPr/>
        </p:nvSpPr>
        <p:spPr>
          <a:xfrm>
            <a:off x="731520" y="5477256"/>
            <a:ext cx="4846320" cy="804672"/>
          </a:xfrm>
          <a:prstGeom prst="rect">
            <a:avLst/>
          </a:prstGeom>
          <a:noFill/>
        </p:spPr>
        <p:txBody>
          <a:bodyPr wrap="square" lIns="45720" tIns="27432" rIns="45720" bIns="27432" anchor="t">
            <a:spAutoFit/>
          </a:bodyPr>
          <a:lstStyle/>
          <a:p>
            <a:pPr algn="just"/>
            <a:r>
              <a:rPr lang="es-MX" sz="1600" dirty="0">
                <a:latin typeface="Calibri"/>
                <a:ea typeface="Calibri"/>
                <a:cs typeface="Calibri"/>
              </a:rPr>
              <a:t>La simulación mostró el flujo de garrafones y permitió comparar parámetros operativos. Con la entrega de pruebas, manuales y documentación, el proyecto quedó finalizado.</a:t>
            </a:r>
          </a:p>
        </p:txBody>
      </p:sp>
      <p:pic>
        <p:nvPicPr>
          <p:cNvPr id="12" name="Imagen 11">
            <a:extLst>
              <a:ext uri="{FF2B5EF4-FFF2-40B4-BE49-F238E27FC236}">
                <a16:creationId xmlns:a16="http://schemas.microsoft.com/office/drawing/2014/main" id="{3C2DEFF6-6D29-C5F3-B910-0616BFF7DC2E}"/>
              </a:ext>
            </a:extLst>
          </p:cNvPr>
          <p:cNvPicPr>
            <a:picLocks noChangeAspect="1"/>
          </p:cNvPicPr>
          <p:nvPr/>
        </p:nvPicPr>
        <p:blipFill>
          <a:blip r:embed="rId3"/>
          <a:stretch>
            <a:fillRect/>
          </a:stretch>
        </p:blipFill>
        <p:spPr>
          <a:xfrm>
            <a:off x="6035040" y="1517903"/>
            <a:ext cx="5710178" cy="3211975"/>
          </a:xfrm>
          <a:prstGeom prst="rect">
            <a:avLst/>
          </a:prstGeom>
        </p:spPr>
      </p:pic>
    </p:spTree>
    <p:extLst>
      <p:ext uri="{BB962C8B-B14F-4D97-AF65-F5344CB8AC3E}">
        <p14:creationId xmlns:p14="http://schemas.microsoft.com/office/powerpoint/2010/main" val="412711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3C4D77-7ED0-48A4-A551-26393F2FDFE6}"/>
              </a:ext>
            </a:extLst>
          </p:cNvPr>
          <p:cNvSpPr>
            <a:spLocks noGrp="1"/>
          </p:cNvSpPr>
          <p:nvPr/>
        </p:nvSpPr>
        <p:spPr>
          <a:xfrm>
            <a:off x="548640" y="256032"/>
            <a:ext cx="10972800" cy="640080"/>
          </a:xfrm>
          <a:prstGeom prst="rect">
            <a:avLst/>
          </a:prstGeom>
          <a:noFill/>
        </p:spPr>
        <p:txBody>
          <a:bodyPr wrap="square" lIns="45720" tIns="27432" rIns="45720" bIns="27432" anchor="ctr">
            <a:spAutoFit/>
          </a:bodyPr>
          <a:lstStyle/>
          <a:p>
            <a:pPr algn="ctr">
              <a:buNone/>
            </a:pPr>
            <a:r>
              <a:rPr lang="es-MX" sz="3100" b="1" noProof="0" dirty="0">
                <a:solidFill>
                  <a:srgbClr val="000000"/>
                </a:solidFill>
                <a:latin typeface="Calibri"/>
                <a:ea typeface="Calibri"/>
                <a:cs typeface="Calibri"/>
              </a:rPr>
              <a:t>Evidencias de entrega y cierre: Josefina</a:t>
            </a:r>
          </a:p>
        </p:txBody>
      </p:sp>
      <p:sp>
        <p:nvSpPr>
          <p:cNvPr id="3" name="TextBox 2">
            <a:extLst>
              <a:ext uri="{FF2B5EF4-FFF2-40B4-BE49-F238E27FC236}">
                <a16:creationId xmlns:a16="http://schemas.microsoft.com/office/drawing/2014/main" id="{4FD340E1-67BB-49DA-8B0F-1A8E6DD1AF5F}"/>
              </a:ext>
            </a:extLst>
          </p:cNvPr>
          <p:cNvSpPr>
            <a:spLocks noGrp="1"/>
          </p:cNvSpPr>
          <p:nvPr/>
        </p:nvSpPr>
        <p:spPr>
          <a:xfrm>
            <a:off x="658368" y="960120"/>
            <a:ext cx="10881360" cy="530352"/>
          </a:xfrm>
          <a:prstGeom prst="rect">
            <a:avLst/>
          </a:prstGeom>
          <a:noFill/>
        </p:spPr>
        <p:txBody>
          <a:bodyPr wrap="square" lIns="45720" tIns="27432" rIns="45720" bIns="27432" anchor="t">
            <a:spAutoFit/>
          </a:bodyPr>
          <a:lstStyle/>
          <a:p>
            <a:pPr algn="just">
              <a:buNone/>
            </a:pPr>
            <a:r>
              <a:rPr lang="es-MX" sz="1700" b="0" noProof="0" dirty="0">
                <a:solidFill>
                  <a:srgbClr val="262626"/>
                </a:solidFill>
                <a:latin typeface="Calibri"/>
                <a:ea typeface="Calibri"/>
                <a:cs typeface="Calibri"/>
              </a:rPr>
              <a:t>Las evidencias muestran el modelo de la planta, el centro de simulación y los resultados obtenidos con 40 garrafones en el escenario base.</a:t>
            </a:r>
          </a:p>
        </p:txBody>
      </p:sp>
      <p:sp>
        <p:nvSpPr>
          <p:cNvPr id="6" name="TextBox 5">
            <a:extLst>
              <a:ext uri="{FF2B5EF4-FFF2-40B4-BE49-F238E27FC236}">
                <a16:creationId xmlns:a16="http://schemas.microsoft.com/office/drawing/2014/main" id="{36817D5F-E70F-4178-B777-2A0C79891741}"/>
              </a:ext>
            </a:extLst>
          </p:cNvPr>
          <p:cNvSpPr>
            <a:spLocks noGrp="1"/>
          </p:cNvSpPr>
          <p:nvPr/>
        </p:nvSpPr>
        <p:spPr>
          <a:xfrm>
            <a:off x="640080" y="5330952"/>
            <a:ext cx="3246120" cy="530352"/>
          </a:xfrm>
          <a:prstGeom prst="rect">
            <a:avLst/>
          </a:prstGeom>
          <a:noFill/>
        </p:spPr>
        <p:txBody>
          <a:bodyPr wrap="square" lIns="45720" tIns="27432" rIns="45720" bIns="27432" anchor="t">
            <a:spAutoFit/>
          </a:bodyPr>
          <a:lstStyle/>
          <a:p>
            <a:pPr algn="just">
              <a:buNone/>
            </a:pPr>
            <a:r>
              <a:rPr lang="es-MX" sz="1350" b="1" noProof="0" dirty="0">
                <a:solidFill>
                  <a:srgbClr val="4472C4"/>
                </a:solidFill>
                <a:latin typeface="Calibri"/>
                <a:ea typeface="Calibri"/>
                <a:cs typeface="Calibri"/>
              </a:rPr>
              <a:t>Diagrama general de la planta</a:t>
            </a:r>
          </a:p>
        </p:txBody>
      </p:sp>
      <p:sp>
        <p:nvSpPr>
          <p:cNvPr id="9" name="TextBox 8">
            <a:extLst>
              <a:ext uri="{FF2B5EF4-FFF2-40B4-BE49-F238E27FC236}">
                <a16:creationId xmlns:a16="http://schemas.microsoft.com/office/drawing/2014/main" id="{E02192CA-1204-4F6A-BA7B-431608D3333E}"/>
              </a:ext>
            </a:extLst>
          </p:cNvPr>
          <p:cNvSpPr>
            <a:spLocks noGrp="1"/>
          </p:cNvSpPr>
          <p:nvPr/>
        </p:nvSpPr>
        <p:spPr>
          <a:xfrm>
            <a:off x="4096512" y="5330952"/>
            <a:ext cx="3246120" cy="530352"/>
          </a:xfrm>
          <a:prstGeom prst="rect">
            <a:avLst/>
          </a:prstGeom>
          <a:noFill/>
        </p:spPr>
        <p:txBody>
          <a:bodyPr wrap="square" lIns="45720" tIns="27432" rIns="45720" bIns="27432" anchor="t">
            <a:spAutoFit/>
          </a:bodyPr>
          <a:lstStyle/>
          <a:p>
            <a:pPr algn="just">
              <a:buNone/>
            </a:pPr>
            <a:r>
              <a:rPr lang="es-MX" sz="1350" b="1" noProof="0" dirty="0">
                <a:solidFill>
                  <a:srgbClr val="4472C4"/>
                </a:solidFill>
                <a:latin typeface="Calibri"/>
                <a:ea typeface="Calibri"/>
                <a:cs typeface="Calibri"/>
              </a:rPr>
              <a:t>Centro de simulación Agua Cero</a:t>
            </a:r>
          </a:p>
        </p:txBody>
      </p:sp>
      <p:sp>
        <p:nvSpPr>
          <p:cNvPr id="12" name="TextBox 11">
            <a:extLst>
              <a:ext uri="{FF2B5EF4-FFF2-40B4-BE49-F238E27FC236}">
                <a16:creationId xmlns:a16="http://schemas.microsoft.com/office/drawing/2014/main" id="{5721ECB9-7695-4749-9EEE-EAAAA8955829}"/>
              </a:ext>
            </a:extLst>
          </p:cNvPr>
          <p:cNvSpPr>
            <a:spLocks noGrp="1"/>
          </p:cNvSpPr>
          <p:nvPr/>
        </p:nvSpPr>
        <p:spPr>
          <a:xfrm>
            <a:off x="7552944" y="5330952"/>
            <a:ext cx="3246120" cy="530352"/>
          </a:xfrm>
          <a:prstGeom prst="rect">
            <a:avLst/>
          </a:prstGeom>
          <a:noFill/>
        </p:spPr>
        <p:txBody>
          <a:bodyPr wrap="square" lIns="45720" tIns="27432" rIns="45720" bIns="27432" anchor="t">
            <a:spAutoFit/>
          </a:bodyPr>
          <a:lstStyle/>
          <a:p>
            <a:pPr algn="just">
              <a:buNone/>
            </a:pPr>
            <a:r>
              <a:rPr lang="es-MX" sz="1350" b="1" noProof="0" dirty="0">
                <a:solidFill>
                  <a:srgbClr val="4472C4"/>
                </a:solidFill>
                <a:latin typeface="Calibri"/>
                <a:ea typeface="Calibri"/>
                <a:cs typeface="Calibri"/>
              </a:rPr>
              <a:t>Resultados del escenario base</a:t>
            </a:r>
          </a:p>
        </p:txBody>
      </p:sp>
      <p:pic>
        <p:nvPicPr>
          <p:cNvPr id="8" name="Picture 4" descr="SimulcionPlantaPP.png">
            <a:extLst>
              <a:ext uri="{FF2B5EF4-FFF2-40B4-BE49-F238E27FC236}">
                <a16:creationId xmlns:a16="http://schemas.microsoft.com/office/drawing/2014/main" id="{DF7D705F-A57F-8F56-9ED0-717862C32AB6}"/>
              </a:ext>
            </a:extLst>
          </p:cNvPr>
          <p:cNvPicPr>
            <a:picLocks noChangeAspect="1"/>
          </p:cNvPicPr>
          <p:nvPr/>
        </p:nvPicPr>
        <p:blipFill>
          <a:blip r:embed="rId3"/>
          <a:stretch>
            <a:fillRect/>
          </a:stretch>
        </p:blipFill>
        <p:spPr>
          <a:xfrm>
            <a:off x="1055271" y="1600199"/>
            <a:ext cx="2415737" cy="3611880"/>
          </a:xfrm>
          <a:prstGeom prst="rect">
            <a:avLst/>
          </a:prstGeom>
        </p:spPr>
      </p:pic>
      <p:pic>
        <p:nvPicPr>
          <p:cNvPr id="14" name="Picture 7" descr="slide-5.png">
            <a:extLst>
              <a:ext uri="{FF2B5EF4-FFF2-40B4-BE49-F238E27FC236}">
                <a16:creationId xmlns:a16="http://schemas.microsoft.com/office/drawing/2014/main" id="{BED02DF7-3845-790E-6545-A707F4B24B23}"/>
              </a:ext>
            </a:extLst>
          </p:cNvPr>
          <p:cNvPicPr>
            <a:picLocks noChangeAspect="1"/>
          </p:cNvPicPr>
          <p:nvPr/>
        </p:nvPicPr>
        <p:blipFill>
          <a:blip r:embed="rId4"/>
          <a:stretch>
            <a:fillRect/>
          </a:stretch>
        </p:blipFill>
        <p:spPr>
          <a:xfrm>
            <a:off x="4096512" y="2493168"/>
            <a:ext cx="3246120" cy="1825942"/>
          </a:xfrm>
          <a:prstGeom prst="rect">
            <a:avLst/>
          </a:prstGeom>
        </p:spPr>
      </p:pic>
      <p:pic>
        <p:nvPicPr>
          <p:cNvPr id="16" name="Picture 10" descr="slide-13.png">
            <a:extLst>
              <a:ext uri="{FF2B5EF4-FFF2-40B4-BE49-F238E27FC236}">
                <a16:creationId xmlns:a16="http://schemas.microsoft.com/office/drawing/2014/main" id="{6FD27122-688F-DA9F-BF9F-A3A6BCE6BB59}"/>
              </a:ext>
            </a:extLst>
          </p:cNvPr>
          <p:cNvPicPr>
            <a:picLocks noChangeAspect="1"/>
          </p:cNvPicPr>
          <p:nvPr/>
        </p:nvPicPr>
        <p:blipFill>
          <a:blip r:embed="rId5"/>
          <a:stretch>
            <a:fillRect/>
          </a:stretch>
        </p:blipFill>
        <p:spPr>
          <a:xfrm>
            <a:off x="7552944" y="2493168"/>
            <a:ext cx="3246120" cy="1825942"/>
          </a:xfrm>
          <a:prstGeom prst="rect">
            <a:avLst/>
          </a:prstGeom>
        </p:spPr>
      </p:pic>
    </p:spTree>
    <p:extLst>
      <p:ext uri="{BB962C8B-B14F-4D97-AF65-F5344CB8AC3E}">
        <p14:creationId xmlns:p14="http://schemas.microsoft.com/office/powerpoint/2010/main" val="1000110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9A6638-0D68-4DD2-B837-2BBB686C0F71}"/>
              </a:ext>
            </a:extLst>
          </p:cNvPr>
          <p:cNvSpPr>
            <a:spLocks noGrp="1"/>
          </p:cNvSpPr>
          <p:nvPr/>
        </p:nvSpPr>
        <p:spPr>
          <a:xfrm>
            <a:off x="548640" y="256032"/>
            <a:ext cx="10972800" cy="640080"/>
          </a:xfrm>
          <a:prstGeom prst="rect">
            <a:avLst/>
          </a:prstGeom>
          <a:noFill/>
        </p:spPr>
        <p:txBody>
          <a:bodyPr wrap="square" lIns="45720" tIns="27432" rIns="45720" bIns="27432" anchor="ctr">
            <a:spAutoFit/>
          </a:bodyPr>
          <a:lstStyle/>
          <a:p>
            <a:pPr algn="ctr">
              <a:buNone/>
            </a:pPr>
            <a:r>
              <a:rPr lang="es-MX" sz="3100" b="1" noProof="0" dirty="0">
                <a:solidFill>
                  <a:srgbClr val="000000"/>
                </a:solidFill>
                <a:latin typeface="Calibri"/>
                <a:ea typeface="Calibri"/>
                <a:cs typeface="Calibri"/>
              </a:rPr>
              <a:t>Cierre del proyecto: Roberto</a:t>
            </a:r>
          </a:p>
        </p:txBody>
      </p:sp>
      <p:sp>
        <p:nvSpPr>
          <p:cNvPr id="3" name="TextBox 2">
            <a:extLst>
              <a:ext uri="{FF2B5EF4-FFF2-40B4-BE49-F238E27FC236}">
                <a16:creationId xmlns:a16="http://schemas.microsoft.com/office/drawing/2014/main" id="{DD8FDEE7-D96C-4646-9F30-BCAD69303593}"/>
              </a:ext>
            </a:extLst>
          </p:cNvPr>
          <p:cNvSpPr>
            <a:spLocks noGrp="1"/>
          </p:cNvSpPr>
          <p:nvPr/>
        </p:nvSpPr>
        <p:spPr>
          <a:xfrm>
            <a:off x="713232" y="1042415"/>
            <a:ext cx="4892040" cy="475488"/>
          </a:xfrm>
          <a:prstGeom prst="rect">
            <a:avLst/>
          </a:prstGeom>
          <a:noFill/>
        </p:spPr>
        <p:txBody>
          <a:bodyPr wrap="square" lIns="45720" tIns="27432" rIns="45720" bIns="27432" anchor="t">
            <a:spAutoFit/>
          </a:bodyPr>
          <a:lstStyle/>
          <a:p>
            <a:pPr algn="just">
              <a:buNone/>
            </a:pPr>
            <a:r>
              <a:rPr lang="es-MX" sz="1450" b="1" noProof="0" dirty="0">
                <a:solidFill>
                  <a:srgbClr val="4472C4"/>
                </a:solidFill>
                <a:latin typeface="Calibri"/>
                <a:ea typeface="Calibri"/>
                <a:cs typeface="Calibri"/>
              </a:rPr>
              <a:t>Taller de electrónica  |  ACTA-003  |  PLAN-003</a:t>
            </a:r>
          </a:p>
        </p:txBody>
      </p:sp>
      <p:sp>
        <p:nvSpPr>
          <p:cNvPr id="4" name="TextBox 3">
            <a:extLst>
              <a:ext uri="{FF2B5EF4-FFF2-40B4-BE49-F238E27FC236}">
                <a16:creationId xmlns:a16="http://schemas.microsoft.com/office/drawing/2014/main" id="{9E462067-7005-4F1F-A4B4-E76DA15A16D2}"/>
              </a:ext>
            </a:extLst>
          </p:cNvPr>
          <p:cNvSpPr>
            <a:spLocks noGrp="1"/>
          </p:cNvSpPr>
          <p:nvPr/>
        </p:nvSpPr>
        <p:spPr>
          <a:xfrm>
            <a:off x="713232" y="1572768"/>
            <a:ext cx="4892040" cy="517065"/>
          </a:xfrm>
          <a:prstGeom prst="rect">
            <a:avLst/>
          </a:prstGeom>
          <a:noFill/>
        </p:spPr>
        <p:txBody>
          <a:bodyPr wrap="square" lIns="45720" tIns="27432" rIns="45720" bIns="27432" anchor="t">
            <a:spAutoFit/>
          </a:bodyPr>
          <a:lstStyle/>
          <a:p>
            <a:pPr algn="just">
              <a:buNone/>
            </a:pPr>
            <a:r>
              <a:rPr lang="es-MX" sz="1500" b="0" noProof="0" dirty="0">
                <a:solidFill>
                  <a:srgbClr val="262626"/>
                </a:solidFill>
                <a:latin typeface="Calibri"/>
                <a:ea typeface="Calibri"/>
                <a:cs typeface="Calibri"/>
              </a:rPr>
              <a:t>Responsable: Roberto Carlos </a:t>
            </a:r>
            <a:r>
              <a:rPr lang="es-MX" sz="1500" b="0" noProof="0" dirty="0" err="1">
                <a:solidFill>
                  <a:srgbClr val="262626"/>
                </a:solidFill>
                <a:latin typeface="Calibri"/>
                <a:ea typeface="Calibri"/>
                <a:cs typeface="Calibri"/>
              </a:rPr>
              <a:t>Cahuare</a:t>
            </a:r>
            <a:r>
              <a:rPr lang="es-MX" sz="1500" b="0" noProof="0" dirty="0">
                <a:solidFill>
                  <a:srgbClr val="262626"/>
                </a:solidFill>
                <a:latin typeface="Calibri"/>
                <a:ea typeface="Calibri"/>
                <a:cs typeface="Calibri"/>
              </a:rPr>
              <a:t> Moreno</a:t>
            </a:r>
          </a:p>
          <a:p>
            <a:pPr algn="just">
              <a:buNone/>
            </a:pPr>
            <a:r>
              <a:rPr lang="es-MX" sz="1500" b="0" noProof="0" dirty="0">
                <a:solidFill>
                  <a:srgbClr val="262626"/>
                </a:solidFill>
                <a:latin typeface="Calibri"/>
                <a:ea typeface="Calibri"/>
                <a:cs typeface="Calibri"/>
              </a:rPr>
              <a:t>Fecha de cierre: 2 de octubre de 2026</a:t>
            </a:r>
          </a:p>
        </p:txBody>
      </p:sp>
      <p:sp>
        <p:nvSpPr>
          <p:cNvPr id="5" name="TextBox 4">
            <a:extLst>
              <a:ext uri="{FF2B5EF4-FFF2-40B4-BE49-F238E27FC236}">
                <a16:creationId xmlns:a16="http://schemas.microsoft.com/office/drawing/2014/main" id="{D9CF0630-9617-4B57-A3C3-1AB189BB399F}"/>
              </a:ext>
            </a:extLst>
          </p:cNvPr>
          <p:cNvSpPr>
            <a:spLocks noGrp="1"/>
          </p:cNvSpPr>
          <p:nvPr/>
        </p:nvSpPr>
        <p:spPr>
          <a:xfrm>
            <a:off x="713232" y="2157984"/>
            <a:ext cx="4892040" cy="292608"/>
          </a:xfrm>
          <a:prstGeom prst="rect">
            <a:avLst/>
          </a:prstGeom>
          <a:noFill/>
        </p:spPr>
        <p:txBody>
          <a:bodyPr wrap="square" lIns="45720" tIns="27432" rIns="45720" bIns="27432" anchor="t">
            <a:spAutoFit/>
          </a:bodyPr>
          <a:lstStyle/>
          <a:p>
            <a:pPr algn="just">
              <a:buNone/>
            </a:pPr>
            <a:r>
              <a:rPr lang="es-MX" sz="1900" b="1" noProof="0" dirty="0">
                <a:solidFill>
                  <a:srgbClr val="4472C4"/>
                </a:solidFill>
                <a:latin typeface="Calibri"/>
                <a:ea typeface="Calibri"/>
                <a:cs typeface="Calibri"/>
              </a:rPr>
              <a:t>Verificación realizada</a:t>
            </a:r>
          </a:p>
        </p:txBody>
      </p:sp>
      <p:sp>
        <p:nvSpPr>
          <p:cNvPr id="6" name="TextBox 5">
            <a:extLst>
              <a:ext uri="{FF2B5EF4-FFF2-40B4-BE49-F238E27FC236}">
                <a16:creationId xmlns:a16="http://schemas.microsoft.com/office/drawing/2014/main" id="{8DF94082-F0AA-473A-A361-93F62908D4E4}"/>
              </a:ext>
            </a:extLst>
          </p:cNvPr>
          <p:cNvSpPr>
            <a:spLocks noGrp="1"/>
          </p:cNvSpPr>
          <p:nvPr/>
        </p:nvSpPr>
        <p:spPr>
          <a:xfrm>
            <a:off x="822960" y="2496312"/>
            <a:ext cx="4663440" cy="2377440"/>
          </a:xfrm>
          <a:prstGeom prst="rect">
            <a:avLst/>
          </a:prstGeom>
          <a:noFill/>
        </p:spPr>
        <p:txBody>
          <a:bodyPr wrap="square" lIns="36576" rIns="36576">
            <a:spAutoFit/>
          </a:bodyPr>
          <a:lstStyle/>
          <a:p>
            <a:pPr algn="just">
              <a:spcAft>
                <a:spcPts val="400"/>
              </a:spcAft>
              <a:buNone/>
              <a:defRPr sz="1400">
                <a:solidFill>
                  <a:srgbClr val="262626"/>
                </a:solidFill>
                <a:latin typeface="Calibri"/>
                <a:ea typeface="Calibri"/>
                <a:cs typeface="Calibri"/>
              </a:defRPr>
            </a:pPr>
            <a:r>
              <a:rPr lang="es-MX" noProof="0" dirty="0"/>
              <a:t>• Modelos del proceso entregados para </a:t>
            </a:r>
            <a:r>
              <a:rPr lang="es-MX" noProof="0" dirty="0" err="1"/>
              <a:t>Camunda</a:t>
            </a:r>
            <a:r>
              <a:rPr lang="es-MX" noProof="0" dirty="0"/>
              <a:t>, Bizagi y Bonita Studio.</a:t>
            </a:r>
          </a:p>
          <a:p>
            <a:pPr algn="just">
              <a:spcAft>
                <a:spcPts val="400"/>
              </a:spcAft>
              <a:buNone/>
              <a:defRPr sz="1400">
                <a:solidFill>
                  <a:srgbClr val="262626"/>
                </a:solidFill>
                <a:latin typeface="Calibri"/>
                <a:ea typeface="Calibri"/>
                <a:cs typeface="Calibri"/>
              </a:defRPr>
            </a:pPr>
            <a:r>
              <a:rPr lang="es-MX" noProof="0" dirty="0"/>
              <a:t>• Simulaciones disponibles en </a:t>
            </a:r>
            <a:r>
              <a:rPr lang="es-MX" noProof="0" dirty="0" err="1"/>
              <a:t>JavaFX</a:t>
            </a:r>
            <a:r>
              <a:rPr lang="es-MX" noProof="0" dirty="0"/>
              <a:t>, Python y R con explicación general.</a:t>
            </a:r>
          </a:p>
          <a:p>
            <a:pPr algn="just">
              <a:spcAft>
                <a:spcPts val="400"/>
              </a:spcAft>
              <a:buNone/>
              <a:defRPr sz="1400">
                <a:solidFill>
                  <a:srgbClr val="262626"/>
                </a:solidFill>
                <a:latin typeface="Calibri"/>
                <a:ea typeface="Calibri"/>
                <a:cs typeface="Calibri"/>
              </a:defRPr>
            </a:pPr>
            <a:r>
              <a:rPr lang="es-MX" noProof="0" dirty="0"/>
              <a:t>• Pruebas del escenario actual y del escenario mejorado documentadas.</a:t>
            </a:r>
          </a:p>
          <a:p>
            <a:pPr algn="just">
              <a:spcAft>
                <a:spcPts val="400"/>
              </a:spcAft>
              <a:buNone/>
              <a:defRPr sz="1400">
                <a:solidFill>
                  <a:srgbClr val="262626"/>
                </a:solidFill>
                <a:latin typeface="Calibri"/>
                <a:ea typeface="Calibri"/>
                <a:cs typeface="Calibri"/>
              </a:defRPr>
            </a:pPr>
            <a:r>
              <a:rPr lang="es-MX" noProof="0" dirty="0"/>
              <a:t>• Cuadros comparativos de diagramas y programas incorporados.</a:t>
            </a:r>
          </a:p>
          <a:p>
            <a:pPr algn="just">
              <a:spcAft>
                <a:spcPts val="400"/>
              </a:spcAft>
              <a:buNone/>
              <a:defRPr sz="1400">
                <a:solidFill>
                  <a:srgbClr val="262626"/>
                </a:solidFill>
                <a:latin typeface="Calibri"/>
                <a:ea typeface="Calibri"/>
                <a:cs typeface="Calibri"/>
              </a:defRPr>
            </a:pPr>
            <a:r>
              <a:rPr lang="es-MX" noProof="0" dirty="0"/>
              <a:t>• Manuales técnicos, manuales de usuario y memorándum firmado incluidos.</a:t>
            </a:r>
          </a:p>
        </p:txBody>
      </p:sp>
      <p:sp>
        <p:nvSpPr>
          <p:cNvPr id="7" name="Rounded Rectangle 6">
            <a:extLst>
              <a:ext uri="{FF2B5EF4-FFF2-40B4-BE49-F238E27FC236}">
                <a16:creationId xmlns:a16="http://schemas.microsoft.com/office/drawing/2014/main" id="{FE840B8D-D3EC-4ED1-BD2C-8B29B2943C70}"/>
              </a:ext>
            </a:extLst>
          </p:cNvPr>
          <p:cNvSpPr>
            <a:spLocks noGrp="1"/>
          </p:cNvSpPr>
          <p:nvPr/>
        </p:nvSpPr>
        <p:spPr>
          <a:xfrm>
            <a:off x="713232" y="4956048"/>
            <a:ext cx="4892040" cy="438912"/>
          </a:xfrm>
          <a:prstGeom prst="roundRect">
            <a:avLst/>
          </a:prstGeom>
          <a:solidFill>
            <a:srgbClr val="E2EFDA"/>
          </a:solidFill>
          <a:ln>
            <a:solidFill>
              <a:srgbClr val="70AD47"/>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lang="es-MX" sz="1400" b="1" noProof="0" dirty="0">
                <a:solidFill>
                  <a:srgbClr val="385723"/>
                </a:solidFill>
                <a:latin typeface="Calibri"/>
                <a:ea typeface="Calibri"/>
                <a:cs typeface="Calibri"/>
              </a:rPr>
              <a:t>Proyecto finalizado y documentación aceptada</a:t>
            </a:r>
          </a:p>
        </p:txBody>
      </p:sp>
      <p:sp>
        <p:nvSpPr>
          <p:cNvPr id="8" name="TextBox 7">
            <a:extLst>
              <a:ext uri="{FF2B5EF4-FFF2-40B4-BE49-F238E27FC236}">
                <a16:creationId xmlns:a16="http://schemas.microsoft.com/office/drawing/2014/main" id="{D702F8AC-3F3A-41EB-BBD1-9095AA63AA74}"/>
              </a:ext>
            </a:extLst>
          </p:cNvPr>
          <p:cNvSpPr>
            <a:spLocks noGrp="1"/>
          </p:cNvSpPr>
          <p:nvPr/>
        </p:nvSpPr>
        <p:spPr>
          <a:xfrm>
            <a:off x="731520" y="5477256"/>
            <a:ext cx="4846320" cy="804672"/>
          </a:xfrm>
          <a:prstGeom prst="rect">
            <a:avLst/>
          </a:prstGeom>
          <a:noFill/>
        </p:spPr>
        <p:txBody>
          <a:bodyPr wrap="square" lIns="45720" tIns="27432" rIns="45720" bIns="27432" anchor="t">
            <a:spAutoFit/>
          </a:bodyPr>
          <a:lstStyle/>
          <a:p>
            <a:pPr algn="just"/>
            <a:r>
              <a:rPr lang="es-MX" sz="1600" dirty="0">
                <a:latin typeface="Calibri"/>
                <a:ea typeface="Calibri"/>
                <a:cs typeface="Calibri"/>
              </a:rPr>
              <a:t>La comparación mostró una reducción de colas mediante una mejor asignación de técnicos en reparación. Las evidencias y los manuales completaron el expediente de cierre.</a:t>
            </a:r>
          </a:p>
        </p:txBody>
      </p:sp>
      <p:pic>
        <p:nvPicPr>
          <p:cNvPr id="12" name="Imagen 11">
            <a:extLst>
              <a:ext uri="{FF2B5EF4-FFF2-40B4-BE49-F238E27FC236}">
                <a16:creationId xmlns:a16="http://schemas.microsoft.com/office/drawing/2014/main" id="{5E664985-9B85-42EB-2AEE-301797728F6C}"/>
              </a:ext>
            </a:extLst>
          </p:cNvPr>
          <p:cNvPicPr>
            <a:picLocks noChangeAspect="1"/>
          </p:cNvPicPr>
          <p:nvPr/>
        </p:nvPicPr>
        <p:blipFill>
          <a:blip r:embed="rId3"/>
          <a:stretch>
            <a:fillRect/>
          </a:stretch>
        </p:blipFill>
        <p:spPr>
          <a:xfrm>
            <a:off x="6337782" y="1517903"/>
            <a:ext cx="5483828" cy="3084653"/>
          </a:xfrm>
          <a:prstGeom prst="rect">
            <a:avLst/>
          </a:prstGeom>
        </p:spPr>
      </p:pic>
    </p:spTree>
    <p:extLst>
      <p:ext uri="{BB962C8B-B14F-4D97-AF65-F5344CB8AC3E}">
        <p14:creationId xmlns:p14="http://schemas.microsoft.com/office/powerpoint/2010/main" val="2948981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109841-76E1-4C19-9305-386BD0611F91}"/>
              </a:ext>
            </a:extLst>
          </p:cNvPr>
          <p:cNvSpPr>
            <a:spLocks noGrp="1"/>
          </p:cNvSpPr>
          <p:nvPr/>
        </p:nvSpPr>
        <p:spPr>
          <a:xfrm>
            <a:off x="548640" y="256032"/>
            <a:ext cx="10972800" cy="640080"/>
          </a:xfrm>
          <a:prstGeom prst="rect">
            <a:avLst/>
          </a:prstGeom>
          <a:noFill/>
        </p:spPr>
        <p:txBody>
          <a:bodyPr wrap="square" lIns="45720" tIns="27432" rIns="45720" bIns="27432" anchor="ctr">
            <a:spAutoFit/>
          </a:bodyPr>
          <a:lstStyle/>
          <a:p>
            <a:pPr algn="ctr">
              <a:buNone/>
            </a:pPr>
            <a:r>
              <a:rPr lang="es-MX" sz="3100" b="1" noProof="0" dirty="0">
                <a:solidFill>
                  <a:srgbClr val="000000"/>
                </a:solidFill>
                <a:latin typeface="Calibri"/>
                <a:ea typeface="Calibri"/>
                <a:cs typeface="Calibri"/>
              </a:rPr>
              <a:t>Evidencias de entrega y cierre: Roberto</a:t>
            </a:r>
          </a:p>
        </p:txBody>
      </p:sp>
      <p:sp>
        <p:nvSpPr>
          <p:cNvPr id="3" name="TextBox 2">
            <a:extLst>
              <a:ext uri="{FF2B5EF4-FFF2-40B4-BE49-F238E27FC236}">
                <a16:creationId xmlns:a16="http://schemas.microsoft.com/office/drawing/2014/main" id="{9BAC18AE-8231-4F4B-8BDD-8F9F905E795A}"/>
              </a:ext>
            </a:extLst>
          </p:cNvPr>
          <p:cNvSpPr>
            <a:spLocks noGrp="1"/>
          </p:cNvSpPr>
          <p:nvPr/>
        </p:nvSpPr>
        <p:spPr>
          <a:xfrm>
            <a:off x="658368" y="960120"/>
            <a:ext cx="10881360" cy="530352"/>
          </a:xfrm>
          <a:prstGeom prst="rect">
            <a:avLst/>
          </a:prstGeom>
          <a:noFill/>
        </p:spPr>
        <p:txBody>
          <a:bodyPr wrap="square" lIns="45720" tIns="27432" rIns="45720" bIns="27432" anchor="t">
            <a:spAutoFit/>
          </a:bodyPr>
          <a:lstStyle/>
          <a:p>
            <a:pPr algn="just">
              <a:buNone/>
            </a:pPr>
            <a:r>
              <a:rPr lang="es-MX" sz="1700" b="0" noProof="0" dirty="0">
                <a:solidFill>
                  <a:srgbClr val="262626"/>
                </a:solidFill>
                <a:latin typeface="Calibri"/>
                <a:ea typeface="Calibri"/>
                <a:cs typeface="Calibri"/>
              </a:rPr>
              <a:t>El cierre se apoya en el diagrama del taller y en las pruebas comparativas que muestran el comportamiento del escenario actual y del escenario mejorado.</a:t>
            </a:r>
          </a:p>
        </p:txBody>
      </p:sp>
      <p:sp>
        <p:nvSpPr>
          <p:cNvPr id="6" name="TextBox 5">
            <a:extLst>
              <a:ext uri="{FF2B5EF4-FFF2-40B4-BE49-F238E27FC236}">
                <a16:creationId xmlns:a16="http://schemas.microsoft.com/office/drawing/2014/main" id="{E1F24DB4-0D29-4DE2-8170-82CF17E17DB7}"/>
              </a:ext>
            </a:extLst>
          </p:cNvPr>
          <p:cNvSpPr>
            <a:spLocks noGrp="1"/>
          </p:cNvSpPr>
          <p:nvPr/>
        </p:nvSpPr>
        <p:spPr>
          <a:xfrm>
            <a:off x="640080" y="5330952"/>
            <a:ext cx="3246120" cy="530352"/>
          </a:xfrm>
          <a:prstGeom prst="rect">
            <a:avLst/>
          </a:prstGeom>
          <a:noFill/>
        </p:spPr>
        <p:txBody>
          <a:bodyPr wrap="square" lIns="45720" tIns="27432" rIns="45720" bIns="27432" anchor="t">
            <a:spAutoFit/>
          </a:bodyPr>
          <a:lstStyle/>
          <a:p>
            <a:pPr algn="just">
              <a:buNone/>
            </a:pPr>
            <a:r>
              <a:rPr lang="es-MX" sz="1350" b="1" noProof="0" dirty="0">
                <a:solidFill>
                  <a:srgbClr val="4472C4"/>
                </a:solidFill>
                <a:latin typeface="Calibri"/>
                <a:ea typeface="Calibri"/>
                <a:cs typeface="Calibri"/>
              </a:rPr>
              <a:t>Diagrama del taller de electrónica</a:t>
            </a:r>
          </a:p>
        </p:txBody>
      </p:sp>
      <p:sp>
        <p:nvSpPr>
          <p:cNvPr id="9" name="TextBox 8">
            <a:extLst>
              <a:ext uri="{FF2B5EF4-FFF2-40B4-BE49-F238E27FC236}">
                <a16:creationId xmlns:a16="http://schemas.microsoft.com/office/drawing/2014/main" id="{123E9FA7-C6E4-4217-9215-252157326C57}"/>
              </a:ext>
            </a:extLst>
          </p:cNvPr>
          <p:cNvSpPr>
            <a:spLocks noGrp="1"/>
          </p:cNvSpPr>
          <p:nvPr/>
        </p:nvSpPr>
        <p:spPr>
          <a:xfrm>
            <a:off x="4096512" y="5330952"/>
            <a:ext cx="3246120" cy="530352"/>
          </a:xfrm>
          <a:prstGeom prst="rect">
            <a:avLst/>
          </a:prstGeom>
          <a:noFill/>
        </p:spPr>
        <p:txBody>
          <a:bodyPr wrap="square" lIns="45720" tIns="27432" rIns="45720" bIns="27432" anchor="t">
            <a:spAutoFit/>
          </a:bodyPr>
          <a:lstStyle/>
          <a:p>
            <a:pPr algn="just">
              <a:buNone/>
            </a:pPr>
            <a:r>
              <a:rPr lang="es-MX" sz="1350" b="1" noProof="0" dirty="0">
                <a:solidFill>
                  <a:srgbClr val="4472C4"/>
                </a:solidFill>
                <a:latin typeface="Calibri"/>
                <a:ea typeface="Calibri"/>
                <a:cs typeface="Calibri"/>
              </a:rPr>
              <a:t>Escenario actual con acumulación</a:t>
            </a:r>
          </a:p>
        </p:txBody>
      </p:sp>
      <p:sp>
        <p:nvSpPr>
          <p:cNvPr id="12" name="TextBox 11">
            <a:extLst>
              <a:ext uri="{FF2B5EF4-FFF2-40B4-BE49-F238E27FC236}">
                <a16:creationId xmlns:a16="http://schemas.microsoft.com/office/drawing/2014/main" id="{71D97153-B562-40EF-81C9-0884874E2610}"/>
              </a:ext>
            </a:extLst>
          </p:cNvPr>
          <p:cNvSpPr>
            <a:spLocks noGrp="1"/>
          </p:cNvSpPr>
          <p:nvPr/>
        </p:nvSpPr>
        <p:spPr>
          <a:xfrm>
            <a:off x="7552944" y="5330952"/>
            <a:ext cx="3246120" cy="530352"/>
          </a:xfrm>
          <a:prstGeom prst="rect">
            <a:avLst/>
          </a:prstGeom>
          <a:noFill/>
        </p:spPr>
        <p:txBody>
          <a:bodyPr wrap="square" lIns="45720" tIns="27432" rIns="45720" bIns="27432" anchor="t">
            <a:spAutoFit/>
          </a:bodyPr>
          <a:lstStyle/>
          <a:p>
            <a:pPr algn="just">
              <a:buNone/>
            </a:pPr>
            <a:r>
              <a:rPr lang="es-MX" sz="1350" b="1" noProof="0" dirty="0">
                <a:solidFill>
                  <a:srgbClr val="4472C4"/>
                </a:solidFill>
                <a:latin typeface="Calibri"/>
                <a:ea typeface="Calibri"/>
                <a:cs typeface="Calibri"/>
              </a:rPr>
              <a:t>Escenario mejorado con más capacidad</a:t>
            </a:r>
          </a:p>
        </p:txBody>
      </p:sp>
      <p:pic>
        <p:nvPicPr>
          <p:cNvPr id="8" name="Picture 4" descr="teller de reparacion.png">
            <a:extLst>
              <a:ext uri="{FF2B5EF4-FFF2-40B4-BE49-F238E27FC236}">
                <a16:creationId xmlns:a16="http://schemas.microsoft.com/office/drawing/2014/main" id="{A2A864C6-205D-485E-EC54-46211E1EF841}"/>
              </a:ext>
            </a:extLst>
          </p:cNvPr>
          <p:cNvPicPr>
            <a:picLocks noChangeAspect="1"/>
          </p:cNvPicPr>
          <p:nvPr/>
        </p:nvPicPr>
        <p:blipFill>
          <a:blip r:embed="rId3"/>
          <a:stretch>
            <a:fillRect/>
          </a:stretch>
        </p:blipFill>
        <p:spPr>
          <a:xfrm>
            <a:off x="640080" y="2789857"/>
            <a:ext cx="3246120" cy="1232565"/>
          </a:xfrm>
          <a:prstGeom prst="rect">
            <a:avLst/>
          </a:prstGeom>
        </p:spPr>
      </p:pic>
      <p:pic>
        <p:nvPicPr>
          <p:cNvPr id="14" name="Imagen 13">
            <a:extLst>
              <a:ext uri="{FF2B5EF4-FFF2-40B4-BE49-F238E27FC236}">
                <a16:creationId xmlns:a16="http://schemas.microsoft.com/office/drawing/2014/main" id="{43A60A48-3C02-FCA7-8A82-022FE2C268A0}"/>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7552944" y="2512218"/>
            <a:ext cx="3246120" cy="1907382"/>
          </a:xfrm>
          <a:prstGeom prst="rect">
            <a:avLst/>
          </a:prstGeom>
        </p:spPr>
      </p:pic>
      <p:pic>
        <p:nvPicPr>
          <p:cNvPr id="16" name="Imagen 15">
            <a:extLst>
              <a:ext uri="{FF2B5EF4-FFF2-40B4-BE49-F238E27FC236}">
                <a16:creationId xmlns:a16="http://schemas.microsoft.com/office/drawing/2014/main" id="{39417F26-7FDD-4BCC-B4D5-AF75AAA1CF30}"/>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4096511" y="2488210"/>
            <a:ext cx="3246121" cy="1940915"/>
          </a:xfrm>
          <a:prstGeom prst="rect">
            <a:avLst/>
          </a:prstGeom>
        </p:spPr>
      </p:pic>
    </p:spTree>
    <p:extLst>
      <p:ext uri="{BB962C8B-B14F-4D97-AF65-F5344CB8AC3E}">
        <p14:creationId xmlns:p14="http://schemas.microsoft.com/office/powerpoint/2010/main" val="241178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4CEAFF9-97FF-4C48-8C01-1F29AD62B38E}"/>
              </a:ext>
            </a:extLst>
          </p:cNvPr>
          <p:cNvSpPr>
            <a:spLocks noGrp="1"/>
          </p:cNvSpPr>
          <p:nvPr/>
        </p:nvSpPr>
        <p:spPr>
          <a:xfrm>
            <a:off x="548640" y="320040"/>
            <a:ext cx="11064240" cy="822960"/>
          </a:xfrm>
          <a:prstGeom prst="rect">
            <a:avLst/>
          </a:prstGeom>
          <a:noFill/>
        </p:spPr>
        <p:txBody>
          <a:bodyPr wrap="square" anchor="t"/>
          <a:lstStyle/>
          <a:p>
            <a:pPr algn="ctr">
              <a:lnSpc>
                <a:spcPct val="90000"/>
              </a:lnSpc>
              <a:spcBef>
                <a:spcPct val="0"/>
              </a:spcBef>
              <a:buNone/>
            </a:pPr>
            <a:r>
              <a:rPr lang="es-MX" sz="4400" b="1" noProof="0" dirty="0">
                <a:solidFill>
                  <a:srgbClr val="000000"/>
                </a:solidFill>
                <a:latin typeface="Calibri"/>
                <a:ea typeface="Calibri"/>
                <a:cs typeface="Calibri"/>
              </a:rPr>
              <a:t>Conclusiones</a:t>
            </a:r>
          </a:p>
        </p:txBody>
      </p:sp>
      <p:sp>
        <p:nvSpPr>
          <p:cNvPr id="3" name="Text 1">
            <a:extLst>
              <a:ext uri="{FF2B5EF4-FFF2-40B4-BE49-F238E27FC236}">
                <a16:creationId xmlns:a16="http://schemas.microsoft.com/office/drawing/2014/main" id="{F5296212-2B9D-4A11-A3E8-519E35070EF7}"/>
              </a:ext>
            </a:extLst>
          </p:cNvPr>
          <p:cNvSpPr>
            <a:spLocks noGrp="1"/>
          </p:cNvSpPr>
          <p:nvPr/>
        </p:nvSpPr>
        <p:spPr>
          <a:xfrm>
            <a:off x="777240" y="1417320"/>
            <a:ext cx="10607040" cy="4937760"/>
          </a:xfrm>
          <a:prstGeom prst="rect">
            <a:avLst/>
          </a:prstGeom>
          <a:noFill/>
        </p:spPr>
        <p:txBody>
          <a:bodyPr anchor="t"/>
          <a:lstStyle/>
          <a:p>
            <a:pPr algn="just">
              <a:defRPr sz="1875">
                <a:solidFill>
                  <a:srgbClr val="000000"/>
                </a:solidFill>
                <a:latin typeface="Calibri"/>
                <a:ea typeface="Calibri"/>
                <a:cs typeface="Calibri"/>
              </a:defRPr>
            </a:pPr>
            <a:r>
              <a:rPr lang="es-MX" sz="1875" noProof="0" dirty="0">
                <a:solidFill>
                  <a:srgbClr val="000000"/>
                </a:solidFill>
                <a:latin typeface="Calibri"/>
                <a:ea typeface="Calibri"/>
                <a:cs typeface="Calibri"/>
              </a:rPr>
              <a:t>La evaluación confirmó que los tres proyectos cumplieron su alcance, terminaron antes de la fecha planeada y obtuvieron la aceptación formal de sus entregables. Las lecciones aprendidas muestran la importancia de mantener una sola fuente de fechas, registrar evidencias de forma continua y documentar cada cambio. El cierre formal, con actas, manuales y evidencias, garantiza que los proyectos quedan terminados y que su experiencia puede aprovecharse en proyectos futuros.</a:t>
            </a:r>
          </a:p>
        </p:txBody>
      </p:sp>
    </p:spTree>
    <p:extLst>
      <p:ext uri="{BB962C8B-B14F-4D97-AF65-F5344CB8AC3E}">
        <p14:creationId xmlns:p14="http://schemas.microsoft.com/office/powerpoint/2010/main" val="371022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6147E17-B288-431A-BD00-36ACE486402A}"/>
              </a:ext>
            </a:extLst>
          </p:cNvPr>
          <p:cNvSpPr>
            <a:spLocks noGrp="1"/>
          </p:cNvSpPr>
          <p:nvPr/>
        </p:nvSpPr>
        <p:spPr>
          <a:xfrm>
            <a:off x="548640" y="320040"/>
            <a:ext cx="11064240" cy="822960"/>
          </a:xfrm>
          <a:prstGeom prst="rect">
            <a:avLst/>
          </a:prstGeom>
          <a:noFill/>
        </p:spPr>
        <p:txBody>
          <a:bodyPr wrap="square" anchor="t"/>
          <a:lstStyle/>
          <a:p>
            <a:pPr algn="ctr">
              <a:lnSpc>
                <a:spcPct val="90000"/>
              </a:lnSpc>
              <a:spcBef>
                <a:spcPct val="0"/>
              </a:spcBef>
              <a:buNone/>
            </a:pPr>
            <a:r>
              <a:rPr lang="es-MX" sz="4400" b="1" noProof="0" dirty="0">
                <a:solidFill>
                  <a:srgbClr val="000000"/>
                </a:solidFill>
                <a:latin typeface="Calibri"/>
                <a:ea typeface="Calibri"/>
                <a:cs typeface="Calibri"/>
              </a:rPr>
              <a:t>Fuentes de información</a:t>
            </a:r>
          </a:p>
        </p:txBody>
      </p:sp>
      <p:sp>
        <p:nvSpPr>
          <p:cNvPr id="3" name="Rectángulo 2">
            <a:extLst>
              <a:ext uri="{FF2B5EF4-FFF2-40B4-BE49-F238E27FC236}">
                <a16:creationId xmlns:a16="http://schemas.microsoft.com/office/drawing/2014/main" id="{5D02C41C-3B3B-4995-8FB1-09A1F70A0CD7}"/>
              </a:ext>
            </a:extLst>
          </p:cNvPr>
          <p:cNvSpPr>
            <a:spLocks noGrp="1"/>
          </p:cNvSpPr>
          <p:nvPr/>
        </p:nvSpPr>
        <p:spPr>
          <a:xfrm>
            <a:off x="857250" y="1333500"/>
            <a:ext cx="10477500" cy="5143500"/>
          </a:xfrm>
          <a:prstGeom prst="rect">
            <a:avLst/>
          </a:prstGeom>
          <a:noFill/>
          <a:ln w="0">
            <a:noFill/>
          </a:ln>
        </p:spPr>
        <p:txBody>
          <a:bodyPr anchor="t">
            <a:noAutofit/>
          </a:bodyPr>
          <a:lstStyle/>
          <a:p>
            <a:pPr marL="457200" indent="-457200" algn="just">
              <a:spcAft>
                <a:spcPts val="1000"/>
              </a:spcAft>
              <a:buFont typeface="Wingdings" panose="05000000000000000000" pitchFamily="2" charset="2"/>
              <a:buChar char="Ø"/>
            </a:pPr>
            <a:r>
              <a:rPr lang="es-MX" dirty="0">
                <a:solidFill>
                  <a:srgbClr val="000000"/>
                </a:solidFill>
              </a:rPr>
              <a:t>Aquino Villanueva, R. (2026). </a:t>
            </a:r>
            <a:r>
              <a:rPr lang="es-MX" i="1" dirty="0">
                <a:solidFill>
                  <a:srgbClr val="000000"/>
                </a:solidFill>
              </a:rPr>
              <a:t>GPTI</a:t>
            </a:r>
            <a:r>
              <a:rPr lang="es-MX" dirty="0">
                <a:solidFill>
                  <a:srgbClr val="000000"/>
                </a:solidFill>
              </a:rPr>
              <a:t> [Repositorio de GitHub]. </a:t>
            </a:r>
            <a:r>
              <a:rPr lang="es-MX" dirty="0">
                <a:solidFill>
                  <a:srgbClr val="000000"/>
                </a:solidFill>
                <a:hlinkClick r:id="rId3"/>
              </a:rPr>
              <a:t>https://github.com/rafaelrav8770/GPTI</a:t>
            </a:r>
            <a:endParaRPr lang="es-MX" dirty="0">
              <a:solidFill>
                <a:srgbClr val="000000"/>
              </a:solidFill>
            </a:endParaRPr>
          </a:p>
          <a:p>
            <a:pPr marL="457200" indent="-457200" algn="just">
              <a:spcAft>
                <a:spcPts val="1000"/>
              </a:spcAft>
              <a:buFont typeface="Wingdings" panose="05000000000000000000" pitchFamily="2" charset="2"/>
              <a:buChar char="Ø"/>
            </a:pPr>
            <a:r>
              <a:rPr lang="es-MX" dirty="0" err="1">
                <a:solidFill>
                  <a:srgbClr val="000000"/>
                </a:solidFill>
              </a:rPr>
              <a:t>Aziz</a:t>
            </a:r>
            <a:r>
              <a:rPr lang="es-MX" dirty="0">
                <a:solidFill>
                  <a:srgbClr val="000000"/>
                </a:solidFill>
              </a:rPr>
              <a:t>, E. E. (2015). </a:t>
            </a:r>
            <a:r>
              <a:rPr lang="en-US" i="1" dirty="0">
                <a:solidFill>
                  <a:srgbClr val="000000"/>
                </a:solidFill>
              </a:rPr>
              <a:t>Project closing: The small process group with big impact</a:t>
            </a:r>
            <a:r>
              <a:rPr lang="es-MX" dirty="0">
                <a:solidFill>
                  <a:srgbClr val="000000"/>
                </a:solidFill>
              </a:rPr>
              <a:t>. PMI Global Congress 2015, Orlando, FL. Project Management </a:t>
            </a:r>
            <a:r>
              <a:rPr lang="es-MX" dirty="0" err="1">
                <a:solidFill>
                  <a:srgbClr val="000000"/>
                </a:solidFill>
              </a:rPr>
              <a:t>Institute</a:t>
            </a:r>
            <a:r>
              <a:rPr lang="es-MX" dirty="0">
                <a:solidFill>
                  <a:srgbClr val="000000"/>
                </a:solidFill>
              </a:rPr>
              <a:t>. </a:t>
            </a:r>
            <a:r>
              <a:rPr lang="es-MX" dirty="0">
                <a:solidFill>
                  <a:srgbClr val="000000"/>
                </a:solidFill>
                <a:hlinkClick r:id="rId4"/>
              </a:rPr>
              <a:t>https://www.pmi.org/learning/library/importance-of-closing-process-group-9949</a:t>
            </a:r>
            <a:endParaRPr lang="es-MX" dirty="0">
              <a:solidFill>
                <a:srgbClr val="000000"/>
              </a:solidFill>
            </a:endParaRPr>
          </a:p>
          <a:p>
            <a:pPr marL="457200" indent="-457200" algn="just">
              <a:spcAft>
                <a:spcPts val="1000"/>
              </a:spcAft>
              <a:buFont typeface="Wingdings" panose="05000000000000000000" pitchFamily="2" charset="2"/>
              <a:buChar char="Ø"/>
            </a:pPr>
            <a:r>
              <a:rPr lang="es-MX" dirty="0">
                <a:solidFill>
                  <a:srgbClr val="000000"/>
                </a:solidFill>
              </a:rPr>
              <a:t>Grant, L. A. (2009). </a:t>
            </a:r>
            <a:r>
              <a:rPr lang="en-US" i="1" dirty="0">
                <a:solidFill>
                  <a:srgbClr val="000000"/>
                </a:solidFill>
              </a:rPr>
              <a:t>Lessons learned: Do it early, do it often</a:t>
            </a:r>
            <a:r>
              <a:rPr lang="es-MX" dirty="0">
                <a:solidFill>
                  <a:srgbClr val="000000"/>
                </a:solidFill>
              </a:rPr>
              <a:t>. PMI Global Congress 2009, Orlando, FL. Project Management </a:t>
            </a:r>
            <a:r>
              <a:rPr lang="es-MX" dirty="0" err="1">
                <a:solidFill>
                  <a:srgbClr val="000000"/>
                </a:solidFill>
              </a:rPr>
              <a:t>Institute</a:t>
            </a:r>
            <a:r>
              <a:rPr lang="es-MX" dirty="0">
                <a:solidFill>
                  <a:srgbClr val="000000"/>
                </a:solidFill>
              </a:rPr>
              <a:t>. </a:t>
            </a:r>
            <a:r>
              <a:rPr lang="es-MX" dirty="0">
                <a:solidFill>
                  <a:srgbClr val="000000"/>
                </a:solidFill>
                <a:hlinkClick r:id="rId5"/>
              </a:rPr>
              <a:t>https://www.pmi.org/learning/library/lessons-learned-early-often-6746</a:t>
            </a:r>
            <a:endParaRPr lang="es-MX" dirty="0">
              <a:solidFill>
                <a:srgbClr val="000000"/>
              </a:solidFill>
            </a:endParaRPr>
          </a:p>
          <a:p>
            <a:pPr marL="457200" indent="-457200" algn="just">
              <a:spcAft>
                <a:spcPts val="1000"/>
              </a:spcAft>
              <a:buFont typeface="Wingdings" panose="05000000000000000000" pitchFamily="2" charset="2"/>
              <a:buChar char="Ø"/>
            </a:pPr>
            <a:r>
              <a:rPr lang="es-MX" dirty="0">
                <a:solidFill>
                  <a:srgbClr val="000000"/>
                </a:solidFill>
              </a:rPr>
              <a:t>Martin, P. K., y Tate, K. (2000). The </a:t>
            </a:r>
            <a:r>
              <a:rPr lang="es-MX" dirty="0" err="1">
                <a:solidFill>
                  <a:srgbClr val="000000"/>
                </a:solidFill>
              </a:rPr>
              <a:t>forgotten</a:t>
            </a:r>
            <a:r>
              <a:rPr lang="es-MX" dirty="0">
                <a:solidFill>
                  <a:srgbClr val="000000"/>
                </a:solidFill>
              </a:rPr>
              <a:t> </a:t>
            </a:r>
            <a:r>
              <a:rPr lang="es-MX" dirty="0" err="1">
                <a:solidFill>
                  <a:srgbClr val="000000"/>
                </a:solidFill>
              </a:rPr>
              <a:t>phase</a:t>
            </a:r>
            <a:r>
              <a:rPr lang="es-MX" dirty="0">
                <a:solidFill>
                  <a:srgbClr val="000000"/>
                </a:solidFill>
              </a:rPr>
              <a:t>. </a:t>
            </a:r>
            <a:r>
              <a:rPr lang="en-US" i="1" dirty="0">
                <a:solidFill>
                  <a:srgbClr val="000000"/>
                </a:solidFill>
              </a:rPr>
              <a:t>PM Network, 14</a:t>
            </a:r>
            <a:r>
              <a:rPr lang="es-MX" dirty="0">
                <a:solidFill>
                  <a:srgbClr val="000000"/>
                </a:solidFill>
              </a:rPr>
              <a:t>(2), 29. </a:t>
            </a:r>
            <a:r>
              <a:rPr lang="es-MX" dirty="0">
                <a:solidFill>
                  <a:srgbClr val="000000"/>
                </a:solidFill>
                <a:hlinkClick r:id="rId6"/>
              </a:rPr>
              <a:t>https://www.pmi.org/learning/library/forgotten-phase-close-out-3142</a:t>
            </a:r>
            <a:endParaRPr lang="es-MX" dirty="0">
              <a:solidFill>
                <a:srgbClr val="000000"/>
              </a:solidFill>
            </a:endParaRPr>
          </a:p>
          <a:p>
            <a:pPr marL="457200" indent="-457200" algn="just">
              <a:spcAft>
                <a:spcPts val="1000"/>
              </a:spcAft>
              <a:buFont typeface="Wingdings" panose="05000000000000000000" pitchFamily="2" charset="2"/>
              <a:buChar char="Ø"/>
            </a:pPr>
            <a:r>
              <a:rPr lang="es-MX" dirty="0">
                <a:solidFill>
                  <a:srgbClr val="000000"/>
                </a:solidFill>
              </a:rPr>
              <a:t>Project Management </a:t>
            </a:r>
            <a:r>
              <a:rPr lang="es-MX" dirty="0" err="1">
                <a:solidFill>
                  <a:srgbClr val="000000"/>
                </a:solidFill>
              </a:rPr>
              <a:t>Institute</a:t>
            </a:r>
            <a:r>
              <a:rPr lang="es-MX" dirty="0">
                <a:solidFill>
                  <a:srgbClr val="000000"/>
                </a:solidFill>
              </a:rPr>
              <a:t>. (2021). </a:t>
            </a:r>
            <a:r>
              <a:rPr lang="en-US" i="1" dirty="0">
                <a:solidFill>
                  <a:srgbClr val="000000"/>
                </a:solidFill>
              </a:rPr>
              <a:t>A guide to the project management body of knowledge (PMBOK® Guide)</a:t>
            </a:r>
            <a:r>
              <a:rPr lang="es-MX" dirty="0">
                <a:solidFill>
                  <a:srgbClr val="000000"/>
                </a:solidFill>
              </a:rPr>
              <a:t> (7.ª ed.). Project Management </a:t>
            </a:r>
            <a:r>
              <a:rPr lang="es-MX" dirty="0" err="1">
                <a:solidFill>
                  <a:srgbClr val="000000"/>
                </a:solidFill>
              </a:rPr>
              <a:t>Institute</a:t>
            </a:r>
            <a:r>
              <a:rPr lang="es-MX" dirty="0">
                <a:solidFill>
                  <a:srgbClr val="000000"/>
                </a:solidFill>
              </a:rPr>
              <a:t>. </a:t>
            </a:r>
            <a:r>
              <a:rPr lang="es-MX" dirty="0">
                <a:solidFill>
                  <a:srgbClr val="000000"/>
                </a:solidFill>
                <a:hlinkClick r:id="rId7"/>
              </a:rPr>
              <a:t>https://www.pmi.org/standards/pmbok</a:t>
            </a:r>
            <a:endParaRPr lang="es-MX" dirty="0">
              <a:solidFill>
                <a:srgbClr val="000000"/>
              </a:solidFill>
            </a:endParaRPr>
          </a:p>
          <a:p>
            <a:pPr marL="457200" indent="-457200" algn="just">
              <a:spcAft>
                <a:spcPts val="1000"/>
              </a:spcAft>
              <a:buFont typeface="Wingdings" panose="05000000000000000000" pitchFamily="2" charset="2"/>
              <a:buChar char="Ø"/>
            </a:pPr>
            <a:r>
              <a:rPr lang="es-MX" dirty="0">
                <a:solidFill>
                  <a:srgbClr val="000000"/>
                </a:solidFill>
              </a:rPr>
              <a:t>Reichel, C. W. (2006). </a:t>
            </a:r>
            <a:r>
              <a:rPr lang="en-US" i="1" dirty="0">
                <a:solidFill>
                  <a:srgbClr val="000000"/>
                </a:solidFill>
              </a:rPr>
              <a:t>Earned value management systems (EVMS): "You too can do earned value management"</a:t>
            </a:r>
            <a:r>
              <a:rPr lang="es-MX" dirty="0">
                <a:solidFill>
                  <a:srgbClr val="000000"/>
                </a:solidFill>
              </a:rPr>
              <a:t>. Project Management </a:t>
            </a:r>
            <a:r>
              <a:rPr lang="es-MX" dirty="0" err="1">
                <a:solidFill>
                  <a:srgbClr val="000000"/>
                </a:solidFill>
              </a:rPr>
              <a:t>Institute</a:t>
            </a:r>
            <a:r>
              <a:rPr lang="es-MX" dirty="0">
                <a:solidFill>
                  <a:srgbClr val="000000"/>
                </a:solidFill>
              </a:rPr>
              <a:t>. </a:t>
            </a:r>
            <a:r>
              <a:rPr lang="es-MX" dirty="0">
                <a:solidFill>
                  <a:srgbClr val="000000"/>
                </a:solidFill>
                <a:hlinkClick r:id="rId8"/>
              </a:rPr>
              <a:t>https://www.pmi.org/learning/library/earned-value-management-systems-analysis-8026</a:t>
            </a:r>
            <a:endParaRPr lang="es-MX" dirty="0">
              <a:solidFill>
                <a:srgbClr val="000000"/>
              </a:solidFill>
            </a:endParaRPr>
          </a:p>
          <a:p>
            <a:pPr marL="457200" indent="-457200" algn="just">
              <a:spcAft>
                <a:spcPts val="1000"/>
              </a:spcAft>
              <a:buFont typeface="Wingdings" panose="05000000000000000000" pitchFamily="2" charset="2"/>
              <a:buChar char="Ø"/>
            </a:pPr>
            <a:r>
              <a:rPr lang="es-MX" dirty="0">
                <a:solidFill>
                  <a:srgbClr val="000000"/>
                </a:solidFill>
              </a:rPr>
              <a:t>Schwalbe, K. (2019). </a:t>
            </a:r>
            <a:r>
              <a:rPr lang="en-US" i="1" dirty="0">
                <a:solidFill>
                  <a:srgbClr val="000000"/>
                </a:solidFill>
              </a:rPr>
              <a:t>Information technology project management</a:t>
            </a:r>
            <a:r>
              <a:rPr lang="es-MX" dirty="0">
                <a:solidFill>
                  <a:srgbClr val="000000"/>
                </a:solidFill>
              </a:rPr>
              <a:t> (9.ª ed.). Cengage </a:t>
            </a:r>
            <a:r>
              <a:rPr lang="es-MX" dirty="0" err="1">
                <a:solidFill>
                  <a:srgbClr val="000000"/>
                </a:solidFill>
              </a:rPr>
              <a:t>Learning</a:t>
            </a:r>
            <a:r>
              <a:rPr lang="es-MX" dirty="0">
                <a:solidFill>
                  <a:srgbClr val="000000"/>
                </a:solidFill>
              </a:rPr>
              <a:t>. </a:t>
            </a:r>
            <a:r>
              <a:rPr lang="es-MX">
                <a:solidFill>
                  <a:srgbClr val="000000"/>
                </a:solidFill>
                <a:hlinkClick r:id="rId9"/>
              </a:rPr>
              <a:t>https://www.cengage.com/c/information-technology-project-management-9e-schwalbe/9781337101356</a:t>
            </a:r>
            <a:r>
              <a:rPr lang="es-MX" sz="1600">
                <a:solidFill>
                  <a:srgbClr val="000000"/>
                </a:solidFill>
                <a:hlinkClick r:id="rId9"/>
              </a:rPr>
              <a:t>/</a:t>
            </a:r>
            <a:endParaRPr lang="es-MX" sz="1600" b="0" dirty="0">
              <a:solidFill>
                <a:srgbClr val="000000"/>
              </a:solidFill>
              <a:latin typeface="Calibri"/>
              <a:ea typeface="Calibri"/>
              <a:cs typeface="Calibri"/>
            </a:endParaRPr>
          </a:p>
        </p:txBody>
      </p:sp>
    </p:spTree>
    <p:extLst>
      <p:ext uri="{BB962C8B-B14F-4D97-AF65-F5344CB8AC3E}">
        <p14:creationId xmlns:p14="http://schemas.microsoft.com/office/powerpoint/2010/main" val="39103251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2671E74-68D5-4C45-8E1F-292BCD44D6F6}">
  <we:reference id="wa200010725" version="1.0.0.1" store="es-ES" storeType="OMEX"/>
  <we:alternateReferences>
    <we:reference id="WA200010725" version="1.0.0.1" store="" storeType="OMEX"/>
  </we:alternateReferences>
  <we:properties>
    <we:property name="claude.fileId" value="&quot;504c4c2e-5b6f-4d5e-9746-a9b59ea06ff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TotalTime>
  <Words>1735</Words>
  <Application>Microsoft Office PowerPoint</Application>
  <DocSecurity>0</DocSecurity>
  <PresentationFormat>Panorámica</PresentationFormat>
  <Paragraphs>228</Paragraphs>
  <Slides>20</Slides>
  <Notes>20</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20</vt:i4>
      </vt:variant>
    </vt:vector>
  </HeadingPairs>
  <TitlesOfParts>
    <vt:vector size="26" baseType="lpstr">
      <vt:lpstr>Arial</vt:lpstr>
      <vt:lpstr>Calibri</vt:lpstr>
      <vt:lpstr>Calibri Light</vt:lpstr>
      <vt:lpstr>Wingdings</vt:lpstr>
      <vt:lpstr>Tema de Office</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rafael aquino villanueva</cp:lastModifiedBy>
  <cp:revision>7</cp:revision>
  <dcterms:created xsi:type="dcterms:W3CDTF">2026-10-03T12:27:24Z</dcterms:created>
  <dcterms:modified xsi:type="dcterms:W3CDTF">2026-10-03T14:07:07Z</dcterms:modified>
</cp:coreProperties>
</file>