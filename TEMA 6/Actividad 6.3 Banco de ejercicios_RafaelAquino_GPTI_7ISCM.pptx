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3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90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9" r:id="rId28"/>
    <p:sldId id="282" r:id="rId29"/>
    <p:sldId id="283" r:id="rId30"/>
    <p:sldId id="284" r:id="rId31"/>
    <p:sldId id="285" r:id="rId32"/>
    <p:sldId id="288" r:id="rId33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4C1A8A3-306A-4EB7-A6B1-4F7E0EB9C5D6}" styleName="Estilo medio 3 - Énfasis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97A6B-C8A5-A893-2EB4-EAD802D17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E9E8D3-983C-1FBA-F097-D58F78BA9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900B84-F10B-751B-5908-FC18C6422C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44A13C-A177-47DD-903A-D74B08377F6A}" type="datetimeFigureOut">
              <a:t>03/10/2026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144F6-9197-16C1-A989-50C7A0E4960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DBAAEB-1ABF-E979-BAC2-66927C69E8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DC0401-0789-4F42-8B4F-18107AD0662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53055-0E2B-CB93-6D72-F6BFE456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E3AF4-F79F-763A-9DAF-C6C175A5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555DC5-3E01-56E7-631E-04D4A904C31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44A13C-A177-47DD-903A-D74B08377F6A}" type="datetimeFigureOut">
              <a:t>03/10/2026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B53975-0403-0D44-401F-71EA01B2175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3A586F-F27C-248A-D498-ADFFEFE936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DC0401-0789-4F42-8B4F-18107AD0662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57E10-4726-7D0A-E1F8-93439BFF2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C9CE40-9232-9AC4-A9C6-59A9B8473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1E2653-A3E2-493F-59D0-04D925E189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44A13C-A177-47DD-903A-D74B08377F6A}" type="datetimeFigureOut">
              <a:t>03/10/2026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DFD983-ED4E-38A6-DCD5-DB9EF6346AC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502D16-37E0-4D0D-5BB7-68A3BDB4C6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DC0401-0789-4F42-8B4F-18107AD0662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0EA5F-E2E9-67F7-E292-C84FCB6F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3239D-44F0-8AD1-FF8A-D79A0CA81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69FD3F-356E-6F60-6A25-56717337FB9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7C736D-F3D7-D82B-BB73-E65F46C18C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44A13C-A177-47DD-903A-D74B08377F6A}" type="datetimeFigureOut">
              <a:t>03/10/2026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92062B-BCCF-C2B2-D017-588DE12297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51BE1-2995-E957-66B3-46B9B16082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DC0401-0789-4F42-8B4F-18107AD0662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DADCE-63AC-54B1-31D4-48CC1F82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E131CC-B953-9DA0-84D7-342F7661F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ADC272-3617-466E-F6F0-16A81075165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DDCA87-61A0-8976-E9D1-03EDE6E1143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B0352-2822-B688-0216-B6F8FB988F72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0D192A-B4AB-FABE-D934-62F9F766DA0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44A13C-A177-47DD-903A-D74B08377F6A}" type="datetimeFigureOut">
              <a:t>03/10/2026</a:t>
            </a:fld>
            <a:endParaRPr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4D7369-D1D8-1689-1054-CDA28986460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8CB792-19CD-5761-B36C-DC7CC94594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DC0401-0789-4F42-8B4F-18107AD0662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624A4-077D-5486-B7D9-11FE3E1C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9D86B5-34D8-63DA-CA5E-EB64FC37BE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44A13C-A177-47DD-903A-D74B08377F6A}" type="datetimeFigureOut">
              <a:t>03/10/2026</a:t>
            </a:fld>
            <a:endParaRPr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1CB502-05EE-237F-2E29-626516E35C1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4E0509-4D7E-FE6F-A441-3510269013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DC0401-0789-4F42-8B4F-18107AD0662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D2BB40-084A-590A-568A-4FBC55A7A4C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44A13C-A177-47DD-903A-D74B08377F6A}" type="datetimeFigureOut">
              <a:t>03/10/2026</a:t>
            </a:fld>
            <a:endParaRPr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31945B-3C8A-CC04-90CF-86A6FB92666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54383D-C3B6-AF0C-D3F1-2DB73EE04B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DC0401-0789-4F42-8B4F-18107AD0662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07E4E-5A62-92CA-7ACA-D3C6DC7B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43F851-D00D-6093-A986-6C5F35C56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6ECEE2-9260-2C2E-BC65-C11DE6DFFFA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6AE17B-F1FD-90D4-9A7D-49AAC564DE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44A13C-A177-47DD-903A-D74B08377F6A}" type="datetimeFigureOut">
              <a:t>03/10/2026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728C9-30AA-559A-CB48-C6B86631338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F8E15D-A90F-EA63-7DF9-46C7810DE3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DC0401-0789-4F42-8B4F-18107AD0662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DD758-F948-B2A7-DC08-B687F91B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1C892A9-AD64-6F7D-FEE0-967756CA2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238B53-DBF4-A3CB-9E1A-386EDC4987F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447764-59A7-8823-1D1A-CF02217FD7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44A13C-A177-47DD-903A-D74B08377F6A}" type="datetimeFigureOut">
              <a:t>03/10/2026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A3D35F-6746-D59D-FB36-01BA85D3881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5FE247-F7A5-5BF6-7419-4D0C9940C5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DC0401-0789-4F42-8B4F-18107AD0662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FDA35-B0B4-E787-3D72-F031788E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F0C38B-FF72-ABBA-A9A3-57F2D48A3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1F98C5-01BB-732B-11CB-7FADA28975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44A13C-A177-47DD-903A-D74B08377F6A}" type="datetimeFigureOut">
              <a:t>03/10/2026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9513AF-E2D8-C50D-31BA-5F9705122F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6C0206-8F5E-04A4-613D-6EC2B5984F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DC0401-0789-4F42-8B4F-18107AD0662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F840C8-6BFA-8DB5-04D9-2FFF606B9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3C22F2-C176-59C9-19E7-C3A94CBB2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12D9B4-8F58-BE69-EF19-A521A08A9F5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44A13C-A177-47DD-903A-D74B08377F6A}" type="datetimeFigureOut">
              <a:t>03/10/2026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B5D75A-9186-AC95-3F60-D715E515C1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F889DC-3AEB-704A-0884-C0B1EAD821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DC0401-0789-4F42-8B4F-18107AD0662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97A6B-C8A5-A893-2EB4-EAD802D17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E9E8D3-983C-1FBA-F097-D58F78BA9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900B84-F10B-751B-5908-FC18C6422C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44A13C-A177-47DD-903A-D74B08377F6A}" type="datetimeFigureOut">
              <a:t>03/10/2026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144F6-9197-16C1-A989-50C7A0E4960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DBAAEB-1ABF-E979-BAC2-66927C69E8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DC0401-0789-4F42-8B4F-18107AD0662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53055-0E2B-CB93-6D72-F6BFE456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E3AF4-F79F-763A-9DAF-C6C175A5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555DC5-3E01-56E7-631E-04D4A904C31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44A13C-A177-47DD-903A-D74B08377F6A}" type="datetimeFigureOut">
              <a:t>03/10/2026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B53975-0403-0D44-401F-71EA01B2175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3A586F-F27C-248A-D498-ADFFEFE936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DC0401-0789-4F42-8B4F-18107AD0662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57E10-4726-7D0A-E1F8-93439BFF2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C9CE40-9232-9AC4-A9C6-59A9B8473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1E2653-A3E2-493F-59D0-04D925E189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44A13C-A177-47DD-903A-D74B08377F6A}" type="datetimeFigureOut">
              <a:t>03/10/2026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DFD983-ED4E-38A6-DCD5-DB9EF6346AC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502D16-37E0-4D0D-5BB7-68A3BDB4C6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DC0401-0789-4F42-8B4F-18107AD0662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0EA5F-E2E9-67F7-E292-C84FCB6F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3239D-44F0-8AD1-FF8A-D79A0CA81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69FD3F-356E-6F60-6A25-56717337FB9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7C736D-F3D7-D82B-BB73-E65F46C18C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44A13C-A177-47DD-903A-D74B08377F6A}" type="datetimeFigureOut">
              <a:t>03/10/2026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92062B-BCCF-C2B2-D017-588DE12297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51BE1-2995-E957-66B3-46B9B16082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DC0401-0789-4F42-8B4F-18107AD0662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DADCE-63AC-54B1-31D4-48CC1F82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E131CC-B953-9DA0-84D7-342F7661F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ADC272-3617-466E-F6F0-16A81075165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DDCA87-61A0-8976-E9D1-03EDE6E1143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B0352-2822-B688-0216-B6F8FB988F72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0D192A-B4AB-FABE-D934-62F9F766DA0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44A13C-A177-47DD-903A-D74B08377F6A}" type="datetimeFigureOut">
              <a:t>03/10/2026</a:t>
            </a:fld>
            <a:endParaRPr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4D7369-D1D8-1689-1054-CDA28986460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8CB792-19CD-5761-B36C-DC7CC94594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DC0401-0789-4F42-8B4F-18107AD0662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624A4-077D-5486-B7D9-11FE3E1C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9D86B5-34D8-63DA-CA5E-EB64FC37BE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44A13C-A177-47DD-903A-D74B08377F6A}" type="datetimeFigureOut">
              <a:t>03/10/2026</a:t>
            </a:fld>
            <a:endParaRPr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1CB502-05EE-237F-2E29-626516E35C1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4E0509-4D7E-FE6F-A441-3510269013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DC0401-0789-4F42-8B4F-18107AD0662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D2BB40-084A-590A-568A-4FBC55A7A4C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44A13C-A177-47DD-903A-D74B08377F6A}" type="datetimeFigureOut">
              <a:t>03/10/2026</a:t>
            </a:fld>
            <a:endParaRPr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31945B-3C8A-CC04-90CF-86A6FB92666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54383D-C3B6-AF0C-D3F1-2DB73EE04B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DC0401-0789-4F42-8B4F-18107AD0662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07E4E-5A62-92CA-7ACA-D3C6DC7B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43F851-D00D-6093-A986-6C5F35C56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6ECEE2-9260-2C2E-BC65-C11DE6DFFFA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6AE17B-F1FD-90D4-9A7D-49AAC564DE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44A13C-A177-47DD-903A-D74B08377F6A}" type="datetimeFigureOut">
              <a:t>03/10/2026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728C9-30AA-559A-CB48-C6B86631338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F8E15D-A90F-EA63-7DF9-46C7810DE3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DC0401-0789-4F42-8B4F-18107AD0662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DD758-F948-B2A7-DC08-B687F91B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1C892A9-AD64-6F7D-FEE0-967756CA2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238B53-DBF4-A3CB-9E1A-386EDC4987F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447764-59A7-8823-1D1A-CF02217FD7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44A13C-A177-47DD-903A-D74B08377F6A}" type="datetimeFigureOut">
              <a:t>03/10/2026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A3D35F-6746-D59D-FB36-01BA85D3881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5FE247-F7A5-5BF6-7419-4D0C9940C5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DC0401-0789-4F42-8B4F-18107AD0662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FDA35-B0B4-E787-3D72-F031788E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F0C38B-FF72-ABBA-A9A3-57F2D48A3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1F98C5-01BB-732B-11CB-7FADA28975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44A13C-A177-47DD-903A-D74B08377F6A}" type="datetimeFigureOut">
              <a:t>03/10/2026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9513AF-E2D8-C50D-31BA-5F9705122F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6C0206-8F5E-04A4-613D-6EC2B5984F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DC0401-0789-4F42-8B4F-18107AD0662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F840C8-6BFA-8DB5-04D9-2FFF606B9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3C22F2-C176-59C9-19E7-C3A94CBB2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12D9B4-8F58-BE69-EF19-A521A08A9F5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44A13C-A177-47DD-903A-D74B08377F6A}" type="datetimeFigureOut">
              <a:t>03/10/2026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B5D75A-9186-AC95-3F60-D715E515C1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F889DC-3AEB-704A-0884-C0B1EAD821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DC0401-0789-4F42-8B4F-18107AD0662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D456B8-F474-DC21-CA32-71136C73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76B21C-E071-F827-CAB6-8D305BED3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4E7BC-1E44-2D21-548A-97F953824FB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4A13C-A177-47DD-903A-D74B08377F6A}" type="datetimeFigureOut">
              <a:t>03/10/2026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6E618A-2674-067F-A9B5-F000F8046AE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06479D-49A2-2EF0-B936-306AEE0B0EF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C0401-0789-4F42-8B4F-18107AD06626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D456B8-F474-DC21-CA32-71136C73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76B21C-E071-F827-CAB6-8D305BED3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4E7BC-1E44-2D21-548A-97F953824FB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4A13C-A177-47DD-903A-D74B08377F6A}" type="datetimeFigureOut">
              <a:t>03/10/2026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6E618A-2674-067F-A9B5-F000F8046AE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06479D-49A2-2EF0-B936-306AEE0B0EF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C0401-0789-4F42-8B4F-18107AD06626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n 25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3091815" y="510540"/>
            <a:ext cx="5303520" cy="5836920"/>
          </a:xfrm>
          <a:prstGeom prst="rect">
            <a:avLst/>
          </a:prstGeom>
        </p:spPr>
      </p:pic>
      <p:pic>
        <p:nvPicPr>
          <p:cNvPr id="31" name="Imagen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145905" y="46990"/>
            <a:ext cx="2301875" cy="1016000"/>
          </a:xfrm>
          <a:prstGeom prst="rect">
            <a:avLst/>
          </a:prstGeom>
          <a:ln>
            <a:noFill/>
          </a:ln>
        </p:spPr>
      </p:pic>
      <p:pic>
        <p:nvPicPr>
          <p:cNvPr id="32" name="Imagen 11"/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277495" y="46990"/>
            <a:ext cx="1516380" cy="1089660"/>
          </a:xfrm>
          <a:prstGeom prst="rect">
            <a:avLst/>
          </a:prstGeom>
          <a:ln>
            <a:noFill/>
          </a:ln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9E7C584-C5C9-2730-50A7-5B38CB386E43}"/>
              </a:ext>
            </a:extLst>
          </p:cNvPr>
          <p:cNvSpPr>
            <a:spLocks noGrp="1"/>
          </p:cNvSpPr>
          <p:nvPr/>
        </p:nvSpPr>
        <p:spPr>
          <a:xfrm>
            <a:off x="1943100" y="374015"/>
            <a:ext cx="7124700" cy="79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sz="2000" b="1">
                <a:latin typeface="Arial"/>
                <a:ea typeface="Arial"/>
                <a:cs typeface="Arial"/>
              </a:rPr>
              <a:t>TECNOLÓGICO NACIONAL DE MÉXICO</a:t>
            </a:r>
            <a:endParaRPr sz="1600" kern="100">
              <a:latin typeface="Arial"/>
              <a:ea typeface="Arial"/>
              <a:cs typeface="Arial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sz="1800" b="1">
                <a:latin typeface="Arial"/>
                <a:ea typeface="Arial"/>
                <a:cs typeface="Arial"/>
              </a:rPr>
              <a:t>UNIDAD ACADÉMICA VENUSTIANO CARRANZA</a:t>
            </a:r>
            <a:endParaRPr sz="1600" kern="100">
              <a:latin typeface="Arial"/>
              <a:ea typeface="Arial"/>
              <a:cs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A9E771-2CE9-85CC-E1A4-169697077E49}"/>
              </a:ext>
            </a:extLst>
          </p:cNvPr>
          <p:cNvSpPr>
            <a:spLocks noGrp="1"/>
          </p:cNvSpPr>
          <p:nvPr/>
        </p:nvSpPr>
        <p:spPr>
          <a:xfrm>
            <a:off x="2550694" y="1329363"/>
            <a:ext cx="6096000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sz="1800" b="1">
                <a:latin typeface="Arial"/>
                <a:ea typeface="Arial"/>
                <a:cs typeface="Arial"/>
              </a:rPr>
              <a:t>“INGENIERÍA EN SISTEMAS COMPUTACIONALES”</a:t>
            </a:r>
            <a:endParaRPr sz="1800" kern="100">
              <a:latin typeface="Arial"/>
              <a:ea typeface="Arial"/>
              <a:cs typeface="Arial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FA8327A-BF41-1978-27AD-7942D85077F5}"/>
              </a:ext>
            </a:extLst>
          </p:cNvPr>
          <p:cNvSpPr>
            <a:spLocks noGrp="1"/>
          </p:cNvSpPr>
          <p:nvPr/>
        </p:nvSpPr>
        <p:spPr>
          <a:xfrm>
            <a:off x="2550694" y="1824715"/>
            <a:ext cx="6096000" cy="1169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b="1">
                <a:latin typeface="Arial"/>
                <a:ea typeface="Arial"/>
                <a:cs typeface="Arial"/>
              </a:rPr>
              <a:t>GESTIÓN DE PROYECTOS DE TI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sz="1800" b="1">
                <a:latin typeface="Arial"/>
                <a:ea typeface="Arial"/>
                <a:cs typeface="Arial"/>
              </a:rPr>
              <a:t>ACTIVIDAD  </a:t>
            </a:r>
            <a:endParaRPr sz="2000" kern="100">
              <a:latin typeface="Arial"/>
              <a:ea typeface="Arial"/>
              <a:cs typeface="Arial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sz="2000" b="1">
                <a:latin typeface="Arial"/>
                <a:ea typeface="Arial"/>
                <a:cs typeface="Arial"/>
              </a:rPr>
              <a:t>ACTIVIDAD 6.3 – BANCO DE EJERCICIOS</a:t>
            </a:r>
            <a:endParaRPr sz="2000" kern="100">
              <a:latin typeface="Arial"/>
              <a:ea typeface="Arial"/>
              <a:cs typeface="Arial"/>
            </a:endParaRPr>
          </a:p>
        </p:txBody>
      </p:sp>
      <p:graphicFrame>
        <p:nvGraphicFramePr>
          <p:cNvPr id="36" name="Tabla 18"/>
          <p:cNvGraphicFramePr/>
          <p:nvPr/>
        </p:nvGraphicFramePr>
        <p:xfrm>
          <a:off x="3249461" y="3714744"/>
          <a:ext cx="4505960" cy="76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algn="ctr" defTabSz="9144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SEMESTRE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SEPTIMO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NOMBRE DEL ALUMNO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MATRICULA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Rafael Aquino Villanueva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231260073</a:t>
                      </a: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2BBA4D31-60C9-991B-3D34-3585F8C8348E}"/>
              </a:ext>
            </a:extLst>
          </p:cNvPr>
          <p:cNvSpPr>
            <a:spLocks noGrp="1"/>
          </p:cNvSpPr>
          <p:nvPr/>
        </p:nvSpPr>
        <p:spPr>
          <a:xfrm>
            <a:off x="4010525" y="3048181"/>
            <a:ext cx="2983833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sz="1800" b="1">
                <a:latin typeface="Arial"/>
                <a:ea typeface="Arial"/>
                <a:cs typeface="Arial"/>
              </a:rPr>
              <a:t>PRESENTA</a:t>
            </a:r>
            <a:endParaRPr sz="2000" kern="100">
              <a:latin typeface="Arial"/>
              <a:ea typeface="Arial"/>
              <a:cs typeface="Arial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sz="1800" b="1">
                <a:latin typeface="Arial"/>
                <a:ea typeface="Arial"/>
                <a:cs typeface="Arial"/>
              </a:rPr>
              <a:t> </a:t>
            </a:r>
            <a:endParaRPr sz="2000" kern="100">
              <a:latin typeface="Arial"/>
              <a:ea typeface="Arial"/>
              <a:cs typeface="Arial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sz="1800" b="1">
                <a:latin typeface="Arial"/>
                <a:ea typeface="Arial"/>
                <a:cs typeface="Arial"/>
              </a:rPr>
              <a:t> </a:t>
            </a:r>
            <a:endParaRPr sz="2000" kern="100">
              <a:latin typeface="Arial"/>
              <a:ea typeface="Arial"/>
              <a:cs typeface="Arial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2284A4D-D83A-881E-63B3-639ACAB1ACB4}"/>
              </a:ext>
            </a:extLst>
          </p:cNvPr>
          <p:cNvSpPr>
            <a:spLocks noGrp="1"/>
          </p:cNvSpPr>
          <p:nvPr/>
        </p:nvSpPr>
        <p:spPr>
          <a:xfrm>
            <a:off x="2550694" y="4809176"/>
            <a:ext cx="6096000" cy="97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sz="1600" b="1">
                <a:latin typeface="Arial"/>
                <a:ea typeface="Arial"/>
                <a:cs typeface="Arial"/>
              </a:rPr>
              <a:t>DOCENTE</a:t>
            </a:r>
            <a:endParaRPr sz="1800" kern="100">
              <a:latin typeface="Arial"/>
              <a:ea typeface="Arial"/>
              <a:cs typeface="Arial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sz="1800" b="1">
                <a:latin typeface="Arial"/>
                <a:ea typeface="Arial"/>
                <a:cs typeface="Arial"/>
              </a:rPr>
              <a:t>ING. FRANCISCO JAVIER MINGO VELÁZQUEZ</a:t>
            </a:r>
            <a:endParaRPr sz="1800" kern="100">
              <a:latin typeface="Arial"/>
              <a:ea typeface="Arial"/>
              <a:cs typeface="Arial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669DBE5-FAF1-35CF-08F0-D08353CB1B1B}"/>
              </a:ext>
            </a:extLst>
          </p:cNvPr>
          <p:cNvSpPr>
            <a:spLocks noGrp="1"/>
          </p:cNvSpPr>
          <p:nvPr/>
        </p:nvSpPr>
        <p:spPr>
          <a:xfrm>
            <a:off x="1793875" y="6265557"/>
            <a:ext cx="7812505" cy="107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>
                <a:latin typeface="Arial"/>
                <a:ea typeface="Arial"/>
                <a:cs typeface="Arial"/>
              </a:rPr>
              <a:t>04</a:t>
            </a:r>
            <a:r>
              <a:rPr sz="2000" b="1">
                <a:latin typeface="Arial"/>
                <a:ea typeface="Arial"/>
                <a:cs typeface="Arial"/>
              </a:rPr>
              <a:t> DE OCTUBRE DE 2026</a:t>
            </a:r>
            <a:r>
              <a:rPr sz="1800" b="1">
                <a:latin typeface="Arial"/>
                <a:ea typeface="Arial"/>
                <a:cs typeface="Arial"/>
              </a:rPr>
              <a:t> </a:t>
            </a:r>
            <a:r>
              <a:rPr sz="1800">
                <a:latin typeface="Arial"/>
                <a:ea typeface="Arial"/>
                <a:cs typeface="Arial"/>
              </a:rPr>
              <a:t>VENUSTIANO CARRANZA, CHIAPAS</a:t>
            </a:r>
            <a:endParaRPr sz="2000" kern="100">
              <a:latin typeface="Arial"/>
              <a:ea typeface="Arial"/>
              <a:cs typeface="Arial"/>
            </a:endParaRPr>
          </a:p>
          <a:p>
            <a:pPr>
              <a:buNone/>
            </a:pPr>
            <a:br>
              <a:rPr sz="1800" dirty="0">
                <a:latin typeface="Arial"/>
                <a:ea typeface="Arial"/>
                <a:cs typeface="Arial"/>
              </a:rPr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5832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23D5AD-B34F-94DE-CA8C-4E027E6ED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7750"/>
            <a:ext cx="10515600" cy="5129213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spcAft>
                <a:spcPts val="600"/>
              </a:spcAft>
              <a:buNone/>
              <a:defRPr sz="2325">
                <a:latin typeface="Calibri"/>
                <a:ea typeface="Calibri"/>
                <a:cs typeface="Calibri"/>
              </a:defRPr>
            </a:pPr>
            <a:r>
              <a:rPr sz="4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Introducción</a:t>
            </a:r>
            <a:endParaRPr sz="4400" b="1">
              <a:solidFill>
                <a:schemeClr val="accent1"/>
              </a:solidFill>
              <a:latin typeface="+mj-lt"/>
              <a:ea typeface="+mj-lt"/>
              <a:cs typeface="+mj-lt"/>
            </a:endParaRPr>
          </a:p>
          <a:p>
            <a:pPr marL="0" indent="0" algn="just">
              <a:buNone/>
            </a:pPr>
            <a:r>
              <a:t>Se presenta un banco de ejercicios sobre la evaluación y el cierre de proyectos de TI, aplicado a los proyectos de Brandon, Josefina y Roberto.</a:t>
            </a:r>
          </a:p>
          <a:p>
            <a:pPr marL="0" indent="0" algn="just">
              <a:buNone/>
            </a:pPr>
            <a:r>
              <a:t>Los ejercicios abarcan la medición del éxito, el cálculo de indicadores de alcance, tiempo y valor ganado, el registro de lecciones aprendidas y la documentación final del cierre. Cada ejercicio incluye su planteamiento y su solución.</a:t>
            </a:r>
          </a:p>
        </p:txBody>
      </p:sp>
    </p:spTree>
    <p:extLst>
      <p:ext uri="{BB962C8B-B14F-4D97-AF65-F5344CB8AC3E}">
        <p14:creationId xmlns:p14="http://schemas.microsoft.com/office/powerpoint/2010/main" val="748151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56B65-D6B3-09AC-24F1-487C58C87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Objetivo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FA9FFEB-3993-4A4E-BA47-10ED6A9FDF6F}"/>
              </a:ext>
            </a:extLst>
          </p:cNvPr>
          <p:cNvSpPr>
            <a:spLocks noGrp="1"/>
          </p:cNvSpPr>
          <p:nvPr/>
        </p:nvSpPr>
        <p:spPr>
          <a:xfrm>
            <a:off x="1181100" y="1781175"/>
            <a:ext cx="10515600" cy="4191000"/>
          </a:xfrm>
          <a:prstGeom prst="rect">
            <a:avLst/>
          </a:prstGeom>
          <a:noFill/>
        </p:spPr>
        <p:txBody>
          <a:bodyPr vert="horz" wrap="square" anchor="t">
            <a:normAutofit/>
          </a:bodyPr>
          <a:lstStyle/>
          <a:p>
            <a:pPr algn="just">
              <a:spcAft>
                <a:spcPts val="600"/>
              </a:spcAft>
              <a:buNone/>
              <a:defRPr sz="2800">
                <a:latin typeface="Calibri"/>
                <a:ea typeface="Calibri"/>
                <a:cs typeface="Calibri"/>
              </a:defRPr>
            </a:pPr>
            <a:r>
              <a:rPr sz="2800">
                <a:latin typeface="Calibri"/>
                <a:ea typeface="Calibri"/>
                <a:cs typeface="Calibri"/>
              </a:rPr>
              <a:t>Aplicar criterios e indicadores para evaluar el éxito de los proyectos de Brandon, Josefina y Roberto, registrar las lecciones aprendidas y verificar la documentación necesaria para su cierre formal.</a:t>
            </a:r>
            <a:endParaRPr sz="2800"/>
          </a:p>
        </p:txBody>
      </p:sp>
    </p:spTree>
    <p:extLst>
      <p:ext uri="{BB962C8B-B14F-4D97-AF65-F5344CB8AC3E}">
        <p14:creationId xmlns:p14="http://schemas.microsoft.com/office/powerpoint/2010/main" val="872364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9709BD-43C8-E083-574C-CD048A14B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ctr">
            <a:normAutofit/>
          </a:bodyPr>
          <a:lstStyle/>
          <a:p>
            <a:pPr algn="ctr"/>
            <a:r>
              <a:rPr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Justificación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070AEA3-E762-4E94-80BA-2A1F43151F0F}"/>
              </a:ext>
            </a:extLst>
          </p:cNvPr>
          <p:cNvSpPr>
            <a:spLocks noGrp="1"/>
          </p:cNvSpPr>
          <p:nvPr/>
        </p:nvSpPr>
        <p:spPr>
          <a:xfrm>
            <a:off x="838200" y="1905000"/>
            <a:ext cx="10515600" cy="4191000"/>
          </a:xfrm>
          <a:prstGeom prst="rect">
            <a:avLst/>
          </a:prstGeom>
          <a:noFill/>
        </p:spPr>
        <p:txBody>
          <a:bodyPr vert="horz" wrap="square" anchor="t">
            <a:normAutofit/>
          </a:bodyPr>
          <a:lstStyle>
            <a:lvl1pPr algn="just">
              <a:buNone/>
              <a:defRPr sz="2800"/>
            </a:lvl1pPr>
          </a:lstStyle>
          <a:p>
            <a:pPr>
              <a:spcAft>
                <a:spcPts val="600"/>
              </a:spcAft>
              <a:buNone/>
            </a:pPr>
            <a:r>
              <a:rPr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Un proyecto no termina con la entrega del producto: es necesario comprobar si cumplió su alcance, tiempo y calidad, y dejar constancia formal de su aceptación.</a:t>
            </a:r>
          </a:p>
          <a:p>
            <a:pPr>
              <a:spcAft>
                <a:spcPts val="600"/>
              </a:spcAft>
              <a:buNone/>
            </a:pPr>
            <a:r>
              <a:rPr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Resolver ejercicios con datos reales de los tres proyectos permite practicar los cálculos y decisiones de la etapa de cierre, y convertir la experiencia obtenida en recomendaciones para proyectos futuros.</a:t>
            </a:r>
          </a:p>
        </p:txBody>
      </p:sp>
    </p:spTree>
    <p:extLst>
      <p:ext uri="{BB962C8B-B14F-4D97-AF65-F5344CB8AC3E}">
        <p14:creationId xmlns:p14="http://schemas.microsoft.com/office/powerpoint/2010/main" val="1097269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189A3-FD75-DF35-B597-3665CC29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ctr">
            <a:normAutofit/>
          </a:bodyPr>
          <a:lstStyle/>
          <a:p>
            <a:pPr algn="ctr"/>
            <a:r>
              <a:rPr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Alcance de la práctica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293F4AA-8F1B-48D3-977A-A775FD4DC8FA}"/>
              </a:ext>
            </a:extLst>
          </p:cNvPr>
          <p:cNvSpPr>
            <a:spLocks noGrp="1"/>
          </p:cNvSpPr>
          <p:nvPr/>
        </p:nvSpPr>
        <p:spPr>
          <a:xfrm>
            <a:off x="810126" y="1609724"/>
            <a:ext cx="10515600" cy="4883151"/>
          </a:xfrm>
          <a:prstGeom prst="rect">
            <a:avLst/>
          </a:prstGeom>
          <a:noFill/>
        </p:spPr>
        <p:txBody>
          <a:bodyPr vert="horz" wrap="square" anchor="t">
            <a:normAutofit lnSpcReduction="10000"/>
          </a:bodyPr>
          <a:lstStyle>
            <a:lvl1pPr algn="just">
              <a:buNone/>
              <a:defRPr sz="2800"/>
            </a:lvl1pPr>
          </a:lstStyle>
          <a:p>
            <a:pPr>
              <a:spcAft>
                <a:spcPts val="600"/>
              </a:spcAft>
              <a:buNone/>
            </a:pPr>
            <a:r>
              <a:rPr dirty="0"/>
              <a:t>El banco </a:t>
            </a:r>
            <a:r>
              <a:rPr dirty="0" err="1"/>
              <a:t>ejercicios</a:t>
            </a:r>
            <a:r>
              <a:rPr dirty="0"/>
              <a:t> </a:t>
            </a:r>
            <a:r>
              <a:rPr dirty="0" err="1"/>
              <a:t>aplicados</a:t>
            </a:r>
            <a:r>
              <a:rPr dirty="0"/>
              <a:t> a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proyectos</a:t>
            </a:r>
            <a:r>
              <a:rPr dirty="0"/>
              <a:t> de Brandon, Josefina y Roberto.</a:t>
            </a:r>
          </a:p>
          <a:p>
            <a:pPr>
              <a:spcAft>
                <a:spcPts val="600"/>
              </a:spcAft>
              <a:buNone/>
            </a:pPr>
            <a:endParaRPr dirty="0">
              <a:solidFill>
                <a:srgbClr val="262626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600"/>
              </a:spcAft>
              <a:buNone/>
            </a:pPr>
            <a:r>
              <a:rPr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Incluye</a:t>
            </a: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:</a:t>
            </a:r>
          </a:p>
          <a:p>
            <a:pPr>
              <a:spcAft>
                <a:spcPts val="600"/>
              </a:spcAft>
              <a:buNone/>
            </a:pP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 </a:t>
            </a:r>
            <a:r>
              <a:rPr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Criterios</a:t>
            </a: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de </a:t>
            </a:r>
            <a:r>
              <a:rPr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éxito</a:t>
            </a: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del </a:t>
            </a:r>
            <a:r>
              <a:rPr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proyecto</a:t>
            </a: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spcAft>
                <a:spcPts val="600"/>
              </a:spcAft>
              <a:buNone/>
            </a:pP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 </a:t>
            </a:r>
            <a:r>
              <a:rPr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Medición</a:t>
            </a: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del </a:t>
            </a:r>
            <a:r>
              <a:rPr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alcance</a:t>
            </a: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y del tiempo con base en </a:t>
            </a:r>
            <a:r>
              <a:rPr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actas</a:t>
            </a: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y planes.</a:t>
            </a:r>
          </a:p>
          <a:p>
            <a:pPr>
              <a:spcAft>
                <a:spcPts val="600"/>
              </a:spcAft>
              <a:buNone/>
            </a:pP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 </a:t>
            </a:r>
            <a:r>
              <a:rPr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Cálculo</a:t>
            </a: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e </a:t>
            </a:r>
            <a:r>
              <a:rPr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interpretación</a:t>
            </a: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del valor </a:t>
            </a:r>
            <a:r>
              <a:rPr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ganado</a:t>
            </a: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spcAft>
                <a:spcPts val="600"/>
              </a:spcAft>
              <a:buNone/>
            </a:pP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 Registro y </a:t>
            </a:r>
            <a:r>
              <a:rPr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clasificación</a:t>
            </a: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de </a:t>
            </a:r>
            <a:r>
              <a:rPr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lecciones</a:t>
            </a: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</a:t>
            </a:r>
            <a:r>
              <a:rPr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aprendidas</a:t>
            </a: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spcAft>
                <a:spcPts val="600"/>
              </a:spcAft>
              <a:buNone/>
            </a:pP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 </a:t>
            </a:r>
            <a:r>
              <a:rPr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Tipos</a:t>
            </a: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de </a:t>
            </a:r>
            <a:r>
              <a:rPr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cierre</a:t>
            </a: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, checklist y acta de </a:t>
            </a:r>
            <a:r>
              <a:rPr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cierre</a:t>
            </a: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spcAft>
                <a:spcPts val="600"/>
              </a:spcAft>
              <a:buNone/>
            </a:pP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 </a:t>
            </a:r>
            <a:r>
              <a:rPr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Preguntas</a:t>
            </a: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de </a:t>
            </a:r>
            <a:r>
              <a:rPr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opción</a:t>
            </a: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</a:t>
            </a:r>
            <a:r>
              <a:rPr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múltiple</a:t>
            </a: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y de </a:t>
            </a:r>
            <a:r>
              <a:rPr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verdadero</a:t>
            </a: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o </a:t>
            </a:r>
            <a:r>
              <a:rPr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falso</a:t>
            </a:r>
            <a:r>
              <a:rPr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5082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FF25C0CF-575D-9E89-9096-9AACEF4706EB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sz="4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Proyectos evaluados</a:t>
            </a:r>
          </a:p>
        </p:txBody>
      </p:sp>
      <p:graphicFrame>
        <p:nvGraphicFramePr>
          <p:cNvPr id="15" name="Table 0"/>
          <p:cNvGraphicFramePr/>
          <p:nvPr/>
        </p:nvGraphicFramePr>
        <p:xfrm>
          <a:off x="548640" y="1371600"/>
          <a:ext cx="11064240" cy="134112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</a:rPr>
                        <a:t>Proyecto</a:t>
                      </a:r>
                      <a:endParaRPr sz="130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</a:rPr>
                        <a:t>Responsable</a:t>
                      </a:r>
                      <a:endParaRPr sz="130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</a:rPr>
                        <a:t>Fecha límite (acta)</a:t>
                      </a:r>
                      <a:endParaRPr sz="130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</a:rPr>
                        <a:t>Fecha de cierre</a:t>
                      </a:r>
                      <a:endParaRPr sz="130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Taller mecánico (ACTA-001)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Brandon Farith López Nanga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14/10/2026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29/09/2026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Planta embotelladora (ACTA-002)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Josefina Nieto Hernández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12/10/2026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02/10/2026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Taller de electrónica (ACTA-003)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Roberto Carlos Cahuare Moreno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11/10/2026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02/10/2026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1">
            <a:extLst>
              <a:ext uri="{FF2B5EF4-FFF2-40B4-BE49-F238E27FC236}">
                <a16:creationId xmlns:a16="http://schemas.microsoft.com/office/drawing/2014/main" id="{8568BC54-0B06-4AC0-AF1C-FD65C31D1FF2}"/>
              </a:ext>
            </a:extLst>
          </p:cNvPr>
          <p:cNvSpPr>
            <a:spLocks noGrp="1"/>
          </p:cNvSpPr>
          <p:nvPr/>
        </p:nvSpPr>
        <p:spPr>
          <a:xfrm>
            <a:off x="548640" y="3108960"/>
            <a:ext cx="10789920" cy="833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just">
              <a:buNone/>
            </a:pPr>
            <a:r>
              <a:rPr sz="1800">
                <a:latin typeface="Calibri"/>
                <a:ea typeface="Calibri"/>
                <a:cs typeface="Calibri"/>
              </a:rPr>
              <a:t>Las fechas límite provienen de las actas de inicio; las fechas de cierre, de los documentos de cierre de cada proyecto.</a:t>
            </a:r>
          </a:p>
        </p:txBody>
      </p:sp>
    </p:spTree>
    <p:extLst>
      <p:ext uri="{BB962C8B-B14F-4D97-AF65-F5344CB8AC3E}">
        <p14:creationId xmlns:p14="http://schemas.microsoft.com/office/powerpoint/2010/main" val="538522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6B3809-4174-4CAB-BFFA-F5522524B144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sz="4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Procedimiento para resolver los ejercicios</a:t>
            </a:r>
          </a:p>
        </p:txBody>
      </p:sp>
      <p:graphicFrame>
        <p:nvGraphicFramePr>
          <p:cNvPr id="5" name="Table 0"/>
          <p:cNvGraphicFramePr/>
          <p:nvPr/>
        </p:nvGraphicFramePr>
        <p:xfrm>
          <a:off x="563880" y="2162175"/>
          <a:ext cx="11064240" cy="201168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defTabSz="914400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Paso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Aplicación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1. Revisar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Consultar el acta, el plan y los entregables de cada proyecto.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2. Medir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Calcular los indicadores de alcance, tiempo y valor ganado.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3. Evaluar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Comparar los resultados con los criterios de éxito.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4. Registrar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Documentar las lecciones aprendidas y su evidencia.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5. Cerrar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Verificar el checklist y formalizar el documento de cierre.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383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DC4BEF-661C-47B5-A8ED-CD4534728158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sz="4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Ejercicio 1: criterios de éxito</a:t>
            </a:r>
          </a:p>
        </p:txBody>
      </p:sp>
      <p:graphicFrame>
        <p:nvGraphicFramePr>
          <p:cNvPr id="7" name="Table 0"/>
          <p:cNvGraphicFramePr/>
          <p:nvPr/>
        </p:nvGraphicFramePr>
        <p:xfrm>
          <a:off x="548640" y="1371600"/>
          <a:ext cx="11064240" cy="19354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Criterio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Pregunta de evaluación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Evidencia en el expediente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Alcance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¿Se entregaron todos los entregables del acta?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Lista de entregables del ACTA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Tiempo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¿Se cerró antes de la fecha límite?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Fecha de cierre contra PLAN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Calidad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¿Se probaron los escenarios definidos?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Pruebas y resultados documentados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Documentación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¿El expediente tiene manuales completos?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Manual técnico y de usuario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Aceptación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¿El PM aceptó formalmente los entregables?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Documento de cierre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8568BC54-0B06-4AC0-AF1C-FD65C31D1FF2}"/>
              </a:ext>
            </a:extLst>
          </p:cNvPr>
          <p:cNvSpPr>
            <a:spLocks noGrp="1"/>
          </p:cNvSpPr>
          <p:nvPr/>
        </p:nvSpPr>
        <p:spPr>
          <a:xfrm>
            <a:off x="548640" y="3749039"/>
            <a:ext cx="10789920" cy="833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just">
              <a:buNone/>
            </a:pPr>
            <a:r>
              <a:rPr sz="1800">
                <a:latin typeface="Calibri"/>
                <a:ea typeface="Calibri"/>
                <a:cs typeface="Calibri"/>
              </a:rPr>
              <a:t>Planteamiento: definir los criterios para decidir si un proyecto fue exitoso. Solución: un proyecto es exitoso cuando cumple los cinco criterios y cada uno cuenta con evidencia verificable.</a:t>
            </a:r>
          </a:p>
        </p:txBody>
      </p:sp>
    </p:spTree>
    <p:extLst>
      <p:ext uri="{BB962C8B-B14F-4D97-AF65-F5344CB8AC3E}">
        <p14:creationId xmlns:p14="http://schemas.microsoft.com/office/powerpoint/2010/main" val="1433228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FF25C0CF-575D-9E89-9096-9AACEF4706EB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sz="4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Ejercicio 2: medición del alcance</a:t>
            </a:r>
          </a:p>
        </p:txBody>
      </p:sp>
      <p:graphicFrame>
        <p:nvGraphicFramePr>
          <p:cNvPr id="15" name="Table 0"/>
          <p:cNvGraphicFramePr/>
          <p:nvPr/>
        </p:nvGraphicFramePr>
        <p:xfrm>
          <a:off x="548640" y="1371600"/>
          <a:ext cx="11064240" cy="134112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</a:rPr>
                        <a:t>Proyecto</a:t>
                      </a:r>
                      <a:endParaRPr sz="130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</a:rPr>
                        <a:t>Entregables planeados</a:t>
                      </a:r>
                      <a:endParaRPr sz="130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</a:rPr>
                        <a:t>Entregables aceptados</a:t>
                      </a:r>
                      <a:endParaRPr sz="130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</a:rPr>
                        <a:t>% de alcance</a:t>
                      </a:r>
                      <a:endParaRPr sz="130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Taller mecánico (Brandon)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100 %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Planta embotelladora (Josefina)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100 %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Taller de electrónica (Roberto)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100 %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1">
            <a:extLst>
              <a:ext uri="{FF2B5EF4-FFF2-40B4-BE49-F238E27FC236}">
                <a16:creationId xmlns:a16="http://schemas.microsoft.com/office/drawing/2014/main" id="{8568BC54-0B06-4AC0-AF1C-FD65C31D1FF2}"/>
              </a:ext>
            </a:extLst>
          </p:cNvPr>
          <p:cNvSpPr>
            <a:spLocks noGrp="1"/>
          </p:cNvSpPr>
          <p:nvPr/>
        </p:nvSpPr>
        <p:spPr>
          <a:xfrm>
            <a:off x="548640" y="3108960"/>
            <a:ext cx="10789920" cy="833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just">
              <a:buNone/>
            </a:pPr>
            <a:r>
              <a:rPr sz="1800">
                <a:latin typeface="Calibri"/>
                <a:ea typeface="Calibri"/>
                <a:cs typeface="Calibri"/>
              </a:rPr>
              <a:t>Fórmula: % de alcance = (entregables aceptados ÷ entregables planeados) × 100. Los entregables planeados son los seis registrados en cada acta de inicio. Ejemplo: 6 ÷ 6 × 100 = 100 %.</a:t>
            </a:r>
          </a:p>
        </p:txBody>
      </p:sp>
    </p:spTree>
    <p:extLst>
      <p:ext uri="{BB962C8B-B14F-4D97-AF65-F5344CB8AC3E}">
        <p14:creationId xmlns:p14="http://schemas.microsoft.com/office/powerpoint/2010/main" val="538522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A5000A7A-FD54-42FC-8900-E0AE2CF93C00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1144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2550" b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Evidencia de medición del alcance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69A1094-272D-4187-B19D-DC3B0C005035}"/>
              </a:ext>
            </a:extLst>
          </p:cNvPr>
          <p:cNvSpPr>
            <a:spLocks noGrp="1"/>
          </p:cNvSpPr>
          <p:nvPr/>
        </p:nvSpPr>
        <p:spPr>
          <a:xfrm>
            <a:off x="576262" y="438150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200" b="0">
                <a:solidFill>
                  <a:srgbClr val="1F1F1F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Brandon Farith López Nanga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0396B5F-ACBC-4FE2-958F-EFBFA59456ED}"/>
              </a:ext>
            </a:extLst>
          </p:cNvPr>
          <p:cNvSpPr>
            <a:spLocks noGrp="1"/>
          </p:cNvSpPr>
          <p:nvPr/>
        </p:nvSpPr>
        <p:spPr>
          <a:xfrm>
            <a:off x="4338637" y="438150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200" b="0">
                <a:solidFill>
                  <a:srgbClr val="1F1F1F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Josefina Nieto Hernández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E77DC81-6E7B-41BA-9B89-81158985D6D2}"/>
              </a:ext>
            </a:extLst>
          </p:cNvPr>
          <p:cNvSpPr>
            <a:spLocks noGrp="1"/>
          </p:cNvSpPr>
          <p:nvPr/>
        </p:nvSpPr>
        <p:spPr>
          <a:xfrm>
            <a:off x="8101012" y="438150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200" b="0">
                <a:solidFill>
                  <a:srgbClr val="1F1F1F"/>
                </a:solidFill>
                <a:latin typeface="Calibri"/>
                <a:ea typeface="Calibri"/>
                <a:cs typeface="Calibri"/>
              </a:defRPr>
            </a:pPr>
            <a:r>
              <a:rPr sz="1600" b="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Roberto Carlos </a:t>
            </a:r>
            <a:r>
              <a:rPr sz="1600" b="0" dirty="0" err="1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Cahuare</a:t>
            </a:r>
            <a:r>
              <a:rPr sz="1600" b="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 Moreno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8EF5BAE-90DE-ECA0-22A1-1F7EE0CEA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637" y="2006580"/>
            <a:ext cx="3391999" cy="1908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98810E1-BE25-AAD7-01A5-9AFC63C1D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2006580"/>
            <a:ext cx="3391999" cy="190799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B2644F7-F381-70F1-83C8-E98338E5FD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524" y="2006580"/>
            <a:ext cx="3392000" cy="19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99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6E0BBE-9BE1-41D3-86E3-0571F9AD8F8B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sz="4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Ejercicio 3: medición del tiempo</a:t>
            </a:r>
          </a:p>
        </p:txBody>
      </p:sp>
      <p:graphicFrame>
        <p:nvGraphicFramePr>
          <p:cNvPr id="10" name="Tabla 5"/>
          <p:cNvGraphicFramePr/>
          <p:nvPr/>
        </p:nvGraphicFramePr>
        <p:xfrm>
          <a:off x="548640" y="1381125"/>
          <a:ext cx="11064240" cy="13411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Proyecto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Inicio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Fecha límite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Cierre real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Variación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Brandon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20/08/2026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14/10/2026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29/09/2026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−15 días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Josefina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17/08/2026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12/10/2026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02/10/2026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−10 días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Roberto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17/08/2026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11/10/2026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02/10/2026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−9 días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1">
            <a:extLst>
              <a:ext uri="{FF2B5EF4-FFF2-40B4-BE49-F238E27FC236}">
                <a16:creationId xmlns:a16="http://schemas.microsoft.com/office/drawing/2014/main" id="{8568BC54-0B06-4AC0-AF1C-FD65C31D1FF2}"/>
              </a:ext>
            </a:extLst>
          </p:cNvPr>
          <p:cNvSpPr>
            <a:spLocks noGrp="1"/>
          </p:cNvSpPr>
          <p:nvPr/>
        </p:nvSpPr>
        <p:spPr>
          <a:xfrm>
            <a:off x="548640" y="3108960"/>
            <a:ext cx="10789920" cy="833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just">
              <a:buNone/>
            </a:pPr>
            <a:r>
              <a:rPr sz="1800">
                <a:latin typeface="Calibri"/>
                <a:ea typeface="Calibri"/>
                <a:cs typeface="Calibri"/>
              </a:rPr>
              <a:t>Fórmula: variación = cierre real − fecha límite. Un valor negativo indica que el proyecto cerró antes de lo planeado. Tiempo utilizado: Brandon, 41 de 56 días (73 %); Josefina, 47 de 57 (82 %); Roberto, 47 de 56 (84 %).</a:t>
            </a:r>
          </a:p>
        </p:txBody>
      </p:sp>
    </p:spTree>
    <p:extLst>
      <p:ext uri="{BB962C8B-B14F-4D97-AF65-F5344CB8AC3E}">
        <p14:creationId xmlns:p14="http://schemas.microsoft.com/office/powerpoint/2010/main" val="1711957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A06293E-7E8E-414E-B9FA-F28A6813A10F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sz="4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Ejercicio 4: valor ganado (planteamiento)</a:t>
            </a:r>
          </a:p>
        </p:txBody>
      </p:sp>
      <p:graphicFrame>
        <p:nvGraphicFramePr>
          <p:cNvPr id="11" name="Table 0"/>
          <p:cNvGraphicFramePr/>
          <p:nvPr/>
        </p:nvGraphicFramePr>
        <p:xfrm>
          <a:off x="548640" y="1371600"/>
          <a:ext cx="11064240" cy="225552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Dato</a:t>
                      </a:r>
                      <a:endParaRPr sz="180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Valor</a:t>
                      </a:r>
                      <a:endParaRPr sz="180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Proyecto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Planta embotelladora (Josefina)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Fecha de corte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27/09/2026, fin de la semana 6 de 8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Presupuesto total (BAC)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80 horas (10 horas por semana)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Valor planeado (PV)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60 horas (6 de 8 semanas)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Valor ganado (EV)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40 horas (50 % del trabajo terminado)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Costo real (AC)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48 horas trabajadas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1">
            <a:extLst>
              <a:ext uri="{FF2B5EF4-FFF2-40B4-BE49-F238E27FC236}">
                <a16:creationId xmlns:a16="http://schemas.microsoft.com/office/drawing/2014/main" id="{8568BC54-0B06-4AC0-AF1C-FD65C31D1FF2}"/>
              </a:ext>
            </a:extLst>
          </p:cNvPr>
          <p:cNvSpPr>
            <a:spLocks noGrp="1"/>
          </p:cNvSpPr>
          <p:nvPr/>
        </p:nvSpPr>
        <p:spPr>
          <a:xfrm>
            <a:off x="548640" y="4069080"/>
            <a:ext cx="10789920" cy="833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just">
              <a:buNone/>
            </a:pPr>
            <a:r>
              <a:rPr sz="1800">
                <a:latin typeface="Calibri"/>
                <a:ea typeface="Calibri"/>
                <a:cs typeface="Calibri"/>
              </a:rPr>
              <a:t>Calcular SV, CV, SPI, CPI, EAC y VAC. Las horas son datos supuestos para el ejercicio, basados en el retraso registrado en la bitácora el 22/09/2026.</a:t>
            </a:r>
          </a:p>
        </p:txBody>
      </p:sp>
    </p:spTree>
    <p:extLst>
      <p:ext uri="{BB962C8B-B14F-4D97-AF65-F5344CB8AC3E}">
        <p14:creationId xmlns:p14="http://schemas.microsoft.com/office/powerpoint/2010/main" val="1365556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DC4BEF-661C-47B5-A8ED-CD4534728158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sz="4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Ejercicio 4: valor ganado (solución)</a:t>
            </a:r>
          </a:p>
        </p:txBody>
      </p:sp>
      <p:graphicFrame>
        <p:nvGraphicFramePr>
          <p:cNvPr id="7" name="Table 0"/>
          <p:cNvGraphicFramePr/>
          <p:nvPr/>
        </p:nvGraphicFramePr>
        <p:xfrm>
          <a:off x="548640" y="1371600"/>
          <a:ext cx="11064240" cy="225552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Indicador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Fórmula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Resultado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SV (variación del cronograma)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EV − PV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40 − 60 = −20 h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CV (variación del costo)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EV − AC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40 − 48 = −8 h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SPI (índice del cronograma)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EV ÷ PV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40 ÷ 60 = 0.67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CPI (índice del costo)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EV ÷ AC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40 ÷ 48 = 0.83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EAC (estimación al concluir)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BAC ÷ CPI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80 ÷ 0.83 = 96 h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VAC (variación al concluir)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BAC − EAC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80 − 96 = −16 h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8568BC54-0B06-4AC0-AF1C-FD65C31D1FF2}"/>
              </a:ext>
            </a:extLst>
          </p:cNvPr>
          <p:cNvSpPr>
            <a:spLocks noGrp="1"/>
          </p:cNvSpPr>
          <p:nvPr/>
        </p:nvSpPr>
        <p:spPr>
          <a:xfrm>
            <a:off x="548640" y="4069080"/>
            <a:ext cx="10789920" cy="833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just">
              <a:buNone/>
            </a:pPr>
            <a:r>
              <a:rPr sz="1800">
                <a:latin typeface="Calibri"/>
                <a:ea typeface="Calibri"/>
                <a:cs typeface="Calibri"/>
              </a:rPr>
              <a:t>Interpretación: al corte, el proyecto iba atrasado (SPI &lt; 1) y consumía más horas de las planeadas (CPI &lt; 1). Debían recuperarse 20 horas de trabajo para regresar al plan.</a:t>
            </a:r>
          </a:p>
        </p:txBody>
      </p:sp>
    </p:spTree>
    <p:extLst>
      <p:ext uri="{BB962C8B-B14F-4D97-AF65-F5344CB8AC3E}">
        <p14:creationId xmlns:p14="http://schemas.microsoft.com/office/powerpoint/2010/main" val="1433228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DC4BEF-661C-47B5-A8ED-CD4534728158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sz="4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Ejercicio 5: interpretación de índices</a:t>
            </a:r>
          </a:p>
        </p:txBody>
      </p:sp>
      <p:graphicFrame>
        <p:nvGraphicFramePr>
          <p:cNvPr id="7" name="Table 0"/>
          <p:cNvGraphicFramePr/>
          <p:nvPr/>
        </p:nvGraphicFramePr>
        <p:xfrm>
          <a:off x="548640" y="1371600"/>
          <a:ext cx="11064240" cy="16154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Caso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Interpretación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Acción recomendada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SPI = 1.10 y CPI = 1.05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Adelantado y bajo presupuesto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Mantener el plan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SPI = 0.80 y CPI = 1.00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Atrasado; costo según lo planeado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Reprogramar o reforzar recursos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SPI = 1.00 y CPI = 0.75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En tiempo, pero sobre presupuesto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Revisar el uso de horas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SPI = 0.67 y CPI = 0.83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Atrasado y sobre presupuesto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Seguimiento semanal y plan de recuperación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8568BC54-0B06-4AC0-AF1C-FD65C31D1FF2}"/>
              </a:ext>
            </a:extLst>
          </p:cNvPr>
          <p:cNvSpPr>
            <a:spLocks noGrp="1"/>
          </p:cNvSpPr>
          <p:nvPr/>
        </p:nvSpPr>
        <p:spPr>
          <a:xfrm>
            <a:off x="548640" y="3520440"/>
            <a:ext cx="10789920" cy="833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just">
              <a:buNone/>
            </a:pPr>
            <a:r>
              <a:rPr sz="1800">
                <a:latin typeface="Calibri"/>
                <a:ea typeface="Calibri"/>
                <a:cs typeface="Calibri"/>
              </a:rPr>
              <a:t>Regla: un índice mayor o igual a 1 es favorable; un índice menor que 1 indica atraso (SPI) o sobrecosto (CPI).</a:t>
            </a:r>
          </a:p>
        </p:txBody>
      </p:sp>
    </p:spTree>
    <p:extLst>
      <p:ext uri="{BB962C8B-B14F-4D97-AF65-F5344CB8AC3E}">
        <p14:creationId xmlns:p14="http://schemas.microsoft.com/office/powerpoint/2010/main" val="1433228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7D87BA-2935-58C8-5BFD-9ED9ABDCFB4F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sz="4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Ejercicio 6: registro de lecciones aprendidas</a:t>
            </a:r>
          </a:p>
        </p:txBody>
      </p:sp>
      <p:graphicFrame>
        <p:nvGraphicFramePr>
          <p:cNvPr id="7" name="Table 0"/>
          <p:cNvGraphicFramePr/>
          <p:nvPr/>
        </p:nvGraphicFramePr>
        <p:xfrm>
          <a:off x="548640" y="1371600"/>
          <a:ext cx="11064240" cy="26974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Situación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Causa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Impacto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Recomendación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Josefina sin avance (22/09)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Situaciones familiares de salud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/>
                        <a:t>Retraso; se emitió MEM-001</a:t>
                      </a:r>
                      <a:endParaRPr sz="160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Prever holgura y un plan de contingencia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Documentación de Roberto pendiente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Evidencias entregadas al final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/>
                        <a:t>Se emitió MEM-002</a:t>
                      </a:r>
                      <a:endParaRPr sz="160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Solicitar evidencias cada semana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Parámetros sin definir al inicio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Datos de entrada incompletos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/>
                        <a:t>Bloqueo en semanas 1 y 2</a:t>
                      </a:r>
                      <a:endParaRPr sz="160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Definir parámetros antes de aprobar el plan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Proyectos ajenos en Jira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Tablero sin depurar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/>
                        <a:t>Información mezclada</a:t>
                      </a:r>
                      <a:endParaRPr sz="160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Depurar el tablero al iniciar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Brandon cerró primero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Entregas constantes y completas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/>
                        <a:t>Cierre 15 días antes</a:t>
                      </a:r>
                      <a:endParaRPr sz="160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Mantener entregas parciales verificables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37229C96-B652-04B7-29EC-3172F5EF1383}"/>
              </a:ext>
            </a:extLst>
          </p:cNvPr>
          <p:cNvSpPr>
            <a:spLocks noGrp="1"/>
          </p:cNvSpPr>
          <p:nvPr/>
        </p:nvSpPr>
        <p:spPr>
          <a:xfrm>
            <a:off x="685800" y="4480560"/>
            <a:ext cx="1078992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  <a:defRPr sz="1725">
                <a:latin typeface="Calibri"/>
                <a:ea typeface="Calibri"/>
                <a:cs typeface="Calibri"/>
              </a:defRPr>
            </a:pPr>
            <a:r>
              <a:rPr sz="1800" b="1">
                <a:latin typeface="Calibri"/>
                <a:ea typeface="Calibri"/>
                <a:cs typeface="Calibri"/>
              </a:rPr>
              <a:t>Cada lección se redacta con la estructura situación → causa → impacto → recomendación.</a:t>
            </a:r>
          </a:p>
        </p:txBody>
      </p:sp>
    </p:spTree>
    <p:extLst>
      <p:ext uri="{BB962C8B-B14F-4D97-AF65-F5344CB8AC3E}">
        <p14:creationId xmlns:p14="http://schemas.microsoft.com/office/powerpoint/2010/main" val="3645736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3657C6A-5968-4AFC-9ADC-AECDDCBEC7ED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1144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2550" b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Memorándum de Josefina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142B568-0CB4-4791-B292-0612A9402DBE}"/>
              </a:ext>
            </a:extLst>
          </p:cNvPr>
          <p:cNvSpPr>
            <a:spLocks noGrp="1"/>
          </p:cNvSpPr>
          <p:nvPr/>
        </p:nvSpPr>
        <p:spPr>
          <a:xfrm>
            <a:off x="3409950" y="4838698"/>
            <a:ext cx="5905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 lnSpcReduction="20000"/>
          </a:bodyPr>
          <a:lstStyle/>
          <a:p>
            <a:pPr algn="ctr">
              <a:buNone/>
              <a:defRPr sz="1200" b="0">
                <a:solidFill>
                  <a:srgbClr val="1F1F1F"/>
                </a:solidFill>
                <a:latin typeface="Calibri"/>
                <a:ea typeface="Calibri"/>
                <a:cs typeface="Calibri"/>
              </a:defRPr>
            </a:pPr>
            <a:r>
              <a:rPr sz="1600" b="0" dirty="0" err="1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Solicitud</a:t>
            </a:r>
            <a:r>
              <a:rPr sz="1600" b="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 de carta </a:t>
            </a:r>
            <a:r>
              <a:rPr sz="1600" b="0" dirty="0" err="1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motivo</a:t>
            </a:r>
            <a:r>
              <a:rPr sz="1600" b="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600" b="0" dirty="0" err="1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seguimiento</a:t>
            </a:r>
            <a:r>
              <a:rPr sz="1600" b="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 del </a:t>
            </a:r>
            <a:r>
              <a:rPr sz="1600" b="0" dirty="0" err="1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avance</a:t>
            </a:r>
            <a:r>
              <a:rPr sz="1600" b="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 del </a:t>
            </a:r>
            <a:r>
              <a:rPr sz="1600" b="0" dirty="0" err="1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proyecto</a:t>
            </a:r>
            <a:endParaRPr sz="1600" b="0" dirty="0">
              <a:solidFill>
                <a:srgbClr val="1F1F1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BB91736-349A-386A-4211-F04C97E64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2733" y="1343024"/>
            <a:ext cx="5706533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205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BFEBEAE-3004-F70F-1F9C-F26CECA5367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2550" b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lang="es-MX" sz="2550" b="1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Justificacion</a:t>
            </a:r>
            <a:r>
              <a:rPr sz="255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Josefina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9A8359F-3701-8EBB-1EA4-A09801FF5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1552575"/>
            <a:ext cx="6265333" cy="352425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2775124-4F87-9596-5D3F-EDAD9C9857A0}"/>
              </a:ext>
            </a:extLst>
          </p:cNvPr>
          <p:cNvSpPr txBox="1"/>
          <p:nvPr/>
        </p:nvSpPr>
        <p:spPr>
          <a:xfrm>
            <a:off x="3284008" y="521234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200" b="0">
                <a:solidFill>
                  <a:srgbClr val="1F1F1F"/>
                </a:solidFill>
                <a:latin typeface="Calibri"/>
                <a:ea typeface="Calibri"/>
                <a:cs typeface="Calibri"/>
              </a:defRPr>
            </a:pPr>
            <a:r>
              <a:rPr lang="es-MX" sz="1600" b="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 carta motivo </a:t>
            </a:r>
          </a:p>
        </p:txBody>
      </p:sp>
    </p:spTree>
    <p:extLst>
      <p:ext uri="{BB962C8B-B14F-4D97-AF65-F5344CB8AC3E}">
        <p14:creationId xmlns:p14="http://schemas.microsoft.com/office/powerpoint/2010/main" val="286974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DC4BEF-661C-47B5-A8ED-CD4534728158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sz="4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Ejercicio 7: clasificación de lecciones</a:t>
            </a:r>
          </a:p>
        </p:txBody>
      </p:sp>
      <p:graphicFrame>
        <p:nvGraphicFramePr>
          <p:cNvPr id="7" name="Table 0"/>
          <p:cNvGraphicFramePr/>
          <p:nvPr/>
        </p:nvGraphicFramePr>
        <p:xfrm>
          <a:off x="548640" y="1371600"/>
          <a:ext cx="11064240" cy="1935480"/>
        </p:xfrm>
        <a:graphic>
          <a:graphicData uri="http://schemas.openxmlformats.org/drawingml/2006/table">
            <a:tbl>
              <a:tblPr/>
              <a:tblGrid>
                <a:gridCol w="521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Lección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Tipo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Valoración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Parámetros sin definir al inicio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Planeación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Negativa: prevenir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Evidencias de Roberto entregadas al final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Seguimiento y control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Negativa: prevenir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Memorándums para documentar retrasos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Comunicación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Positiva: repetir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Entregas constantes de Brandon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Calidad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Positiva: repetir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Proyectos ajenos en el tablero de Jira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Herramientas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Negativa: prevenir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8568BC54-0B06-4AC0-AF1C-FD65C31D1FF2}"/>
              </a:ext>
            </a:extLst>
          </p:cNvPr>
          <p:cNvSpPr>
            <a:spLocks noGrp="1"/>
          </p:cNvSpPr>
          <p:nvPr/>
        </p:nvSpPr>
        <p:spPr>
          <a:xfrm>
            <a:off x="548640" y="3886200"/>
            <a:ext cx="10789920" cy="833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just">
              <a:buNone/>
            </a:pPr>
            <a:r>
              <a:rPr sz="1800">
                <a:latin typeface="Calibri"/>
                <a:ea typeface="Calibri"/>
                <a:cs typeface="Calibri"/>
              </a:rPr>
              <a:t>Una lección positiva describe una práctica que debe repetirse; una negativa, una situación que debe prevenirse en proyectos futuros.</a:t>
            </a:r>
          </a:p>
        </p:txBody>
      </p:sp>
    </p:spTree>
    <p:extLst>
      <p:ext uri="{BB962C8B-B14F-4D97-AF65-F5344CB8AC3E}">
        <p14:creationId xmlns:p14="http://schemas.microsoft.com/office/powerpoint/2010/main" val="1433228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4299507-269D-4B15-B54E-9E10EBFB8189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1144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2550" b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Memorándum de Roberto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51CB07D-C00A-41BA-9D9E-0E840B270C6C}"/>
              </a:ext>
            </a:extLst>
          </p:cNvPr>
          <p:cNvSpPr>
            <a:spLocks noGrp="1"/>
          </p:cNvSpPr>
          <p:nvPr/>
        </p:nvSpPr>
        <p:spPr>
          <a:xfrm>
            <a:off x="3143250" y="5276850"/>
            <a:ext cx="5905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 lnSpcReduction="20000"/>
          </a:bodyPr>
          <a:lstStyle/>
          <a:p>
            <a:pPr algn="ctr">
              <a:buNone/>
              <a:defRPr sz="1200" b="0">
                <a:solidFill>
                  <a:srgbClr val="1F1F1F"/>
                </a:solidFill>
                <a:latin typeface="Calibri"/>
                <a:ea typeface="Calibri"/>
                <a:cs typeface="Calibri"/>
              </a:defRPr>
            </a:pPr>
            <a:r>
              <a:rPr sz="1600" b="0" dirty="0" err="1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Memorándum</a:t>
            </a:r>
            <a:r>
              <a:rPr sz="1600" b="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dirty="0" err="1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firmado</a:t>
            </a:r>
            <a:r>
              <a:rPr sz="1600" b="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sz="1600" b="0" dirty="0" err="1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documentar</a:t>
            </a:r>
            <a:r>
              <a:rPr sz="1600" b="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 el </a:t>
            </a:r>
            <a:r>
              <a:rPr sz="1600" b="0" dirty="0" err="1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seguimiento</a:t>
            </a:r>
            <a:r>
              <a:rPr sz="1600" b="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 del </a:t>
            </a:r>
            <a:r>
              <a:rPr sz="1600" b="0" dirty="0" err="1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proyecto</a:t>
            </a:r>
            <a:endParaRPr sz="1600" b="0" dirty="0">
              <a:solidFill>
                <a:srgbClr val="1F1F1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54A5CC3-95AA-9CEC-8F3E-E35244040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33475"/>
            <a:ext cx="7112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765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DC4BEF-661C-47B5-A8ED-CD4534728158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sz="4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Ejercicio 8: tipos de cierre</a:t>
            </a:r>
          </a:p>
        </p:txBody>
      </p:sp>
      <p:graphicFrame>
        <p:nvGraphicFramePr>
          <p:cNvPr id="7" name="Table 0"/>
          <p:cNvGraphicFramePr/>
          <p:nvPr/>
        </p:nvGraphicFramePr>
        <p:xfrm>
          <a:off x="548640" y="1371600"/>
          <a:ext cx="11064240" cy="1935480"/>
        </p:xfrm>
        <a:graphic>
          <a:graphicData uri="http://schemas.openxmlformats.org/drawingml/2006/table">
            <a:tbl>
              <a:tblPr/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Caso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Tipo de cierre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Justificación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Taller mecánico: entregables aceptados el 29/09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Normal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Cumplió el alcance antes de la fecha límite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Planta embotelladora: cierre tras la carta motivo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Normal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Recuperó el avance y cumplió el alcance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Se reduce el alcance para terminar antes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Prematuro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Termina sin completar lo planeado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Se agregan cambios y nunca se entrega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Perpetuo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No se alcanza un punto de cierre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El sistema no funciona y se abandona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Fallido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No cumple sus objetivos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8568BC54-0B06-4AC0-AF1C-FD65C31D1FF2}"/>
              </a:ext>
            </a:extLst>
          </p:cNvPr>
          <p:cNvSpPr>
            <a:spLocks noGrp="1"/>
          </p:cNvSpPr>
          <p:nvPr/>
        </p:nvSpPr>
        <p:spPr>
          <a:xfrm>
            <a:off x="548640" y="3931920"/>
            <a:ext cx="10789920" cy="833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just">
              <a:buNone/>
            </a:pPr>
            <a:r>
              <a:rPr sz="1800">
                <a:latin typeface="Calibri"/>
                <a:ea typeface="Calibri"/>
                <a:cs typeface="Calibri"/>
              </a:rPr>
              <a:t>Planteamiento: identificar el tipo de cierre de cada caso. El cierre normal ocurre cuando el proyecto termina con su alcance cumplido y aceptado.</a:t>
            </a:r>
          </a:p>
        </p:txBody>
      </p:sp>
    </p:spTree>
    <p:extLst>
      <p:ext uri="{BB962C8B-B14F-4D97-AF65-F5344CB8AC3E}">
        <p14:creationId xmlns:p14="http://schemas.microsoft.com/office/powerpoint/2010/main" val="1433228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6E0BBE-9BE1-41D3-86E3-0571F9AD8F8B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sz="4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Ejercicio 9: checklist de cierre</a:t>
            </a:r>
          </a:p>
        </p:txBody>
      </p:sp>
      <p:graphicFrame>
        <p:nvGraphicFramePr>
          <p:cNvPr id="5" name="Tabla 5"/>
          <p:cNvGraphicFramePr/>
          <p:nvPr/>
        </p:nvGraphicFramePr>
        <p:xfrm>
          <a:off x="548640" y="1381125"/>
          <a:ext cx="11064240" cy="22555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Actividad de cierre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Brandon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Josefina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Roberto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Evidencia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Entregables verificados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Expediente del proyecto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Pruebas documentadas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Capturas y resultados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Manuales entregados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Manual técnico y de usuario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Incidencias documentadas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No aplica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MEM-001 y carta motivo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MEM-002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Memorándums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Documento de cierre elaborado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Documento Word de cierre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Lecciones registradas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</a:rPr>
                        <a:t>Ejercicio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1957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1724E07-6866-462B-B965-056FD798C7F2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1144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2550" b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Documentos de cierre de los tres proyectos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19E46A3-B886-42AC-BAEC-63B196AB3FE4}"/>
              </a:ext>
            </a:extLst>
          </p:cNvPr>
          <p:cNvSpPr>
            <a:spLocks noGrp="1"/>
          </p:cNvSpPr>
          <p:nvPr/>
        </p:nvSpPr>
        <p:spPr>
          <a:xfrm>
            <a:off x="904875" y="4410075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algn="ctr">
              <a:defRPr sz="1200" b="0">
                <a:solidFill>
                  <a:srgbClr val="1F1F1F"/>
                </a:solidFill>
                <a:latin typeface="Calibri"/>
                <a:ea typeface="Calibri"/>
                <a:cs typeface="Calibri"/>
              </a:defRPr>
            </a:pPr>
            <a:r>
              <a:rPr lang="es-MX" sz="160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ACTA-001  |  PLAN-001</a:t>
            </a:r>
            <a:r>
              <a:rPr sz="160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 | </a:t>
            </a:r>
            <a:r>
              <a:rPr sz="1600" b="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Brandon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A067C08-192E-4A2C-8672-47268E8E6056}"/>
              </a:ext>
            </a:extLst>
          </p:cNvPr>
          <p:cNvSpPr>
            <a:spLocks noGrp="1"/>
          </p:cNvSpPr>
          <p:nvPr/>
        </p:nvSpPr>
        <p:spPr>
          <a:xfrm>
            <a:off x="4667250" y="4410075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s-MX" sz="160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ACTA-002  |  PLAN-002</a:t>
            </a:r>
            <a:r>
              <a:rPr sz="160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 | Josefina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726F7A2-75DF-481D-9955-0EA3161F00BD}"/>
              </a:ext>
            </a:extLst>
          </p:cNvPr>
          <p:cNvSpPr>
            <a:spLocks noGrp="1"/>
          </p:cNvSpPr>
          <p:nvPr/>
        </p:nvSpPr>
        <p:spPr>
          <a:xfrm>
            <a:off x="8429625" y="4410075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algn="ctr"/>
            <a:r>
              <a:rPr lang="es-MX" sz="160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ACTA-003  |  PLAN-003</a:t>
            </a:r>
            <a:r>
              <a:rPr sz="160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 | Roberto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8712572-8BA5-BF0F-E448-B42759CCF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39" y="2352675"/>
            <a:ext cx="3392000" cy="1908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D4E2082-2B16-C4BE-F28E-EA4BD36F54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503" y="2352675"/>
            <a:ext cx="3392000" cy="1908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1E10368-9331-5FAD-24F4-66331894F3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2375" y="2352675"/>
            <a:ext cx="3392000" cy="19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195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A06293E-7E8E-414E-B9FA-F28A6813A10F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sz="4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Ejercicio 10: elementos del acta de cierre</a:t>
            </a:r>
          </a:p>
        </p:txBody>
      </p:sp>
      <p:graphicFrame>
        <p:nvGraphicFramePr>
          <p:cNvPr id="5" name="Table 0"/>
          <p:cNvGraphicFramePr/>
          <p:nvPr/>
        </p:nvGraphicFramePr>
        <p:xfrm>
          <a:off x="548640" y="1371600"/>
          <a:ext cx="11064240" cy="22555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Elemento</a:t>
                      </a:r>
                      <a:endParaRPr sz="180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Contenido (ejemplo: taller mecánico)</a:t>
                      </a:r>
                      <a:endParaRPr sz="180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Datos generales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Proyecto, ejecutor, Project Manager, ACTA-001 y PLAN-001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Fechas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Inicio 20/08/2026, límite 14/10/2026 y cierre 29/09/2026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Entregables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Modelos BPMN, programa integrador y manuales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Criterios cumplidos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Alcance, tiempo, calidad, documentación y aceptación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Pendientes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Ninguno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Aceptación y firmas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Project Manager y persona ejecutora</a:t>
                      </a:r>
                      <a:endParaRPr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55564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DC4BEF-661C-47B5-A8ED-CD4534728158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sz="4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Ejercicio 11: opción múltiple</a:t>
            </a:r>
          </a:p>
        </p:txBody>
      </p:sp>
      <p:graphicFrame>
        <p:nvGraphicFramePr>
          <p:cNvPr id="7" name="Table 0"/>
          <p:cNvGraphicFramePr/>
          <p:nvPr/>
        </p:nvGraphicFramePr>
        <p:xfrm>
          <a:off x="548640" y="1371600"/>
          <a:ext cx="11064240" cy="207264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Pregunta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Opciones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Respuesta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¿Qué indica un SPI de 0.67?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a) Adelanto  b) Atraso  c) Ahorro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b) Atraso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¿Qué documento formaliza la aceptación?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a) Acta de inicio  b) Plan  c) Documento de cierre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c) Documento de cierre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¿Cuándo se registran las lecciones?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a) Solo al final  b) Durante todo el proyecto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b) Durante todo el proyecto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¿Con qué fórmula se calcula el CV?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a) EV − AC  b) EV − PV  c) AC − PV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a) EV − AC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¿Qué se compara para medir el alcance?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a) Horas  b) Entregables aceptados y planeados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b) Entregables aceptados y planeados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8568BC54-0B06-4AC0-AF1C-FD65C31D1FF2}"/>
              </a:ext>
            </a:extLst>
          </p:cNvPr>
          <p:cNvSpPr>
            <a:spLocks noGrp="1"/>
          </p:cNvSpPr>
          <p:nvPr/>
        </p:nvSpPr>
        <p:spPr>
          <a:xfrm>
            <a:off x="548640" y="3886200"/>
            <a:ext cx="10789920" cy="833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just">
              <a:buNone/>
            </a:pPr>
            <a:r>
              <a:rPr sz="1800">
                <a:latin typeface="Calibri"/>
                <a:ea typeface="Calibri"/>
                <a:cs typeface="Calibri"/>
              </a:rPr>
              <a:t>Planteamiento: elegir la opción correcta de cada pregunta. La columna Respuesta contiene la solución.</a:t>
            </a:r>
          </a:p>
        </p:txBody>
      </p:sp>
    </p:spTree>
    <p:extLst>
      <p:ext uri="{BB962C8B-B14F-4D97-AF65-F5344CB8AC3E}">
        <p14:creationId xmlns:p14="http://schemas.microsoft.com/office/powerpoint/2010/main" val="1433228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DC4BEF-661C-47B5-A8ED-CD4534728158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sz="4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Ejercicio 12: verdadero o falso</a:t>
            </a:r>
          </a:p>
        </p:txBody>
      </p:sp>
      <p:graphicFrame>
        <p:nvGraphicFramePr>
          <p:cNvPr id="7" name="Table 0"/>
          <p:cNvGraphicFramePr/>
          <p:nvPr/>
        </p:nvGraphicFramePr>
        <p:xfrm>
          <a:off x="548640" y="1371600"/>
          <a:ext cx="11064240" cy="1935480"/>
        </p:xfrm>
        <a:graphic>
          <a:graphicData uri="http://schemas.openxmlformats.org/drawingml/2006/table">
            <a:tbl>
              <a:tblPr/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Enunciado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V/F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Justificación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Un proyecto puede cerrarse sin la aceptación del cliente.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F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El cierre requiere aceptación formal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Cerrar antes de la fecha límite da una variación negativa.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V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Cierre real − fecha límite &lt; 0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Un CPI mayor que 1 indica sobrecosto.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F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Indica que se gasta menos de lo planeado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Las lecciones aprendidas solo registran errores.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F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También registran buenas prácticas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Los manuales forman parte de la documentación final.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V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Permiten operar y mantener el producto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8568BC54-0B06-4AC0-AF1C-FD65C31D1FF2}"/>
              </a:ext>
            </a:extLst>
          </p:cNvPr>
          <p:cNvSpPr>
            <a:spLocks noGrp="1"/>
          </p:cNvSpPr>
          <p:nvPr/>
        </p:nvSpPr>
        <p:spPr>
          <a:xfrm>
            <a:off x="548640" y="3886200"/>
            <a:ext cx="10789920" cy="833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just">
              <a:buNone/>
            </a:pPr>
            <a:r>
              <a:rPr sz="1800">
                <a:latin typeface="Calibri"/>
                <a:ea typeface="Calibri"/>
                <a:cs typeface="Calibri"/>
              </a:rPr>
              <a:t>Planteamiento: indicar si cada enunciado es verdadero (V) o falso (F) y justificar la respuesta.</a:t>
            </a:r>
          </a:p>
        </p:txBody>
      </p:sp>
    </p:spTree>
    <p:extLst>
      <p:ext uri="{BB962C8B-B14F-4D97-AF65-F5344CB8AC3E}">
        <p14:creationId xmlns:p14="http://schemas.microsoft.com/office/powerpoint/2010/main" val="1433228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970D000-1743-4DD1-AB70-F8B5D5A035D6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sz="4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Evidencias del expediente de cierre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64B296-CBF0-4E4B-BD46-5D80BBEAF14D}"/>
              </a:ext>
            </a:extLst>
          </p:cNvPr>
          <p:cNvSpPr>
            <a:spLocks noGrp="1"/>
          </p:cNvSpPr>
          <p:nvPr/>
        </p:nvSpPr>
        <p:spPr>
          <a:xfrm>
            <a:off x="457200" y="1285875"/>
            <a:ext cx="3429000" cy="685800"/>
          </a:xfrm>
          <a:prstGeom prst="rect">
            <a:avLst/>
          </a:prstGeom>
          <a:noFill/>
        </p:spPr>
        <p:txBody>
          <a:bodyPr wrap="square" anchor="ctr">
            <a:normAutofit fontScale="98202"/>
          </a:bodyPr>
          <a:lstStyle/>
          <a:p>
            <a:pPr marL="0" indent="0" algn="l">
              <a:buNone/>
              <a:defRPr sz="1500">
                <a:latin typeface="Calibri"/>
                <a:ea typeface="Calibri"/>
                <a:cs typeface="Calibri"/>
              </a:defRPr>
            </a:pPr>
            <a:r>
              <a:rPr sz="1500" b="1">
                <a:latin typeface="Calibri"/>
                <a:ea typeface="Calibri"/>
                <a:cs typeface="Calibri"/>
              </a:rPr>
              <a:t>TALLER MECÁNICO</a:t>
            </a:r>
            <a:endParaRPr sz="1500"/>
          </a:p>
          <a:p>
            <a:pPr marL="0" indent="0" algn="l">
              <a:buNone/>
              <a:defRPr sz="1500">
                <a:latin typeface="Calibri"/>
                <a:ea typeface="Calibri"/>
                <a:cs typeface="Calibri"/>
              </a:defRPr>
            </a:pPr>
            <a:r>
              <a:rPr sz="1500" b="1">
                <a:latin typeface="Calibri"/>
                <a:ea typeface="Calibri"/>
                <a:cs typeface="Calibri"/>
              </a:rPr>
              <a:t>Diagrama del proceso — Brandon</a:t>
            </a:r>
            <a:endParaRPr sz="15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5B19311-5F79-4393-B952-9EC4134C86BB}"/>
              </a:ext>
            </a:extLst>
          </p:cNvPr>
          <p:cNvSpPr>
            <a:spLocks noGrp="1"/>
          </p:cNvSpPr>
          <p:nvPr/>
        </p:nvSpPr>
        <p:spPr>
          <a:xfrm>
            <a:off x="4381500" y="1285875"/>
            <a:ext cx="3429000" cy="685800"/>
          </a:xfrm>
          <a:prstGeom prst="rect">
            <a:avLst/>
          </a:prstGeom>
          <a:noFill/>
        </p:spPr>
        <p:txBody>
          <a:bodyPr wrap="square" anchor="ctr">
            <a:normAutofit fontScale="94167"/>
          </a:bodyPr>
          <a:lstStyle/>
          <a:p>
            <a:pPr marL="0" indent="0" algn="l">
              <a:buNone/>
              <a:defRPr sz="1500">
                <a:latin typeface="Calibri"/>
                <a:ea typeface="Calibri"/>
                <a:cs typeface="Calibri"/>
              </a:defRPr>
            </a:pPr>
            <a:r>
              <a:rPr sz="1500" b="1">
                <a:latin typeface="Calibri"/>
                <a:ea typeface="Calibri"/>
                <a:cs typeface="Calibri"/>
              </a:rPr>
              <a:t>PLANTA EMBOTELLADORA</a:t>
            </a:r>
            <a:endParaRPr sz="1500"/>
          </a:p>
          <a:p>
            <a:pPr marL="0" indent="0" algn="l">
              <a:buNone/>
              <a:defRPr sz="1500">
                <a:latin typeface="Calibri"/>
                <a:ea typeface="Calibri"/>
                <a:cs typeface="Calibri"/>
              </a:defRPr>
            </a:pPr>
            <a:r>
              <a:rPr sz="1500" b="1">
                <a:latin typeface="Calibri"/>
                <a:ea typeface="Calibri"/>
                <a:cs typeface="Calibri"/>
              </a:rPr>
              <a:t>Modelo de la planta — Josefina</a:t>
            </a:r>
            <a:endParaRPr sz="1500"/>
          </a:p>
        </p:txBody>
      </p:sp>
      <p:sp>
        <p:nvSpPr>
          <p:cNvPr id="9" name="monday-label">
            <a:extLst>
              <a:ext uri="{FF2B5EF4-FFF2-40B4-BE49-F238E27FC236}">
                <a16:creationId xmlns:a16="http://schemas.microsoft.com/office/drawing/2014/main" id="{273DB006-0CD7-45CF-A9F1-846A26CC8190}"/>
              </a:ext>
            </a:extLst>
          </p:cNvPr>
          <p:cNvSpPr>
            <a:spLocks noGrp="1"/>
          </p:cNvSpPr>
          <p:nvPr/>
        </p:nvSpPr>
        <p:spPr>
          <a:xfrm>
            <a:off x="8305800" y="1285875"/>
            <a:ext cx="342900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TALLER DE ELECTRÓNICA</a:t>
            </a:r>
          </a:p>
          <a:p>
            <a:pPr algn="l">
              <a:buNone/>
              <a:defRPr sz="1425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Diagrama del taller — Roberto</a:t>
            </a:r>
          </a:p>
        </p:txBody>
      </p:sp>
      <p:sp>
        <p:nvSpPr>
          <p:cNvPr id="11" name="evidence-note">
            <a:extLst>
              <a:ext uri="{FF2B5EF4-FFF2-40B4-BE49-F238E27FC236}">
                <a16:creationId xmlns:a16="http://schemas.microsoft.com/office/drawing/2014/main" id="{19800156-38A0-4140-9871-545978B9AFAA}"/>
              </a:ext>
            </a:extLst>
          </p:cNvPr>
          <p:cNvSpPr>
            <a:spLocks noGrp="1"/>
          </p:cNvSpPr>
          <p:nvPr/>
        </p:nvSpPr>
        <p:spPr>
          <a:xfrm>
            <a:off x="548640" y="4892040"/>
            <a:ext cx="11064240" cy="1000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Las evidencias forman parte del expediente revisado antes de elaborar el documento de cierre de cada proyecto.</a:t>
            </a:r>
          </a:p>
        </p:txBody>
      </p:sp>
      <p:pic>
        <p:nvPicPr>
          <p:cNvPr id="20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95500"/>
            <a:ext cx="3429000" cy="1331081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21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8631" y="2095500"/>
            <a:ext cx="1834737" cy="27432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22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800" y="2095500"/>
            <a:ext cx="3429000" cy="1302006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  <p:extLst>
      <p:ext uri="{BB962C8B-B14F-4D97-AF65-F5344CB8AC3E}">
        <p14:creationId xmlns:p14="http://schemas.microsoft.com/office/powerpoint/2010/main" val="17100870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C8FE2481-E8A0-4016-958F-B12303AC22AA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1144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2550" b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Evidencias en Jira y Trello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397496"/>
            <a:ext cx="5191125" cy="2920008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34125" y="1397496"/>
            <a:ext cx="5191125" cy="2920008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4763E74D-F4AF-4A2F-99CE-F83DA3DA4D30}"/>
              </a:ext>
            </a:extLst>
          </p:cNvPr>
          <p:cNvSpPr>
            <a:spLocks noGrp="1"/>
          </p:cNvSpPr>
          <p:nvPr/>
        </p:nvSpPr>
        <p:spPr>
          <a:xfrm>
            <a:off x="809625" y="4552950"/>
            <a:ext cx="4905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200" b="0">
                <a:solidFill>
                  <a:srgbClr val="1F1F1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Jira: seguimiento de actividades y estados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28CE00C-54AC-4CFD-B216-167A690EC805}"/>
              </a:ext>
            </a:extLst>
          </p:cNvPr>
          <p:cNvSpPr>
            <a:spLocks noGrp="1"/>
          </p:cNvSpPr>
          <p:nvPr/>
        </p:nvSpPr>
        <p:spPr>
          <a:xfrm>
            <a:off x="6477000" y="4552950"/>
            <a:ext cx="4905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200" b="0">
                <a:solidFill>
                  <a:srgbClr val="1F1F1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Trello: organización de tareas y evidencias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60167D6-53D9-42F4-BD3A-28A4297F3FFB}"/>
              </a:ext>
            </a:extLst>
          </p:cNvPr>
          <p:cNvSpPr>
            <a:spLocks noGrp="1"/>
          </p:cNvSpPr>
          <p:nvPr/>
        </p:nvSpPr>
        <p:spPr>
          <a:xfrm>
            <a:off x="1428750" y="5286375"/>
            <a:ext cx="9334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500" b="0">
                <a:solidFill>
                  <a:srgbClr val="1F1F1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Las capturas registran el avance y respaldan la bitácora de seguimiento utilizada durante el cierre.</a:t>
            </a:r>
          </a:p>
        </p:txBody>
      </p:sp>
    </p:spTree>
    <p:extLst>
      <p:ext uri="{BB962C8B-B14F-4D97-AF65-F5344CB8AC3E}">
        <p14:creationId xmlns:p14="http://schemas.microsoft.com/office/powerpoint/2010/main" val="12801168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7D87BA-2935-58C8-5BFD-9ED9ABDCFB4F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sz="4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Bitácora de evaluación y cierre</a:t>
            </a:r>
          </a:p>
        </p:txBody>
      </p:sp>
      <p:graphicFrame>
        <p:nvGraphicFramePr>
          <p:cNvPr id="7" name="Table 0"/>
          <p:cNvGraphicFramePr/>
          <p:nvPr/>
        </p:nvGraphicFramePr>
        <p:xfrm>
          <a:off x="548640" y="1371600"/>
          <a:ext cx="11064240" cy="22555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Fecha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Actividad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Proyecto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Resultado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22/09/2026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Respuesta sobre el retraso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/>
                        <a:t>Josefina</a:t>
                      </a:r>
                      <a:endParaRPr sz="160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Sin avance; seguimiento ajustado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29/09/2026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Revisión de entregables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/>
                        <a:t>Brandon</a:t>
                      </a:r>
                      <a:endParaRPr sz="160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Proyecto cerrado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01/10/2026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Emisión de memorándums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/>
                        <a:t>Josefina y Roberto</a:t>
                      </a:r>
                      <a:endParaRPr sz="160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MEM-001 y MEM-002 enviados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02/10/2026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Recepción de carta motivo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/>
                        <a:t>Josefina</a:t>
                      </a:r>
                      <a:endParaRPr sz="160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Justificación incorporada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02/10/2026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Revisión de entregables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/>
                        <a:t>Josefina y Roberto</a:t>
                      </a:r>
                      <a:endParaRPr sz="160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Proyectos cerrados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03/10/2026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Banco de ejercicios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/>
                        <a:t>Rafael Aquino</a:t>
                      </a:r>
                      <a:endParaRPr sz="160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Actividad 6.3 elaborada</a:t>
                      </a:r>
                    </a:p>
                  </a:txBody>
                  <a:tcPr anchor="ctr">
                    <a:lnL w="9525" cmpd="sng">
                      <a:solidFill>
                        <a:srgbClr val="B4C7E7"/>
                      </a:solidFill>
                      <a:prstDash val="solid"/>
                    </a:lnL>
                    <a:lnR w="9525" cmpd="sng">
                      <a:solidFill>
                        <a:srgbClr val="B4C7E7"/>
                      </a:solidFill>
                      <a:prstDash val="solid"/>
                    </a:lnR>
                    <a:lnT w="9525" cmpd="sng">
                      <a:solidFill>
                        <a:srgbClr val="B4C7E7"/>
                      </a:solidFill>
                      <a:prstDash val="solid"/>
                    </a:lnT>
                    <a:lnB w="9525" cmpd="sng">
                      <a:solidFill>
                        <a:srgbClr val="B4C7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37229C96-B652-04B7-29EC-3172F5EF1383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1078992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  <a:defRPr sz="1725">
                <a:latin typeface="Calibri"/>
                <a:ea typeface="Calibri"/>
                <a:cs typeface="Calibri"/>
              </a:defRPr>
            </a:pPr>
            <a:r>
              <a:rPr sz="1725" b="1">
                <a:latin typeface="Calibri"/>
                <a:ea typeface="Calibri"/>
                <a:cs typeface="Calibri"/>
              </a:rPr>
              <a:t>La bitácora registra la fecha, la actividad y el resultado obtenido durante la etapa de evaluación y cierre.</a:t>
            </a:r>
          </a:p>
        </p:txBody>
      </p:sp>
    </p:spTree>
    <p:extLst>
      <p:ext uri="{BB962C8B-B14F-4D97-AF65-F5344CB8AC3E}">
        <p14:creationId xmlns:p14="http://schemas.microsoft.com/office/powerpoint/2010/main" val="36457360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E9F252-B2E7-48A5-B042-4A2B595AF273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sz="4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Resultados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09AAE70-67EF-EC26-D467-3C587661F73C}"/>
              </a:ext>
            </a:extLst>
          </p:cNvPr>
          <p:cNvSpPr>
            <a:spLocks noGrp="1"/>
          </p:cNvSpPr>
          <p:nvPr/>
        </p:nvSpPr>
        <p:spPr>
          <a:xfrm>
            <a:off x="1106906" y="1640320"/>
            <a:ext cx="10122568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  <a:defRPr sz="1875">
                <a:solidFill>
                  <a:srgbClr val="262626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Se resolvieron 12 ejercicios con datos de los proyectos de Brandon, Josefina y Roberto.</a:t>
            </a:r>
          </a:p>
          <a:p>
            <a:pPr algn="just">
              <a:buNone/>
              <a:defRPr sz="1875">
                <a:solidFill>
                  <a:srgbClr val="262626"/>
                </a:solidFill>
                <a:latin typeface="Calibri"/>
                <a:ea typeface="Calibri"/>
                <a:cs typeface="Calibri"/>
              </a:defRPr>
            </a:pPr>
            <a:endParaRPr sz="1875">
              <a:solidFill>
                <a:srgbClr val="262626"/>
              </a:solidFill>
              <a:latin typeface="Calibri"/>
              <a:ea typeface="Calibri"/>
              <a:cs typeface="Calibri"/>
            </a:endParaRPr>
          </a:p>
          <a:p>
            <a:pPr algn="just">
              <a:buNone/>
              <a:defRPr sz="1875">
                <a:solidFill>
                  <a:srgbClr val="262626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Los tres proyectos alcanzaron el 100 % de sus entregables y cerraron antes de su fecha límite: Brandon con 15 días de anticipación, Josefina con 10 y Roberto con 9.</a:t>
            </a:r>
          </a:p>
          <a:p>
            <a:pPr algn="just">
              <a:buNone/>
              <a:defRPr sz="1875">
                <a:solidFill>
                  <a:srgbClr val="262626"/>
                </a:solidFill>
                <a:latin typeface="Calibri"/>
                <a:ea typeface="Calibri"/>
                <a:cs typeface="Calibri"/>
              </a:defRPr>
            </a:pPr>
            <a:endParaRPr sz="1875">
              <a:solidFill>
                <a:srgbClr val="262626"/>
              </a:solidFill>
              <a:latin typeface="Calibri"/>
              <a:ea typeface="Calibri"/>
              <a:cs typeface="Calibri"/>
            </a:endParaRPr>
          </a:p>
          <a:p>
            <a:pPr algn="just">
              <a:buNone/>
              <a:defRPr sz="1875">
                <a:solidFill>
                  <a:srgbClr val="262626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El ejercicio de valor ganado mostró cómo detectar a tiempo un atraso (SPI = 0.67) y un sobrecosto (CPI = 0.83) para preparar un plan de recuperación.</a:t>
            </a:r>
          </a:p>
          <a:p>
            <a:pPr algn="just">
              <a:buNone/>
              <a:defRPr sz="1875">
                <a:solidFill>
                  <a:srgbClr val="262626"/>
                </a:solidFill>
                <a:latin typeface="Calibri"/>
                <a:ea typeface="Calibri"/>
                <a:cs typeface="Calibri"/>
              </a:defRPr>
            </a:pPr>
            <a:endParaRPr sz="1875">
              <a:solidFill>
                <a:srgbClr val="262626"/>
              </a:solidFill>
              <a:latin typeface="Calibri"/>
              <a:ea typeface="Calibri"/>
              <a:cs typeface="Calibri"/>
            </a:endParaRPr>
          </a:p>
          <a:p>
            <a:pPr algn="just">
              <a:buNone/>
              <a:defRPr sz="1875">
                <a:solidFill>
                  <a:srgbClr val="262626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Se registraron y clasificaron cinco lecciones aprendidas, y se verificó el checklist de cierre de cada proyecto con su evidencia.</a:t>
            </a:r>
          </a:p>
        </p:txBody>
      </p:sp>
    </p:spTree>
    <p:extLst>
      <p:ext uri="{BB962C8B-B14F-4D97-AF65-F5344CB8AC3E}">
        <p14:creationId xmlns:p14="http://schemas.microsoft.com/office/powerpoint/2010/main" val="1427083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29FFF8F-234A-44EB-88E7-616E34617780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sz="4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Conclusión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D1A5B2-B22B-4941-967F-4D6920368D93}"/>
              </a:ext>
            </a:extLst>
          </p:cNvPr>
          <p:cNvSpPr>
            <a:spLocks noGrp="1"/>
          </p:cNvSpPr>
          <p:nvPr/>
        </p:nvSpPr>
        <p:spPr>
          <a:xfrm>
            <a:off x="777240" y="1417320"/>
            <a:ext cx="10607040" cy="4937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2400"/>
              <a:t>La evaluación y el cierre permiten comprobar con datos si un proyecto cumplió lo planeado. Los indicadores de alcance, tiempo y valor ganado convierten el avance en cifras fáciles de interpretar.</a:t>
            </a:r>
          </a:p>
          <a:p>
            <a:r>
              <a:rPr sz="2400"/>
              <a:t>Las lecciones aprendidas mostraron que definir los datos de entrada desde el inicio, solicitar evidencias cada semana y documentar los retrasos con memorándums facilita la toma de decisiones.</a:t>
            </a:r>
          </a:p>
          <a:p>
            <a:r>
              <a:rPr sz="2400"/>
              <a:t>El aprendizaje principal es que un proyecto queda cerrado solo cuando sus entregables están verificados, su documentación está completa y su aceptación queda registrada en un documento formal.</a:t>
            </a:r>
          </a:p>
        </p:txBody>
      </p:sp>
    </p:spTree>
    <p:extLst>
      <p:ext uri="{BB962C8B-B14F-4D97-AF65-F5344CB8AC3E}">
        <p14:creationId xmlns:p14="http://schemas.microsoft.com/office/powerpoint/2010/main" val="1727205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BE37EBB-77CC-42FD-9B3F-E9DC0496D3E4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sz="4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Fuentes de información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472179-0AD0-47F8-B00F-681410DC636E}"/>
              </a:ext>
            </a:extLst>
          </p:cNvPr>
          <p:cNvSpPr>
            <a:spLocks noGrp="1"/>
          </p:cNvSpPr>
          <p:nvPr/>
        </p:nvSpPr>
        <p:spPr>
          <a:xfrm>
            <a:off x="777240" y="1417320"/>
            <a:ext cx="10607040" cy="4937760"/>
          </a:xfrm>
          <a:prstGeom prst="rect">
            <a:avLst/>
          </a:prstGeom>
          <a:noFill/>
        </p:spPr>
        <p:txBody>
          <a:bodyPr wrap="square" anchor="t"/>
          <a:lstStyle/>
          <a:p>
            <a:endParaRPr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6CACA15-3599-4380-7F3F-C3E7536CBDBC}"/>
              </a:ext>
            </a:extLst>
          </p:cNvPr>
          <p:cNvSpPr>
            <a:spLocks noGrp="1"/>
          </p:cNvSpPr>
          <p:nvPr/>
        </p:nvSpPr>
        <p:spPr>
          <a:xfrm>
            <a:off x="1143000" y="1417320"/>
            <a:ext cx="1046988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/>
              <a:buChar char="Ø"/>
            </a:pPr>
            <a:r>
              <a:rPr lang="es-MX" dirty="0"/>
              <a:t>Aquino Villanueva, R. (2026). GPTI [Repositorio de GitHub]. https://github.com/rafaelrav8770/GPTI</a:t>
            </a:r>
          </a:p>
          <a:p>
            <a:pPr marL="342900" indent="-342900">
              <a:spcAft>
                <a:spcPts val="600"/>
              </a:spcAft>
              <a:buFont typeface="Wingdings"/>
              <a:buChar char="Ø"/>
            </a:pPr>
            <a:r>
              <a:rPr lang="es-MX" dirty="0"/>
              <a:t>Aziz, E. E. (2015). Project closing: The small process group with big impact. PMI Global Congress 2015—EMEA, Londres, Inglaterra. Project Management Institute. https://www.pmi.org/learning/library/importance-of-closing-process-group-9949</a:t>
            </a:r>
          </a:p>
          <a:p>
            <a:pPr marL="342900" indent="-342900">
              <a:spcAft>
                <a:spcPts val="600"/>
              </a:spcAft>
              <a:buFont typeface="Wingdings"/>
              <a:buChar char="Ø"/>
            </a:pPr>
            <a:r>
              <a:rPr lang="es-MX" dirty="0"/>
              <a:t>Grant, L. A. (2009). Lessons learned: Do it early, do it often. PMI Global Congress 2009, Orlando, FL. Project Management Institute. https://www.pmi.org/learning/library/lessons-learned-early-often-6746</a:t>
            </a:r>
          </a:p>
          <a:p>
            <a:pPr marL="342900" indent="-342900">
              <a:spcAft>
                <a:spcPts val="600"/>
              </a:spcAft>
              <a:buFont typeface="Wingdings"/>
              <a:buChar char="Ø"/>
            </a:pPr>
            <a:r>
              <a:rPr lang="es-MX" dirty="0"/>
              <a:t>Martin, P. K., y Tate, K. (2000). The forgotten phase. PM Network, 14(2), 29. https://www.pmi.org/learning/library/forgotten-phase-close-out-3142</a:t>
            </a:r>
          </a:p>
          <a:p>
            <a:pPr marL="342900" indent="-342900">
              <a:spcAft>
                <a:spcPts val="600"/>
              </a:spcAft>
              <a:buFont typeface="Wingdings"/>
              <a:buChar char="Ø"/>
            </a:pPr>
            <a:r>
              <a:rPr lang="es-MX" dirty="0"/>
              <a:t>Project Management Institute. (2021). A guide to the project management body of knowledge (PMBOK® Guide) (7.ª ed.). Project Management Institute. https://www.pmi.org/standards/pmbok</a:t>
            </a:r>
          </a:p>
          <a:p>
            <a:pPr marL="342900" indent="-342900">
              <a:spcAft>
                <a:spcPts val="600"/>
              </a:spcAft>
              <a:buFont typeface="Wingdings"/>
              <a:buChar char="Ø"/>
            </a:pPr>
            <a:r>
              <a:rPr lang="es-MX" dirty="0"/>
              <a:t>Reichel, C. W. (2006). Earned value management systems (EVMS): "You too can do earned value management". PMI Global Congress 2006—North America, Seattle, WA. Project Management Institute. https://www.pmi.org/learning/library/earned-value-management-systems-analysis-8026</a:t>
            </a:r>
          </a:p>
          <a:p>
            <a:pPr marL="342900" indent="-342900">
              <a:spcAft>
                <a:spcPts val="600"/>
              </a:spcAft>
              <a:buFont typeface="Wingdings"/>
              <a:buChar char="Ø"/>
            </a:pPr>
            <a:r>
              <a:rPr lang="es-MX" dirty="0"/>
              <a:t>Schwalbe, K. (2019). Information technology project management (9.ª ed.). Cengage Learning. https://www.cengage.com/c/information-technology-project-management-9e-schwalbe/9781337101356/</a:t>
            </a:r>
          </a:p>
        </p:txBody>
      </p:sp>
    </p:spTree>
    <p:extLst>
      <p:ext uri="{BB962C8B-B14F-4D97-AF65-F5344CB8AC3E}">
        <p14:creationId xmlns:p14="http://schemas.microsoft.com/office/powerpoint/2010/main" val="41809827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6CE6B53-BAC9-4FD6-A3C1-4373298EB63A}">
  <we:reference id="wa200010001" version="1.0.0.1" store="es-ES" storeType="OMEX"/>
  <we:alternateReferences>
    <we:reference id="WA200010001" version="1.0.0.1" store="" storeType="OMEX"/>
  </we:alternateReferences>
  <we:properties>
    <we:property name="claude.fileId" value="&quot;5bdc8fad-4576-4619-ab20-0997aacc3b8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2487</Words>
  <Application>Microsoft Office PowerPoint</Application>
  <DocSecurity>0</DocSecurity>
  <PresentationFormat>Panorámica</PresentationFormat>
  <Paragraphs>417</Paragraphs>
  <Slides>31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Wingdings</vt:lpstr>
      <vt:lpstr>Tema de Office</vt:lpstr>
      <vt:lpstr>Tema de Office</vt:lpstr>
      <vt:lpstr>Presentación de PowerPoint</vt:lpstr>
      <vt:lpstr>Presentación de PowerPoint</vt:lpstr>
      <vt:lpstr>Objetivo</vt:lpstr>
      <vt:lpstr>Justificación</vt:lpstr>
      <vt:lpstr>Alcance de la práctica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Justificacion de Josefina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rafael aquino villanueva</cp:lastModifiedBy>
  <cp:revision>6</cp:revision>
  <dcterms:created xsi:type="dcterms:W3CDTF">2026-10-03T13:19:55Z</dcterms:created>
  <dcterms:modified xsi:type="dcterms:W3CDTF">2026-10-04T00:14:45Z</dcterms:modified>
</cp:coreProperties>
</file>