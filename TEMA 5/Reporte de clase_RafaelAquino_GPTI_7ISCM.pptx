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1" r:id="rId4"/>
    <p:sldId id="275" r:id="rId5"/>
    <p:sldId id="274" r:id="rId6"/>
    <p:sldId id="276" r:id="rId7"/>
    <p:sldId id="265" r:id="rId8"/>
    <p:sldId id="278" r:id="rId9"/>
    <p:sldId id="279" r:id="rId10"/>
    <p:sldId id="280" r:id="rId11"/>
    <p:sldId id="281"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D587B1-E8B2-E0E6-4BCB-AA966F8A980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07798309-5347-5A91-CF8F-A5D0F7C107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4877AE3-16B6-37B7-15C3-DD34F417FE9E}"/>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5" name="Marcador de pie de página 4">
            <a:extLst>
              <a:ext uri="{FF2B5EF4-FFF2-40B4-BE49-F238E27FC236}">
                <a16:creationId xmlns:a16="http://schemas.microsoft.com/office/drawing/2014/main" id="{38FD9C29-9B06-4C83-C31A-6B3E2D40A2F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5CCEDB9-38B7-8285-ADE9-3A2F1572E064}"/>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389188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4BA7B9-8D46-8859-3683-03B9DE1B5E5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27FD966-D241-D911-1D3A-C6A8E89B30D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89C63C6-31C0-6ED6-FED4-2B1DB852C007}"/>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5" name="Marcador de pie de página 4">
            <a:extLst>
              <a:ext uri="{FF2B5EF4-FFF2-40B4-BE49-F238E27FC236}">
                <a16:creationId xmlns:a16="http://schemas.microsoft.com/office/drawing/2014/main" id="{1341673A-4E14-1177-4132-E2CBB0B77E5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010F26C-CC65-BAAC-8C56-20C4BC41AF78}"/>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447315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53FC4D-7CCE-91CC-13DD-0F3752AAF35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00CD2C0-3CDD-0301-13CE-F5A2C2BFAE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61E491B-CC68-24B6-3FA3-1C9DDDEAD120}"/>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5" name="Marcador de pie de página 4">
            <a:extLst>
              <a:ext uri="{FF2B5EF4-FFF2-40B4-BE49-F238E27FC236}">
                <a16:creationId xmlns:a16="http://schemas.microsoft.com/office/drawing/2014/main" id="{6C4CA235-F889-2B2A-2298-25E5C44779E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E70F911-14CA-AAFD-E3CF-C44E5E56C760}"/>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1860531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2E6684-C59F-5E59-01AF-9ED3FD975C8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0E60845-63CD-5BDD-CF9B-147F36F4B8E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600F5661-2239-D0FC-FF14-93BA529B7B5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56B9749-C929-7370-54B4-2BB952F04E3D}"/>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6" name="Marcador de pie de página 5">
            <a:extLst>
              <a:ext uri="{FF2B5EF4-FFF2-40B4-BE49-F238E27FC236}">
                <a16:creationId xmlns:a16="http://schemas.microsoft.com/office/drawing/2014/main" id="{6FBB17D0-1B67-0846-756E-1DAE2733D71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8B16819-4ACF-B99E-D308-E8B4FAB1863A}"/>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4167834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CBF35C-4E20-F5A8-DA9B-C50BB4CDAD3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3073374-2A69-D1C0-8D54-B5113D2596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0EAB82B-4446-D60E-D6F2-8B614B8F6B3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58D0633-9C35-F6B6-EC2D-195F7A6937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C82BD21-D5BC-5C46-9EE2-D2EB877D665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0F40C72B-1F88-F538-5549-BFB8418BFE0F}"/>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8" name="Marcador de pie de página 7">
            <a:extLst>
              <a:ext uri="{FF2B5EF4-FFF2-40B4-BE49-F238E27FC236}">
                <a16:creationId xmlns:a16="http://schemas.microsoft.com/office/drawing/2014/main" id="{71CC47FD-02E7-1546-EDF0-18F378280039}"/>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C0F541D-7E91-618E-EAB2-F79A4ED601DE}"/>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673870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A93FBC-8641-B96B-D5A4-6A04BDC2375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DFC748F-9FF5-AEA3-711E-44CA4E93CCD8}"/>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4" name="Marcador de pie de página 3">
            <a:extLst>
              <a:ext uri="{FF2B5EF4-FFF2-40B4-BE49-F238E27FC236}">
                <a16:creationId xmlns:a16="http://schemas.microsoft.com/office/drawing/2014/main" id="{0E21DB35-359E-BD00-1C60-B1DC5817B78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75A7812-C5DF-6D26-A937-5568FAA6D761}"/>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3039146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B21E301-2DB0-AC3E-BB75-B0D926FE8440}"/>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3" name="Marcador de pie de página 2">
            <a:extLst>
              <a:ext uri="{FF2B5EF4-FFF2-40B4-BE49-F238E27FC236}">
                <a16:creationId xmlns:a16="http://schemas.microsoft.com/office/drawing/2014/main" id="{DBD0E40D-13A4-9D29-BCA8-6498777E35C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D926BE2C-C3C8-BF9B-CB3E-2190ADC8EE8E}"/>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3451003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1EEFE-72F4-A571-94AA-101E6709DD1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9B4A3CF-309D-7CDA-CF48-1743C2CD48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0B0A0F7-D799-4842-A466-B57A504CA0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BDCE7E7-3315-13FB-27C5-7A324EEF9CDF}"/>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6" name="Marcador de pie de página 5">
            <a:extLst>
              <a:ext uri="{FF2B5EF4-FFF2-40B4-BE49-F238E27FC236}">
                <a16:creationId xmlns:a16="http://schemas.microsoft.com/office/drawing/2014/main" id="{EDB7804C-A082-5A29-F87F-56B699FDA90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53362E6-A5E2-E5CD-E26B-2D1BBDC5844F}"/>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4021349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77B9B6-DDC5-2B8F-479E-54B6E3F3B90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002F7306-A6E0-E6BB-4CC9-41B263EFD7B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51A5F01F-5864-D1D5-4D7E-B02436D99C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A53A96C-9827-22F0-99F6-14A1252F49BD}"/>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6" name="Marcador de pie de página 5">
            <a:extLst>
              <a:ext uri="{FF2B5EF4-FFF2-40B4-BE49-F238E27FC236}">
                <a16:creationId xmlns:a16="http://schemas.microsoft.com/office/drawing/2014/main" id="{28845603-BFFA-13D7-4C8B-8BD7FB97094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25E61ED-C1D6-0CC5-8B61-D17222DB69ED}"/>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1961426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DA9892-DF41-3058-31D3-585900FB8BF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DFF871E-B3F7-E962-D7C5-44CCE900D79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2F4BA53-9285-21C2-177E-0EB80F1979FE}"/>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5" name="Marcador de pie de página 4">
            <a:extLst>
              <a:ext uri="{FF2B5EF4-FFF2-40B4-BE49-F238E27FC236}">
                <a16:creationId xmlns:a16="http://schemas.microsoft.com/office/drawing/2014/main" id="{A416FC6B-2E37-A654-216E-B143C5D293B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8F8E198-50C0-E4E7-8C0B-907F89D93FD3}"/>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1909769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8278E6B-E0D7-9828-0AC5-037BF2AA171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EAEB23C-A470-6DEE-07A2-890373CD19C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9825CCB-E7FE-7089-9669-033F79127732}"/>
              </a:ext>
            </a:extLst>
          </p:cNvPr>
          <p:cNvSpPr>
            <a:spLocks noGrp="1"/>
          </p:cNvSpPr>
          <p:nvPr>
            <p:ph type="dt" sz="half" idx="10"/>
          </p:nvPr>
        </p:nvSpPr>
        <p:spPr/>
        <p:txBody>
          <a:bodyPr/>
          <a:lstStyle/>
          <a:p>
            <a:fld id="{BCF5BCF2-6BF6-49EF-B414-14803346D0E9}" type="datetimeFigureOut">
              <a:rPr lang="es-MX" smtClean="0"/>
              <a:t>27/09/2026</a:t>
            </a:fld>
            <a:endParaRPr lang="es-MX"/>
          </a:p>
        </p:txBody>
      </p:sp>
      <p:sp>
        <p:nvSpPr>
          <p:cNvPr id="5" name="Marcador de pie de página 4">
            <a:extLst>
              <a:ext uri="{FF2B5EF4-FFF2-40B4-BE49-F238E27FC236}">
                <a16:creationId xmlns:a16="http://schemas.microsoft.com/office/drawing/2014/main" id="{F437C3BE-B995-64A5-561E-8A1FEE6175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06549CB-4CA1-A8E6-B5D4-A652FF71FD53}"/>
              </a:ext>
            </a:extLst>
          </p:cNvPr>
          <p:cNvSpPr>
            <a:spLocks noGrp="1"/>
          </p:cNvSpPr>
          <p:nvPr>
            <p:ph type="sldNum" sz="quarter" idx="12"/>
          </p:nvPr>
        </p:nvSpPr>
        <p:spPr/>
        <p:txBody>
          <a:bodyPr/>
          <a:lstStyle/>
          <a:p>
            <a:fld id="{60C4AAFF-D68F-4121-8B3B-074E95E74DF2}" type="slidenum">
              <a:rPr lang="es-MX" smtClean="0"/>
              <a:t>‹Nº›</a:t>
            </a:fld>
            <a:endParaRPr lang="es-MX"/>
          </a:p>
        </p:txBody>
      </p:sp>
    </p:spTree>
    <p:extLst>
      <p:ext uri="{BB962C8B-B14F-4D97-AF65-F5344CB8AC3E}">
        <p14:creationId xmlns:p14="http://schemas.microsoft.com/office/powerpoint/2010/main" val="318975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8BA0DC1-407E-F17A-E95E-F69EC0F4C1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DE2139F-9CA6-F381-823B-E0D2696BAF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0F8B6BB-64DC-4999-9C48-6C04B2E38C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F5BCF2-6BF6-49EF-B414-14803346D0E9}" type="datetimeFigureOut">
              <a:rPr lang="es-MX" smtClean="0"/>
              <a:t>27/09/2026</a:t>
            </a:fld>
            <a:endParaRPr lang="es-MX"/>
          </a:p>
        </p:txBody>
      </p:sp>
      <p:sp>
        <p:nvSpPr>
          <p:cNvPr id="5" name="Marcador de pie de página 4">
            <a:extLst>
              <a:ext uri="{FF2B5EF4-FFF2-40B4-BE49-F238E27FC236}">
                <a16:creationId xmlns:a16="http://schemas.microsoft.com/office/drawing/2014/main" id="{BE11D0EF-08A5-2204-0C6A-02908B5F3C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AF4B61F1-41A5-3F55-7188-C22837C340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C4AAFF-D68F-4121-8B3B-074E95E74DF2}" type="slidenum">
              <a:rPr lang="es-MX" smtClean="0"/>
              <a:t>‹Nº›</a:t>
            </a:fld>
            <a:endParaRPr lang="es-MX"/>
          </a:p>
        </p:txBody>
      </p:sp>
    </p:spTree>
    <p:extLst>
      <p:ext uri="{BB962C8B-B14F-4D97-AF65-F5344CB8AC3E}">
        <p14:creationId xmlns:p14="http://schemas.microsoft.com/office/powerpoint/2010/main" val="1667016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noProof="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noProof="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a:t>
            </a:r>
            <a:r>
              <a:rPr lang="es-MX" sz="1800" b="1" kern="0" noProof="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s-MX" sz="1800" b="1" kern="0" noProof="0" dirty="0">
                <a:effectLst/>
                <a:latin typeface="Arial" panose="020B0604020202020204" pitchFamily="34" charset="0"/>
                <a:ea typeface="Arial" panose="020B0604020202020204" pitchFamily="34" charset="0"/>
                <a:cs typeface="Arial" panose="020B0604020202020204" pitchFamily="34" charset="0"/>
              </a:rPr>
              <a:t>”</a:t>
            </a:r>
            <a:endParaRPr lang="es-MX" sz="18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777329"/>
          </a:xfrm>
          <a:prstGeom prst="rect">
            <a:avLst/>
          </a:prstGeom>
          <a:noFill/>
        </p:spPr>
        <p:txBody>
          <a:bodyPr wrap="square">
            <a:spAutoFit/>
          </a:bodyPr>
          <a:lstStyle/>
          <a:p>
            <a:pPr algn="ctr">
              <a:lnSpc>
                <a:spcPct val="100000"/>
              </a:lnSpc>
              <a:spcAft>
                <a:spcPts val="800"/>
              </a:spcAft>
              <a:buNone/>
            </a:pPr>
            <a:r>
              <a:rPr lang="es-MX" b="1" kern="0" noProof="0" dirty="0">
                <a:latin typeface="Arial" panose="020B0604020202020204" pitchFamily="34" charset="0"/>
                <a:cs typeface="Arial" panose="020B0604020202020204" pitchFamily="34" charset="0"/>
              </a:rPr>
              <a:t>GESTION DE PROYECTOS DE TI</a:t>
            </a:r>
          </a:p>
          <a:p>
            <a:pPr algn="ctr">
              <a:lnSpc>
                <a:spcPct val="107000"/>
              </a:lnSpc>
              <a:spcAft>
                <a:spcPts val="800"/>
              </a:spcAft>
              <a:buNone/>
            </a:pPr>
            <a:r>
              <a:rPr lang="es-MX" sz="2000" b="1" kern="0" noProof="0" dirty="0">
                <a:latin typeface="Arial" panose="020B0604020202020204" pitchFamily="34" charset="0"/>
                <a:ea typeface="Calibri" panose="020F0502020204030204" pitchFamily="34" charset="0"/>
                <a:cs typeface="Arial" panose="020B0604020202020204" pitchFamily="34" charset="0"/>
              </a:rPr>
              <a:t>REPORTE DE CLASE</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711012793"/>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SEMESTRE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SEPTIMO</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NOMBRE DEL ALUMNO</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MATRICULA</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Rafael Aquino Villanueva</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231260073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 </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 </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s-MX" sz="1600" b="1" kern="0" noProof="0" dirty="0">
                <a:latin typeface="Arial" panose="020B0604020202020204" pitchFamily="34" charset="0"/>
                <a:ea typeface="Calibri" panose="020F0502020204030204" pitchFamily="34" charset="0"/>
                <a:cs typeface="Arial" panose="020B0604020202020204" pitchFamily="34" charset="0"/>
              </a:rPr>
              <a:t>ingeniero</a:t>
            </a:r>
            <a:endParaRPr lang="es-MX" sz="18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noProof="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noProof="0" dirty="0">
                <a:latin typeface="Arial" panose="020B0604020202020204" pitchFamily="34" charset="0"/>
                <a:ea typeface="Times New Roman" panose="02020603050405020304" pitchFamily="18" charset="0"/>
                <a:cs typeface="Arial" panose="020B0604020202020204" pitchFamily="34" charset="0"/>
              </a:rPr>
              <a:t>27 DE SEPTIEMBRE DE 2026, </a:t>
            </a:r>
            <a:r>
              <a:rPr lang="es-MX" sz="1800" kern="0" noProof="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s-MX" sz="1800" kern="0" noProof="0" dirty="0">
                <a:effectLst/>
                <a:latin typeface="Arial" panose="020B0604020202020204" pitchFamily="34" charset="0"/>
                <a:ea typeface="Arial" panose="020B0604020202020204" pitchFamily="34" charset="0"/>
              </a:rPr>
            </a:br>
            <a:endParaRPr lang="es-MX" noProof="0" dirty="0"/>
          </a:p>
        </p:txBody>
      </p:sp>
    </p:spTree>
    <p:extLst>
      <p:ext uri="{BB962C8B-B14F-4D97-AF65-F5344CB8AC3E}">
        <p14:creationId xmlns:p14="http://schemas.microsoft.com/office/powerpoint/2010/main" val="1923018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BA9FC0-5441-B661-98BD-57DA6D113BA8}"/>
              </a:ext>
            </a:extLst>
          </p:cNvPr>
          <p:cNvSpPr>
            <a:spLocks noGrp="1"/>
          </p:cNvSpPr>
          <p:nvPr>
            <p:ph type="title"/>
          </p:nvPr>
        </p:nvSpPr>
        <p:spPr/>
        <p:txBody>
          <a:bodyPr>
            <a:normAutofit/>
          </a:bodyPr>
          <a:lstStyle/>
          <a:p>
            <a:r>
              <a:rPr lang="es-MX" sz="4000" b="1" noProof="0" dirty="0">
                <a:solidFill>
                  <a:srgbClr val="4472C4"/>
                </a:solidFill>
              </a:rPr>
              <a:t>Introducción</a:t>
            </a:r>
          </a:p>
        </p:txBody>
      </p:sp>
      <p:sp>
        <p:nvSpPr>
          <p:cNvPr id="3" name="Marcador de contenido 2">
            <a:extLst>
              <a:ext uri="{FF2B5EF4-FFF2-40B4-BE49-F238E27FC236}">
                <a16:creationId xmlns:a16="http://schemas.microsoft.com/office/drawing/2014/main" id="{06AF1C28-378D-0281-3CF0-9C198FA5DE36}"/>
              </a:ext>
            </a:extLst>
          </p:cNvPr>
          <p:cNvSpPr>
            <a:spLocks noGrp="1"/>
          </p:cNvSpPr>
          <p:nvPr>
            <p:ph idx="1"/>
          </p:nvPr>
        </p:nvSpPr>
        <p:spPr/>
        <p:txBody>
          <a:bodyPr>
            <a:normAutofit/>
          </a:bodyPr>
          <a:lstStyle/>
          <a:p>
            <a:pPr marL="0" indent="0" algn="just">
              <a:buNone/>
            </a:pPr>
            <a:r>
              <a:rPr lang="es-MX" noProof="0" dirty="0">
                <a:solidFill>
                  <a:srgbClr val="1F2933"/>
                </a:solidFill>
                <a:latin typeface="Aptos" pitchFamily="34" charset="0"/>
                <a:ea typeface="Aptos" pitchFamily="34" charset="-122"/>
                <a:cs typeface="Aptos" pitchFamily="34" charset="-120"/>
              </a:rPr>
              <a:t>Durante la clase se abordó el tema de la medición del éxito, la evaluación y el cierre de proyectos de software. El ingeniero explicó que un proyecto no termina únicamente cuando se entrega un producto, sino cuando se revisa si cumplió con sus objetivos, se documenta el resultado y se formaliza su cierre.</a:t>
            </a:r>
            <a:endParaRPr lang="es-MX" noProof="0" dirty="0"/>
          </a:p>
          <a:p>
            <a:pPr marL="0" indent="0" algn="just">
              <a:buNone/>
            </a:pPr>
            <a:endParaRPr lang="es-MX" noProof="0" dirty="0"/>
          </a:p>
          <a:p>
            <a:pPr marL="0" indent="0" algn="just">
              <a:buNone/>
            </a:pPr>
            <a:r>
              <a:rPr lang="es-MX" noProof="0" dirty="0">
                <a:solidFill>
                  <a:srgbClr val="1F2933"/>
                </a:solidFill>
                <a:latin typeface="Aptos" pitchFamily="34" charset="0"/>
                <a:ea typeface="Aptos" pitchFamily="34" charset="-122"/>
                <a:cs typeface="Aptos" pitchFamily="34" charset="-120"/>
              </a:rPr>
              <a:t>El reporte sintetiza lo tratado en clase a partir de los audios, conservando el enfoque académico solicitado por el ingeniero.</a:t>
            </a:r>
            <a:endParaRPr lang="es-MX" noProof="0" dirty="0"/>
          </a:p>
        </p:txBody>
      </p:sp>
    </p:spTree>
    <p:extLst>
      <p:ext uri="{BB962C8B-B14F-4D97-AF65-F5344CB8AC3E}">
        <p14:creationId xmlns:p14="http://schemas.microsoft.com/office/powerpoint/2010/main" val="3033751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9CA87E-0791-E762-AB41-032265D34F52}"/>
              </a:ext>
            </a:extLst>
          </p:cNvPr>
          <p:cNvSpPr>
            <a:spLocks noGrp="1"/>
          </p:cNvSpPr>
          <p:nvPr>
            <p:ph type="title"/>
          </p:nvPr>
        </p:nvSpPr>
        <p:spPr/>
        <p:txBody>
          <a:bodyPr>
            <a:normAutofit/>
          </a:bodyPr>
          <a:lstStyle/>
          <a:p>
            <a:r>
              <a:rPr lang="es-MX" sz="4000" b="1" noProof="0" dirty="0">
                <a:solidFill>
                  <a:srgbClr val="4472C4"/>
                </a:solidFill>
              </a:rPr>
              <a:t>Objetivo</a:t>
            </a:r>
          </a:p>
        </p:txBody>
      </p:sp>
      <p:sp>
        <p:nvSpPr>
          <p:cNvPr id="3" name="Marcador de contenido 2">
            <a:extLst>
              <a:ext uri="{FF2B5EF4-FFF2-40B4-BE49-F238E27FC236}">
                <a16:creationId xmlns:a16="http://schemas.microsoft.com/office/drawing/2014/main" id="{3CE90530-2D62-85C1-614A-00F4F72B96CB}"/>
              </a:ext>
            </a:extLst>
          </p:cNvPr>
          <p:cNvSpPr>
            <a:spLocks noGrp="1"/>
          </p:cNvSpPr>
          <p:nvPr>
            <p:ph idx="1"/>
          </p:nvPr>
        </p:nvSpPr>
        <p:spPr/>
        <p:txBody>
          <a:bodyPr vert="horz" lIns="91440" tIns="45720" rIns="91440" bIns="45720" rtlCol="0">
            <a:normAutofit/>
          </a:bodyPr>
          <a:lstStyle/>
          <a:p>
            <a:pPr marL="0" indent="0" algn="just">
              <a:buNone/>
            </a:pPr>
            <a:r>
              <a:rPr lang="es-MX" noProof="0" dirty="0">
                <a:solidFill>
                  <a:srgbClr val="1F2933"/>
                </a:solidFill>
                <a:latin typeface="Aptos" pitchFamily="34" charset="0"/>
                <a:ea typeface="Aptos" pitchFamily="34" charset="-122"/>
                <a:cs typeface="Aptos" pitchFamily="34" charset="-120"/>
              </a:rPr>
              <a:t>El objetivo de este reporte es presentar de manera formal los puntos vistos en clase sobre la medición del éxito de un proyecto, las métricas que pueden aplicarse a un software, la evaluación del trabajo realizado y el proceso de cierre o entrega final.</a:t>
            </a:r>
            <a:endParaRPr lang="es-MX" noProof="0" dirty="0"/>
          </a:p>
          <a:p>
            <a:pPr marL="0" indent="0" algn="just">
              <a:buNone/>
            </a:pPr>
            <a:endParaRPr lang="es-MX" noProof="0" dirty="0"/>
          </a:p>
          <a:p>
            <a:pPr marL="0" indent="0" algn="just">
              <a:buNone/>
            </a:pPr>
            <a:r>
              <a:rPr lang="es-MX" noProof="0" dirty="0">
                <a:solidFill>
                  <a:srgbClr val="1F2933"/>
                </a:solidFill>
                <a:latin typeface="Aptos" pitchFamily="34" charset="0"/>
                <a:ea typeface="Aptos" pitchFamily="34" charset="-122"/>
                <a:cs typeface="Aptos" pitchFamily="34" charset="-120"/>
              </a:rPr>
              <a:t>También se registran las indicaciones dadas por el ingeniero sobre la documentación que debe integrarse y la fecha límite de entrega.</a:t>
            </a:r>
            <a:endParaRPr lang="es-MX" noProof="0" dirty="0"/>
          </a:p>
        </p:txBody>
      </p:sp>
    </p:spTree>
    <p:extLst>
      <p:ext uri="{BB962C8B-B14F-4D97-AF65-F5344CB8AC3E}">
        <p14:creationId xmlns:p14="http://schemas.microsoft.com/office/powerpoint/2010/main" val="2634989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6613DE-54EA-EDBE-6F4D-FFDE95887613}"/>
              </a:ext>
            </a:extLst>
          </p:cNvPr>
          <p:cNvSpPr>
            <a:spLocks noGrp="1"/>
          </p:cNvSpPr>
          <p:nvPr>
            <p:ph type="title"/>
          </p:nvPr>
        </p:nvSpPr>
        <p:spPr/>
        <p:txBody>
          <a:bodyPr>
            <a:normAutofit/>
          </a:bodyPr>
          <a:lstStyle/>
          <a:p>
            <a:r>
              <a:rPr lang="es-MX" sz="4000" b="1" noProof="0" dirty="0">
                <a:solidFill>
                  <a:srgbClr val="4472C4"/>
                </a:solidFill>
              </a:rPr>
              <a:t>Contexto de la clase</a:t>
            </a:r>
          </a:p>
        </p:txBody>
      </p:sp>
      <p:sp>
        <p:nvSpPr>
          <p:cNvPr id="3" name="Comentario">
            <a:extLst>
              <a:ext uri="{FF2B5EF4-FFF2-40B4-BE49-F238E27FC236}">
                <a16:creationId xmlns:a16="http://schemas.microsoft.com/office/drawing/2014/main" id="{CC8AAAD8-DACE-464D-9918-6CAC0221CE0B}"/>
              </a:ext>
            </a:extLst>
          </p:cNvPr>
          <p:cNvSpPr txBox="1"/>
          <p:nvPr/>
        </p:nvSpPr>
        <p:spPr>
          <a:xfrm>
            <a:off x="838200" y="2153920"/>
            <a:ext cx="10086976" cy="3970318"/>
          </a:xfrm>
          <a:prstGeom prst="rect">
            <a:avLst/>
          </a:prstGeom>
          <a:noFill/>
        </p:spPr>
        <p:txBody>
          <a:bodyPr vertOverflow="overflow" vert="horz" wrap="square" rtlCol="0" anchor="t">
            <a:spAutoFit/>
          </a:bodyPr>
          <a:lstStyle/>
          <a:p>
            <a:pPr algn="just"/>
            <a:r>
              <a:rPr lang="es-MX" sz="2800" noProof="0" dirty="0">
                <a:solidFill>
                  <a:srgbClr val="1F2933"/>
                </a:solidFill>
                <a:latin typeface="Aptos" pitchFamily="34" charset="0"/>
                <a:ea typeface="Aptos" pitchFamily="34" charset="-122"/>
                <a:cs typeface="Aptos" pitchFamily="34" charset="-120"/>
              </a:rPr>
              <a:t>El ingeniero inició señalando que se debía elaborar un reporte como evidencia de lo trabajado durante la sesión. Aclaró que el propósito no era solo asistir a clase, sino demostrar que se comprendieron los temas y que se estaba avanzando en la elaboración del trabajo.</a:t>
            </a:r>
            <a:endParaRPr lang="es-MX" sz="2800" noProof="0" dirty="0"/>
          </a:p>
          <a:p>
            <a:pPr algn="just"/>
            <a:endParaRPr lang="es-MX" sz="2800" noProof="0" dirty="0"/>
          </a:p>
          <a:p>
            <a:pPr algn="just"/>
            <a:r>
              <a:rPr lang="es-MX" sz="2800" noProof="0" dirty="0">
                <a:solidFill>
                  <a:srgbClr val="1F2933"/>
                </a:solidFill>
                <a:latin typeface="Aptos" pitchFamily="34" charset="0"/>
                <a:ea typeface="Aptos" pitchFamily="34" charset="-122"/>
                <a:cs typeface="Aptos" pitchFamily="34" charset="-120"/>
              </a:rPr>
              <a:t>La clase se centró en explicar cómo se evalúa si un proyecto fue exitoso y qué elementos deben considerarse al cerrar un proyecto de software.</a:t>
            </a:r>
            <a:endParaRPr lang="es-MX" sz="2800" noProof="0" dirty="0"/>
          </a:p>
        </p:txBody>
      </p:sp>
    </p:spTree>
    <p:extLst>
      <p:ext uri="{BB962C8B-B14F-4D97-AF65-F5344CB8AC3E}">
        <p14:creationId xmlns:p14="http://schemas.microsoft.com/office/powerpoint/2010/main" val="4224454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A2517E-DB99-32BE-B503-069F2239C405}"/>
              </a:ext>
            </a:extLst>
          </p:cNvPr>
          <p:cNvSpPr>
            <a:spLocks noGrp="1"/>
          </p:cNvSpPr>
          <p:nvPr>
            <p:ph type="title"/>
          </p:nvPr>
        </p:nvSpPr>
        <p:spPr/>
        <p:txBody>
          <a:bodyPr>
            <a:normAutofit/>
          </a:bodyPr>
          <a:lstStyle/>
          <a:p>
            <a:r>
              <a:rPr lang="es-MX" sz="4000" b="1" noProof="0" dirty="0">
                <a:solidFill>
                  <a:srgbClr val="4472C4"/>
                </a:solidFill>
              </a:rPr>
              <a:t>Medición del éxito del proyecto</a:t>
            </a:r>
          </a:p>
        </p:txBody>
      </p:sp>
      <p:sp>
        <p:nvSpPr>
          <p:cNvPr id="3" name="Comentario">
            <a:extLst>
              <a:ext uri="{FF2B5EF4-FFF2-40B4-BE49-F238E27FC236}">
                <a16:creationId xmlns:a16="http://schemas.microsoft.com/office/drawing/2014/main" id="{DA2E4B91-1357-4346-8EEB-64959208B735}"/>
              </a:ext>
            </a:extLst>
          </p:cNvPr>
          <p:cNvSpPr txBox="1"/>
          <p:nvPr/>
        </p:nvSpPr>
        <p:spPr>
          <a:xfrm>
            <a:off x="749300" y="1905000"/>
            <a:ext cx="9645984" cy="3926840"/>
          </a:xfrm>
          <a:prstGeom prst="rect">
            <a:avLst/>
          </a:prstGeom>
        </p:spPr>
        <p:txBody>
          <a:bodyPr vert="horz" lIns="91440" tIns="45720" rIns="91440" bIns="45720" rtlCol="0">
            <a:normAutofit fontScale="92500" lnSpcReduction="10000"/>
          </a:bodyPr>
          <a:lstStyle>
            <a:defPPr>
              <a:defRPr lang="es-MX"/>
            </a:defPPr>
            <a:lvl1pPr indent="0">
              <a:lnSpc>
                <a:spcPct val="90000"/>
              </a:lnSpc>
              <a:spcBef>
                <a:spcPts val="100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r>
              <a:rPr lang="es-MX" noProof="0" dirty="0">
                <a:solidFill>
                  <a:srgbClr val="1F2933"/>
                </a:solidFill>
                <a:latin typeface="Aptos" pitchFamily="34" charset="0"/>
                <a:ea typeface="Aptos" pitchFamily="34" charset="-122"/>
                <a:cs typeface="Aptos" pitchFamily="34" charset="-120"/>
              </a:rPr>
              <a:t>Uno de los puntos principales fue la pregunta sobre si el éxito de </a:t>
            </a:r>
            <a:r>
              <a:rPr lang="es-MX" noProof="0" dirty="0">
                <a:solidFill>
                  <a:srgbClr val="1F2933"/>
                </a:solidFill>
                <a:latin typeface="Aptos" pitchFamily="34" charset="0"/>
              </a:rPr>
              <a:t>un proyecto puede medirse. La respuesta desarrollada en clase fue que sí puede medirse, siempre que se comparen los resultados obtenidos con el punto al que se quería llegar.</a:t>
            </a:r>
          </a:p>
          <a:p>
            <a:pPr algn="just"/>
            <a:endParaRPr lang="es-MX" noProof="0" dirty="0">
              <a:solidFill>
                <a:srgbClr val="1F2933"/>
              </a:solidFill>
              <a:latin typeface="Aptos" pitchFamily="34" charset="0"/>
            </a:endParaRPr>
          </a:p>
          <a:p>
            <a:pPr algn="just"/>
            <a:r>
              <a:rPr lang="es-MX" noProof="0" dirty="0">
                <a:solidFill>
                  <a:srgbClr val="1F2933"/>
                </a:solidFill>
                <a:latin typeface="Aptos" pitchFamily="34" charset="0"/>
              </a:rPr>
              <a:t>El éxito no se mide solo diciendo que el proyecto terminó, sino revisando si cumplió su propósito, si completó sus fases y si logró los resultados esperados.</a:t>
            </a:r>
          </a:p>
          <a:p>
            <a:pPr algn="just"/>
            <a:r>
              <a:rPr lang="es-MX" noProof="0" dirty="0">
                <a:solidFill>
                  <a:srgbClr val="1F2933"/>
                </a:solidFill>
                <a:latin typeface="Aptos" pitchFamily="34" charset="0"/>
              </a:rPr>
              <a:t>Medir el éxito implica revisar qué tanto se cumplió lo planeado y qué porcentaje del proyecto quedó realmente terminado.</a:t>
            </a:r>
          </a:p>
        </p:txBody>
      </p:sp>
    </p:spTree>
    <p:extLst>
      <p:ext uri="{BB962C8B-B14F-4D97-AF65-F5344CB8AC3E}">
        <p14:creationId xmlns:p14="http://schemas.microsoft.com/office/powerpoint/2010/main" val="1026201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89C6B-3305-EF5B-8E75-6A356C376F44}"/>
              </a:ext>
            </a:extLst>
          </p:cNvPr>
          <p:cNvSpPr>
            <a:spLocks noGrp="1"/>
          </p:cNvSpPr>
          <p:nvPr>
            <p:ph type="title"/>
          </p:nvPr>
        </p:nvSpPr>
        <p:spPr/>
        <p:txBody>
          <a:bodyPr vert="horz" lIns="91440" tIns="45720" rIns="91440" bIns="45720" rtlCol="0" anchor="ctr">
            <a:normAutofit/>
          </a:bodyPr>
          <a:lstStyle/>
          <a:p>
            <a:r>
              <a:rPr lang="es-MX" sz="4000" b="1" noProof="0" dirty="0">
                <a:solidFill>
                  <a:srgbClr val="4472C4"/>
                </a:solidFill>
              </a:rPr>
              <a:t>Criterios para valorar el resultado</a:t>
            </a:r>
          </a:p>
        </p:txBody>
      </p:sp>
      <p:sp>
        <p:nvSpPr>
          <p:cNvPr id="6" name="CuadroTexto 5">
            <a:extLst>
              <a:ext uri="{FF2B5EF4-FFF2-40B4-BE49-F238E27FC236}">
                <a16:creationId xmlns:a16="http://schemas.microsoft.com/office/drawing/2014/main" id="{615E6CF7-32F9-3286-C05E-CED767F436D3}"/>
              </a:ext>
            </a:extLst>
          </p:cNvPr>
          <p:cNvSpPr txBox="1"/>
          <p:nvPr/>
        </p:nvSpPr>
        <p:spPr>
          <a:xfrm>
            <a:off x="952500" y="2514296"/>
            <a:ext cx="10668000" cy="1338828"/>
          </a:xfrm>
          <a:prstGeom prst="rect">
            <a:avLst/>
          </a:prstGeom>
          <a:noFill/>
        </p:spPr>
        <p:txBody>
          <a:bodyPr vertOverflow="overflow" vert="horz" wrap="square" rtlCol="0" anchor="t">
            <a:spAutoFit/>
          </a:bodyPr>
          <a:lstStyle>
            <a:defPPr>
              <a:defRPr lang="es-MX"/>
            </a:defPPr>
            <a:lvl1pPr algn="just">
              <a:defRPr sz="2800">
                <a:solidFill>
                  <a:srgbClr val="1F2933"/>
                </a:solidFill>
                <a:latin typeface="Aptos" pitchFamily="34" charset="0"/>
                <a:ea typeface="Aptos" pitchFamily="34" charset="-122"/>
                <a:cs typeface="Aptos" pitchFamily="34" charset="-12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dirty="0"/>
              <a:t>Cumplimiento de los objetivos planteados al inicio del proyecto.</a:t>
            </a:r>
          </a:p>
          <a:p>
            <a:r>
              <a:rPr lang="es-MX" dirty="0"/>
              <a:t>Avance real de las fases o actividades programadas.</a:t>
            </a:r>
          </a:p>
          <a:p>
            <a:r>
              <a:rPr lang="es-MX" dirty="0"/>
              <a:t>Identificación de lo que sí se completó y de lo que quedó pendiente.</a:t>
            </a:r>
          </a:p>
          <a:p>
            <a:r>
              <a:rPr lang="es-MX" dirty="0"/>
              <a:t>Explicación de los motivos por los que alguna parte no pudo terminarse.</a:t>
            </a:r>
          </a:p>
          <a:p>
            <a:r>
              <a:rPr lang="es-MX" dirty="0"/>
              <a:t>Revisión del resultado final frente a lo que se esperaba entregar.</a:t>
            </a:r>
          </a:p>
        </p:txBody>
      </p:sp>
    </p:spTree>
    <p:extLst>
      <p:ext uri="{BB962C8B-B14F-4D97-AF65-F5344CB8AC3E}">
        <p14:creationId xmlns:p14="http://schemas.microsoft.com/office/powerpoint/2010/main" val="1465859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86ADF4-3E0F-8714-53C7-55D28C2BE6CB}"/>
              </a:ext>
            </a:extLst>
          </p:cNvPr>
          <p:cNvSpPr>
            <a:spLocks noGrp="1"/>
          </p:cNvSpPr>
          <p:nvPr>
            <p:ph type="title"/>
          </p:nvPr>
        </p:nvSpPr>
        <p:spPr/>
        <p:txBody>
          <a:bodyPr>
            <a:normAutofit/>
          </a:bodyPr>
          <a:lstStyle/>
          <a:p>
            <a:r>
              <a:rPr lang="es-MX" sz="4000" b="1" noProof="0" dirty="0">
                <a:solidFill>
                  <a:srgbClr val="4472C4"/>
                </a:solidFill>
              </a:rPr>
              <a:t>Como evaluar un </a:t>
            </a:r>
            <a:r>
              <a:rPr lang="es-MX" sz="4000" b="1" noProof="0" dirty="0" err="1">
                <a:solidFill>
                  <a:srgbClr val="4472C4"/>
                </a:solidFill>
              </a:rPr>
              <a:t>sottware</a:t>
            </a:r>
            <a:endParaRPr lang="es-MX" sz="4000" b="1" noProof="0" dirty="0">
              <a:solidFill>
                <a:srgbClr val="4472C4"/>
              </a:solidFill>
            </a:endParaRPr>
          </a:p>
        </p:txBody>
      </p:sp>
      <p:sp>
        <p:nvSpPr>
          <p:cNvPr id="8" name="CuadroTexto 7">
            <a:extLst>
              <a:ext uri="{FF2B5EF4-FFF2-40B4-BE49-F238E27FC236}">
                <a16:creationId xmlns:a16="http://schemas.microsoft.com/office/drawing/2014/main" id="{933D7995-6993-091A-5858-80AE9419D6BE}"/>
              </a:ext>
            </a:extLst>
          </p:cNvPr>
          <p:cNvSpPr txBox="1"/>
          <p:nvPr/>
        </p:nvSpPr>
        <p:spPr>
          <a:xfrm>
            <a:off x="752475" y="2077045"/>
            <a:ext cx="10687050" cy="4229299"/>
          </a:xfrm>
          <a:prstGeom prst="rect">
            <a:avLst/>
          </a:prstGeom>
        </p:spPr>
        <p:txBody>
          <a:bodyPr vert="horz" lIns="91440" tIns="45720" rIns="91440" bIns="45720" rtlCol="0">
            <a:normAutofit/>
          </a:bodyPr>
          <a:lstStyle>
            <a:defPPr>
              <a:defRPr lang="es-MX"/>
            </a:defPPr>
            <a:lvl1pPr indent="0" algn="just">
              <a:lnSpc>
                <a:spcPct val="90000"/>
              </a:lnSpc>
              <a:spcBef>
                <a:spcPts val="1000"/>
              </a:spcBef>
              <a:buFont typeface="Arial" panose="020B0604020202020204" pitchFamily="34" charset="0"/>
              <a:buNone/>
              <a:defRPr sz="2800">
                <a:solidFill>
                  <a:srgbClr val="1F2933"/>
                </a:solidFill>
                <a:latin typeface="Aptos" pitchFamily="34" charset="0"/>
                <a:ea typeface="Aptos" pitchFamily="34" charset="-122"/>
                <a:cs typeface="Aptos" pitchFamily="34" charset="-12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MX" noProof="0" dirty="0"/>
              <a:t> El ingeniero explicó que la evaluación de un proyecto de software debe realizarse mediante criterios que permitan comprobar si el sistema funciona adecuadamente y cumple con lo esperado.</a:t>
            </a:r>
          </a:p>
          <a:p>
            <a:r>
              <a:rPr lang="es-MX" noProof="0" dirty="0"/>
              <a:t>Entre los aspectos mencionados se encuentran la experiencia del usuario, la facilidad de uso, la interfaz, los colores, el tipo y tamaño de letra, así como el procesamiento correcto de la información y la eficiencia del sistema.</a:t>
            </a:r>
          </a:p>
          <a:p>
            <a:r>
              <a:rPr lang="es-MX" noProof="0" dirty="0"/>
              <a:t>Estos elementos pueden utilizarse como métricas para obtener la opinión de los usuarios y determinar si el software cumple con las necesidades para las que fue desarrollado.</a:t>
            </a:r>
          </a:p>
        </p:txBody>
      </p:sp>
    </p:spTree>
    <p:extLst>
      <p:ext uri="{BB962C8B-B14F-4D97-AF65-F5344CB8AC3E}">
        <p14:creationId xmlns:p14="http://schemas.microsoft.com/office/powerpoint/2010/main" val="1253291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448022-1D1B-9597-4FEB-A553869BB363}"/>
              </a:ext>
            </a:extLst>
          </p:cNvPr>
          <p:cNvSpPr>
            <a:spLocks noGrp="1"/>
          </p:cNvSpPr>
          <p:nvPr>
            <p:ph type="title"/>
          </p:nvPr>
        </p:nvSpPr>
        <p:spPr>
          <a:xfrm>
            <a:off x="841248" y="347472"/>
            <a:ext cx="10195560" cy="822960"/>
          </a:xfrm>
        </p:spPr>
        <p:txBody>
          <a:bodyPr vert="horz" lIns="91440" tIns="45720" rIns="91440" bIns="45720" rtlCol="0" anchor="ctr">
            <a:normAutofit/>
          </a:bodyPr>
          <a:lstStyle/>
          <a:p>
            <a:r>
              <a:rPr lang="es-MX" sz="4000" b="1" dirty="0">
                <a:solidFill>
                  <a:srgbClr val="4472C4"/>
                </a:solidFill>
              </a:rPr>
              <a:t>Entrega formal del software y proyecto</a:t>
            </a:r>
          </a:p>
        </p:txBody>
      </p:sp>
      <p:sp>
        <p:nvSpPr>
          <p:cNvPr id="8" name="CuadroTexto 7">
            <a:extLst>
              <a:ext uri="{FF2B5EF4-FFF2-40B4-BE49-F238E27FC236}">
                <a16:creationId xmlns:a16="http://schemas.microsoft.com/office/drawing/2014/main" id="{829E99B0-06AF-35F9-4984-49EC4B365A45}"/>
              </a:ext>
            </a:extLst>
          </p:cNvPr>
          <p:cNvSpPr txBox="1"/>
          <p:nvPr/>
        </p:nvSpPr>
        <p:spPr>
          <a:xfrm>
            <a:off x="841248" y="1417320"/>
            <a:ext cx="10195560" cy="4572000"/>
          </a:xfrm>
          <a:prstGeom prst="rect">
            <a:avLst/>
          </a:prstGeom>
          <a:noFill/>
        </p:spPr>
        <p:txBody>
          <a:bodyPr vertOverflow="overflow" vert="horz" wrap="square" rtlCol="0" anchor="t">
            <a:spAutoFit/>
          </a:bodyPr>
          <a:lstStyle>
            <a:defPPr>
              <a:defRPr lang="es-MX"/>
            </a:defPPr>
            <a:lvl1pPr algn="just">
              <a:defRPr sz="2800">
                <a:solidFill>
                  <a:srgbClr val="1F2933"/>
                </a:solidFill>
                <a:latin typeface="Aptos" pitchFamily="34" charset="0"/>
                <a:ea typeface="Aptos" pitchFamily="34" charset="-122"/>
                <a:cs typeface="Aptos" pitchFamily="34" charset="-120"/>
              </a:defRPr>
            </a:lvl1pPr>
          </a:lstStyle>
          <a:p>
            <a:r>
              <a:rPr lang="es-MX" noProof="0" dirty="0"/>
              <a:t>La evaluación final permite identificar qué se hizo correctamente, qué aspectos presentaron dificultades y cuáles fueron los resultados obtenidos durante el desarrollo del proyecto.</a:t>
            </a:r>
          </a:p>
          <a:p>
            <a:r>
              <a:rPr lang="es-MX" noProof="0" dirty="0"/>
              <a:t>El cierre no consiste únicamente en terminar la programación. También implica revisar los resultados, comprobar que los entregables estén completos y dejar formalmente concluido el proyecto.</a:t>
            </a:r>
          </a:p>
          <a:p>
            <a:r>
              <a:rPr lang="es-MX" noProof="0" dirty="0"/>
              <a:t>Durante la clase se señaló que debe investigarse cómo se realiza la entrega formal de un software, quién realiza la entrega, quién lo recibe, si es necesario firmar algún documento y qué elementos deben presentarse como evidencia de aceptación.</a:t>
            </a:r>
          </a:p>
        </p:txBody>
      </p:sp>
    </p:spTree>
    <p:extLst>
      <p:ext uri="{BB962C8B-B14F-4D97-AF65-F5344CB8AC3E}">
        <p14:creationId xmlns:p14="http://schemas.microsoft.com/office/powerpoint/2010/main" val="679184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47472"/>
            <a:ext cx="10195560" cy="822960"/>
          </a:xfrm>
        </p:spPr>
        <p:txBody>
          <a:bodyPr vert="horz" lIns="91440" tIns="45720" rIns="91440" bIns="45720" rtlCol="0" anchor="ctr">
            <a:normAutofit/>
          </a:bodyPr>
          <a:lstStyle/>
          <a:p>
            <a:r>
              <a:rPr lang="es-MX" sz="4000" b="1" noProof="0" dirty="0">
                <a:solidFill>
                  <a:srgbClr val="4472C4"/>
                </a:solidFill>
              </a:rPr>
              <a:t>Documentación, roles y pruebas</a:t>
            </a:r>
          </a:p>
        </p:txBody>
      </p:sp>
      <p:sp>
        <p:nvSpPr>
          <p:cNvPr id="3" name="Content Placeholder 2"/>
          <p:cNvSpPr>
            <a:spLocks noGrp="1"/>
          </p:cNvSpPr>
          <p:nvPr>
            <p:ph idx="1"/>
          </p:nvPr>
        </p:nvSpPr>
        <p:spPr>
          <a:xfrm>
            <a:off x="841248" y="1417320"/>
            <a:ext cx="10195560" cy="4572000"/>
          </a:xfrm>
        </p:spPr>
        <p:txBody>
          <a:bodyPr vert="horz" lIns="91440" tIns="45720" rIns="91440" bIns="45720" rtlCol="0">
            <a:normAutofit fontScale="92500"/>
          </a:bodyPr>
          <a:lstStyle/>
          <a:p>
            <a:pPr marL="0" indent="0" algn="just">
              <a:buNone/>
            </a:pPr>
            <a:r>
              <a:rPr lang="es-MX" noProof="0" dirty="0">
                <a:solidFill>
                  <a:srgbClr val="1F2933"/>
                </a:solidFill>
                <a:latin typeface="Aptos" pitchFamily="34" charset="0"/>
              </a:rPr>
              <a:t>Como parte del cierre se debe integrar la documentación final del proyecto. El ingeniero mencionó que puede incluir una introducción sobre el sistema desarrollado y la justificación de las tecnologías empleadas, como el lenguaje de programación, la base de datos, la arquitectura y los diseños utilizados.</a:t>
            </a:r>
          </a:p>
          <a:p>
            <a:pPr marL="0" indent="0" algn="just">
              <a:buNone/>
            </a:pPr>
            <a:r>
              <a:rPr lang="es-MX" noProof="0" dirty="0">
                <a:solidFill>
                  <a:srgbClr val="1F2933"/>
                </a:solidFill>
                <a:latin typeface="Aptos" pitchFamily="34" charset="0"/>
              </a:rPr>
              <a:t>También se mencionaron los roles de Scrum. El Scrum Master y los desarrolladores participan en la preparación y entrega del proyecto, mientras que el </a:t>
            </a:r>
            <a:r>
              <a:rPr lang="es-MX" noProof="0" dirty="0" err="1">
                <a:solidFill>
                  <a:srgbClr val="1F2933"/>
                </a:solidFill>
                <a:latin typeface="Aptos" pitchFamily="34" charset="0"/>
              </a:rPr>
              <a:t>Product</a:t>
            </a:r>
            <a:r>
              <a:rPr lang="es-MX" noProof="0" dirty="0">
                <a:solidFill>
                  <a:srgbClr val="1F2933"/>
                </a:solidFill>
                <a:latin typeface="Aptos" pitchFamily="34" charset="0"/>
              </a:rPr>
              <a:t> Owner recibe el producto y puede formalizar su aceptación. Y que antes de realizar la entrega deben existir evidencias de las pruebas aplicadas. Durante la clase se recordaron las pruebas de ejecución, pruebas de humo y pruebas de estrés como ejemplos para comprobar el funcionamiento del software.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47472"/>
            <a:ext cx="10195560" cy="822960"/>
          </a:xfrm>
        </p:spPr>
        <p:txBody>
          <a:bodyPr vert="horz" lIns="91440" tIns="45720" rIns="91440" bIns="45720" rtlCol="0" anchor="ctr">
            <a:normAutofit/>
          </a:bodyPr>
          <a:lstStyle/>
          <a:p>
            <a:r>
              <a:rPr lang="es-MX" sz="4000" b="1" noProof="0" dirty="0">
                <a:solidFill>
                  <a:srgbClr val="4472C4"/>
                </a:solidFill>
              </a:rPr>
              <a:t>Lecciones aprendidas e indicaciones finales</a:t>
            </a:r>
          </a:p>
        </p:txBody>
      </p:sp>
      <p:sp>
        <p:nvSpPr>
          <p:cNvPr id="3" name="Content Placeholder 2"/>
          <p:cNvSpPr>
            <a:spLocks noGrp="1"/>
          </p:cNvSpPr>
          <p:nvPr>
            <p:ph idx="1"/>
          </p:nvPr>
        </p:nvSpPr>
        <p:spPr>
          <a:xfrm>
            <a:off x="841248" y="1417320"/>
            <a:ext cx="10195560" cy="1646028"/>
          </a:xfrm>
          <a:noFill/>
        </p:spPr>
        <p:txBody>
          <a:bodyPr vertOverflow="overflow" vert="horz" wrap="square" lIns="91440" tIns="45720" rIns="91440" bIns="45720" rtlCol="0" anchor="t">
            <a:spAutoFit/>
          </a:bodyPr>
          <a:lstStyle/>
          <a:p>
            <a:pPr marL="0" indent="0" algn="just">
              <a:buNone/>
            </a:pPr>
            <a:r>
              <a:rPr lang="es-MX" noProof="0" dirty="0">
                <a:solidFill>
                  <a:srgbClr val="1F2933"/>
                </a:solidFill>
                <a:latin typeface="Aptos" pitchFamily="34" charset="0"/>
              </a:rPr>
              <a:t>El cierre también permite documentar las lecciones aprendidas. Esto consiste en reconocer qué se había planeado inicialmente, qué ocurrió realmente durante el desarrollo y qué conocimientos pueden aplicarse en futuros proyectos.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47472"/>
            <a:ext cx="10195560" cy="822960"/>
          </a:xfrm>
        </p:spPr>
        <p:txBody>
          <a:bodyPr vert="horz" lIns="91440" tIns="45720" rIns="91440" bIns="45720" rtlCol="0" anchor="ctr">
            <a:normAutofit/>
          </a:bodyPr>
          <a:lstStyle/>
          <a:p>
            <a:r>
              <a:rPr lang="es-MX" sz="4000" b="1" noProof="0" dirty="0">
                <a:solidFill>
                  <a:srgbClr val="4472C4"/>
                </a:solidFill>
              </a:rPr>
              <a:t>Conclusión</a:t>
            </a:r>
          </a:p>
        </p:txBody>
      </p:sp>
      <p:sp>
        <p:nvSpPr>
          <p:cNvPr id="3" name="Content Placeholder 2"/>
          <p:cNvSpPr>
            <a:spLocks noGrp="1"/>
          </p:cNvSpPr>
          <p:nvPr>
            <p:ph idx="1"/>
          </p:nvPr>
        </p:nvSpPr>
        <p:spPr>
          <a:xfrm>
            <a:off x="841248" y="1417320"/>
            <a:ext cx="10195560" cy="4572000"/>
          </a:xfrm>
          <a:noFill/>
        </p:spPr>
        <p:txBody>
          <a:bodyPr vertOverflow="overflow" vert="horz" wrap="square" lIns="91440" tIns="45720" rIns="91440" bIns="45720" rtlCol="0" anchor="t">
            <a:spAutoFit/>
          </a:bodyPr>
          <a:lstStyle/>
          <a:p>
            <a:pPr marL="0" indent="0" algn="just">
              <a:buNone/>
            </a:pPr>
            <a:r>
              <a:rPr lang="es-MX" noProof="0" dirty="0">
                <a:solidFill>
                  <a:srgbClr val="1F2933"/>
                </a:solidFill>
                <a:latin typeface="Aptos" pitchFamily="34" charset="0"/>
              </a:rPr>
              <a:t>Durante la clase se comprendió que el éxito de un proyecto puede medirse mediante el cumplimiento de objetivos, el avance alcanzado y la calidad del resultado obtenido.</a:t>
            </a:r>
          </a:p>
          <a:p>
            <a:pPr marL="0" indent="0" algn="just">
              <a:buNone/>
            </a:pPr>
            <a:r>
              <a:rPr lang="es-MX" noProof="0" dirty="0">
                <a:solidFill>
                  <a:srgbClr val="1F2933"/>
                </a:solidFill>
                <a:latin typeface="Aptos" pitchFamily="34" charset="0"/>
              </a:rPr>
              <a:t>En el caso del desarrollo de software, también deben considerarse aspectos como la experiencia del usuario, la eficiencia y el funcionamiento del sistema.</a:t>
            </a:r>
          </a:p>
          <a:p>
            <a:pPr marL="0" indent="0" algn="just">
              <a:buNone/>
            </a:pPr>
            <a:r>
              <a:rPr lang="es-MX" noProof="0" dirty="0">
                <a:solidFill>
                  <a:srgbClr val="1F2933"/>
                </a:solidFill>
                <a:latin typeface="Aptos" pitchFamily="34" charset="0"/>
              </a:rPr>
              <a:t>Finalmente, la evaluación, documentación, realización de pruebas y entrega formal permiten cerrar el proyecto de manera ordenada y dejar evidencia de los resultados y de las lecciones aprendidas.</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AD8D392-99B7-46EA-959C-258425A10993}">
  <we:reference id="wa200010725" version="1.0.0.1" store="es-ES" storeType="OMEX"/>
  <we:alternateReferences>
    <we:reference id="WA200010725" version="1.0.0.1" store="" storeType="OMEX"/>
  </we:alternateReferences>
  <we:properties>
    <we:property name="claude.fileId" value="&quot;90457ee9-1519-41b9-974c-aa8e570b1c4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48</TotalTime>
  <Words>915</Words>
  <Application>Microsoft Office PowerPoint</Application>
  <PresentationFormat>Panorámica</PresentationFormat>
  <Paragraphs>58</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Aptos</vt:lpstr>
      <vt:lpstr>Arial</vt:lpstr>
      <vt:lpstr>Calibri</vt:lpstr>
      <vt:lpstr>Calibri Light</vt:lpstr>
      <vt:lpstr>Tema de Office</vt:lpstr>
      <vt:lpstr>Presentación de PowerPoint</vt:lpstr>
      <vt:lpstr>Introducción</vt:lpstr>
      <vt:lpstr>Objetivo</vt:lpstr>
      <vt:lpstr>Contexto de la clase</vt:lpstr>
      <vt:lpstr>Medición del éxito del proyecto</vt:lpstr>
      <vt:lpstr>Criterios para valorar el resultado</vt:lpstr>
      <vt:lpstr>Como evaluar un sottware</vt:lpstr>
      <vt:lpstr>Entrega formal del software y proyecto</vt:lpstr>
      <vt:lpstr>Documentación, roles y pruebas</vt:lpstr>
      <vt:lpstr>Lecciones aprendidas e indicaciones finales</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8</cp:revision>
  <dcterms:created xsi:type="dcterms:W3CDTF">2026-09-15T16:45:26Z</dcterms:created>
  <dcterms:modified xsi:type="dcterms:W3CDTF">2026-09-27T20:28:39Z</dcterms:modified>
</cp:coreProperties>
</file>