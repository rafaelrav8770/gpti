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307" r:id="rId23"/>
    <p:sldId id="308" r:id="rId24"/>
    <p:sldId id="309" r:id="rId2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83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noProof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noProof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s-MX" b="1" kern="0" noProof="0" dirty="0">
                <a:latin typeface="Arial" panose="020B0604020202020204" pitchFamily="34" charset="0"/>
                <a:cs typeface="Arial" panose="020B0604020202020204" pitchFamily="34" charset="0"/>
              </a:rPr>
              <a:t>GESTION DE PROYECTOS DE TI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5.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MX" sz="20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s-MX" sz="2000" b="1" kern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BANCO DE EJERCICIO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761339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SEPTIMO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600" b="1" kern="0" noProof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30</a:t>
            </a:r>
            <a:r>
              <a:rPr lang="es-MX" sz="20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SEPTIEMBRE DE 2026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800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s-MX" sz="1800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05583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spcAft>
                <a:spcPts val="600"/>
              </a:spcAft>
              <a:buNone/>
              <a:defRPr sz="2325">
                <a:latin typeface="Calibri"/>
                <a:ea typeface="Calibri"/>
                <a:cs typeface="Calibri"/>
              </a:defRPr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Introducción</a:t>
            </a:r>
            <a:endParaRPr lang="es-MX" sz="4400" b="1" kern="0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MX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s-MX" dirty="0"/>
              <a:t>presenta la aplicación y comparación de Microsoft Project, Jira, Trello y monday.com en los proyectos de Brandon, Josefina y Roberto.</a:t>
            </a:r>
          </a:p>
          <a:p>
            <a:pPr marL="0" indent="0" algn="just">
              <a:buNone/>
            </a:pPr>
            <a:r>
              <a:rPr lang="es-MX" dirty="0"/>
              <a:t>Se revisaron cronogramas, dependencias, épicas, tareas, tarjetas, estados y evidencias. También se compararon los planes gratuitos y periodos de prueba, y se utilizó una bitácora para documentar el seguimiento realizado.</a:t>
            </a:r>
          </a:p>
        </p:txBody>
      </p:sp>
    </p:spTree>
    <p:extLst>
      <p:ext uri="{BB962C8B-B14F-4D97-AF65-F5344CB8AC3E}">
        <p14:creationId xmlns:p14="http://schemas.microsoft.com/office/powerpoint/2010/main" val="748151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56B65-D6B3-09AC-24F1-487C58C8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b="1" kern="0" dirty="0">
                <a:solidFill>
                  <a:srgbClr val="000000"/>
                </a:solidFill>
                <a:ea typeface="Calibri"/>
                <a:cs typeface="Arial" panose="020B0604020202020204" pitchFamily="34" charset="0"/>
              </a:rPr>
              <a:t>Objetivo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A9FFEB-3993-4A4E-BA47-10ED6A9FDF6F}"/>
              </a:ext>
            </a:extLst>
          </p:cNvPr>
          <p:cNvSpPr>
            <a:spLocks noGrp="1"/>
          </p:cNvSpPr>
          <p:nvPr/>
        </p:nvSpPr>
        <p:spPr>
          <a:xfrm>
            <a:off x="1181100" y="1781175"/>
            <a:ext cx="10515600" cy="41910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algn="just">
              <a:spcAft>
                <a:spcPts val="600"/>
              </a:spcAft>
              <a:buNone/>
              <a:defRPr sz="2800">
                <a:latin typeface="Calibri"/>
                <a:ea typeface="Calibri"/>
                <a:cs typeface="Calibri"/>
              </a:defRPr>
            </a:pPr>
            <a:r>
              <a:rPr lang="es-MX" sz="2800" dirty="0">
                <a:latin typeface="Calibri"/>
              </a:rPr>
              <a:t>Comparar Microsoft Project, Jira, Trello y monday.com para reconocer sus funciones, ventajas, limitaciones y aplicación, verificando la coincidencia de actividades, fechas, estados y evidencias.</a:t>
            </a:r>
            <a:endParaRPr lang="es-MX" sz="2800" noProof="0" dirty="0"/>
          </a:p>
        </p:txBody>
      </p:sp>
    </p:spTree>
    <p:extLst>
      <p:ext uri="{BB962C8B-B14F-4D97-AF65-F5344CB8AC3E}">
        <p14:creationId xmlns:p14="http://schemas.microsoft.com/office/powerpoint/2010/main" val="872364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709BD-43C8-E083-574C-CD048A14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kern="0" dirty="0">
                <a:solidFill>
                  <a:srgbClr val="000000"/>
                </a:solidFill>
                <a:ea typeface="Calibri"/>
                <a:cs typeface="Arial" panose="020B0604020202020204" pitchFamily="34" charset="0"/>
              </a:rPr>
              <a:t>Justificación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070AEA3-E762-4E94-80BA-2A1F43151F0F}"/>
              </a:ext>
            </a:extLst>
          </p:cNvPr>
          <p:cNvSpPr>
            <a:spLocks noGrp="1"/>
          </p:cNvSpPr>
          <p:nvPr/>
        </p:nvSpPr>
        <p:spPr>
          <a:xfrm>
            <a:off x="838200" y="1905000"/>
            <a:ext cx="10515600" cy="41910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>
            <a:lvl1pPr algn="just">
              <a:buNone/>
              <a:defRPr sz="2800"/>
            </a:lvl1pPr>
          </a:lstStyle>
          <a:p>
            <a:pPr>
              <a:spcAft>
                <a:spcPts val="600"/>
              </a:spcAft>
            </a:pPr>
            <a:r>
              <a:rPr lang="es-MX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El uso de una herramienta sin criterios comunes puede provocar fechas diferentes, tareas duplicadas o estados contradictorios. Por eso, el banco plantea ejercicios que permiten verificar la información en las tres plataformas.</a:t>
            </a:r>
          </a:p>
          <a:p>
            <a:pPr>
              <a:spcAft>
                <a:spcPts val="600"/>
              </a:spcAft>
            </a:pPr>
            <a:r>
              <a:rPr lang="es-MX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La comparación ayuda a seleccionar la herramienta adecuada para cada necesidad y a documentar el proceso mediante capturas y una bitácora de actividades.</a:t>
            </a:r>
          </a:p>
        </p:txBody>
      </p:sp>
    </p:spTree>
    <p:extLst>
      <p:ext uri="{BB962C8B-B14F-4D97-AF65-F5344CB8AC3E}">
        <p14:creationId xmlns:p14="http://schemas.microsoft.com/office/powerpoint/2010/main" val="109726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189A3-FD75-DF35-B597-3665CC29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kern="0" dirty="0">
                <a:solidFill>
                  <a:srgbClr val="000000"/>
                </a:solidFill>
                <a:ea typeface="Calibri"/>
                <a:cs typeface="Arial" panose="020B0604020202020204" pitchFamily="34" charset="0"/>
              </a:rPr>
              <a:t>Alcance de la práctica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93F4AA-8F1B-48D3-977A-A775FD4DC8FA}"/>
              </a:ext>
            </a:extLst>
          </p:cNvPr>
          <p:cNvSpPr>
            <a:spLocks noGrp="1"/>
          </p:cNvSpPr>
          <p:nvPr/>
        </p:nvSpPr>
        <p:spPr>
          <a:xfrm>
            <a:off x="810126" y="1609724"/>
            <a:ext cx="10515600" cy="4883151"/>
          </a:xfrm>
          <a:prstGeom prst="rect">
            <a:avLst/>
          </a:prstGeom>
          <a:noFill/>
        </p:spPr>
        <p:txBody>
          <a:bodyPr vert="horz" wrap="square" anchor="t">
            <a:normAutofit lnSpcReduction="10000"/>
          </a:bodyPr>
          <a:lstStyle>
            <a:lvl1pPr algn="just">
              <a:buNone/>
              <a:defRPr sz="2800"/>
            </a:lvl1pPr>
          </a:lstStyle>
          <a:p>
            <a:pPr>
              <a:spcAft>
                <a:spcPts val="600"/>
              </a:spcAft>
            </a:pPr>
            <a:r>
              <a:rPr lang="es-MX" dirty="0"/>
              <a:t>La práctica comprende el uso de Microsoft Project, Jira, Trello y monday.com en los proyectos de Brandon, Josefina y Roberto</a:t>
            </a:r>
            <a:r>
              <a:rPr lang="es-MX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Aft>
                <a:spcPts val="600"/>
              </a:spcAft>
            </a:pPr>
            <a:endParaRPr lang="es-MX" dirty="0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lang="es-MX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Incluye:</a:t>
            </a:r>
          </a:p>
          <a:p>
            <a:pPr>
              <a:spcAft>
                <a:spcPts val="600"/>
              </a:spcAft>
            </a:pPr>
            <a:r>
              <a:rPr lang="es-MX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Comparación de funciones, ventajas y limitaciones.</a:t>
            </a:r>
          </a:p>
          <a:p>
            <a:pPr>
              <a:spcAft>
                <a:spcPts val="600"/>
              </a:spcAft>
            </a:pPr>
            <a:r>
              <a:rPr lang="es-MX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Duración del plan gratuito o periodo de prueba.</a:t>
            </a:r>
          </a:p>
          <a:p>
            <a:pPr>
              <a:spcAft>
                <a:spcPts val="600"/>
              </a:spcAft>
            </a:pPr>
            <a:r>
              <a:rPr lang="es-MX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Revisión de cronogramas y diagramas de Gantt.</a:t>
            </a:r>
          </a:p>
          <a:p>
            <a:pPr>
              <a:spcAft>
                <a:spcPts val="600"/>
              </a:spcAft>
            </a:pPr>
            <a:r>
              <a:rPr lang="es-MX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Organización mediante épicas, tareas, listas y tarjetas.</a:t>
            </a:r>
          </a:p>
          <a:p>
            <a:pPr>
              <a:spcAft>
                <a:spcPts val="600"/>
              </a:spcAft>
            </a:pPr>
            <a:r>
              <a:rPr lang="es-MX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Comprobación de fechas, estados y evidencias.</a:t>
            </a:r>
          </a:p>
          <a:p>
            <a:pPr>
              <a:spcAft>
                <a:spcPts val="600"/>
              </a:spcAft>
            </a:pPr>
            <a:r>
              <a:rPr lang="es-MX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Registro de actividades en una bitácora.</a:t>
            </a:r>
          </a:p>
        </p:txBody>
      </p:sp>
    </p:spTree>
    <p:extLst>
      <p:ext uri="{BB962C8B-B14F-4D97-AF65-F5344CB8AC3E}">
        <p14:creationId xmlns:p14="http://schemas.microsoft.com/office/powerpoint/2010/main" val="184508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FF25C0CF-575D-9E89-9096-9AACEF4706EB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Proyectos Gestionados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="548640" y="1371600"/>
          <a:ext cx="11064240" cy="2209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chemeClr val="tx1"/>
                          </a:solidFill>
                        </a:rPr>
                        <a:t>Proyecto</a:t>
                      </a:r>
                      <a:endParaRPr lang="es-MX" sz="1300" noProof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chemeClr val="tx1"/>
                          </a:solidFill>
                        </a:rPr>
                        <a:t>Responsable</a:t>
                      </a:r>
                      <a:endParaRPr lang="es-MX" sz="1300" noProof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chemeClr val="tx1"/>
                          </a:solidFill>
                        </a:rPr>
                        <a:t>Periodo</a:t>
                      </a:r>
                      <a:endParaRPr lang="es-MX" sz="1300" noProof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chemeClr val="tx1"/>
                          </a:solidFill>
                        </a:rPr>
                        <a:t>Objetivo del ejercicio</a:t>
                      </a:r>
                      <a:endParaRPr lang="es-MX" sz="1300" noProof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Taller mecánico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Brandon </a:t>
                      </a:r>
                      <a:r>
                        <a:rPr lang="es-MX" sz="1800" noProof="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Farith</a:t>
                      </a: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López Nanga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8 semanas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Revisar cronograma, actividades y evidencias.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Planta embotelladora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Josefina Nieto Hernández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8 semanas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Comprobar modelo, pruebas y seguimiento.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Taller de electrónica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Roberto Carlos </a:t>
                      </a:r>
                      <a:r>
                        <a:rPr lang="es-MX" sz="1800" noProof="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Cahuare</a:t>
                      </a: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Moreno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8 semanas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Verificar implementación, pruebas y reporte.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52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79426-6B7C-BABC-05A1-74D6EB28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623" y="112599"/>
            <a:ext cx="10450324" cy="9364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kern="0" dirty="0">
                <a:solidFill>
                  <a:srgbClr val="000000"/>
                </a:solidFill>
                <a:ea typeface="Calibri"/>
                <a:cs typeface="Arial" panose="020B0604020202020204" pitchFamily="34" charset="0"/>
              </a:rPr>
              <a:t>Herramientas en comparación</a:t>
            </a:r>
          </a:p>
        </p:txBody>
      </p:sp>
      <p:pic>
        <p:nvPicPr>
          <p:cNvPr id="10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767" y="1822566"/>
            <a:ext cx="3430400" cy="1929600"/>
          </a:xfrm>
          <a:prstGeom prst="rect">
            <a:avLst/>
          </a:prstGeom>
        </p:spPr>
      </p:pic>
      <p:pic>
        <p:nvPicPr>
          <p:cNvPr id="11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969" y="4621612"/>
            <a:ext cx="3430400" cy="1929600"/>
          </a:xfrm>
          <a:prstGeom prst="rect">
            <a:avLst/>
          </a:prstGeom>
        </p:spPr>
      </p:pic>
      <p:pic>
        <p:nvPicPr>
          <p:cNvPr id="12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969" y="1822566"/>
            <a:ext cx="3430400" cy="19296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3FE8F4C-7787-F0FB-2513-9B891508C4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90768" y="4511390"/>
            <a:ext cx="3430399" cy="19296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8C2F540-9D06-E03E-C27E-318FDCBCB347}"/>
              </a:ext>
            </a:extLst>
          </p:cNvPr>
          <p:cNvSpPr txBox="1"/>
          <p:nvPr/>
        </p:nvSpPr>
        <p:spPr>
          <a:xfrm>
            <a:off x="1344519" y="1162136"/>
            <a:ext cx="3543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s-MX" sz="1800" b="1" noProof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Microsoft Project: fechas, duración, dependencias y diagrama de Gantt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1DED57-DCE5-400A-0432-07B633394199}"/>
              </a:ext>
            </a:extLst>
          </p:cNvPr>
          <p:cNvSpPr txBox="1"/>
          <p:nvPr/>
        </p:nvSpPr>
        <p:spPr>
          <a:xfrm>
            <a:off x="6391275" y="1255197"/>
            <a:ext cx="343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s-MX" sz="1800" b="1" noProof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Jira: épicas, actividades, responsables y estados</a:t>
            </a:r>
            <a:endParaRPr lang="es-MX" sz="1800" b="1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D9760E4-1785-A0F7-26F7-67AC978D1E6C}"/>
              </a:ext>
            </a:extLst>
          </p:cNvPr>
          <p:cNvSpPr txBox="1"/>
          <p:nvPr/>
        </p:nvSpPr>
        <p:spPr>
          <a:xfrm>
            <a:off x="1400969" y="3975281"/>
            <a:ext cx="3543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s-MX" sz="1800" b="1" noProof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Trello: listas, tarjetas, comentarios y evidencias</a:t>
            </a:r>
            <a:endParaRPr lang="es-MX" sz="1800" b="1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62A2DD4-15B3-30D7-4BAB-46F11F196A97}"/>
              </a:ext>
            </a:extLst>
          </p:cNvPr>
          <p:cNvSpPr txBox="1"/>
          <p:nvPr/>
        </p:nvSpPr>
        <p:spPr>
          <a:xfrm>
            <a:off x="6476659" y="3879347"/>
            <a:ext cx="3444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s-MX" sz="1800" b="1" noProof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monday.com: tableros, estados, responsables y vista de Gantt</a:t>
            </a:r>
            <a:endParaRPr lang="es-MX" sz="1800" b="1" noProof="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513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6B3809-4174-4CAB-BFFA-F5522524B144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Procedimientos</a:t>
            </a:r>
          </a:p>
        </p:txBody>
      </p:sp>
      <p:graphicFrame>
        <p:nvGraphicFramePr>
          <p:cNvPr id="5" name="Table 0"/>
          <p:cNvGraphicFramePr/>
          <p:nvPr>
            <p:extLst>
              <p:ext uri="{D42A27DB-BD31-4B8C-83A1-F6EECF244321}">
                <p14:modId xmlns:p14="http://schemas.microsoft.com/office/powerpoint/2010/main" val="2014410338"/>
              </p:ext>
            </p:extLst>
          </p:nvPr>
        </p:nvGraphicFramePr>
        <p:xfrm>
          <a:off x="563880" y="2162175"/>
          <a:ext cx="11064240" cy="219456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914400">
                        <a:buNone/>
                      </a:pPr>
                      <a:r>
                        <a:rPr lang="es-MX" sz="1800" b="1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Paso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buNone/>
                      </a:pPr>
                      <a:r>
                        <a:rPr lang="es-MX" sz="1800" b="1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Aplicación 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Identificar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Reconocer la necesidad que debe resolverse.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Seleccionar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lang="es-MX" dirty="0"/>
                        <a:t>Elegir Microsoft Project, Jira, Trello o monday.com según la necesidad</a:t>
                      </a:r>
                      <a:endParaRPr lang="es-MX" sz="1800" noProof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Ejecutar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Abrir el proyecto y realizar la comprobación.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Comparar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Contrastar actividades, fechas, estados y evidencias.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Registrar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Anotar el resultado y agregar una captura.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8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3197E8-2295-42B6-BDA5-9B31B0DA06B1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Planes gratuitos y periodos de prueba</a:t>
            </a:r>
          </a:p>
        </p:txBody>
      </p:sp>
      <p:graphicFrame>
        <p:nvGraphicFramePr>
          <p:cNvPr id="15" name="Table 0"/>
          <p:cNvGraphicFramePr/>
          <p:nvPr>
            <p:extLst>
              <p:ext uri="{D42A27DB-BD31-4B8C-83A1-F6EECF244321}">
                <p14:modId xmlns:p14="http://schemas.microsoft.com/office/powerpoint/2010/main" val="1877472358"/>
              </p:ext>
            </p:extLst>
          </p:nvPr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/>
              <a:tblGrid>
                <a:gridCol w="1918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1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Herramienta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PLan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Duración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Microsoft Project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Prueba de Project Plan 3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Un mes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Jira Cloud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Plan Free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Sin límite; hasta 10 usuarios.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Trello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Plan Free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Sin límite de tiempo.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noProof="0" dirty="0">
                          <a:latin typeface="Calibri"/>
                          <a:ea typeface="Calibri"/>
                          <a:cs typeface="Calibri"/>
                        </a:rPr>
                        <a:t>monday.com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latin typeface="Calibri"/>
                          <a:ea typeface="Calibri"/>
                          <a:cs typeface="Calibri"/>
                        </a:rPr>
                        <a:t>Plan Free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>
                          <a:latin typeface="Calibri"/>
                          <a:ea typeface="Calibri"/>
                          <a:cs typeface="Calibri"/>
                        </a:rPr>
                        <a:t>Sin limite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09C72CD3-99EF-4A55-A7D4-1256207D1E14}"/>
              </a:ext>
            </a:extLst>
          </p:cNvPr>
          <p:cNvSpPr>
            <a:spLocks noGrp="1"/>
          </p:cNvSpPr>
          <p:nvPr/>
        </p:nvSpPr>
        <p:spPr>
          <a:xfrm>
            <a:off x="548640" y="4269322"/>
            <a:ext cx="8671560" cy="4741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buNone/>
              <a:defRPr sz="1500">
                <a:latin typeface="Calibri"/>
                <a:ea typeface="Calibri"/>
                <a:cs typeface="Calibri"/>
              </a:defRPr>
            </a:pPr>
            <a:r>
              <a:rPr lang="es-MX" sz="1400" b="1" noProof="0" dirty="0">
                <a:latin typeface="Calibri"/>
                <a:ea typeface="Calibri"/>
                <a:cs typeface="Calibri"/>
              </a:rPr>
              <a:t>Jira Free, Trello Free y monday.com Free son planes permanentes. Microsoft Project ofrece una prueba de un mes y Trello Premium una prueba de 14 días.</a:t>
            </a:r>
            <a:endParaRPr lang="es-MX" sz="1400" noProof="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CD94F63-71CC-41DC-921D-70DA2DD15454}"/>
              </a:ext>
            </a:extLst>
          </p:cNvPr>
          <p:cNvSpPr>
            <a:spLocks noGrp="1"/>
          </p:cNvSpPr>
          <p:nvPr/>
        </p:nvSpPr>
        <p:spPr>
          <a:xfrm>
            <a:off x="685800" y="5120639"/>
            <a:ext cx="1872615" cy="889635"/>
          </a:xfrm>
          <a:prstGeom prst="roundRect">
            <a:avLst>
              <a:gd name="adj" fmla="val 8421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D07B5FF-04D9-4BAE-97DE-6336C292AC0F}"/>
              </a:ext>
            </a:extLst>
          </p:cNvPr>
          <p:cNvSpPr>
            <a:spLocks noGrp="1"/>
          </p:cNvSpPr>
          <p:nvPr/>
        </p:nvSpPr>
        <p:spPr>
          <a:xfrm>
            <a:off x="685800" y="5120639"/>
            <a:ext cx="1872615" cy="88963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lang="es-MX" sz="1650" b="1" noProof="0" dirty="0">
                <a:latin typeface="Calibri"/>
                <a:ea typeface="Calibri"/>
                <a:cs typeface="Calibri"/>
              </a:rPr>
              <a:t>PLANIFICACIÓN</a:t>
            </a:r>
            <a:endParaRPr lang="es-MX" sz="2000" noProof="0" dirty="0"/>
          </a:p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lang="es-MX" sz="1650" noProof="0" dirty="0">
                <a:latin typeface="Calibri"/>
                <a:ea typeface="Calibri"/>
                <a:cs typeface="Calibri"/>
              </a:rPr>
              <a:t>Microsoft Project</a:t>
            </a:r>
            <a:endParaRPr lang="es-MX" sz="1500" noProof="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3BC8B60-805C-45AF-8A36-75C4A2C91F4A}"/>
              </a:ext>
            </a:extLst>
          </p:cNvPr>
          <p:cNvSpPr>
            <a:spLocks noGrp="1"/>
          </p:cNvSpPr>
          <p:nvPr/>
        </p:nvSpPr>
        <p:spPr>
          <a:xfrm>
            <a:off x="2750820" y="5133022"/>
            <a:ext cx="1872615" cy="889635"/>
          </a:xfrm>
          <a:prstGeom prst="roundRect">
            <a:avLst>
              <a:gd name="adj" fmla="val 8421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13A7136-4A6B-4D8F-95B0-0A1F971AADD3}"/>
              </a:ext>
            </a:extLst>
          </p:cNvPr>
          <p:cNvSpPr>
            <a:spLocks noGrp="1"/>
          </p:cNvSpPr>
          <p:nvPr/>
        </p:nvSpPr>
        <p:spPr>
          <a:xfrm>
            <a:off x="2750820" y="5184675"/>
            <a:ext cx="1872615" cy="88963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lang="es-MX" sz="1650" b="1" noProof="0" dirty="0">
                <a:latin typeface="Calibri"/>
                <a:ea typeface="Calibri"/>
                <a:cs typeface="Calibri"/>
              </a:rPr>
              <a:t>ORGANIZACIÓN</a:t>
            </a:r>
            <a:endParaRPr lang="es-MX" sz="2000" noProof="0" dirty="0"/>
          </a:p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lang="es-MX" sz="1650" noProof="0" dirty="0">
                <a:latin typeface="Calibri"/>
                <a:ea typeface="Calibri"/>
                <a:cs typeface="Calibri"/>
              </a:rPr>
              <a:t>Jira</a:t>
            </a:r>
            <a:endParaRPr lang="es-MX" sz="2000" noProof="0" dirty="0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950DCB18-FEAC-494B-895D-BBEE1374AC9D}"/>
              </a:ext>
            </a:extLst>
          </p:cNvPr>
          <p:cNvSpPr>
            <a:spLocks noGrp="1"/>
          </p:cNvSpPr>
          <p:nvPr/>
        </p:nvSpPr>
        <p:spPr>
          <a:xfrm>
            <a:off x="4806315" y="5116828"/>
            <a:ext cx="1872615" cy="889635"/>
          </a:xfrm>
          <a:prstGeom prst="roundRect">
            <a:avLst>
              <a:gd name="adj" fmla="val 8421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4230D0C-2789-4AF2-BFD2-B6ED126BC644}"/>
              </a:ext>
            </a:extLst>
          </p:cNvPr>
          <p:cNvSpPr>
            <a:spLocks noGrp="1"/>
          </p:cNvSpPr>
          <p:nvPr/>
        </p:nvSpPr>
        <p:spPr>
          <a:xfrm>
            <a:off x="4806315" y="5116828"/>
            <a:ext cx="1872615" cy="88963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lang="es-MX" sz="1650" b="1" noProof="0" dirty="0">
                <a:latin typeface="Calibri"/>
                <a:ea typeface="Calibri"/>
                <a:cs typeface="Calibri"/>
              </a:rPr>
              <a:t>SEGUIMIENTO</a:t>
            </a:r>
            <a:endParaRPr lang="es-MX" sz="2000" noProof="0" dirty="0"/>
          </a:p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lang="es-MX" sz="1650" noProof="0" dirty="0">
                <a:latin typeface="Calibri"/>
                <a:ea typeface="Calibri"/>
                <a:cs typeface="Calibri"/>
              </a:rPr>
              <a:t>Trello</a:t>
            </a:r>
            <a:endParaRPr lang="es-MX" sz="2000" noProof="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BA4D13F-07D5-4861-814C-CC15265EDE9C}"/>
              </a:ext>
            </a:extLst>
          </p:cNvPr>
          <p:cNvSpPr>
            <a:spLocks noGrp="1"/>
          </p:cNvSpPr>
          <p:nvPr/>
        </p:nvSpPr>
        <p:spPr>
          <a:xfrm>
            <a:off x="9069705" y="5105397"/>
            <a:ext cx="1872615" cy="889635"/>
          </a:xfrm>
          <a:prstGeom prst="roundRect">
            <a:avLst>
              <a:gd name="adj" fmla="val 8421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737FC98-8CA8-43F7-8C6C-B76702F1BB31}"/>
              </a:ext>
            </a:extLst>
          </p:cNvPr>
          <p:cNvSpPr>
            <a:spLocks noGrp="1"/>
          </p:cNvSpPr>
          <p:nvPr/>
        </p:nvSpPr>
        <p:spPr>
          <a:xfrm>
            <a:off x="9069705" y="5133022"/>
            <a:ext cx="1872615" cy="88963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lang="es-MX" sz="1650" b="1" noProof="0" dirty="0">
                <a:latin typeface="Calibri"/>
                <a:ea typeface="Calibri"/>
                <a:cs typeface="Calibri"/>
              </a:rPr>
              <a:t>CO</a:t>
            </a:r>
            <a:r>
              <a:rPr lang="es-MX" sz="1650" b="1" dirty="0">
                <a:latin typeface="Calibri"/>
                <a:ea typeface="Calibri"/>
                <a:cs typeface="Calibri"/>
              </a:rPr>
              <a:t>MPROBACION</a:t>
            </a:r>
            <a:endParaRPr lang="es-MX" sz="2000" noProof="0" dirty="0"/>
          </a:p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lang="es-MX" sz="1650" noProof="0" dirty="0">
                <a:latin typeface="Calibri"/>
                <a:ea typeface="Calibri"/>
                <a:cs typeface="Calibri"/>
              </a:rPr>
              <a:t>Información coincidente</a:t>
            </a:r>
            <a:endParaRPr lang="es-MX" sz="2000" noProof="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7F6EECC-6449-4A27-FD56-373B8AE3151A}"/>
              </a:ext>
            </a:extLst>
          </p:cNvPr>
          <p:cNvSpPr>
            <a:spLocks noGrp="1"/>
          </p:cNvSpPr>
          <p:nvPr/>
        </p:nvSpPr>
        <p:spPr>
          <a:xfrm>
            <a:off x="6938010" y="5116828"/>
            <a:ext cx="1872615" cy="889635"/>
          </a:xfrm>
          <a:prstGeom prst="roundRect">
            <a:avLst>
              <a:gd name="adj" fmla="val 8421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1354E48-F8E2-69BC-EB1D-0E0D18149909}"/>
              </a:ext>
            </a:extLst>
          </p:cNvPr>
          <p:cNvSpPr>
            <a:spLocks noGrp="1"/>
          </p:cNvSpPr>
          <p:nvPr/>
        </p:nvSpPr>
        <p:spPr>
          <a:xfrm>
            <a:off x="6938010" y="5116828"/>
            <a:ext cx="1872615" cy="88963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lang="es-MX" sz="1650" b="1" dirty="0">
                <a:latin typeface="Calibri"/>
                <a:ea typeface="Calibri"/>
                <a:cs typeface="Calibri"/>
              </a:rPr>
              <a:t>REGISTRO</a:t>
            </a:r>
            <a:endParaRPr lang="es-MX" sz="2000" noProof="0" dirty="0"/>
          </a:p>
          <a:p>
            <a:pPr marL="0" indent="0" algn="ctr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lang="es-MX" sz="1650" dirty="0">
                <a:latin typeface="Calibri"/>
                <a:ea typeface="Calibri"/>
                <a:cs typeface="Calibri"/>
              </a:rPr>
              <a:t>Monday.com</a:t>
            </a:r>
            <a:endParaRPr lang="es-MX" sz="2000" noProof="0" dirty="0"/>
          </a:p>
        </p:txBody>
      </p:sp>
    </p:spTree>
    <p:extLst>
      <p:ext uri="{BB962C8B-B14F-4D97-AF65-F5344CB8AC3E}">
        <p14:creationId xmlns:p14="http://schemas.microsoft.com/office/powerpoint/2010/main" val="1854738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C33200D-7D80-6254-1737-E88C15B1996C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Tabla comparativa de Microsoft Project, Jira, Trello y monday.com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400050" y="1285875"/>
          <a:ext cx="11391900" cy="407670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s-MX" sz="12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Herramienta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Función principal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Ventajas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Limitaciones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Aplicación en la práctica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Acceso inicial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Microsoft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Planificar fechas, duración y dependencias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Gantt detallado y control del cronograma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Requiere licencia y mayor aprendizaje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Cronogramas de Brandon, Josefina y Roberto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Prueba de un 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Jira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Organizar proyectos con épicas y actividades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Estados, responsables, historial y evidencias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Configuración inicial más técnica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Tres épicas: SCRUM-5, SCRUM-6 y SCRUM-7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+mn-lt"/>
                          <a:ea typeface="Calibri"/>
                          <a:cs typeface="Calibri"/>
                        </a:rPr>
                        <a:t>Free permanente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Trello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Dar seguimiento visual con listas y tarjetas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Uso sencillo, comentarios y archivos adjuntos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Menor control de dependencias complejas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Seguimiento de avances y evidencias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Free permanente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monday.com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Controlar actividades, estados y responsables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Tableros visuales y vista de Gantt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Plan Free limitado a 2 usuarios y 3 tableros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Control de fechas y comparación del cronograma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Free permanente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omparison-note">
            <a:extLst>
              <a:ext uri="{FF2B5EF4-FFF2-40B4-BE49-F238E27FC236}">
                <a16:creationId xmlns:a16="http://schemas.microsoft.com/office/drawing/2014/main" id="{547FA5A6-FA8A-417E-A807-C4EA2CC68038}"/>
              </a:ext>
            </a:extLst>
          </p:cNvPr>
          <p:cNvSpPr>
            <a:spLocks noGrp="1"/>
          </p:cNvSpPr>
          <p:nvPr/>
        </p:nvSpPr>
        <p:spPr>
          <a:xfrm>
            <a:off x="548640" y="5619750"/>
            <a:ext cx="1106424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s-MX" sz="1425" b="1" noProof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 selección depende de la necesidad: Project para planificar, Jira para organizar, Trello para seguimiento visual y monday.com para controlar avances y fechas.</a:t>
            </a:r>
          </a:p>
        </p:txBody>
      </p:sp>
    </p:spTree>
    <p:extLst>
      <p:ext uri="{BB962C8B-B14F-4D97-AF65-F5344CB8AC3E}">
        <p14:creationId xmlns:p14="http://schemas.microsoft.com/office/powerpoint/2010/main" val="3614246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E3018B-266E-435B-A9E0-2AA4CAD2C770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Microsoft Project — Brandon</a:t>
            </a:r>
          </a:p>
        </p:txBody>
      </p:sp>
      <p:graphicFrame>
        <p:nvGraphicFramePr>
          <p:cNvPr id="8" name="Table 0"/>
          <p:cNvGraphicFramePr/>
          <p:nvPr/>
        </p:nvGraphicFramePr>
        <p:xfrm>
          <a:off x="548640" y="1371600"/>
          <a:ext cx="10149840" cy="8534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2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Código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Actividad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Duración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Inicio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Fin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Predecesora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noProof="0" dirty="0"/>
                        <a:t>B01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Plan del taller mecánico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8 </a:t>
                      </a:r>
                      <a:r>
                        <a:rPr lang="es-MX" noProof="0" dirty="0" err="1"/>
                        <a:t>sem</a:t>
                      </a:r>
                      <a:r>
                        <a:rPr lang="es-MX" noProof="0" dirty="0"/>
                        <a:t>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17/08/26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11/10/26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Cronograma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64AEBB22-3FEA-41A1-87E4-5374C02CAF1A}"/>
              </a:ext>
            </a:extLst>
          </p:cNvPr>
          <p:cNvSpPr>
            <a:spLocks noGrp="1"/>
          </p:cNvSpPr>
          <p:nvPr/>
        </p:nvSpPr>
        <p:spPr>
          <a:xfrm>
            <a:off x="548640" y="3400256"/>
            <a:ext cx="5385435" cy="1800394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just">
              <a:spcAft>
                <a:spcPts val="600"/>
              </a:spcAft>
            </a:pPr>
            <a:r>
              <a:rPr lang="es-MX" sz="2000" dirty="0"/>
              <a:t>Se abrió el archivo </a:t>
            </a:r>
            <a:r>
              <a:rPr lang="es-MX" sz="2000" dirty="0" err="1"/>
              <a:t>TablaBrandon_Microsoft</a:t>
            </a:r>
            <a:r>
              <a:rPr lang="es-MX" sz="2000" dirty="0"/>
              <a:t> </a:t>
            </a:r>
            <a:r>
              <a:rPr lang="es-MX" sz="2000" dirty="0" err="1"/>
              <a:t>Project.mpp</a:t>
            </a:r>
            <a:r>
              <a:rPr lang="es-MX" sz="2000" dirty="0"/>
              <a:t> para confirmar las actividades, la duración, las fechas de comienzo y fin, y las predecesoras. El cronograma conserva una duración total de ocho semanas y una secuencia lógica.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9B85C4-E4CA-0D5F-9F54-1B1F90405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31518"/>
            <a:ext cx="5571065" cy="313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1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FA58E4-EA1F-4953-BFA4-0F01E829C2E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Microsoft Project — Josefina</a:t>
            </a:r>
          </a:p>
        </p:txBody>
      </p:sp>
      <p:graphicFrame>
        <p:nvGraphicFramePr>
          <p:cNvPr id="8" name="Table 0"/>
          <p:cNvGraphicFramePr/>
          <p:nvPr/>
        </p:nvGraphicFramePr>
        <p:xfrm>
          <a:off x="548640" y="1371600"/>
          <a:ext cx="10149840" cy="15849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1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Código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Actividad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Duración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Inicio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Fin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Predecesora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noProof="0" dirty="0"/>
                        <a:t>J01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Parámetros y recursos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2 </a:t>
                      </a:r>
                      <a:r>
                        <a:rPr lang="es-MX" noProof="0" dirty="0" err="1"/>
                        <a:t>sem</a:t>
                      </a:r>
                      <a:r>
                        <a:rPr lang="es-MX" noProof="0" dirty="0"/>
                        <a:t>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17/08/26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30/08/26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Inicio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noProof="0" dirty="0"/>
                        <a:t>J02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Modelo y pruebas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5 </a:t>
                      </a:r>
                      <a:r>
                        <a:rPr lang="es-MX" noProof="0" dirty="0" err="1"/>
                        <a:t>sem</a:t>
                      </a:r>
                      <a:r>
                        <a:rPr lang="es-MX" noProof="0" dirty="0"/>
                        <a:t>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31/08/26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04/10/26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J01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noProof="0" dirty="0"/>
                        <a:t>J03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Análisis y reporte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1 </a:t>
                      </a:r>
                      <a:r>
                        <a:rPr lang="es-MX" noProof="0" dirty="0" err="1"/>
                        <a:t>sem</a:t>
                      </a:r>
                      <a:r>
                        <a:rPr lang="es-MX" noProof="0" dirty="0"/>
                        <a:t>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05/10/26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11/10/26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J02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F7652485-D80B-444A-AA98-0825E93C76AF}"/>
              </a:ext>
            </a:extLst>
          </p:cNvPr>
          <p:cNvSpPr>
            <a:spLocks noGrp="1"/>
          </p:cNvSpPr>
          <p:nvPr/>
        </p:nvSpPr>
        <p:spPr>
          <a:xfrm>
            <a:off x="649340" y="3996690"/>
            <a:ext cx="6296025" cy="129667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defRPr sz="1800">
                <a:latin typeface="Calibri"/>
                <a:ea typeface="Calibri"/>
                <a:cs typeface="Calibri"/>
              </a:defRPr>
            </a:pPr>
            <a:r>
              <a:rPr lang="es-MX" dirty="0">
                <a:latin typeface="Calibri"/>
              </a:rPr>
              <a:t>Se abrió el archivo </a:t>
            </a:r>
            <a:r>
              <a:rPr lang="es-MX" dirty="0" err="1">
                <a:latin typeface="Calibri"/>
              </a:rPr>
              <a:t>TablaJosefina_Microsoft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Project.mpp</a:t>
            </a:r>
            <a:r>
              <a:rPr lang="es-MX" dirty="0">
                <a:latin typeface="Calibri"/>
              </a:rPr>
              <a:t> para comprobar las actividades del modelo funcional y sus pruebas. Las fechas coinciden con el periodo asignado de ocho semanas.</a:t>
            </a:r>
            <a:endParaRPr lang="es-MX" sz="2000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B0D9EDA-D7F5-4E59-8103-96F8C4E4DFAC}"/>
              </a:ext>
            </a:extLst>
          </p:cNvPr>
          <p:cNvSpPr>
            <a:spLocks noGrp="1"/>
          </p:cNvSpPr>
          <p:nvPr/>
        </p:nvSpPr>
        <p:spPr>
          <a:xfrm>
            <a:off x="649340" y="5013960"/>
            <a:ext cx="6046735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endParaRPr lang="es-MX" dirty="0">
              <a:latin typeface="Calibri"/>
              <a:ea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2C331C9-9B99-6B20-8AA2-C014B0946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407" y="3429000"/>
            <a:ext cx="4605867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7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A5EC99-CD80-4FDF-83BF-D1EF72A65519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Microsoft Project — Roberto</a:t>
            </a:r>
          </a:p>
        </p:txBody>
      </p:sp>
      <p:graphicFrame>
        <p:nvGraphicFramePr>
          <p:cNvPr id="8" name="Table 0"/>
          <p:cNvGraphicFramePr/>
          <p:nvPr/>
        </p:nvGraphicFramePr>
        <p:xfrm>
          <a:off x="548640" y="1371600"/>
          <a:ext cx="1014984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2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4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Código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Actividad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Duración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Inicio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Fin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Predecesora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R01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Implementación y pruebas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 </a:t>
                      </a:r>
                      <a:r>
                        <a:rPr lang="es-MX" sz="1600" noProof="0" dirty="0" err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sem</a:t>
                      </a: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17/08/26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11/10/26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Cronograma</a:t>
                      </a:r>
                      <a:endParaRPr lang="es-MX" sz="16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5505E0F7-141D-4974-B520-8C9169E3627B}"/>
              </a:ext>
            </a:extLst>
          </p:cNvPr>
          <p:cNvSpPr>
            <a:spLocks noGrp="1"/>
          </p:cNvSpPr>
          <p:nvPr/>
        </p:nvSpPr>
        <p:spPr>
          <a:xfrm>
            <a:off x="685800" y="3073398"/>
            <a:ext cx="5410200" cy="1407162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just"/>
            <a:r>
              <a:rPr lang="es-MX" sz="2000" dirty="0"/>
              <a:t>Se revisaron las siete actividades del archivo </a:t>
            </a:r>
            <a:r>
              <a:rPr lang="es-MX" dirty="0" err="1"/>
              <a:t>TablaRoberto_Microsoft</a:t>
            </a:r>
            <a:r>
              <a:rPr lang="es-MX" dirty="0"/>
              <a:t> </a:t>
            </a:r>
            <a:r>
              <a:rPr lang="es-MX" dirty="0" err="1"/>
              <a:t>Project.mpp</a:t>
            </a:r>
            <a:r>
              <a:rPr lang="es-MX" sz="2000" dirty="0"/>
              <a:t>, desde el diagrama hasta el reporte final. Seis actividades duran siete días y la actividad final dura catorce días, completando ocho semanas.</a:t>
            </a:r>
            <a:endParaRPr lang="es-MX" sz="2000" dirty="0">
              <a:latin typeface="Calibri"/>
              <a:ea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534367-D006-2E08-B48B-890535984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215" y="2606038"/>
            <a:ext cx="56896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38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512940-A628-42FD-9EA6-27F7EAF5E811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Ejercicio 4: estructura del trabajo en Jira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685800" y="1277865"/>
          <a:ext cx="11064240" cy="1615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7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400" b="1" noProof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Elemento</a:t>
                      </a:r>
                      <a:endParaRPr lang="es-MX" sz="1400" noProof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400" b="1" noProof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Configuración</a:t>
                      </a:r>
                      <a:endParaRPr lang="es-MX" sz="1400" noProof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Resultado esperado</a:t>
                      </a:r>
                      <a:endParaRPr lang="es-MX" sz="1600" noProof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</a:rPr>
                        <a:t>Épicas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</a:rPr>
                        <a:t>SCRUM-5, SCRUM-6 y SCRUM-7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b="0" noProof="0" dirty="0">
                          <a:solidFill>
                            <a:schemeClr val="tx1"/>
                          </a:solidFill>
                        </a:rPr>
                        <a:t>Solo Josefina, Brandon y Roberto.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</a:rPr>
                        <a:t>Tareas</a:t>
                      </a:r>
                    </a:p>
                    <a:p>
                      <a:pPr algn="ctr">
                        <a:buNone/>
                      </a:pPr>
                      <a:endParaRPr lang="es-MX" sz="18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</a:rPr>
                        <a:t>Actividades de cada cronograma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b="0" noProof="0" dirty="0">
                          <a:solidFill>
                            <a:schemeClr val="tx1"/>
                          </a:solidFill>
                        </a:rPr>
                        <a:t>Responsable, estado y evidencia.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0B79C122-B5F4-D98F-0BDB-96EACC4A4A49}"/>
              </a:ext>
            </a:extLst>
          </p:cNvPr>
          <p:cNvSpPr>
            <a:spLocks noGrp="1"/>
          </p:cNvSpPr>
          <p:nvPr/>
        </p:nvSpPr>
        <p:spPr>
          <a:xfrm>
            <a:off x="872491" y="4420494"/>
            <a:ext cx="2747010" cy="106590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buNone/>
              <a:defRPr sz="1725">
                <a:latin typeface="Calibri"/>
                <a:ea typeface="Calibri"/>
                <a:cs typeface="Calibri"/>
              </a:defRPr>
            </a:pPr>
            <a:r>
              <a:rPr lang="es-MX" sz="1725" b="1" noProof="0" dirty="0">
                <a:latin typeface="Calibri"/>
                <a:ea typeface="Calibri"/>
                <a:cs typeface="Calibri"/>
              </a:rPr>
              <a:t>SCRUM-5: Josefina</a:t>
            </a:r>
          </a:p>
          <a:p>
            <a:pPr>
              <a:buNone/>
              <a:defRPr sz="1725">
                <a:latin typeface="Calibri"/>
                <a:ea typeface="Calibri"/>
                <a:cs typeface="Calibri"/>
              </a:defRPr>
            </a:pPr>
            <a:r>
              <a:rPr lang="es-MX" sz="1725" b="1" noProof="0" dirty="0">
                <a:latin typeface="Calibri"/>
                <a:ea typeface="Calibri"/>
                <a:cs typeface="Calibri"/>
              </a:rPr>
              <a:t>SCRUM-6: Brandon</a:t>
            </a:r>
          </a:p>
          <a:p>
            <a:pPr>
              <a:buNone/>
              <a:defRPr sz="1725">
                <a:latin typeface="Calibri"/>
                <a:ea typeface="Calibri"/>
                <a:cs typeface="Calibri"/>
              </a:defRPr>
            </a:pPr>
            <a:r>
              <a:rPr lang="es-MX" sz="1725" b="1" noProof="0" dirty="0">
                <a:latin typeface="Calibri"/>
                <a:ea typeface="Calibri"/>
                <a:cs typeface="Calibri"/>
              </a:rPr>
              <a:t>SCRUM-7: Roberto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C4AA82-054D-C97E-798C-AC9599BCE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090" y="3212547"/>
            <a:ext cx="5314950" cy="298965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C2EE99C-2C8C-6FB9-7B2A-435AA5B34045}"/>
              </a:ext>
            </a:extLst>
          </p:cNvPr>
          <p:cNvSpPr txBox="1"/>
          <p:nvPr/>
        </p:nvSpPr>
        <p:spPr>
          <a:xfrm>
            <a:off x="872490" y="3212547"/>
            <a:ext cx="4766310" cy="888705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>
            <a:defPPr>
              <a:defRPr lang="es-MX"/>
            </a:defPPr>
            <a:lvl1pPr algn="just">
              <a:defRPr sz="2000">
                <a:latin typeface="Calibri"/>
                <a:ea typeface="Calibri"/>
                <a:cs typeface="Calibri"/>
              </a:defRPr>
            </a:lvl1pPr>
          </a:lstStyle>
          <a:p>
            <a:r>
              <a:rPr lang="es-MX" dirty="0"/>
              <a:t>Se verifica que el tablero contenga solamente los tres proyectos de la práctica y que cada tarea tenga estado y responsable.</a:t>
            </a:r>
          </a:p>
        </p:txBody>
      </p:sp>
    </p:spTree>
    <p:extLst>
      <p:ext uri="{BB962C8B-B14F-4D97-AF65-F5344CB8AC3E}">
        <p14:creationId xmlns:p14="http://schemas.microsoft.com/office/powerpoint/2010/main" val="1875333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5FE99-993A-4865-998D-6B57EB240EA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Ejercicio 5: verificación en Jira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5260EBE-5216-4B3E-A27C-04832125562F}"/>
              </a:ext>
            </a:extLst>
          </p:cNvPr>
          <p:cNvSpPr>
            <a:spLocks noGrp="1"/>
          </p:cNvSpPr>
          <p:nvPr/>
        </p:nvSpPr>
        <p:spPr>
          <a:xfrm>
            <a:off x="5229304" y="3382738"/>
            <a:ext cx="2045885" cy="45289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725">
                <a:latin typeface="Calibri"/>
                <a:ea typeface="Calibri"/>
                <a:cs typeface="Calibri"/>
              </a:defRPr>
            </a:pPr>
            <a:r>
              <a:rPr lang="es-MX" sz="1725" b="1" dirty="0">
                <a:latin typeface="Calibri"/>
                <a:ea typeface="Calibri"/>
                <a:cs typeface="Calibri"/>
              </a:rPr>
              <a:t>SCRUM-6 a Brandon</a:t>
            </a:r>
            <a:endParaRPr lang="es-MX" noProof="0" dirty="0"/>
          </a:p>
        </p:txBody>
      </p:sp>
      <p:graphicFrame>
        <p:nvGraphicFramePr>
          <p:cNvPr id="10" name="Tabla 2"/>
          <p:cNvGraphicFramePr/>
          <p:nvPr/>
        </p:nvGraphicFramePr>
        <p:xfrm>
          <a:off x="838200" y="1143000"/>
          <a:ext cx="10515600" cy="146304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Proyecto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Épica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Contenido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Comprobación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Brandon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SCRUM-6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Taller mecánico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Estados y responsable.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Josefina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SCRUM-5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Planta embotelladora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Avances y bloqueos.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Roberto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SCRUM-7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Taller de electrónica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Pruebas y reporte.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26904A86-80A7-CA88-7764-85C503882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296" y="3792965"/>
            <a:ext cx="3546999" cy="199518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ACA5EA-9014-FAD7-59C7-52BC0D0F2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92965"/>
            <a:ext cx="3546999" cy="199518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3EE4C35-6B71-2386-7DF5-5349C5884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747" y="3792965"/>
            <a:ext cx="3547001" cy="199518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49F4DC60-806C-CCC0-A4BC-27A492712B97}"/>
              </a:ext>
            </a:extLst>
          </p:cNvPr>
          <p:cNvSpPr txBox="1"/>
          <p:nvPr/>
        </p:nvSpPr>
        <p:spPr>
          <a:xfrm>
            <a:off x="1311174" y="3382738"/>
            <a:ext cx="2361901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725" b="1" dirty="0">
                <a:latin typeface="Calibri"/>
                <a:ea typeface="Calibri"/>
                <a:cs typeface="Calibri"/>
              </a:rPr>
              <a:t>SCRUM-7 a Roberto</a:t>
            </a:r>
            <a:endParaRPr lang="es-MX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19BA475-C6B4-8B2E-13B1-B5DC74344F97}"/>
              </a:ext>
            </a:extLst>
          </p:cNvPr>
          <p:cNvSpPr txBox="1"/>
          <p:nvPr/>
        </p:nvSpPr>
        <p:spPr>
          <a:xfrm>
            <a:off x="8711844" y="3408691"/>
            <a:ext cx="2361901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725" b="1" dirty="0">
                <a:latin typeface="Calibri"/>
                <a:ea typeface="Calibri"/>
                <a:cs typeface="Calibri"/>
              </a:rPr>
              <a:t>SCRUM-5 a Josefina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39858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06293E-7E8E-414E-B9FA-F28A6813A10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Ejercicio 6: Uso de herramienta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/>
              <a:tblGrid>
                <a:gridCol w="5098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Necesidad</a:t>
                      </a:r>
                      <a:endParaRPr lang="es-MX" sz="1800" noProof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Herramienta recomendada</a:t>
                      </a:r>
                      <a:endParaRPr lang="es-MX" sz="1800" noProof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Programar fechas y dependencias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Microsoft Project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Organizar épicas y actividades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Jira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Revisar avances visualmente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Trello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noProof="0" dirty="0"/>
                        <a:t>Controlar estados, responsables y vista de Gantt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monday.com</a:t>
                      </a:r>
                      <a:endParaRPr lang="es-MX" sz="18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556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6E0BBE-9BE1-41D3-86E3-0571F9AD8F8B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Bitácora  por persona</a:t>
            </a:r>
          </a:p>
        </p:txBody>
      </p:sp>
      <p:graphicFrame>
        <p:nvGraphicFramePr>
          <p:cNvPr id="6" name="Tabla 5"/>
          <p:cNvGraphicFramePr/>
          <p:nvPr>
            <p:extLst>
              <p:ext uri="{D42A27DB-BD31-4B8C-83A1-F6EECF244321}">
                <p14:modId xmlns:p14="http://schemas.microsoft.com/office/powerpoint/2010/main" val="4208116849"/>
              </p:ext>
            </p:extLst>
          </p:nvPr>
        </p:nvGraphicFramePr>
        <p:xfrm>
          <a:off x="548640" y="1381125"/>
          <a:ext cx="11058525" cy="32385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s-MX" sz="135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Responsable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5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Proyecto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5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Último registro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5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Estado actual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5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Seguimiento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Brandon López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Taller mecánico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26/09/2026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Pendiente de 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Se solicitaron avances, actividades pendientes y evidencias.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Josefina Nieto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Planta embotelladora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26/09/2026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+mn-lt"/>
                          <a:ea typeface="Calibri"/>
                          <a:cs typeface="Calibri"/>
                        </a:rPr>
                        <a:t>Pendiente de respuesta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400" dirty="0"/>
                        <a:t>Informó que no pudo avanzar por problemas de salud. Se acordó continuar el seguimiento y esperar nuevas evidencias.</a:t>
                      </a:r>
                      <a:endParaRPr lang="es-MX" sz="1275" b="0" noProof="0" dirty="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Roberto </a:t>
                      </a:r>
                      <a:r>
                        <a:rPr lang="es-MX" sz="1275" b="0" noProof="0" dirty="0" err="1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Cahuare</a:t>
                      </a:r>
                      <a:endParaRPr lang="es-MX" sz="1275" b="0" noProof="0" dirty="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Taller de electrónica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26/09/2026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Pendiente de 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75" b="0" noProof="0" dirty="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Se solicitaron avances, actividades pendientes y evidencias.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957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7D87BA-2935-58C8-5BFD-9ED9ABDCFB4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Bitácora de actividades — Parte 1</a:t>
            </a:r>
          </a:p>
        </p:txBody>
      </p:sp>
      <p:graphicFrame>
        <p:nvGraphicFramePr>
          <p:cNvPr id="7" name="Table 0"/>
          <p:cNvGraphicFramePr/>
          <p:nvPr>
            <p:extLst>
              <p:ext uri="{D42A27DB-BD31-4B8C-83A1-F6EECF244321}">
                <p14:modId xmlns:p14="http://schemas.microsoft.com/office/powerpoint/2010/main" val="3743356609"/>
              </p:ext>
            </p:extLst>
          </p:nvPr>
        </p:nvGraphicFramePr>
        <p:xfrm>
          <a:off x="548640" y="1371600"/>
          <a:ext cx="10424160" cy="20726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0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Fecha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Actividad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Herramienta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Resultado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21/09/2026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Solicitud de avances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/>
                        <a:t>WhatsApp</a:t>
                      </a:r>
                      <a:endParaRPr lang="es-MX" sz="1600" kern="1200" noProof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Mensaje enviado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22/09/2026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Respuesta de Josefina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WhatsApp, monday.com, Jira y Trello.</a:t>
                      </a:r>
                      <a:endParaRPr lang="es-MX" sz="1600" kern="1200" noProof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Informó que no pudo avanzar por problemas de salud. Se actualizaron las plataformas de seguimiento.</a:t>
                      </a:r>
                      <a:endParaRPr lang="es-MX" sz="1600" noProof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26/09/2026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Depuración de proyectos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 dirty="0"/>
                        <a:t>Jira</a:t>
                      </a:r>
                      <a:endParaRPr lang="es-MX" sz="1600" kern="1200" noProof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Solo tres proyectos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37229C96-B652-04B7-29EC-3172F5EF1383}"/>
              </a:ext>
            </a:extLst>
          </p:cNvPr>
          <p:cNvSpPr>
            <a:spLocks noGrp="1"/>
          </p:cNvSpPr>
          <p:nvPr/>
        </p:nvSpPr>
        <p:spPr>
          <a:xfrm>
            <a:off x="685800" y="4883230"/>
            <a:ext cx="1078992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  <a:defRPr sz="1725">
                <a:latin typeface="Calibri"/>
                <a:ea typeface="Calibri"/>
                <a:cs typeface="Calibri"/>
              </a:defRPr>
            </a:pPr>
            <a:r>
              <a:rPr lang="es-MX" sz="1725" b="1" noProof="0" dirty="0">
                <a:latin typeface="Calibri"/>
                <a:ea typeface="Calibri"/>
                <a:cs typeface="Calibri"/>
              </a:rPr>
              <a:t>La bitácora registra la fecha, la actividad, la herramienta utilizada y el resultado obtenido.</a:t>
            </a:r>
          </a:p>
        </p:txBody>
      </p:sp>
    </p:spTree>
    <p:extLst>
      <p:ext uri="{BB962C8B-B14F-4D97-AF65-F5344CB8AC3E}">
        <p14:creationId xmlns:p14="http://schemas.microsoft.com/office/powerpoint/2010/main" val="3645736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B2D3C4-8A84-4781-B337-D3FA0E5938B1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Bitácora de actividades — Parte 2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548640" y="1371600"/>
          <a:ext cx="11064240" cy="17678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3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Fecha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Proyecto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Registro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17/08/2026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Tres proyectos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Inicio y revisión de actas.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01/09/2026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Tres proyectos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Revisión de evidencias.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15/09/2026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400" noProof="0" dirty="0"/>
                        <a:t>Tres proyectos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Revisión de tableros.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22/09/2026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Josefina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Sin avance por salud.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27/09/2026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Rafael Aquino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400" noProof="0" dirty="0"/>
                        <a:t>Banco de ejercicios.</a:t>
                      </a:r>
                      <a:endParaRPr lang="es-MX" sz="1300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9CB1D6BE-E24E-4C07-82BF-C277AAFD92B7}"/>
              </a:ext>
            </a:extLst>
          </p:cNvPr>
          <p:cNvSpPr>
            <a:spLocks noGrp="1"/>
          </p:cNvSpPr>
          <p:nvPr/>
        </p:nvSpPr>
        <p:spPr>
          <a:xfrm>
            <a:off x="685800" y="4617720"/>
            <a:ext cx="1078992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algn="l">
              <a:buNone/>
              <a:defRPr sz="1400">
                <a:latin typeface="Calibri"/>
                <a:ea typeface="Calibri"/>
                <a:cs typeface="Calibri"/>
              </a:defRPr>
            </a:pPr>
            <a:r>
              <a:rPr lang="es-MX" sz="1400" b="1" noProof="0" dirty="0">
                <a:latin typeface="Calibri"/>
                <a:ea typeface="Calibri"/>
                <a:cs typeface="Calibri"/>
              </a:rPr>
              <a:t>La bitácora debe actualizarse cuando exista una nueva respuesta, evidencia o cambio de estado.</a:t>
            </a:r>
            <a:endParaRPr lang="es-MX" sz="1400" b="1" noProof="0" dirty="0"/>
          </a:p>
        </p:txBody>
      </p:sp>
    </p:spTree>
    <p:extLst>
      <p:ext uri="{BB962C8B-B14F-4D97-AF65-F5344CB8AC3E}">
        <p14:creationId xmlns:p14="http://schemas.microsoft.com/office/powerpoint/2010/main" val="1175415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DC4BEF-661C-47B5-A8ED-CD453472815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Explicación de las pruebas</a:t>
            </a:r>
          </a:p>
        </p:txBody>
      </p:sp>
      <p:graphicFrame>
        <p:nvGraphicFramePr>
          <p:cNvPr id="7" name="Table 0"/>
          <p:cNvGraphicFramePr/>
          <p:nvPr>
            <p:extLst>
              <p:ext uri="{D42A27DB-BD31-4B8C-83A1-F6EECF244321}">
                <p14:modId xmlns:p14="http://schemas.microsoft.com/office/powerpoint/2010/main" val="625313319"/>
              </p:ext>
            </p:extLst>
          </p:nvPr>
        </p:nvGraphicFramePr>
        <p:xfrm>
          <a:off x="548640" y="1371600"/>
          <a:ext cx="11064240" cy="25603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Paso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Prueba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Datos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Revisar actividades.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Los nombres coinciden.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Comparar fechas.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dirty="0"/>
                        <a:t>Las fechas de inicio y fin coinciden en todas las herramientas.</a:t>
                      </a:r>
                      <a:endParaRPr lang="es-MX" sz="1800" noProof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3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Revisar responsables.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Cada tarea tiene responsable.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4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Comparar estados.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El avance coincide.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Abrir evidencia.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La evidencia es legible.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Registrar resultado.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Bitácora actualizada.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4387215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/>
            <a:r>
              <a:rPr lang="es-MX" sz="2000" dirty="0">
                <a:latin typeface="Calibri"/>
                <a:ea typeface="Calibri"/>
                <a:cs typeface="Calibri"/>
              </a:rPr>
              <a:t>Una actividad se considera correcta cuando su información coincide en las herramientas y cuenta con evidencia verificable.</a:t>
            </a:r>
          </a:p>
        </p:txBody>
      </p:sp>
    </p:spTree>
    <p:extLst>
      <p:ext uri="{BB962C8B-B14F-4D97-AF65-F5344CB8AC3E}">
        <p14:creationId xmlns:p14="http://schemas.microsoft.com/office/powerpoint/2010/main" val="1433228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70D000-1743-4DD1-AB70-F8B5D5A035D6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Evidencias en Jira, Trello y monday.com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64B296-CBF0-4E4B-BD46-5D80BBEAF14D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3429000" cy="685800"/>
          </a:xfrm>
          <a:prstGeom prst="rect">
            <a:avLst/>
          </a:prstGeom>
          <a:noFill/>
        </p:spPr>
        <p:txBody>
          <a:bodyPr wrap="square" anchor="ctr">
            <a:normAutofit fontScale="98202"/>
          </a:bodyPr>
          <a:lstStyle/>
          <a:p>
            <a:pPr marL="0" indent="0" algn="l">
              <a:buNone/>
              <a:defRPr sz="1500">
                <a:latin typeface="Calibri"/>
                <a:ea typeface="Calibri"/>
                <a:cs typeface="Calibri"/>
              </a:defRPr>
            </a:pPr>
            <a:r>
              <a:rPr lang="es-MX" sz="1500" b="1" noProof="0" dirty="0">
                <a:latin typeface="Calibri"/>
                <a:ea typeface="Calibri"/>
                <a:cs typeface="Calibri"/>
              </a:rPr>
              <a:t>JIRA</a:t>
            </a:r>
            <a:endParaRPr lang="es-MX" sz="1500" noProof="0" dirty="0"/>
          </a:p>
          <a:p>
            <a:pPr marL="0" indent="0" algn="l">
              <a:buNone/>
              <a:defRPr sz="1500">
                <a:latin typeface="Calibri"/>
                <a:ea typeface="Calibri"/>
                <a:cs typeface="Calibri"/>
              </a:defRPr>
            </a:pPr>
            <a:r>
              <a:rPr lang="es-MX" sz="1500" b="1" noProof="0" dirty="0">
                <a:latin typeface="Calibri"/>
                <a:ea typeface="Calibri"/>
                <a:cs typeface="Calibri"/>
              </a:rPr>
              <a:t>Tablero con las tres épicas y sus tareas</a:t>
            </a:r>
            <a:endParaRPr lang="es-MX" sz="15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B19311-5F79-4393-B952-9EC4134C86BB}"/>
              </a:ext>
            </a:extLst>
          </p:cNvPr>
          <p:cNvSpPr>
            <a:spLocks noGrp="1"/>
          </p:cNvSpPr>
          <p:nvPr/>
        </p:nvSpPr>
        <p:spPr>
          <a:xfrm>
            <a:off x="4381500" y="1285875"/>
            <a:ext cx="3429000" cy="685800"/>
          </a:xfrm>
          <a:prstGeom prst="rect">
            <a:avLst/>
          </a:prstGeom>
          <a:noFill/>
        </p:spPr>
        <p:txBody>
          <a:bodyPr wrap="square" anchor="ctr">
            <a:normAutofit fontScale="94167" lnSpcReduction="10000"/>
          </a:bodyPr>
          <a:lstStyle/>
          <a:p>
            <a:pPr marL="0" indent="0" algn="l">
              <a:buNone/>
              <a:defRPr sz="1500">
                <a:latin typeface="Calibri"/>
                <a:ea typeface="Calibri"/>
                <a:cs typeface="Calibri"/>
              </a:defRPr>
            </a:pPr>
            <a:r>
              <a:rPr lang="es-MX" sz="1500" b="1" noProof="0" dirty="0">
                <a:latin typeface="Calibri"/>
                <a:ea typeface="Calibri"/>
                <a:cs typeface="Calibri"/>
              </a:rPr>
              <a:t>TRELLO</a:t>
            </a:r>
            <a:endParaRPr lang="es-MX" sz="1500" noProof="0" dirty="0"/>
          </a:p>
          <a:p>
            <a:pPr marL="0" indent="0" algn="l">
              <a:buNone/>
              <a:defRPr sz="1500">
                <a:latin typeface="Calibri"/>
                <a:ea typeface="Calibri"/>
                <a:cs typeface="Calibri"/>
              </a:defRPr>
            </a:pPr>
            <a:r>
              <a:rPr lang="es-MX" sz="1500" b="1" noProof="0" dirty="0">
                <a:latin typeface="Calibri"/>
                <a:ea typeface="Calibri"/>
                <a:cs typeface="Calibri"/>
              </a:rPr>
              <a:t>Tablero con listas, tarjetas, fechas y evidencias</a:t>
            </a:r>
            <a:endParaRPr lang="es-MX" sz="1500" noProof="0" dirty="0"/>
          </a:p>
        </p:txBody>
      </p:sp>
      <p:pic>
        <p:nvPicPr>
          <p:cNvPr id="15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095500"/>
            <a:ext cx="3429000" cy="1933575"/>
          </a:xfrm>
          <a:prstGeom prst="rect">
            <a:avLst/>
          </a:prstGeom>
        </p:spPr>
      </p:pic>
      <p:pic>
        <p:nvPicPr>
          <p:cNvPr id="16" name="Imagen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95500"/>
            <a:ext cx="3429000" cy="1933575"/>
          </a:xfrm>
          <a:prstGeom prst="rect">
            <a:avLst/>
          </a:prstGeom>
        </p:spPr>
      </p:pic>
      <p:sp>
        <p:nvSpPr>
          <p:cNvPr id="9" name="monday-label">
            <a:extLst>
              <a:ext uri="{FF2B5EF4-FFF2-40B4-BE49-F238E27FC236}">
                <a16:creationId xmlns:a16="http://schemas.microsoft.com/office/drawing/2014/main" id="{273DB006-0CD7-45CF-A9F1-846A26CC8190}"/>
              </a:ext>
            </a:extLst>
          </p:cNvPr>
          <p:cNvSpPr>
            <a:spLocks noGrp="1"/>
          </p:cNvSpPr>
          <p:nvPr/>
        </p:nvSpPr>
        <p:spPr>
          <a:xfrm>
            <a:off x="8305800" y="1285875"/>
            <a:ext cx="342900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s-MX" sz="1425" b="1" noProof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MONDAY.COM</a:t>
            </a:r>
          </a:p>
          <a:p>
            <a:pPr algn="l">
              <a:defRPr sz="1425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s-MX" sz="1425" b="1" noProof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Tablero con estados, responsables, fechas y Gantt</a:t>
            </a: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05800" y="2097881"/>
            <a:ext cx="3429000" cy="1928813"/>
          </a:xfrm>
          <a:prstGeom prst="rect">
            <a:avLst/>
          </a:prstGeom>
        </p:spPr>
      </p:pic>
      <p:sp>
        <p:nvSpPr>
          <p:cNvPr id="11" name="evidence-note">
            <a:extLst>
              <a:ext uri="{FF2B5EF4-FFF2-40B4-BE49-F238E27FC236}">
                <a16:creationId xmlns:a16="http://schemas.microsoft.com/office/drawing/2014/main" id="{19800156-38A0-4140-9871-545978B9AFAA}"/>
              </a:ext>
            </a:extLst>
          </p:cNvPr>
          <p:cNvSpPr>
            <a:spLocks noGrp="1"/>
          </p:cNvSpPr>
          <p:nvPr/>
        </p:nvSpPr>
        <p:spPr>
          <a:xfrm>
            <a:off x="548640" y="4476750"/>
            <a:ext cx="1106424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s-MX" sz="1650" b="1" noProof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Las capturas muestran el mismo conjunto de proyectos y permiten verificar actividades, fechas, estados y evidencias</a:t>
            </a:r>
          </a:p>
        </p:txBody>
      </p:sp>
    </p:spTree>
    <p:extLst>
      <p:ext uri="{BB962C8B-B14F-4D97-AF65-F5344CB8AC3E}">
        <p14:creationId xmlns:p14="http://schemas.microsoft.com/office/powerpoint/2010/main" val="1655375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E9F252-B2E7-48A5-B042-4A2B595AF273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Resultados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9AAE70-67EF-EC26-D467-3C587661F73C}"/>
              </a:ext>
            </a:extLst>
          </p:cNvPr>
          <p:cNvSpPr txBox="1"/>
          <p:nvPr/>
        </p:nvSpPr>
        <p:spPr>
          <a:xfrm>
            <a:off x="1106906" y="1640320"/>
            <a:ext cx="10122568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75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r>
              <a:rPr lang="es-MX" sz="1875" dirty="0">
                <a:solidFill>
                  <a:srgbClr val="262626"/>
                </a:solidFill>
                <a:latin typeface="Calibri"/>
              </a:rPr>
              <a:t>Se aplicaron Microsoft Project, Jira, Trello y monday.com en los proyectos de Brandon, Josefina y Roberto.</a:t>
            </a:r>
            <a:endParaRPr lang="es-MX" sz="1875" dirty="0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  <a:p>
            <a:pPr algn="just">
              <a:defRPr sz="1875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r>
              <a:rPr lang="es-MX" sz="1875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En Microsoft Project se revisaron los cronogramas, la duración de las actividades y sus dependencias. En Jira se comprobó que las épicas SCRUM-5, SCRUM-6 y SCRUM-7 correspondieran únicamente a los tres proyectos de la práctica.</a:t>
            </a:r>
          </a:p>
          <a:p>
            <a:endParaRPr lang="es-MX" sz="1875" dirty="0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  <a:p>
            <a:pPr algn="just">
              <a:defRPr sz="1875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r>
              <a:rPr lang="es-MX" sz="1875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Trello y monday.com facilitaron el seguimiento de actividades, responsables, fechas, estados y evidencias. La comparación mostró que cada plataforma cumple una función diferente dentro de la gestión del proyecto.</a:t>
            </a:r>
          </a:p>
          <a:p>
            <a:endParaRPr lang="es-MX" sz="1875" dirty="0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  <a:p>
            <a:pPr algn="just">
              <a:defRPr sz="1875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r>
              <a:rPr lang="es-MX" sz="1875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La bitácora registró los mensajes, respuestas y cambios realizados. Con estas comprobaciones se mantuvo la información organizada, documentada y coherente entre las herramientas utilizadas.</a:t>
            </a:r>
          </a:p>
        </p:txBody>
      </p:sp>
    </p:spTree>
    <p:extLst>
      <p:ext uri="{BB962C8B-B14F-4D97-AF65-F5344CB8AC3E}">
        <p14:creationId xmlns:p14="http://schemas.microsoft.com/office/powerpoint/2010/main" val="142708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9FFF8F-234A-44EB-88E7-616E34617780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Conclusión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D1A5B2-B22B-4941-967F-4D6920368D93}"/>
              </a:ext>
            </a:extLst>
          </p:cNvPr>
          <p:cNvSpPr>
            <a:spLocks noGrp="1"/>
          </p:cNvSpPr>
          <p:nvPr/>
        </p:nvSpPr>
        <p:spPr>
          <a:xfrm>
            <a:off x="777240" y="1417320"/>
            <a:ext cx="10317480" cy="4937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/>
            <a:r>
              <a:rPr lang="es-MX" sz="2400" dirty="0"/>
              <a:t>Microsoft Project es la herramienta más adecuada para revisar fechas, duración y dependencias mediante el diagrama de Gantt. Jira permitió organizar los tres proyectos mediante épicas y actividades, mientras que Trello facilitó el seguimiento visual con listas, tarjetas y evidencias. Por otra parte, monday.com permitió controlar las fechas, los responsables, los estados y la programación mediante sus tableros y la vista de Gantt.</a:t>
            </a:r>
          </a:p>
          <a:p>
            <a:pPr algn="just"/>
            <a:r>
              <a:rPr lang="es-MX" sz="2400" dirty="0"/>
              <a:t>La comparación también permitió diferenciar los planes gratuitos permanentes de las pruebas temporales. Jira Free, Trello Free y monday.com Free no tienen límite de tiempo, mientras que Microsoft Project ofrece una prueba de un mes y Trello Premium una prueba de 14 días.</a:t>
            </a:r>
          </a:p>
          <a:p>
            <a:pPr algn="just"/>
            <a:r>
              <a:rPr lang="es-MX" sz="2400" dirty="0"/>
              <a:t>El aprendizaje principal es que la información del proyecto resulta confiable cuando las actividades, fechas, responsables, estados y evidencias coinciden en todas las herramientas utilizadas.</a:t>
            </a:r>
          </a:p>
        </p:txBody>
      </p:sp>
    </p:spTree>
    <p:extLst>
      <p:ext uri="{BB962C8B-B14F-4D97-AF65-F5344CB8AC3E}">
        <p14:creationId xmlns:p14="http://schemas.microsoft.com/office/powerpoint/2010/main" val="172720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rgbClr val="000000"/>
                </a:solidFill>
                <a:latin typeface="+mj-lt"/>
                <a:ea typeface="Calibri"/>
                <a:cs typeface="Arial" panose="020B0604020202020204" pitchFamily="34" charset="0"/>
              </a:rPr>
              <a:t>Fuentes de información</a:t>
            </a:r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s-MX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CACA15-3599-4380-7F3F-C3E7536CBDBC}"/>
              </a:ext>
            </a:extLst>
          </p:cNvPr>
          <p:cNvSpPr txBox="1"/>
          <p:nvPr/>
        </p:nvSpPr>
        <p:spPr>
          <a:xfrm>
            <a:off x="1143000" y="1417320"/>
            <a:ext cx="10469880" cy="451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dirty="0"/>
              <a:t>Aquino Villanueva, R. (2026). </a:t>
            </a:r>
            <a:r>
              <a:rPr lang="es-MX" i="1" dirty="0"/>
              <a:t>GPTI</a:t>
            </a:r>
            <a:r>
              <a:rPr lang="es-MX" dirty="0"/>
              <a:t> [Repositorio de GitHub]. https://github.com/rafaelrav8770/GPTI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dirty="0"/>
              <a:t>Atlassian. (s. f.-a). </a:t>
            </a:r>
            <a:r>
              <a:rPr lang="es-MX" i="1" dirty="0"/>
              <a:t>Guía de Trello</a:t>
            </a:r>
            <a:r>
              <a:rPr lang="es-MX" dirty="0"/>
              <a:t>. https://trello.com/es/guide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dirty="0"/>
              <a:t>Atlassian. (s. f.-b). </a:t>
            </a:r>
            <a:r>
              <a:rPr lang="es-MX" i="1" dirty="0"/>
              <a:t>Introducción a Jira: guía completa para principiantes</a:t>
            </a:r>
            <a:r>
              <a:rPr lang="es-MX" dirty="0"/>
              <a:t>. https://www.atlassian.com/es/software/jira/guides/getting-started/introduction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dirty="0"/>
              <a:t>Atlassian. (s. f.-c). </a:t>
            </a:r>
            <a:r>
              <a:rPr lang="es-MX" i="1" dirty="0"/>
              <a:t>¿Qué es un tablero de Jira?</a:t>
            </a:r>
            <a:r>
              <a:rPr lang="es-MX" dirty="0"/>
              <a:t> https://www.atlassian.com/es/software/jira/guides/boards/overview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i="1" dirty="0"/>
              <a:t>Cómo usar Jira Software para principiantes | Tutorial de Jira en español</a:t>
            </a:r>
            <a:r>
              <a:rPr lang="es-MX" dirty="0"/>
              <a:t> [Video]. (2024). YouTube. https://youtu.be/BCDgA6ne8nY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dirty="0"/>
              <a:t>Microsoft. (s. f.). </a:t>
            </a:r>
            <a:r>
              <a:rPr lang="es-MX" i="1" dirty="0"/>
              <a:t>Ayuda y aprendizaje de Microsoft Project</a:t>
            </a:r>
            <a:r>
              <a:rPr lang="es-MX" dirty="0"/>
              <a:t>. https://support.microsoft.com/es-es/project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dirty="0"/>
              <a:t>monday.com. (s. f.). </a:t>
            </a:r>
            <a:r>
              <a:rPr lang="es-MX" i="1" dirty="0"/>
              <a:t>Centro de ayuda de monday.com</a:t>
            </a:r>
            <a:r>
              <a:rPr lang="es-MX" dirty="0"/>
              <a:t>. https://support.monday.com/hc/es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dirty="0"/>
              <a:t>Project Management Institute. (2021). </a:t>
            </a:r>
            <a:r>
              <a:rPr lang="es-MX" i="1" dirty="0"/>
              <a:t>Guía de los fundamentos para la dirección de proyectos (Guía del PMBOK)</a:t>
            </a:r>
            <a:r>
              <a:rPr lang="es-MX" dirty="0"/>
              <a:t> (7.ª ed.). https://www.pmi.org/standards/pmbok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dirty="0"/>
              <a:t>Schwaber, K. y Sutherland, J. (2020). </a:t>
            </a:r>
            <a:r>
              <a:rPr lang="es-MX" i="1" dirty="0"/>
              <a:t>La Guía Scrum</a:t>
            </a:r>
            <a:r>
              <a:rPr lang="es-MX" dirty="0"/>
              <a:t>. https://scrumguides.org/</a:t>
            </a:r>
          </a:p>
        </p:txBody>
      </p:sp>
    </p:spTree>
    <p:extLst>
      <p:ext uri="{BB962C8B-B14F-4D97-AF65-F5344CB8AC3E}">
        <p14:creationId xmlns:p14="http://schemas.microsoft.com/office/powerpoint/2010/main" val="25137061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  <wetp:taskpane dockstate="right" visibility="0" width="438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0D1821E-CF15-40AD-89DA-26CE10A34454}">
  <we:reference id="wa200010725" version="1.0.0.1" store="es-ES" storeType="OMEX"/>
  <we:alternateReferences>
    <we:reference id="WA200010725" version="1.0.0.1" store="" storeType="OMEX"/>
  </we:alternateReferences>
  <we:properties>
    <we:property name="claude.fileId" value="&quot;e78c2c7e-1b71-4de1-b1d3-4cbb7b484ae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119CA48-25BB-4758-A551-219D47032833}">
  <we:reference id="wa200010001" version="1.0.0.1" store="es-ES" storeType="OMEX"/>
  <we:alternateReferences>
    <we:reference id="WA200010001" version="1.0.0.1" store="" storeType="OMEX"/>
  </we:alternateReferences>
  <we:properties>
    <we:property name="claude.fileId" value="&quot;d44ed0d2-985e-4feb-8958-329f7e51afc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3709</TotalTime>
  <Words>1949</Words>
  <Application>Microsoft Office PowerPoint</Application>
  <PresentationFormat>Panorámica</PresentationFormat>
  <Paragraphs>342</Paragraphs>
  <Slides>24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Objetivo</vt:lpstr>
      <vt:lpstr>Justificación</vt:lpstr>
      <vt:lpstr>Alcance de la práctica</vt:lpstr>
      <vt:lpstr>Presentación de PowerPoint</vt:lpstr>
      <vt:lpstr>Herramientas en comparación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88</cp:revision>
  <dcterms:created xsi:type="dcterms:W3CDTF">2026-02-14T13:39:49Z</dcterms:created>
  <dcterms:modified xsi:type="dcterms:W3CDTF">2026-10-04T00:31:10Z</dcterms:modified>
</cp:coreProperties>
</file>