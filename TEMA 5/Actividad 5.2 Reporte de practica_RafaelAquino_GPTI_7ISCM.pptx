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0" r:id="rId2"/>
    <p:sldId id="307" r:id="rId3"/>
    <p:sldId id="258" r:id="rId4"/>
    <p:sldId id="259" r:id="rId5"/>
    <p:sldId id="260" r:id="rId6"/>
    <p:sldId id="261" r:id="rId7"/>
    <p:sldId id="282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3" r:id="rId20"/>
    <p:sldId id="304" r:id="rId21"/>
    <p:sldId id="305" r:id="rId22"/>
    <p:sldId id="311" r:id="rId2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83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noProof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noProof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noProof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1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s-MX" b="1" kern="0" noProof="0" dirty="0">
                <a:latin typeface="Arial" panose="020B0604020202020204" pitchFamily="34" charset="0"/>
                <a:cs typeface="Arial" panose="020B0604020202020204" pitchFamily="34" charset="0"/>
              </a:rPr>
              <a:t>GESTION DE PROYECTOS DE TI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5.</a:t>
            </a:r>
            <a:r>
              <a:rPr lang="es-MX" sz="2000" b="1" kern="0" noProof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sz="20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s-MX" sz="2000" b="1" kern="0" noProof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REPORTE DE PRACTICA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761339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SEPTIMO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600" b="1" kern="0" noProof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noProof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26</a:t>
            </a:r>
            <a:r>
              <a:rPr lang="es-MX" sz="2000" b="1" kern="0" noProof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SEPTIEMBRE DE 2026</a:t>
            </a: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800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s-MX" sz="1800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05583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129213"/>
          </a:xfr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Introducción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s-MX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tecnológicas permiten planificar, organizar y dar seguimiento al trabajo de un proyecto. En esta práctica se comparan Microsoft Project, Jira y Trello mediante su aplicación en tres proyectos académicos: taller mecánico, planta embotelladora y taller de electrónica.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s-MX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Project concentra el cronograma y las dependencias. Jira organiza el trabajo en épicas, tareas y </a:t>
            </a:r>
            <a:r>
              <a:rPr lang="es-MX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r>
              <a:rPr lang="es-MX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Trello ofrece un seguimiento visual mediante listas y tarjetas. El uso conjunto </a:t>
            </a:r>
            <a:r>
              <a:rPr lang="es-MX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acilita</a:t>
            </a:r>
            <a:r>
              <a:rPr lang="es-MX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control de fechas, avances, evidencias y cambios.</a:t>
            </a:r>
          </a:p>
        </p:txBody>
      </p:sp>
    </p:spTree>
    <p:extLst>
      <p:ext uri="{BB962C8B-B14F-4D97-AF65-F5344CB8AC3E}">
        <p14:creationId xmlns:p14="http://schemas.microsoft.com/office/powerpoint/2010/main" val="2496204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56B65-D6B3-09AC-24F1-487C58C87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b="1" kern="0" noProof="0" dirty="0">
                <a:solidFill>
                  <a:srgbClr val="000000"/>
                </a:solidFill>
                <a:ea typeface="+mn-ea"/>
                <a:cs typeface="Arial" panose="020B0604020202020204" pitchFamily="34" charset="0"/>
              </a:rPr>
              <a:t>Objetivo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FA9FFEB-3993-4A4E-BA47-10ED6A9FDF6F}"/>
              </a:ext>
            </a:extLst>
          </p:cNvPr>
          <p:cNvSpPr txBox="1"/>
          <p:nvPr/>
        </p:nvSpPr>
        <p:spPr>
          <a:xfrm>
            <a:off x="1181100" y="1781175"/>
            <a:ext cx="10515600" cy="419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lang="es-MX" sz="2800" dirty="0">
                <a:solidFill>
                  <a:srgbClr val="262626"/>
                </a:solidFill>
                <a:ea typeface="Calibri"/>
                <a:cs typeface="Calibri"/>
              </a:rPr>
              <a:t>Comparar Microsoft Project, Jira y Trello mediante su aplicación en los proyectos de Brandon, Josefina y Roberto, con el propósito de registrar actividades, controlar avances y documentar cambios con evidencias verificables.</a:t>
            </a:r>
            <a:endParaRPr lang="es-MX" sz="2800" noProof="0" dirty="0"/>
          </a:p>
          <a:p>
            <a:pPr algn="just">
              <a:spcAft>
                <a:spcPts val="600"/>
              </a:spcAft>
            </a:pPr>
            <a:endParaRPr lang="es-MX" sz="2800" noProof="0" dirty="0"/>
          </a:p>
        </p:txBody>
      </p:sp>
    </p:spTree>
    <p:extLst>
      <p:ext uri="{BB962C8B-B14F-4D97-AF65-F5344CB8AC3E}">
        <p14:creationId xmlns:p14="http://schemas.microsoft.com/office/powerpoint/2010/main" val="872364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709BD-43C8-E083-574C-CD048A14B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kern="0" noProof="0" dirty="0">
                <a:solidFill>
                  <a:srgbClr val="000000"/>
                </a:solidFill>
                <a:ea typeface="+mn-ea"/>
                <a:cs typeface="Arial" panose="020B0604020202020204" pitchFamily="34" charset="0"/>
              </a:rPr>
              <a:t>Justificación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070AEA3-E762-4E94-80BA-2A1F43151F0F}"/>
              </a:ext>
            </a:extLst>
          </p:cNvPr>
          <p:cNvSpPr txBox="1"/>
          <p:nvPr/>
        </p:nvSpPr>
        <p:spPr>
          <a:xfrm>
            <a:off x="838200" y="1905000"/>
            <a:ext cx="10515600" cy="419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>
            <a:defPPr>
              <a:defRPr lang="es-MX"/>
            </a:defPPr>
            <a:lvl1pPr algn="just">
              <a:spcAft>
                <a:spcPts val="600"/>
              </a:spcAft>
              <a:defRPr sz="2800">
                <a:solidFill>
                  <a:srgbClr val="262626"/>
                </a:solidFill>
                <a:ea typeface="Calibri"/>
                <a:cs typeface="Calibri"/>
              </a:defRPr>
            </a:lvl1pPr>
          </a:lstStyle>
          <a:p>
            <a:r>
              <a:rPr lang="es-MX" dirty="0"/>
              <a:t>Los tres proyectos requieren información consistente sobre actividades, responsables, fechas y entregables. Si cada herramienta se utiliza sin criterios comunes, pueden aparecer tareas duplicadas, estados contradictorios o fechas diferentes.</a:t>
            </a:r>
          </a:p>
          <a:p>
            <a:r>
              <a:rPr lang="es-MX" dirty="0"/>
              <a:t>La comparación permite identificar qué herramienta resulta más adecuada para programar el trabajo, coordinar actividades y mantener un seguimiento visual. También ayuda a establecer una forma de trabajo común para los tres proyectos.</a:t>
            </a:r>
          </a:p>
        </p:txBody>
      </p:sp>
    </p:spTree>
    <p:extLst>
      <p:ext uri="{BB962C8B-B14F-4D97-AF65-F5344CB8AC3E}">
        <p14:creationId xmlns:p14="http://schemas.microsoft.com/office/powerpoint/2010/main" val="1097269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189A3-FD75-DF35-B597-3665CC29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b="1" kern="0" dirty="0">
                <a:solidFill>
                  <a:srgbClr val="000000"/>
                </a:solidFill>
                <a:ea typeface="+mn-ea"/>
                <a:cs typeface="Arial" panose="020B0604020202020204" pitchFamily="34" charset="0"/>
              </a:rPr>
              <a:t>Alcance de la práctica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93F4AA-8F1B-48D3-977A-A775FD4DC8FA}"/>
              </a:ext>
            </a:extLst>
          </p:cNvPr>
          <p:cNvSpPr txBox="1"/>
          <p:nvPr/>
        </p:nvSpPr>
        <p:spPr>
          <a:xfrm>
            <a:off x="810126" y="1609724"/>
            <a:ext cx="10515600" cy="488315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>
            <a:defPPr>
              <a:defRPr lang="es-MX"/>
            </a:defPPr>
            <a:lvl1pPr algn="just">
              <a:spcAft>
                <a:spcPts val="600"/>
              </a:spcAft>
              <a:defRPr sz="2800">
                <a:solidFill>
                  <a:srgbClr val="262626"/>
                </a:solidFill>
                <a:ea typeface="Calibri"/>
                <a:cs typeface="Calibri"/>
              </a:defRPr>
            </a:lvl1pPr>
          </a:lstStyle>
          <a:p>
            <a:r>
              <a:rPr lang="es-MX" dirty="0"/>
              <a:t>La práctica comprende el uso de Microsoft Project, Jira y Trello para gestionar los proyectos de Brandon, Josefina y Roberto.</a:t>
            </a:r>
          </a:p>
          <a:p>
            <a:r>
              <a:rPr lang="es-MX" dirty="0"/>
              <a:t>Se Incluye:</a:t>
            </a:r>
          </a:p>
          <a:p>
            <a:r>
              <a:rPr lang="es-MX" dirty="0"/>
              <a:t>• Registro de actividades, responsables, fechas y duración.</a:t>
            </a:r>
          </a:p>
          <a:p>
            <a:r>
              <a:rPr lang="es-MX" dirty="0"/>
              <a:t>• Elaboración de cronogramas y diagramas de Gantt.</a:t>
            </a:r>
          </a:p>
          <a:p>
            <a:r>
              <a:rPr lang="es-MX" dirty="0"/>
              <a:t>• Organización del trabajo en épicas, tareas, listas y tarjetas.</a:t>
            </a:r>
          </a:p>
          <a:p>
            <a:r>
              <a:rPr lang="es-MX" dirty="0"/>
              <a:t>• Seguimiento de estados, comentarios, evidencias y cambios.</a:t>
            </a:r>
          </a:p>
          <a:p>
            <a:r>
              <a:rPr lang="es-MX" dirty="0"/>
              <a:t>• Comparación de funciones, ventajas y aplicación de cada herramienta.</a:t>
            </a:r>
          </a:p>
          <a:p>
            <a:endParaRPr lang="es-MX" dirty="0"/>
          </a:p>
          <a:p>
            <a:r>
              <a:rPr lang="es-MX" dirty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84508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FF25C0CF-575D-9E89-9096-9AACEF4706EB}"/>
              </a:ext>
            </a:extLst>
          </p:cNvPr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Proyectos analizados</a:t>
            </a: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B21E479B-9EC0-0B3D-39D8-2B84D7E5118D}"/>
              </a:ext>
            </a:extLst>
          </p:cNvPr>
          <p:cNvGraphicFramePr/>
          <p:nvPr/>
        </p:nvGraphicFramePr>
        <p:xfrm>
          <a:off x="548640" y="1371600"/>
          <a:ext cx="11064240" cy="2209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chemeClr val="tx1"/>
                          </a:solidFill>
                        </a:rPr>
                        <a:t>Proyecto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chemeClr val="tx1"/>
                          </a:solidFill>
                        </a:rPr>
                        <a:t>Responsable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chemeClr val="tx1"/>
                          </a:solidFill>
                        </a:rPr>
                        <a:t>Periodo de seguimiento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chemeClr val="tx1"/>
                          </a:solidFill>
                        </a:rPr>
                        <a:t>Objetivo del seguimiento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Taller mecánico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Brandon Farith López Nanga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17/08/2026 al 11/10/2026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Controlar mejoras del sistema, pruebas y entrega final.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Planta embotelladora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Josefina Nieto Hernández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17/08/2026 al 11/10/2026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Dar seguimiento al modelo, pruebas y reporte de resultados.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Taller de electrónica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Roberto Carlos Cahuare Moreno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17/08/2026 al 11/10/2026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Controlar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</a:t>
                      </a:r>
                      <a:r>
                        <a:rPr sz="180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implementación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, </a:t>
                      </a:r>
                      <a:r>
                        <a:rPr sz="180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pruebas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y análisis final.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52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79426-6B7C-BABC-05A1-74D6EB28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kern="0" dirty="0">
                <a:solidFill>
                  <a:srgbClr val="000000"/>
                </a:solidFill>
                <a:ea typeface="+mn-ea"/>
                <a:cs typeface="Arial" panose="020B0604020202020204" pitchFamily="34" charset="0"/>
              </a:rPr>
              <a:t>Herramientas utilizadas</a:t>
            </a:r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1F72032D-BE7A-35CD-FD55-B9CEACC9C2D5}"/>
              </a:ext>
            </a:extLst>
          </p:cNvPr>
          <p:cNvSpPr>
            <a:spLocks noGrp="1"/>
          </p:cNvSpPr>
          <p:nvPr/>
        </p:nvSpPr>
        <p:spPr>
          <a:xfrm>
            <a:off x="561474" y="2967335"/>
            <a:ext cx="7170070" cy="231051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>
            <a:lvl1pPr algn="just">
              <a:buNone/>
              <a:defRPr sz="2400"/>
            </a:lvl1pPr>
          </a:lstStyle>
          <a:p>
            <a:pPr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Microsoft Project: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cronograma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y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dependencias</a:t>
            </a:r>
            <a:endParaRPr sz="2800" dirty="0">
              <a:solidFill>
                <a:srgbClr val="262626"/>
              </a:solidFill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Jira: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épicas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,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tareas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y sprint</a:t>
            </a:r>
          </a:p>
          <a:p>
            <a:pPr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Trello: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listas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,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tarjetas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y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evidencias</a:t>
            </a:r>
            <a:endParaRPr sz="2800" dirty="0">
              <a:solidFill>
                <a:srgbClr val="262626"/>
              </a:solidFill>
              <a:ea typeface="Calibri"/>
              <a:cs typeface="Calibri"/>
            </a:endParaRPr>
          </a:p>
        </p:txBody>
      </p:sp>
      <p:pic>
        <p:nvPicPr>
          <p:cNvPr id="8" name="Imagen 8">
            <a:extLst>
              <a:ext uri="{FF2B5EF4-FFF2-40B4-BE49-F238E27FC236}">
                <a16:creationId xmlns:a16="http://schemas.microsoft.com/office/drawing/2014/main" id="{469A7736-8100-75B4-8CB1-E927F9FEF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016" y="4704721"/>
            <a:ext cx="3771015" cy="212119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37C22E8-AE7C-7CCA-4066-C2B8A0C5F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017" y="2552820"/>
            <a:ext cx="3771015" cy="212119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8101DD4-FF43-EC48-B804-C084FC066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016" y="396741"/>
            <a:ext cx="3771015" cy="212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3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  <a:defRPr sz="4400">
                <a:latin typeface="Calibri"/>
                <a:ea typeface="Calibri"/>
                <a:cs typeface="Calibri"/>
              </a:defRPr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Proceso de gestión con las herramientas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71DC738E-E5A7-9902-683A-9DD7428107FA}"/>
              </a:ext>
            </a:extLst>
          </p:cNvPr>
          <p:cNvGraphicFramePr/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defTabSz="914400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Etapa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Aplicación en la práctica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1. Definición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 identificaron los tres proyectos, responsables y entregables.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2. Planificación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Las actividades, fechas y dependencias se organizaron en Microsoft Project.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3. Organización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Los proyectos se representaron en Jira mediante épicas y tareas.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4. Seguimiento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Trello registró estados, fechas, comentarios y evidencias.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5. Control de cambios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Cada </a:t>
                      </a:r>
                      <a:r>
                        <a:rPr sz="180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ajuste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se </a:t>
                      </a:r>
                      <a:r>
                        <a:rPr sz="180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documentó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y se </a:t>
                      </a:r>
                      <a:r>
                        <a:rPr sz="180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reflejó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en las </a:t>
                      </a:r>
                      <a:r>
                        <a:rPr sz="180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herramientas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</a:t>
                      </a:r>
                      <a:r>
                        <a:rPr sz="180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afectadas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Calibri"/>
                <a:ea typeface="Calibri"/>
                <a:cs typeface="Calibri"/>
              </a:defRPr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Comparación general de las herramientas</a:t>
            </a:r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0AC1336A-6C39-171B-367C-DBCB8C34E2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644374"/>
              </p:ext>
            </p:extLst>
          </p:nvPr>
        </p:nvGraphicFramePr>
        <p:xfrm>
          <a:off x="548640" y="1280160"/>
          <a:ext cx="11064240" cy="2377440"/>
        </p:xfrm>
        <a:graphic>
          <a:graphicData uri="http://schemas.openxmlformats.org/drawingml/2006/table">
            <a:tbl>
              <a:tblPr/>
              <a:tblGrid>
                <a:gridCol w="2322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2000" b="1" dirty="0" err="1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</a:rPr>
                        <a:t>Funcion</a:t>
                      </a:r>
                      <a:endParaRPr sz="2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0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Herramienta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principal</a:t>
                      </a:r>
                      <a:endParaRPr sz="2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Uso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0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Cronograma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Microsoft Project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Fechas, duración, dependencias y Gantt.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0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Trabajo ágil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Jira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Épicas, tareas, prioridades y sprint.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0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Seguimiento visual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Trello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Listas, tarjetas, fechas y evidencias.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0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Control de avance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Jira y Trello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Estados y actividades pendientes.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0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Reporte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Las </a:t>
                      </a:r>
                      <a:r>
                        <a:rPr sz="2000" dirty="0" err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tres</a:t>
                      </a:r>
                      <a:endParaRPr sz="2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 dirty="0" err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Evidencias</a:t>
                      </a:r>
                      <a:r>
                        <a:rPr sz="200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complementarias</a:t>
                      </a:r>
                      <a:r>
                        <a:rPr sz="200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del </a:t>
                      </a:r>
                      <a:r>
                        <a:rPr sz="2000" dirty="0" err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mismo</a:t>
                      </a:r>
                      <a:r>
                        <a:rPr sz="200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proyecto</a:t>
                      </a:r>
                      <a:r>
                        <a:rPr sz="200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sz="2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">
            <a:extLst>
              <a:ext uri="{FF2B5EF4-FFF2-40B4-BE49-F238E27FC236}">
                <a16:creationId xmlns:a16="http://schemas.microsoft.com/office/drawing/2014/main" id="{AAC000A6-A4E0-DE26-2074-F454EE4EA34A}"/>
              </a:ext>
            </a:extLst>
          </p:cNvPr>
          <p:cNvSpPr>
            <a:spLocks noGrp="1"/>
          </p:cNvSpPr>
          <p:nvPr/>
        </p:nvSpPr>
        <p:spPr>
          <a:xfrm>
            <a:off x="548640" y="4269322"/>
            <a:ext cx="7315200" cy="320040"/>
          </a:xfrm>
          <a:prstGeom prst="rect">
            <a:avLst/>
          </a:prstGeom>
          <a:noFill/>
        </p:spPr>
        <p:txBody>
          <a:bodyPr wrap="square" anchor="ctr">
            <a:normAutofit fontScale="44527" lnSpcReduction="20000"/>
          </a:bodyPr>
          <a:lstStyle/>
          <a:p>
            <a:pPr marL="0" indent="0">
              <a:buNone/>
              <a:defRPr sz="1500">
                <a:latin typeface="Calibri"/>
                <a:ea typeface="Calibri"/>
                <a:cs typeface="Calibri"/>
              </a:defRPr>
            </a:pPr>
            <a:r>
              <a:rPr sz="3000"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Criterio</a:t>
            </a:r>
            <a:r>
              <a:rPr sz="3000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3000"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selección</a:t>
            </a:r>
            <a:r>
              <a:rPr sz="3000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: usar </a:t>
            </a:r>
            <a:r>
              <a:rPr sz="3000"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cada</a:t>
            </a:r>
            <a:r>
              <a:rPr sz="3000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00"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herramienta</a:t>
            </a:r>
            <a:r>
              <a:rPr sz="3000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para la </a:t>
            </a:r>
            <a:r>
              <a:rPr sz="3000"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función</a:t>
            </a:r>
            <a:r>
              <a:rPr sz="3000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que </a:t>
            </a:r>
            <a:r>
              <a:rPr sz="3000"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representa</a:t>
            </a:r>
            <a:r>
              <a:rPr sz="3000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con mayor </a:t>
            </a:r>
            <a:r>
              <a:rPr sz="3000"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claridad</a:t>
            </a:r>
            <a:r>
              <a:rPr sz="1500" b="1" dirty="0">
                <a:latin typeface="Calibri"/>
                <a:ea typeface="Calibri"/>
                <a:cs typeface="Calibri"/>
              </a:rPr>
              <a:t>.</a:t>
            </a:r>
            <a:endParaRPr sz="15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88F63635-2AE0-BFE7-259F-D1697229D84A}"/>
              </a:ext>
            </a:extLst>
          </p:cNvPr>
          <p:cNvSpPr>
            <a:spLocks noGrp="1"/>
          </p:cNvSpPr>
          <p:nvPr/>
        </p:nvSpPr>
        <p:spPr>
          <a:xfrm>
            <a:off x="685800" y="5120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B21AEE8E-66BD-C0BE-345C-879A7E85EAB9}"/>
              </a:ext>
            </a:extLst>
          </p:cNvPr>
          <p:cNvSpPr>
            <a:spLocks noGrp="1"/>
          </p:cNvSpPr>
          <p:nvPr/>
        </p:nvSpPr>
        <p:spPr>
          <a:xfrm>
            <a:off x="685800" y="512064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b="1">
                <a:latin typeface="Calibri"/>
                <a:ea typeface="Calibri"/>
                <a:cs typeface="Calibri"/>
              </a:rPr>
              <a:t>PLANIFICACIÓN</a:t>
            </a:r>
            <a:endParaRPr sz="3200"/>
          </a:p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Microsoft Project</a:t>
            </a:r>
            <a:endParaRPr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229C12CD-4079-DBA3-B3C8-B95462841D02}"/>
              </a:ext>
            </a:extLst>
          </p:cNvPr>
          <p:cNvSpPr>
            <a:spLocks noGrp="1"/>
          </p:cNvSpPr>
          <p:nvPr/>
        </p:nvSpPr>
        <p:spPr>
          <a:xfrm>
            <a:off x="3474720" y="5120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91DE76CA-DB87-CED5-692E-5B77EFD7518C}"/>
              </a:ext>
            </a:extLst>
          </p:cNvPr>
          <p:cNvSpPr>
            <a:spLocks noGrp="1"/>
          </p:cNvSpPr>
          <p:nvPr/>
        </p:nvSpPr>
        <p:spPr>
          <a:xfrm>
            <a:off x="3474720" y="512064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b="1">
                <a:latin typeface="Calibri"/>
                <a:ea typeface="Calibri"/>
                <a:cs typeface="Calibri"/>
              </a:rPr>
              <a:t>ORGANIZACIÓN</a:t>
            </a:r>
            <a:endParaRPr sz="3200"/>
          </a:p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Jira</a:t>
            </a:r>
            <a:endParaRPr sz="3200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6B96E9E2-B114-AC3B-1419-3F805EF1922D}"/>
              </a:ext>
            </a:extLst>
          </p:cNvPr>
          <p:cNvSpPr>
            <a:spLocks noGrp="1"/>
          </p:cNvSpPr>
          <p:nvPr/>
        </p:nvSpPr>
        <p:spPr>
          <a:xfrm>
            <a:off x="6263640" y="5120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E671BC7C-01D9-5774-20AF-296D8B57FB3D}"/>
              </a:ext>
            </a:extLst>
          </p:cNvPr>
          <p:cNvSpPr>
            <a:spLocks noGrp="1"/>
          </p:cNvSpPr>
          <p:nvPr/>
        </p:nvSpPr>
        <p:spPr>
          <a:xfrm>
            <a:off x="6263640" y="512064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b="1">
                <a:latin typeface="Calibri"/>
                <a:ea typeface="Calibri"/>
                <a:cs typeface="Calibri"/>
              </a:rPr>
              <a:t>SEGUIMIENTO</a:t>
            </a:r>
            <a:endParaRPr sz="3200"/>
          </a:p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Trello</a:t>
            </a:r>
            <a:endParaRPr sz="320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8FB8767-EAC8-0E14-7AB9-55327030CD27}"/>
              </a:ext>
            </a:extLst>
          </p:cNvPr>
          <p:cNvSpPr>
            <a:spLocks noGrp="1"/>
          </p:cNvSpPr>
          <p:nvPr/>
        </p:nvSpPr>
        <p:spPr>
          <a:xfrm>
            <a:off x="9052560" y="5120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0369065E-8DEA-B160-18DF-033063C35D21}"/>
              </a:ext>
            </a:extLst>
          </p:cNvPr>
          <p:cNvSpPr>
            <a:spLocks noGrp="1"/>
          </p:cNvSpPr>
          <p:nvPr/>
        </p:nvSpPr>
        <p:spPr>
          <a:xfrm>
            <a:off x="9052560" y="512064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b="1">
                <a:latin typeface="Calibri"/>
                <a:ea typeface="Calibri"/>
                <a:cs typeface="Calibri"/>
              </a:rPr>
              <a:t>CONTROL</a:t>
            </a:r>
            <a:endParaRPr sz="3200"/>
          </a:p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Información coincidente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Calibri"/>
                <a:ea typeface="Calibri"/>
                <a:cs typeface="Calibri"/>
              </a:defRPr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Microsoft Project: Brandon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3FBCB2D-D9F9-753C-FFD2-8E2ABE8D7E5F}"/>
              </a:ext>
            </a:extLst>
          </p:cNvPr>
          <p:cNvSpPr>
            <a:spLocks noGrp="1"/>
          </p:cNvSpPr>
          <p:nvPr/>
        </p:nvSpPr>
        <p:spPr>
          <a:xfrm>
            <a:off x="805314" y="2791457"/>
            <a:ext cx="5852160" cy="1567183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archivo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TablaBrandon_Microsoft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Project.mpp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concentra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las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actividades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,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fechas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y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relaciones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proyecto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.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EAD71D4-F41F-9E50-763F-3927C40883DC}"/>
              </a:ext>
            </a:extLst>
          </p:cNvPr>
          <p:cNvSpPr>
            <a:spLocks noGrp="1"/>
          </p:cNvSpPr>
          <p:nvPr/>
        </p:nvSpPr>
        <p:spPr>
          <a:xfrm>
            <a:off x="548640" y="4398380"/>
            <a:ext cx="6108834" cy="225909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La vista de Gantt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permite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revisar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secuencia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desde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definición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mejoras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hasta las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pruebas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y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entrega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final.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posición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cada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barra indica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fecha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inicio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y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su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longitud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muestra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duración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.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2E2CA1C6-517C-F7C5-9D00-10EAB29BC5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091285"/>
              </p:ext>
            </p:extLst>
          </p:nvPr>
        </p:nvGraphicFramePr>
        <p:xfrm>
          <a:off x="548640" y="1371600"/>
          <a:ext cx="10149840" cy="11277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Código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Actividad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Duración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Inicio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Fin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Predecesora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B01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Plan del taller </a:t>
                      </a:r>
                      <a:r>
                        <a:rPr dirty="0" err="1"/>
                        <a:t>mecánico</a:t>
                      </a:r>
                      <a:endParaRPr dirty="0"/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dirty="0"/>
                        <a:t>8 sem.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17/08/26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11/10/26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dirty="0" err="1"/>
                        <a:t>Cronograma</a:t>
                      </a:r>
                      <a:endParaRPr dirty="0"/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38F22AC1-7340-B17F-3543-6712DB9D8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571" y="3400256"/>
            <a:ext cx="5104007" cy="28710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Microsoft Project: Josefina</a:t>
            </a: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D63D31C7-D860-1C30-41A2-3FE6679E3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69093"/>
              </p:ext>
            </p:extLst>
          </p:nvPr>
        </p:nvGraphicFramePr>
        <p:xfrm>
          <a:off x="1045945" y="1307432"/>
          <a:ext cx="10149840" cy="15849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7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8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94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5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Código</a:t>
                      </a:r>
                      <a:endParaRPr sz="13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Actividad</a:t>
                      </a:r>
                      <a:endParaRPr sz="13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Duración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Inicio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Fin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Predecesora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dirty="0"/>
                        <a:t>J01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/>
                        <a:t>Parámetros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recursos</a:t>
                      </a:r>
                      <a:endParaRPr dirty="0"/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 sem.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17/08/26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30/08/26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Inicio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dirty="0"/>
                        <a:t>J02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Modelo y pruebas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 sem.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31/08/26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04/10/26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J01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dirty="0"/>
                        <a:t>J03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Análisis y reporte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 sem.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05/10/26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11/10/26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J02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1">
            <a:extLst>
              <a:ext uri="{FF2B5EF4-FFF2-40B4-BE49-F238E27FC236}">
                <a16:creationId xmlns:a16="http://schemas.microsoft.com/office/drawing/2014/main" id="{D8C3A3AB-2978-DFB1-1A2E-22D6A03FE3C3}"/>
              </a:ext>
            </a:extLst>
          </p:cNvPr>
          <p:cNvSpPr>
            <a:spLocks noGrp="1"/>
          </p:cNvSpPr>
          <p:nvPr/>
        </p:nvSpPr>
        <p:spPr>
          <a:xfrm>
            <a:off x="685800" y="3056824"/>
            <a:ext cx="5566523" cy="167177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archivo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TablaJosefina_Microsoft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Project.mpp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organiza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modelo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 la planta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embotelladora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en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ocho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semanas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trabajo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.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230B9B2-87E3-1A93-C2B1-2266A96CAEBC}"/>
              </a:ext>
            </a:extLst>
          </p:cNvPr>
          <p:cNvSpPr>
            <a:spLocks noGrp="1"/>
          </p:cNvSpPr>
          <p:nvPr/>
        </p:nvSpPr>
        <p:spPr>
          <a:xfrm>
            <a:off x="649340" y="4728602"/>
            <a:ext cx="5446660" cy="1889567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Las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actividades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cubren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definición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recursos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, construcción del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modelo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,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pruebas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escenarios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y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reporte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final.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6C5C593-A45C-B27E-C0AE-46093F43E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323" y="3429000"/>
            <a:ext cx="5939677" cy="33410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Microsoft Project: Roberto</a:t>
            </a: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C34F9E26-9CAA-F6AC-0134-07533F544D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9058437"/>
              </p:ext>
            </p:extLst>
          </p:nvPr>
        </p:nvGraphicFramePr>
        <p:xfrm>
          <a:off x="805314" y="1234440"/>
          <a:ext cx="1014984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8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9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Código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Actividad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Duración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Inicio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Fin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Predecesora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R01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Implementación y pruebas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8 sem.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17/08/26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11/10/26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dirty="0" err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Cronograma</a:t>
                      </a:r>
                      <a:endParaRPr sz="16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1">
            <a:extLst>
              <a:ext uri="{FF2B5EF4-FFF2-40B4-BE49-F238E27FC236}">
                <a16:creationId xmlns:a16="http://schemas.microsoft.com/office/drawing/2014/main" id="{3FCEB419-B5E2-EF6E-C1E5-7CD7F85B15C3}"/>
              </a:ext>
            </a:extLst>
          </p:cNvPr>
          <p:cNvSpPr>
            <a:spLocks noGrp="1"/>
          </p:cNvSpPr>
          <p:nvPr/>
        </p:nvSpPr>
        <p:spPr>
          <a:xfrm>
            <a:off x="942473" y="2468879"/>
            <a:ext cx="5362073" cy="214883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archivo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TablaRoberto_Microsoft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Project.mpp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contiene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siete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bloques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trabajo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distribuidos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en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ocho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semanas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.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B4AA704D-1863-0CC0-C95A-A7585523859F}"/>
              </a:ext>
            </a:extLst>
          </p:cNvPr>
          <p:cNvSpPr>
            <a:spLocks noGrp="1"/>
          </p:cNvSpPr>
          <p:nvPr/>
        </p:nvSpPr>
        <p:spPr>
          <a:xfrm>
            <a:off x="805314" y="4500615"/>
            <a:ext cx="5362072" cy="2148839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última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actividad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, análisis y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reporte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final,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comprende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14 días. La vista de Gantt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permite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comprobar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continuidad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cronograma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13DA346-78F5-B527-05D8-39941EA74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928" y="3224463"/>
            <a:ext cx="5890661" cy="33134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Calibri"/>
                <a:ea typeface="Calibri"/>
                <a:cs typeface="Calibri"/>
              </a:defRPr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Jira: estructura del trabajo</a:t>
            </a: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D91CC623-8B62-900F-10C0-AC1253FBA763}"/>
              </a:ext>
            </a:extLst>
          </p:cNvPr>
          <p:cNvGraphicFramePr/>
          <p:nvPr/>
        </p:nvGraphicFramePr>
        <p:xfrm>
          <a:off x="685800" y="1277865"/>
          <a:ext cx="11064240" cy="21640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Elemento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Configuración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Aplicación</a:t>
                      </a:r>
                      <a:endParaRPr sz="16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</a:rPr>
                        <a:t>Épicas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</a:rPr>
                        <a:t>SCRUM-5, SCRUM-6 y SCRUM-7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chemeClr val="tx1"/>
                          </a:solidFill>
                        </a:rPr>
                        <a:t>Proyectos de Josefina, Brandon y Roberto.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</a:rPr>
                        <a:t>Tareas</a:t>
                      </a:r>
                    </a:p>
                    <a:p>
                      <a:pPr algn="ctr">
                        <a:buNone/>
                      </a:pP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</a:rPr>
                        <a:t>Actividades de cada cronograma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 err="1">
                          <a:solidFill>
                            <a:schemeClr val="tx1"/>
                          </a:solidFill>
                        </a:rPr>
                        <a:t>Responsable</a:t>
                      </a:r>
                      <a:r>
                        <a:rPr sz="2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2400" b="0" dirty="0" err="1">
                          <a:solidFill>
                            <a:schemeClr val="tx1"/>
                          </a:solidFill>
                        </a:rPr>
                        <a:t>estado</a:t>
                      </a:r>
                      <a:r>
                        <a:rPr sz="2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2400" b="0" dirty="0" err="1">
                          <a:solidFill>
                            <a:schemeClr val="tx1"/>
                          </a:solidFill>
                        </a:rPr>
                        <a:t>prioridad</a:t>
                      </a:r>
                      <a:r>
                        <a:rPr sz="2400" b="0" dirty="0">
                          <a:solidFill>
                            <a:schemeClr val="tx1"/>
                          </a:solidFill>
                        </a:rPr>
                        <a:t> y </a:t>
                      </a:r>
                      <a:r>
                        <a:rPr sz="2400" b="0" dirty="0" err="1">
                          <a:solidFill>
                            <a:schemeClr val="tx1"/>
                          </a:solidFill>
                        </a:rPr>
                        <a:t>evidencia</a:t>
                      </a:r>
                      <a:r>
                        <a:rPr sz="2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1">
            <a:extLst>
              <a:ext uri="{FF2B5EF4-FFF2-40B4-BE49-F238E27FC236}">
                <a16:creationId xmlns:a16="http://schemas.microsoft.com/office/drawing/2014/main" id="{704AA5C3-C4DD-0A67-2F44-A850B15AA895}"/>
              </a:ext>
            </a:extLst>
          </p:cNvPr>
          <p:cNvSpPr>
            <a:spLocks noGrp="1"/>
          </p:cNvSpPr>
          <p:nvPr/>
        </p:nvSpPr>
        <p:spPr>
          <a:xfrm>
            <a:off x="685800" y="5027707"/>
            <a:ext cx="5489964" cy="1830293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tablero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reúne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solamente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los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tres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proyectos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práctica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. Las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tareas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activas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se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incorporaron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al sprint para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facilitar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seguimiento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.</a:t>
            </a:r>
          </a:p>
        </p:txBody>
      </p:sp>
      <p:sp>
        <p:nvSpPr>
          <p:cNvPr id="12" name="CuadroTexto 2">
            <a:extLst>
              <a:ext uri="{FF2B5EF4-FFF2-40B4-BE49-F238E27FC236}">
                <a16:creationId xmlns:a16="http://schemas.microsoft.com/office/drawing/2014/main" id="{3A3C4D68-E322-AEA0-197E-8A4F3845AFEF}"/>
              </a:ext>
            </a:extLst>
          </p:cNvPr>
          <p:cNvSpPr>
            <a:spLocks noGrp="1"/>
          </p:cNvSpPr>
          <p:nvPr/>
        </p:nvSpPr>
        <p:spPr>
          <a:xfrm>
            <a:off x="685801" y="3576810"/>
            <a:ext cx="3324726" cy="1316032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sz="2400" dirty="0">
                <a:solidFill>
                  <a:srgbClr val="262626"/>
                </a:solidFill>
                <a:ea typeface="Calibri"/>
                <a:cs typeface="Calibri"/>
              </a:rPr>
              <a:t>SCRUM-5: Josefina</a:t>
            </a:r>
          </a:p>
          <a:p>
            <a:pPr algn="just">
              <a:spcAft>
                <a:spcPts val="600"/>
              </a:spcAft>
            </a:pPr>
            <a:r>
              <a:rPr sz="2400" dirty="0">
                <a:solidFill>
                  <a:srgbClr val="262626"/>
                </a:solidFill>
                <a:ea typeface="Calibri"/>
                <a:cs typeface="Calibri"/>
              </a:rPr>
              <a:t>SCRUM-6: Brandon</a:t>
            </a:r>
          </a:p>
          <a:p>
            <a:pPr algn="just">
              <a:spcAft>
                <a:spcPts val="600"/>
              </a:spcAft>
            </a:pPr>
            <a:r>
              <a:rPr sz="2400" dirty="0">
                <a:solidFill>
                  <a:srgbClr val="262626"/>
                </a:solidFill>
                <a:ea typeface="Calibri"/>
                <a:cs typeface="Calibri"/>
              </a:rPr>
              <a:t>SCRUM-7: Roberto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5296C86-78E9-5145-B163-9BCA3DE39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076" y="3576810"/>
            <a:ext cx="5489964" cy="30881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Organización de los proyectos en Jira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C74B5A9-A75F-B4C9-3119-170A6988AFDE}"/>
              </a:ext>
            </a:extLst>
          </p:cNvPr>
          <p:cNvSpPr>
            <a:spLocks noGrp="1"/>
          </p:cNvSpPr>
          <p:nvPr/>
        </p:nvSpPr>
        <p:spPr>
          <a:xfrm>
            <a:off x="838200" y="3834062"/>
            <a:ext cx="5625966" cy="183921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Cada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épica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agrupa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las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tareas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 un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proyecto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. Los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estados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permiten distinguir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trabajo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pendiente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, en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curso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y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terminado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.</a:t>
            </a:r>
          </a:p>
        </p:txBody>
      </p:sp>
      <p:graphicFrame>
        <p:nvGraphicFramePr>
          <p:cNvPr id="11" name="Tabla 2">
            <a:extLst>
              <a:ext uri="{FF2B5EF4-FFF2-40B4-BE49-F238E27FC236}">
                <a16:creationId xmlns:a16="http://schemas.microsoft.com/office/drawing/2014/main" id="{F6243C2A-486E-FD6E-7425-F10E4527BA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6525874"/>
              </p:ext>
            </p:extLst>
          </p:nvPr>
        </p:nvGraphicFramePr>
        <p:xfrm>
          <a:off x="838200" y="1143000"/>
          <a:ext cx="10515600" cy="228600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Proyecto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Épica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Contenido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Seguimiento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Brandon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SCRUM-6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Taller mecánico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Pendiente, en curso y terminado.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Josefina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SCRUM-5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Planta embotelladora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Avances, bloqueos y evidencias.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Roberto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SCRUM-7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Taller de electrónica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dirty="0" err="1"/>
                        <a:t>Implementación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pruebas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reporte</a:t>
                      </a:r>
                      <a:r>
                        <a:rPr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" name="Imagen 14">
            <a:extLst>
              <a:ext uri="{FF2B5EF4-FFF2-40B4-BE49-F238E27FC236}">
                <a16:creationId xmlns:a16="http://schemas.microsoft.com/office/drawing/2014/main" id="{BBCB2C69-DDD5-57E7-A39A-8CFB561A5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683" y="3721767"/>
            <a:ext cx="5261811" cy="29597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Calibri"/>
                <a:ea typeface="Calibri"/>
                <a:cs typeface="Calibri"/>
              </a:defRPr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Ventajas de las herramientas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90119DFD-A666-D8D2-E61B-12E966ABE1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4648635"/>
              </p:ext>
            </p:extLst>
          </p:nvPr>
        </p:nvGraphicFramePr>
        <p:xfrm>
          <a:off x="548640" y="1371600"/>
          <a:ext cx="11064240" cy="14630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Herramienta</a:t>
                      </a:r>
                      <a:endParaRPr sz="18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Ventaja principal en la práctica</a:t>
                      </a:r>
                      <a:endParaRPr sz="18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Microsoft Project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Muestra fechas, duración, dependencias y ruta de trabajo.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Jira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Relaciona cada proyecto con tareas, responsables y estados.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Trello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 dirty="0" err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Permite</a:t>
                      </a:r>
                      <a:r>
                        <a:rPr sz="180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consultar</a:t>
                      </a:r>
                      <a:r>
                        <a:rPr sz="180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el </a:t>
                      </a:r>
                      <a:r>
                        <a:rPr sz="1800" dirty="0" err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avance</a:t>
                      </a:r>
                      <a:r>
                        <a:rPr sz="180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mediante</a:t>
                      </a:r>
                      <a:r>
                        <a:rPr sz="180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listas</a:t>
                      </a:r>
                      <a:r>
                        <a:rPr sz="180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y </a:t>
                      </a:r>
                      <a:r>
                        <a:rPr sz="1800" dirty="0" err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tarjetas</a:t>
                      </a:r>
                      <a:r>
                        <a:rPr sz="180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visuales</a:t>
                      </a:r>
                      <a:r>
                        <a:rPr sz="180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100" y="24249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Aplicación en los tres proyecto</a:t>
            </a: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036A0498-3CFC-8DE3-E39C-C6FC5B60359B}"/>
              </a:ext>
            </a:extLst>
          </p:cNvPr>
          <p:cNvGraphicFramePr/>
          <p:nvPr/>
        </p:nvGraphicFramePr>
        <p:xfrm>
          <a:off x="548640" y="1371600"/>
          <a:ext cx="10424160" cy="3139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Proyecto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Microsoft Project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Jira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Trello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Brandon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Cronograma del taller mecánico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/>
                        <a:t>Épica SCRUM-6 y tareas</a:t>
                      </a:r>
                      <a:endParaRPr sz="16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Tarjetas de avances y evidencias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Josefina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Cronograma de planta embotelladora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Épica SCRUM-5 y tareas</a:t>
                      </a:r>
                      <a:endParaRPr sz="16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Tarjetas de modelo y pruebas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Roberto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Cronograma de taller electrónico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Épica SCRUM-7 y tareas</a:t>
                      </a:r>
                      <a:endParaRPr sz="16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Tarjetas de implementación y pruebas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Control general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Fechas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de </a:t>
                      </a:r>
                      <a:r>
                        <a:rPr sz="160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referencia</a:t>
                      </a:r>
                      <a:endParaRPr sz="16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Estado del </a:t>
                      </a:r>
                      <a:r>
                        <a:rPr sz="160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trabajo</a:t>
                      </a:r>
                      <a:endParaRPr sz="16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Evidencia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de </a:t>
                      </a:r>
                      <a:r>
                        <a:rPr sz="160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seguimiento</a:t>
                      </a:r>
                      <a:endParaRPr sz="16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1">
            <a:extLst>
              <a:ext uri="{FF2B5EF4-FFF2-40B4-BE49-F238E27FC236}">
                <a16:creationId xmlns:a16="http://schemas.microsoft.com/office/drawing/2014/main" id="{81F7A3B0-6EA6-897F-FB10-55AF36AD57B7}"/>
              </a:ext>
            </a:extLst>
          </p:cNvPr>
          <p:cNvSpPr>
            <a:spLocks noGrp="1"/>
          </p:cNvSpPr>
          <p:nvPr/>
        </p:nvSpPr>
        <p:spPr>
          <a:xfrm>
            <a:off x="685800" y="5101389"/>
            <a:ext cx="10789920" cy="110264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Cada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proyecto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conserva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su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cronograma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y sus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tareas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,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pero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utiliza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mismo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criterio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seguimiento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76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  <a:defRPr sz="3750">
                <a:latin typeface="Calibri"/>
                <a:ea typeface="Calibri"/>
                <a:cs typeface="Calibri"/>
              </a:defRPr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Control de cambios y seguimiento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F928D0C6-07DB-38DE-221E-0A5109592178}"/>
              </a:ext>
            </a:extLst>
          </p:cNvPr>
          <p:cNvGraphicFramePr/>
          <p:nvPr/>
        </p:nvGraphicFramePr>
        <p:xfrm>
          <a:off x="548640" y="1371600"/>
          <a:ext cx="11064240" cy="25603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1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3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Cambio registrado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Actualización realizada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Evidencia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Ajuste de una actividad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Corregir nombre, fecha o duración en Project.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Cronograma actualizado.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Cambio de estado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Actualizar tarea en Jira y tarjeta en Trello.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Estado y fecha de modificación.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Nueva evidencia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/>
                        <a:t>Adjuntar archivo o captura a la actividad.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Documento o imagen vinculada.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Bloqueo o retraso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Registrar la causa y reprogramar si corresponde.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Comentario y nueva fecha.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Cierre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Verificar entregable y marcar la actividad como terminada.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/>
                        <a:t>Evidencia final.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2F1C4FF4-BF38-B10A-84B7-A15F9C774137}"/>
              </a:ext>
            </a:extLst>
          </p:cNvPr>
          <p:cNvSpPr>
            <a:spLocks noGrp="1"/>
          </p:cNvSpPr>
          <p:nvPr/>
        </p:nvSpPr>
        <p:spPr>
          <a:xfrm>
            <a:off x="685800" y="4617720"/>
            <a:ext cx="10789920" cy="94488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Un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cambio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se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considera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cerrado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cuando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fecha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, 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estado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y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evidencia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coinciden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en las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herramientas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relacionadas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Procedimiento realizado</a:t>
            </a: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9FE2E639-B851-F469-CCE1-0F6E7EC125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896790"/>
              </p:ext>
            </p:extLst>
          </p:nvPr>
        </p:nvGraphicFramePr>
        <p:xfrm>
          <a:off x="548640" y="1143000"/>
          <a:ext cx="11064240" cy="39319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Paso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Actividad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Resultado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1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Revisar actas, planes y cronogramas.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Información base de los proyectos.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2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Registrar actividades en Microsoft Project.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Cronogramas y Gantt.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3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Organizar épicas y tareas en Jira.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Trabajo estructurado por proyecto.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4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Crear listas y tarjetas en Trello.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Seguimiento visual.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Comparar fechas y estados.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Información consistente.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Adjuntar evidencias y registrar cambios.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Trazabilidad del seguimiento.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1">
            <a:extLst>
              <a:ext uri="{FF2B5EF4-FFF2-40B4-BE49-F238E27FC236}">
                <a16:creationId xmlns:a16="http://schemas.microsoft.com/office/drawing/2014/main" id="{791CAB25-D4CA-567A-AC6E-AEF8BD3A77B1}"/>
              </a:ext>
            </a:extLst>
          </p:cNvPr>
          <p:cNvSpPr>
            <a:spLocks noGrp="1"/>
          </p:cNvSpPr>
          <p:nvPr/>
        </p:nvSpPr>
        <p:spPr>
          <a:xfrm>
            <a:off x="548640" y="5298440"/>
            <a:ext cx="10789920" cy="83312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procedimiento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se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aplicó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misma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manera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a Brandon, Josefina y Roberto para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mantener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un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seguimiento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comparable.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Evidencias en Monday y Trello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3721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500">
                <a:latin typeface="Calibri"/>
                <a:ea typeface="Calibri"/>
                <a:cs typeface="Calibri"/>
              </a:defRPr>
            </a:pPr>
            <a:r>
              <a:rPr lang="es-MX" sz="1500" b="1" dirty="0">
                <a:latin typeface="Calibri"/>
                <a:ea typeface="Calibri"/>
                <a:cs typeface="Calibri"/>
              </a:rPr>
              <a:t>JIRA</a:t>
            </a:r>
            <a:endParaRPr lang="es-MX" sz="1500" dirty="0"/>
          </a:p>
          <a:p>
            <a:pPr>
              <a:defRPr sz="1500">
                <a:latin typeface="Calibri"/>
                <a:ea typeface="Calibri"/>
                <a:cs typeface="Calibri"/>
              </a:defRPr>
            </a:pPr>
            <a:r>
              <a:rPr lang="es-MX" sz="1500" b="1" dirty="0">
                <a:latin typeface="Calibri"/>
                <a:ea typeface="Calibri"/>
                <a:cs typeface="Calibri"/>
              </a:rPr>
              <a:t>Tablero con las tres épicas y sus tareas</a:t>
            </a:r>
            <a:endParaRPr lang="es-MX" sz="1500" dirty="0"/>
          </a:p>
        </p:txBody>
      </p:sp>
      <p:sp>
        <p:nvSpPr>
          <p:cNvPr id="6" name="Text 4"/>
          <p:cNvSpPr/>
          <p:nvPr/>
        </p:nvSpPr>
        <p:spPr>
          <a:xfrm>
            <a:off x="6240780" y="1463040"/>
            <a:ext cx="53721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s-MX" sz="1500" noProof="0" dirty="0"/>
          </a:p>
          <a:p>
            <a:pPr marL="0" indent="0" algn="l">
              <a:buNone/>
            </a:pPr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Tarjeta o lista de seguimiento de riesgos</a:t>
            </a:r>
            <a:endParaRPr lang="es-MX" sz="1500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1101FAA-4E3F-FA0F-5A7C-73B0D456D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780" y="2252980"/>
            <a:ext cx="4930987" cy="27736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A09B09-A982-CD82-EB37-553F1BB93B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252980"/>
            <a:ext cx="5176252" cy="291164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Resultados obtenidos</a:t>
            </a:r>
          </a:p>
        </p:txBody>
      </p:sp>
      <p:graphicFrame>
        <p:nvGraphicFramePr>
          <p:cNvPr id="6" name="Tabla 2">
            <a:extLst>
              <a:ext uri="{FF2B5EF4-FFF2-40B4-BE49-F238E27FC236}">
                <a16:creationId xmlns:a16="http://schemas.microsoft.com/office/drawing/2014/main" id="{B24FF015-87DB-9CFE-6B35-EAF73529D1AA}"/>
              </a:ext>
            </a:extLst>
          </p:cNvPr>
          <p:cNvGraphicFramePr/>
          <p:nvPr/>
        </p:nvGraphicFramePr>
        <p:xfrm>
          <a:off x="548640" y="1280160"/>
          <a:ext cx="10515600" cy="29260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/>
                        <a:t>Resultado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/>
                        <a:t>Estado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Proyectos gestionados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Cronogramas en Microsoft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3 archivos separados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Proyectos organizados en Jira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3 épicas con tareas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Seguimiento visual en Trello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1 tablero general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Control de cambios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Procedimiento definido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Evidencias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Capturas y archivos vinculados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Información entre herramientas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dirty="0" err="1"/>
                        <a:t>Revisada</a:t>
                      </a:r>
                      <a:r>
                        <a:rPr dirty="0"/>
                        <a:t> para </a:t>
                      </a:r>
                      <a:r>
                        <a:rPr dirty="0" err="1"/>
                        <a:t>mantener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coincidencia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1">
            <a:extLst>
              <a:ext uri="{FF2B5EF4-FFF2-40B4-BE49-F238E27FC236}">
                <a16:creationId xmlns:a16="http://schemas.microsoft.com/office/drawing/2014/main" id="{2668D994-7743-37A9-9B0A-3460CB34E74A}"/>
              </a:ext>
            </a:extLst>
          </p:cNvPr>
          <p:cNvSpPr>
            <a:spLocks noGrp="1"/>
          </p:cNvSpPr>
          <p:nvPr/>
        </p:nvSpPr>
        <p:spPr>
          <a:xfrm>
            <a:off x="548640" y="4806314"/>
            <a:ext cx="10789920" cy="133731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uso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combinado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permitió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separar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planificación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detallada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,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organización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del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trabajo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y el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seguimiento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visual sin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perder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la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relación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entre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los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tres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ea typeface="Calibri"/>
                <a:cs typeface="Calibri"/>
              </a:rPr>
              <a:t>proyectos</a:t>
            </a:r>
            <a:r>
              <a:rPr sz="2800" dirty="0">
                <a:solidFill>
                  <a:srgbClr val="262626"/>
                </a:solidFill>
                <a:ea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Conclusiones</a:t>
            </a:r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None/>
              <a:defRPr sz="2025">
                <a:latin typeface="Calibri"/>
                <a:ea typeface="Calibri"/>
                <a:cs typeface="Calibri"/>
              </a:defRPr>
            </a:pPr>
            <a:r>
              <a:rPr lang="es-MX" dirty="0">
                <a:latin typeface="Calibri"/>
                <a:ea typeface="Calibri"/>
                <a:cs typeface="Calibri"/>
              </a:rPr>
              <a:t>Microsoft Project resultó adecuado para programar actividades y representar su duración mediante el diagrama de Gantt. Jira permitió estructurar los tres proyectos como épicas y tareas, además de controlar el trabajo mediante estados y sprint. Trello facilitó una consulta visual de las actividades, fechas y evidencias.</a:t>
            </a:r>
            <a:endParaRPr lang="es-MX" dirty="0"/>
          </a:p>
          <a:p>
            <a:endParaRPr lang="es-MX" dirty="0"/>
          </a:p>
          <a:p>
            <a:pPr>
              <a:buNone/>
              <a:defRPr sz="2025">
                <a:latin typeface="Calibri"/>
                <a:ea typeface="Calibri"/>
                <a:cs typeface="Calibri"/>
              </a:defRPr>
            </a:pPr>
            <a:r>
              <a:rPr lang="es-MX" dirty="0">
                <a:latin typeface="Calibri"/>
                <a:ea typeface="Calibri"/>
                <a:cs typeface="Calibri"/>
              </a:rPr>
              <a:t>La comparación muestra que las herramientas cumplen funciones complementarias. Microsoft Project aporta detalle temporal, Jira organiza el trabajo y Trello simplifica el seguimiento. Para evitar contradicciones, cualquier cambio relevante debe actualizarse en las herramientas relacionadas y conservar una evidencia.</a:t>
            </a:r>
            <a:endParaRPr lang="es-MX" dirty="0"/>
          </a:p>
          <a:p>
            <a:endParaRPr lang="es-MX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Fuentes de información</a:t>
            </a:r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s-MX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6CACA15-3599-4380-7F3F-C3E7536CBDBC}"/>
              </a:ext>
            </a:extLst>
          </p:cNvPr>
          <p:cNvSpPr txBox="1"/>
          <p:nvPr/>
        </p:nvSpPr>
        <p:spPr>
          <a:xfrm>
            <a:off x="1143000" y="1417320"/>
            <a:ext cx="1046988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MX" dirty="0"/>
              <a:t>Aquino Villanueva, R. (2026). GPTI [Repositorio de GitHub]. https://github.com/rafaelrav8770/GPTI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MX" dirty="0"/>
              <a:t>Atlassian. (s. f.). Introducción a Jira: guía completa para principiantes. https://www.atlassian.com/es/software/jira/guides/getting-started/introduction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MX" dirty="0"/>
              <a:t>Atlassian. (s. f.). ¿Qué es un tablero de Jira? https://www.atlassian.com/es/software/jira/guides/boards/overview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MX" dirty="0"/>
              <a:t>Atlassian. (s. f.). Guía de Trello. https://trello.com/es/guide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MX" dirty="0"/>
              <a:t>Cómo usar Jira Software para principiantes | Tutorial de Jira en español [Video]. (2024). YouTube. https://youtu.be/BCDgA6ne8nY?si=PSxv6wtiFSxKAVxE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MX" dirty="0"/>
              <a:t>Microsoft. (s. f.). Ayuda y aprendizaje de Microsoft Project. https://support.microsoft.com/es-es/project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MX" dirty="0"/>
              <a:t>Project Management Institute. (2021). Guía de los fundamentos para la dirección de proyectos (Guía del PMBOK) (7.ª ed.). https://www.pmi.org/standards/pmbok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MX" dirty="0"/>
              <a:t>Schwaber, K. y Sutherland, J. (2020). La Guía Scrum. https://scrumguides.org/</a:t>
            </a:r>
          </a:p>
        </p:txBody>
      </p:sp>
    </p:spTree>
    <p:extLst>
      <p:ext uri="{BB962C8B-B14F-4D97-AF65-F5344CB8AC3E}">
        <p14:creationId xmlns:p14="http://schemas.microsoft.com/office/powerpoint/2010/main" val="13946045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  <wetp:taskpane dockstate="right" visibility="0" width="438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0D1821E-CF15-40AD-89DA-26CE10A34454}">
  <we:reference id="wa200010725" version="1.0.0.1" store="es-ES" storeType="OMEX"/>
  <we:alternateReferences>
    <we:reference id="WA200010725" version="1.0.0.1" store="" storeType="OMEX"/>
  </we:alternateReferences>
  <we:properties>
    <we:property name="claude.fileId" value="&quot;e78c2c7e-1b71-4de1-b1d3-4cbb7b484ae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4A206A6-B050-458B-A567-8E6C1D675154}">
  <we:reference id="wa200010001" version="1.0.0.1" store="es-ES" storeType="OMEX"/>
  <we:alternateReferences>
    <we:reference id="WA200010001" version="1.0.0.1" store="" storeType="OMEX"/>
  </we:alternateReferences>
  <we:properties>
    <we:property name="claude.fileId" value="&quot;9130135c-3171-4e41-abe2-271a8da4c24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3683</TotalTime>
  <Words>1715</Words>
  <Application>Microsoft Office PowerPoint</Application>
  <PresentationFormat>Panorámica</PresentationFormat>
  <Paragraphs>313</Paragraphs>
  <Slides>22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Objetivo</vt:lpstr>
      <vt:lpstr>Justificación</vt:lpstr>
      <vt:lpstr>Alcance de la práctica</vt:lpstr>
      <vt:lpstr>Presentación de PowerPoint</vt:lpstr>
      <vt:lpstr>Herramientas utilizadas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81</cp:revision>
  <dcterms:created xsi:type="dcterms:W3CDTF">2026-02-14T13:39:49Z</dcterms:created>
  <dcterms:modified xsi:type="dcterms:W3CDTF">2026-10-04T00:28:25Z</dcterms:modified>
</cp:coreProperties>
</file>