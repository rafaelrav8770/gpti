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63" r:id="rId3"/>
    <p:sldId id="258" r:id="rId4"/>
    <p:sldId id="303" r:id="rId5"/>
    <p:sldId id="337" r:id="rId6"/>
    <p:sldId id="338" r:id="rId7"/>
    <p:sldId id="261" r:id="rId8"/>
    <p:sldId id="262" r:id="rId9"/>
    <p:sldId id="339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922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72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2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08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2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19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3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3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4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17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30/08/2026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5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kJtlZ0xneEw" TargetMode="External"/><Relationship Id="rId3" Type="http://schemas.openxmlformats.org/officeDocument/2006/relationships/hyperlink" Target="https://github.com/rafaelrav8770/GPTI" TargetMode="External"/><Relationship Id="rId7" Type="http://schemas.openxmlformats.org/officeDocument/2006/relationships/hyperlink" Target="https://www.pmi.org/standards/pmbok?utm_source=chatgpt.com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8k_7bMRPEco&amp;utm_source=chatgpt.com" TargetMode="External"/><Relationship Id="rId5" Type="http://schemas.openxmlformats.org/officeDocument/2006/relationships/hyperlink" Target="https://www.youtube.com/watch?v=yVRZif8cJz0&amp;utm_source=chatgpt.com" TargetMode="External"/><Relationship Id="rId4" Type="http://schemas.openxmlformats.org/officeDocument/2006/relationships/hyperlink" Target="https://www.youtube.com/watch?v=2x8gfBL5Rps&amp;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3792C0E-56A4-038E-25C8-41619E973B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1815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2550694" y="1824715"/>
            <a:ext cx="6096000" cy="119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s-MX" sz="2000" b="1" kern="0" dirty="0">
                <a:latin typeface="Arial" panose="020B0604020202020204" pitchFamily="34" charset="0"/>
                <a:cs typeface="Arial" panose="020B0604020202020204" pitchFamily="34" charset="0"/>
              </a:rPr>
              <a:t>GESTION DE PROYECTOS DE TI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2.2 –REPORTE DE PRACTICA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3F20D4B-4AB8-951E-96AB-E5F9938AB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399780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SEPTIMO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4010525" y="3048181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b="1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793875" y="626555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23</a:t>
            </a:r>
            <a:r>
              <a:rPr lang="es-MX" sz="2000" b="1" ker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</a:t>
            </a:r>
            <a:r>
              <a:rPr lang="es-MX" sz="2000" b="1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AGOSTO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2026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0101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3D5AD-B34F-94DE-CA8C-4E027E6ED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750"/>
            <a:ext cx="10515600" cy="5129213"/>
          </a:xfrm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52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Introducción</a:t>
            </a:r>
          </a:p>
          <a:p>
            <a:pPr marL="0" indent="0" algn="just">
              <a:buNone/>
            </a:pPr>
            <a:r>
              <a:rPr lang="es-MX" dirty="0"/>
              <a:t>Se continúa la gestión de los tres proyectos formalizados en la Unidad 1 y que ahora se utilizan Scrum, Kanban y PMBOK para planificar, organizar y controlar las actividades.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6031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8F6C57-A8B1-DC96-5869-560383E7A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s-MX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Objetivo</a:t>
            </a:r>
          </a:p>
          <a:p>
            <a:pPr marL="0" indent="0">
              <a:buNone/>
            </a:pPr>
            <a:r>
              <a:rPr lang="es-MX" dirty="0"/>
              <a:t> 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84CD005-444C-BCE1-5383-69207A0A2786}"/>
              </a:ext>
            </a:extLst>
          </p:cNvPr>
          <p:cNvSpPr txBox="1"/>
          <p:nvPr/>
        </p:nvSpPr>
        <p:spPr>
          <a:xfrm>
            <a:off x="1162049" y="3087752"/>
            <a:ext cx="10515599" cy="17699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just"/>
            <a:r>
              <a:rPr lang="es-MX" dirty="0"/>
              <a:t>Aplicar Scrum, Kanban y PMBOK para organizar, supervisar y documentar el avance de tres proyectos de simulación, estableciendo actividades, responsables, evidencias, criterios de aceptación y mecanismos de seguimiento.</a:t>
            </a:r>
          </a:p>
        </p:txBody>
      </p:sp>
    </p:spTree>
    <p:extLst>
      <p:ext uri="{BB962C8B-B14F-4D97-AF65-F5344CB8AC3E}">
        <p14:creationId xmlns:p14="http://schemas.microsoft.com/office/powerpoint/2010/main" val="49266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3867A-3E04-8632-141B-8C5FDD171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EA835B-7257-6BC0-9849-98A1416C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La aplicación conjunta de Scrum, Kanban y PMBOK permite gestionar los tres proyectos de simulación de manera organizada y verificable. Scrum facilita la comunicación y el seguimiento periódico con las personas ejecutoras; Kanban permite visualizar el estado de las actividades e identificar pendientes, revisiones y bloqueos; mientras que PMBOK proporciona una estructura formal para documentar el inicio, la planificación, la ejecución, el monitoreo y el cierre de cada proyecto. </a:t>
            </a:r>
          </a:p>
        </p:txBody>
      </p:sp>
    </p:spTree>
    <p:extLst>
      <p:ext uri="{BB962C8B-B14F-4D97-AF65-F5344CB8AC3E}">
        <p14:creationId xmlns:p14="http://schemas.microsoft.com/office/powerpoint/2010/main" val="352723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815B841-3F7B-A7EC-012D-59B052AD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sz="4800" b="1" dirty="0" err="1">
                <a:solidFill>
                  <a:schemeClr val="accent1"/>
                </a:solidFill>
              </a:rPr>
              <a:t>Proyectos</a:t>
            </a:r>
            <a:r>
              <a:rPr sz="4800" b="1" dirty="0">
                <a:solidFill>
                  <a:schemeClr val="accent1"/>
                </a:solidFill>
              </a:rPr>
              <a:t> </a:t>
            </a:r>
            <a:r>
              <a:rPr sz="4800" b="1" dirty="0" err="1">
                <a:solidFill>
                  <a:schemeClr val="accent1"/>
                </a:solidFill>
              </a:rPr>
              <a:t>gestionados</a:t>
            </a:r>
            <a:endParaRPr sz="4800" b="1" dirty="0">
              <a:solidFill>
                <a:schemeClr val="accent1"/>
              </a:solidFill>
            </a:endParaRPr>
          </a:p>
        </p:txBody>
      </p:sp>
      <p:graphicFrame>
        <p:nvGraphicFramePr>
          <p:cNvPr id="5" name="Marcador de contenido 3">
            <a:extLst>
              <a:ext uri="{FF2B5EF4-FFF2-40B4-BE49-F238E27FC236}">
                <a16:creationId xmlns:a16="http://schemas.microsoft.com/office/drawing/2014/main" id="{2861D97D-C32E-EA48-C2B8-DE4FAAAEEC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2652104"/>
              </p:ext>
            </p:extLst>
          </p:nvPr>
        </p:nvGraphicFramePr>
        <p:xfrm>
          <a:off x="1027043" y="2131412"/>
          <a:ext cx="10515600" cy="28143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Proyecto / ejecutor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Acta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Fecha límite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Taller de electrónica · Roberto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dirty="0"/>
                        <a:t>ACTA-003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11/10/2026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Taller mecánico · Brandon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ACTA-001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14/10/2026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Planta embotelladora · Josefina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ACTA-002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12/10/2026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Documentación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PLAN-001 a PLAN-003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Vigente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Corte del reporte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Seguimiento inicial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dirty="0"/>
                        <a:t>29/08/2026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25DF2B62-B676-F0D4-5114-08BEEDE36AC8}"/>
              </a:ext>
            </a:extLst>
          </p:cNvPr>
          <p:cNvSpPr>
            <a:spLocks noGrp="1"/>
          </p:cNvSpPr>
          <p:nvPr/>
        </p:nvSpPr>
        <p:spPr>
          <a:xfrm>
            <a:off x="1027043" y="5166623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  <a:spcAft>
                <a:spcPts val="500"/>
              </a:spcAft>
              <a:buNone/>
            </a:pP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Los </a:t>
            </a:r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tres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proyectos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cuentan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con </a:t>
            </a:r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levantamiento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, Acta de </a:t>
            </a:r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Inicio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y Plan de </a:t>
            </a:r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Trabajo</a:t>
            </a:r>
            <a:endParaRPr sz="1800" dirty="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4383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DCD0F-683F-DE66-1BB8-E819226CE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cap="all" dirty="0">
                <a:solidFill>
                  <a:schemeClr val="accent1"/>
                </a:solidFill>
              </a:rPr>
              <a:t>Metodologías utilizadas</a:t>
            </a:r>
            <a:endParaRPr lang="es-MX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4CBA8B-431B-0C96-6962-AA717E306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Scrum</a:t>
            </a:r>
          </a:p>
          <a:p>
            <a:pPr marL="0" indent="0">
              <a:buNone/>
            </a:pPr>
            <a:r>
              <a:rPr lang="es-MX" dirty="0"/>
              <a:t>Comunicación y seguimiento frecuente mediante llamadas, WhatsApp y revisión de evidencias.</a:t>
            </a:r>
          </a:p>
          <a:p>
            <a:pPr marL="0" indent="0">
              <a:buNone/>
            </a:pPr>
            <a:r>
              <a:rPr lang="es-MX" dirty="0"/>
              <a:t>Kanban</a:t>
            </a:r>
          </a:p>
          <a:p>
            <a:pPr marL="0" indent="0">
              <a:buNone/>
            </a:pPr>
            <a:r>
              <a:rPr lang="es-MX" dirty="0"/>
              <a:t>Visualización de actividades pendientes, en proceso, en revisión, bloqueadas y completadas.</a:t>
            </a:r>
          </a:p>
          <a:p>
            <a:pPr marL="0" indent="0">
              <a:buNone/>
            </a:pPr>
            <a:r>
              <a:rPr lang="es-MX" dirty="0"/>
              <a:t>PMBOK</a:t>
            </a:r>
          </a:p>
          <a:p>
            <a:pPr marL="0" indent="0">
              <a:buNone/>
            </a:pPr>
            <a:r>
              <a:rPr lang="es-MX" dirty="0"/>
              <a:t>Organización formal del proyecto en inicio, planificación, ejecución, monitoreo y control, y cierre</a:t>
            </a:r>
          </a:p>
        </p:txBody>
      </p:sp>
    </p:spTree>
    <p:extLst>
      <p:ext uri="{BB962C8B-B14F-4D97-AF65-F5344CB8AC3E}">
        <p14:creationId xmlns:p14="http://schemas.microsoft.com/office/powerpoint/2010/main" val="3554306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2BA0A-607E-FFBA-A919-B8C6D14DD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04775"/>
            <a:ext cx="10515600" cy="1807818"/>
          </a:xfrm>
        </p:spPr>
        <p:txBody>
          <a:bodyPr>
            <a:normAutofit/>
          </a:bodyPr>
          <a:lstStyle/>
          <a:p>
            <a:r>
              <a:rPr b="1" cap="all" dirty="0">
                <a:solidFill>
                  <a:schemeClr val="accent1"/>
                </a:solidFill>
              </a:rPr>
              <a:t>SECCIÓN SCRUM</a:t>
            </a:r>
            <a:endParaRPr dirty="0">
              <a:solidFill>
                <a:schemeClr val="accent1"/>
              </a:solidFill>
            </a:endParaRPr>
          </a:p>
          <a:p>
            <a:r>
              <a:rPr b="1" cap="all" dirty="0" err="1">
                <a:solidFill>
                  <a:schemeClr val="accent1"/>
                </a:solidFill>
              </a:rPr>
              <a:t>Aplicación</a:t>
            </a:r>
            <a:r>
              <a:rPr b="1" cap="all" dirty="0">
                <a:solidFill>
                  <a:schemeClr val="accent1"/>
                </a:solidFill>
              </a:rPr>
              <a:t> en </a:t>
            </a:r>
            <a:r>
              <a:rPr b="1" cap="all" dirty="0" err="1">
                <a:solidFill>
                  <a:schemeClr val="accent1"/>
                </a:solidFill>
              </a:rPr>
              <a:t>los</a:t>
            </a:r>
            <a:r>
              <a:rPr b="1" cap="all" dirty="0">
                <a:solidFill>
                  <a:schemeClr val="accent1"/>
                </a:solidFill>
              </a:rPr>
              <a:t> </a:t>
            </a:r>
            <a:r>
              <a:rPr b="1" cap="all" dirty="0" err="1">
                <a:solidFill>
                  <a:schemeClr val="accent1"/>
                </a:solidFill>
              </a:rPr>
              <a:t>tres</a:t>
            </a:r>
            <a:r>
              <a:rPr b="1" cap="all" dirty="0">
                <a:solidFill>
                  <a:schemeClr val="accent1"/>
                </a:solidFill>
              </a:rPr>
              <a:t> </a:t>
            </a:r>
            <a:r>
              <a:rPr b="1" cap="all" dirty="0" err="1">
                <a:solidFill>
                  <a:schemeClr val="accent1"/>
                </a:solidFill>
              </a:rPr>
              <a:t>proyectos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997388-5E15-DD13-3D56-F714069EE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6442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aplica</a:t>
            </a:r>
            <a:endParaRPr dirty="0"/>
          </a:p>
          <a:p>
            <a:pPr marL="0" indent="0">
              <a:buNone/>
            </a:pPr>
            <a:r>
              <a:rPr dirty="0"/>
              <a:t>Scrum se </a:t>
            </a:r>
            <a:r>
              <a:rPr dirty="0" err="1"/>
              <a:t>utiliza</a:t>
            </a:r>
            <a:r>
              <a:rPr dirty="0"/>
              <a:t> como </a:t>
            </a:r>
            <a:r>
              <a:rPr dirty="0" err="1"/>
              <a:t>mecanismo</a:t>
            </a:r>
            <a:r>
              <a:rPr dirty="0"/>
              <a:t> de </a:t>
            </a:r>
            <a:r>
              <a:rPr dirty="0" err="1"/>
              <a:t>coordinación</a:t>
            </a:r>
            <a:r>
              <a:rPr dirty="0"/>
              <a:t> y </a:t>
            </a:r>
            <a:r>
              <a:rPr dirty="0" err="1"/>
              <a:t>seguimiento</a:t>
            </a:r>
            <a:r>
              <a:rPr dirty="0"/>
              <a:t>. El Project Manager </a:t>
            </a:r>
            <a:r>
              <a:rPr dirty="0" err="1"/>
              <a:t>mantiene</a:t>
            </a:r>
            <a:r>
              <a:rPr dirty="0"/>
              <a:t> </a:t>
            </a:r>
            <a:r>
              <a:rPr dirty="0" err="1"/>
              <a:t>contacto</a:t>
            </a:r>
            <a:r>
              <a:rPr dirty="0"/>
              <a:t> </a:t>
            </a:r>
            <a:r>
              <a:rPr dirty="0" err="1"/>
              <a:t>frecuente</a:t>
            </a:r>
            <a:r>
              <a:rPr dirty="0"/>
              <a:t> con las personas </a:t>
            </a:r>
            <a:r>
              <a:rPr dirty="0" err="1"/>
              <a:t>ejecutoras</a:t>
            </a:r>
            <a:r>
              <a:rPr dirty="0"/>
              <a:t>, </a:t>
            </a:r>
            <a:r>
              <a:rPr dirty="0" err="1"/>
              <a:t>revisa</a:t>
            </a:r>
            <a:r>
              <a:rPr dirty="0"/>
              <a:t> </a:t>
            </a:r>
            <a:r>
              <a:rPr dirty="0" err="1"/>
              <a:t>avances</a:t>
            </a:r>
            <a:r>
              <a:rPr dirty="0"/>
              <a:t>, </a:t>
            </a:r>
            <a:r>
              <a:rPr dirty="0" err="1"/>
              <a:t>identifica</a:t>
            </a:r>
            <a:r>
              <a:rPr dirty="0"/>
              <a:t> </a:t>
            </a:r>
            <a:r>
              <a:rPr dirty="0" err="1"/>
              <a:t>bloqueos</a:t>
            </a:r>
            <a:r>
              <a:rPr dirty="0"/>
              <a:t> y </a:t>
            </a:r>
            <a:r>
              <a:rPr dirty="0" err="1"/>
              <a:t>solicita</a:t>
            </a:r>
            <a:r>
              <a:rPr dirty="0"/>
              <a:t> </a:t>
            </a:r>
            <a:r>
              <a:rPr dirty="0" err="1"/>
              <a:t>evidencias</a:t>
            </a:r>
            <a:r>
              <a:rPr dirty="0"/>
              <a:t> </a:t>
            </a:r>
            <a:r>
              <a:rPr dirty="0" err="1"/>
              <a:t>verificables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 err="1"/>
              <a:t>Aplicación</a:t>
            </a:r>
            <a:r>
              <a:rPr dirty="0"/>
              <a:t> </a:t>
            </a:r>
            <a:r>
              <a:rPr dirty="0" err="1"/>
              <a:t>práctica</a:t>
            </a:r>
            <a:endParaRPr dirty="0"/>
          </a:p>
          <a:p>
            <a:pPr marL="0" indent="0">
              <a:buNone/>
            </a:pPr>
            <a:r>
              <a:rPr dirty="0"/>
              <a:t>— </a:t>
            </a:r>
            <a:r>
              <a:rPr lang="es-MX" dirty="0"/>
              <a:t>Seguimientos breves mediante llamadas telefónicas y mensajes de WhatsApp.</a:t>
            </a:r>
          </a:p>
          <a:p>
            <a:pPr marL="0" indent="0">
              <a:buNone/>
            </a:pPr>
            <a:r>
              <a:rPr dirty="0"/>
              <a:t>— Registro de </a:t>
            </a:r>
            <a:r>
              <a:rPr dirty="0" err="1"/>
              <a:t>cada</a:t>
            </a:r>
            <a:r>
              <a:rPr dirty="0"/>
              <a:t> Daily Scrum en Monday.com.</a:t>
            </a:r>
          </a:p>
          <a:p>
            <a:pPr marL="0" indent="0">
              <a:buNone/>
            </a:pPr>
            <a:r>
              <a:rPr dirty="0"/>
              <a:t>— </a:t>
            </a:r>
            <a:r>
              <a:rPr dirty="0" err="1"/>
              <a:t>Revisión</a:t>
            </a:r>
            <a:r>
              <a:rPr dirty="0"/>
              <a:t> de lo </a:t>
            </a:r>
            <a:r>
              <a:rPr dirty="0" err="1"/>
              <a:t>realizado</a:t>
            </a:r>
            <a:r>
              <a:rPr dirty="0"/>
              <a:t>, lo </a:t>
            </a:r>
            <a:r>
              <a:rPr dirty="0" err="1"/>
              <a:t>siguiente</a:t>
            </a:r>
            <a:r>
              <a:rPr dirty="0"/>
              <a:t> y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bloqueos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— </a:t>
            </a:r>
            <a:r>
              <a:rPr dirty="0" err="1"/>
              <a:t>Actualización</a:t>
            </a:r>
            <a:r>
              <a:rPr dirty="0"/>
              <a:t> del </a:t>
            </a:r>
            <a:r>
              <a:rPr dirty="0" err="1"/>
              <a:t>tablero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1148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47905F-C5B6-7F91-E712-82B25DAF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cap="all" dirty="0">
                <a:solidFill>
                  <a:schemeClr val="accent1"/>
                </a:solidFill>
              </a:rPr>
              <a:t>Roles de Scrum</a:t>
            </a:r>
            <a:endParaRPr dirty="0">
              <a:solidFill>
                <a:schemeClr val="accent1"/>
              </a:solidFill>
            </a:endParaRPr>
          </a:p>
        </p:txBody>
      </p:sp>
      <p:graphicFrame>
        <p:nvGraphicFramePr>
          <p:cNvPr id="9" name="Marcador de contenido 3"/>
          <p:cNvGraphicFramePr/>
          <p:nvPr/>
        </p:nvGraphicFramePr>
        <p:xfrm>
          <a:off x="1027043" y="2131412"/>
          <a:ext cx="10515600" cy="28143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Rol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Responsable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Función principal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Scrum Master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Rafael Aquino Villanueva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Facilitar seguimiento y resolver bloqueos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Personas ejecutoras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Brandon, Josefina y Roberto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Desarrollar y evidenciar el avance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Product Owner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Usuario de cada proceso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Validar necesidades y resultados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Evento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Daily Scrum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Comunicar avance, siguiente paso y bloqueo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Evidencia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Monday.com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Conservar el seguimiento verificable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6F054DFC-F216-545F-70CB-F98EFE8C449E}"/>
              </a:ext>
            </a:extLst>
          </p:cNvPr>
          <p:cNvSpPr>
            <a:spLocks noGrp="1"/>
          </p:cNvSpPr>
          <p:nvPr/>
        </p:nvSpPr>
        <p:spPr>
          <a:xfrm>
            <a:off x="1027043" y="5166623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None/>
            </a:pPr>
            <a:r>
              <a:rPr sz="1800" i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Los roles se adaptan al contexto académico: el Project Manager coordina el trabajo y cada persona ejecutora desarrolla su proyecto de simulación.</a:t>
            </a:r>
            <a:endParaRPr sz="18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5780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F5298F-390E-AC2B-7069-D09DEC8C8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3150"/>
          </a:bodyPr>
          <a:lstStyle/>
          <a:p>
            <a:pPr marL="0" indent="0" algn="just">
              <a:buNone/>
            </a:pPr>
            <a:r>
              <a:rPr sz="2600" dirty="0" err="1"/>
              <a:t>Medios</a:t>
            </a:r>
            <a:r>
              <a:rPr sz="2600" dirty="0"/>
              <a:t> </a:t>
            </a:r>
            <a:r>
              <a:rPr sz="2600" dirty="0" err="1"/>
              <a:t>utilizados</a:t>
            </a:r>
            <a:endParaRPr sz="2600" dirty="0"/>
          </a:p>
          <a:p>
            <a:pPr marL="0" indent="0" algn="just">
              <a:buNone/>
            </a:pPr>
            <a:r>
              <a:rPr sz="2600" dirty="0"/>
              <a:t>— </a:t>
            </a:r>
            <a:r>
              <a:rPr sz="2600" dirty="0" err="1"/>
              <a:t>Llamadas</a:t>
            </a:r>
            <a:r>
              <a:rPr sz="2600" dirty="0"/>
              <a:t> </a:t>
            </a:r>
            <a:r>
              <a:rPr sz="2600" dirty="0" err="1"/>
              <a:t>telefónicas</a:t>
            </a:r>
            <a:r>
              <a:rPr sz="2600" dirty="0"/>
              <a:t> para resolver </a:t>
            </a:r>
            <a:r>
              <a:rPr sz="2600" dirty="0" err="1"/>
              <a:t>dudas</a:t>
            </a:r>
            <a:r>
              <a:rPr sz="2600" dirty="0"/>
              <a:t> y </a:t>
            </a:r>
            <a:r>
              <a:rPr sz="2600" dirty="0" err="1"/>
              <a:t>revisar</a:t>
            </a:r>
            <a:r>
              <a:rPr sz="2600" dirty="0"/>
              <a:t> </a:t>
            </a:r>
            <a:r>
              <a:rPr sz="2600" dirty="0" err="1"/>
              <a:t>avances</a:t>
            </a:r>
            <a:r>
              <a:rPr sz="2600" dirty="0"/>
              <a:t>.</a:t>
            </a:r>
          </a:p>
          <a:p>
            <a:pPr marL="0" indent="0" algn="just">
              <a:buNone/>
            </a:pPr>
            <a:r>
              <a:rPr sz="2600" dirty="0"/>
              <a:t>— WhatsApp para </a:t>
            </a:r>
            <a:r>
              <a:rPr sz="2600" dirty="0" err="1"/>
              <a:t>enviar</a:t>
            </a:r>
            <a:r>
              <a:rPr sz="2600" dirty="0"/>
              <a:t> </a:t>
            </a:r>
            <a:r>
              <a:rPr sz="2600" dirty="0" err="1"/>
              <a:t>documentos</a:t>
            </a:r>
            <a:r>
              <a:rPr sz="2600" dirty="0"/>
              <a:t>, </a:t>
            </a:r>
            <a:r>
              <a:rPr sz="2600" dirty="0" err="1"/>
              <a:t>confirmar</a:t>
            </a:r>
            <a:r>
              <a:rPr sz="2600" dirty="0"/>
              <a:t> </a:t>
            </a:r>
            <a:r>
              <a:rPr sz="2600" dirty="0" err="1"/>
              <a:t>actas</a:t>
            </a:r>
            <a:r>
              <a:rPr sz="2600" dirty="0"/>
              <a:t> y </a:t>
            </a:r>
            <a:r>
              <a:rPr sz="2600" dirty="0" err="1"/>
              <a:t>recibir</a:t>
            </a:r>
            <a:r>
              <a:rPr sz="2600" dirty="0"/>
              <a:t> </a:t>
            </a:r>
            <a:r>
              <a:rPr sz="2600" dirty="0" err="1"/>
              <a:t>evidencias</a:t>
            </a:r>
            <a:r>
              <a:rPr sz="2600" dirty="0"/>
              <a:t>.</a:t>
            </a:r>
          </a:p>
          <a:p>
            <a:pPr marL="0" indent="0" algn="just">
              <a:buNone/>
            </a:pPr>
            <a:r>
              <a:rPr sz="2600" dirty="0"/>
              <a:t>— Monday.com para registrar </a:t>
            </a:r>
            <a:r>
              <a:rPr sz="2600" dirty="0" err="1"/>
              <a:t>fecha</a:t>
            </a:r>
            <a:r>
              <a:rPr sz="2600" dirty="0"/>
              <a:t>, </a:t>
            </a:r>
            <a:r>
              <a:rPr sz="2600" dirty="0" err="1"/>
              <a:t>estado</a:t>
            </a:r>
            <a:r>
              <a:rPr sz="2600" dirty="0"/>
              <a:t> y </a:t>
            </a:r>
            <a:r>
              <a:rPr sz="2600" dirty="0" err="1"/>
              <a:t>detalle</a:t>
            </a:r>
            <a:r>
              <a:rPr sz="2600" dirty="0"/>
              <a:t>.</a:t>
            </a:r>
          </a:p>
          <a:p>
            <a:pPr marL="0" indent="0" algn="just">
              <a:buNone/>
            </a:pPr>
            <a:r>
              <a:rPr sz="2600" dirty="0"/>
              <a:t>Regla de </a:t>
            </a:r>
            <a:r>
              <a:rPr sz="2600" dirty="0" err="1"/>
              <a:t>registro</a:t>
            </a:r>
            <a:endParaRPr sz="2600" dirty="0"/>
          </a:p>
          <a:p>
            <a:pPr marL="0" indent="0" algn="just">
              <a:buNone/>
            </a:pPr>
            <a:r>
              <a:rPr sz="2600" dirty="0"/>
              <a:t>Cuando no </a:t>
            </a:r>
            <a:r>
              <a:rPr sz="2600" dirty="0" err="1"/>
              <a:t>existe</a:t>
            </a:r>
            <a:r>
              <a:rPr sz="2600" dirty="0"/>
              <a:t> </a:t>
            </a:r>
            <a:r>
              <a:rPr sz="2600" dirty="0" err="1"/>
              <a:t>comunicación</a:t>
            </a:r>
            <a:r>
              <a:rPr sz="2600" dirty="0"/>
              <a:t>, se </a:t>
            </a:r>
            <a:r>
              <a:rPr sz="2600" dirty="0" err="1"/>
              <a:t>anota</a:t>
            </a:r>
            <a:r>
              <a:rPr sz="2600" dirty="0"/>
              <a:t>: “No se </a:t>
            </a:r>
            <a:r>
              <a:rPr sz="2600" dirty="0" err="1"/>
              <a:t>realizó</a:t>
            </a:r>
            <a:r>
              <a:rPr sz="2600" dirty="0"/>
              <a:t> </a:t>
            </a:r>
            <a:r>
              <a:rPr sz="2600" dirty="0" err="1"/>
              <a:t>comunicación</a:t>
            </a:r>
            <a:r>
              <a:rPr sz="2600" dirty="0"/>
              <a:t> con la persona </a:t>
            </a:r>
            <a:r>
              <a:rPr sz="2600" dirty="0" err="1"/>
              <a:t>ejecutora</a:t>
            </a:r>
            <a:r>
              <a:rPr sz="2600" dirty="0"/>
              <a:t>. El Project Manager </a:t>
            </a:r>
            <a:r>
              <a:rPr sz="2600" dirty="0" err="1"/>
              <a:t>revisó</a:t>
            </a:r>
            <a:r>
              <a:rPr sz="2600" dirty="0"/>
              <a:t> y </a:t>
            </a:r>
            <a:r>
              <a:rPr sz="2600" dirty="0" err="1"/>
              <a:t>actualizó</a:t>
            </a:r>
            <a:r>
              <a:rPr sz="2600" dirty="0"/>
              <a:t> la </a:t>
            </a:r>
            <a:r>
              <a:rPr sz="2600" dirty="0" err="1"/>
              <a:t>documentación</a:t>
            </a:r>
            <a:r>
              <a:rPr sz="2600" dirty="0"/>
              <a:t> y el </a:t>
            </a:r>
            <a:r>
              <a:rPr sz="2600" dirty="0" err="1"/>
              <a:t>tablero</a:t>
            </a:r>
            <a:r>
              <a:rPr sz="2600" dirty="0"/>
              <a:t> del </a:t>
            </a:r>
            <a:r>
              <a:rPr sz="2600" dirty="0" err="1"/>
              <a:t>proyecto</a:t>
            </a:r>
            <a:r>
              <a:rPr sz="2600" dirty="0"/>
              <a:t>”.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DEE1E0B-7A9E-7D0F-F389-71645EBC192A}"/>
              </a:ext>
            </a:extLst>
          </p:cNvPr>
          <p:cNvSpPr txBox="1"/>
          <p:nvPr/>
        </p:nvSpPr>
        <p:spPr>
          <a:xfrm>
            <a:off x="1066800" y="681037"/>
            <a:ext cx="6096000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 cap="all"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>
                <a:solidFill>
                  <a:schemeClr val="accent1"/>
                </a:solidFill>
              </a:rPr>
              <a:t>Daily Scrum</a:t>
            </a:r>
          </a:p>
        </p:txBody>
      </p:sp>
    </p:spTree>
    <p:extLst>
      <p:ext uri="{BB962C8B-B14F-4D97-AF65-F5344CB8AC3E}">
        <p14:creationId xmlns:p14="http://schemas.microsoft.com/office/powerpoint/2010/main" val="1939659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C2C70-18AF-E92D-7853-85C8D92CC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cap="all" dirty="0" err="1">
                <a:solidFill>
                  <a:schemeClr val="accent1"/>
                </a:solidFill>
              </a:rPr>
              <a:t>Evidencia</a:t>
            </a:r>
            <a:r>
              <a:rPr b="1" cap="all" dirty="0">
                <a:solidFill>
                  <a:schemeClr val="accent1"/>
                </a:solidFill>
              </a:rPr>
              <a:t> del Daily Scrum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D327C6B-D409-2946-E86F-9E160C65B46E}"/>
              </a:ext>
            </a:extLst>
          </p:cNvPr>
          <p:cNvSpPr>
            <a:spLocks noGrp="1"/>
          </p:cNvSpPr>
          <p:nvPr/>
        </p:nvSpPr>
        <p:spPr>
          <a:xfrm>
            <a:off x="974071" y="4747858"/>
            <a:ext cx="512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Seguimiento registrado del 24 al 28 de agosto</a:t>
            </a:r>
            <a:endParaRPr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6EBF6B6-F277-A894-4C26-F97A7BA59C68}"/>
              </a:ext>
            </a:extLst>
          </p:cNvPr>
          <p:cNvSpPr>
            <a:spLocks noGrp="1"/>
          </p:cNvSpPr>
          <p:nvPr/>
        </p:nvSpPr>
        <p:spPr>
          <a:xfrm>
            <a:off x="6366076" y="4747858"/>
            <a:ext cx="49877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Primer diagrama entregado por Roberto el 27 de agosto de 2026.</a:t>
            </a:r>
            <a:endParaRPr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6E89C02-52A4-425C-3D03-97393022A19C}"/>
              </a:ext>
            </a:extLst>
          </p:cNvPr>
          <p:cNvSpPr>
            <a:spLocks noGrp="1"/>
          </p:cNvSpPr>
          <p:nvPr/>
        </p:nvSpPr>
        <p:spPr>
          <a:xfrm>
            <a:off x="1238491" y="5571358"/>
            <a:ext cx="100005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700"/>
              </a:spcAft>
              <a:buNone/>
            </a:pPr>
            <a:r>
              <a:rPr sz="18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Las evidencias muestran el registro en Monday.com y la recepción de un entregable verificable. Los días sin comunicación se documentan sin inventar actividades.</a:t>
            </a:r>
            <a:endParaRPr sz="10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F2C89F1-3D6A-8403-C905-28901D7F0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904" y="2024213"/>
            <a:ext cx="4341021" cy="244182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AB5A866-18B6-BF14-2DB6-C48DEE079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4071" y="2352384"/>
            <a:ext cx="5120000" cy="200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201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F5298F-390E-AC2B-7069-D09DEC8C8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 fontScale="93150"/>
          </a:bodyPr>
          <a:lstStyle/>
          <a:p>
            <a:pPr marL="0" indent="0" algn="just">
              <a:buNone/>
            </a:pPr>
            <a:r>
              <a:rPr sz="2600" dirty="0" err="1"/>
              <a:t>Estados</a:t>
            </a:r>
            <a:r>
              <a:rPr sz="2600" dirty="0"/>
              <a:t> </a:t>
            </a:r>
            <a:r>
              <a:rPr sz="2600" dirty="0" err="1"/>
              <a:t>utilizados</a:t>
            </a:r>
            <a:endParaRPr sz="2600" dirty="0"/>
          </a:p>
          <a:p>
            <a:pPr marL="0" indent="0" algn="just">
              <a:buNone/>
            </a:pPr>
            <a:r>
              <a:rPr sz="2600" dirty="0"/>
              <a:t>— </a:t>
            </a:r>
            <a:r>
              <a:rPr sz="2600" dirty="0" err="1"/>
              <a:t>Pendiente</a:t>
            </a:r>
            <a:r>
              <a:rPr sz="2600" dirty="0"/>
              <a:t>: </a:t>
            </a:r>
            <a:r>
              <a:rPr sz="2600" dirty="0" err="1"/>
              <a:t>actividad</a:t>
            </a:r>
            <a:r>
              <a:rPr sz="2600" dirty="0"/>
              <a:t> </a:t>
            </a:r>
            <a:r>
              <a:rPr sz="2600" dirty="0" err="1"/>
              <a:t>todavía</a:t>
            </a:r>
            <a:r>
              <a:rPr sz="2600" dirty="0"/>
              <a:t> no </a:t>
            </a:r>
            <a:r>
              <a:rPr sz="2600" dirty="0" err="1"/>
              <a:t>iniciada</a:t>
            </a:r>
            <a:r>
              <a:rPr sz="2600" dirty="0"/>
              <a:t>.</a:t>
            </a:r>
          </a:p>
          <a:p>
            <a:pPr marL="0" indent="0" algn="just">
              <a:buNone/>
            </a:pPr>
            <a:r>
              <a:rPr sz="2600" dirty="0"/>
              <a:t>— En </a:t>
            </a:r>
            <a:r>
              <a:rPr sz="2600" dirty="0" err="1"/>
              <a:t>proceso</a:t>
            </a:r>
            <a:r>
              <a:rPr sz="2600" dirty="0"/>
              <a:t>: </a:t>
            </a:r>
            <a:r>
              <a:rPr sz="2600" dirty="0" err="1"/>
              <a:t>trabajo</a:t>
            </a:r>
            <a:r>
              <a:rPr sz="2600" dirty="0"/>
              <a:t> </a:t>
            </a:r>
            <a:r>
              <a:rPr sz="2600" dirty="0" err="1"/>
              <a:t>actualmente</a:t>
            </a:r>
            <a:r>
              <a:rPr sz="2600" dirty="0"/>
              <a:t> en </a:t>
            </a:r>
            <a:r>
              <a:rPr sz="2600" dirty="0" err="1"/>
              <a:t>desarrollo</a:t>
            </a:r>
            <a:r>
              <a:rPr sz="2600" dirty="0"/>
              <a:t>.</a:t>
            </a:r>
          </a:p>
          <a:p>
            <a:pPr marL="0" indent="0" algn="just">
              <a:buNone/>
            </a:pPr>
            <a:r>
              <a:rPr sz="2600" dirty="0"/>
              <a:t>— En </a:t>
            </a:r>
            <a:r>
              <a:rPr sz="2600" dirty="0" err="1"/>
              <a:t>revisión</a:t>
            </a:r>
            <a:r>
              <a:rPr sz="2600" dirty="0"/>
              <a:t>: </a:t>
            </a:r>
            <a:r>
              <a:rPr sz="2600" dirty="0" err="1"/>
              <a:t>entregable</a:t>
            </a:r>
            <a:r>
              <a:rPr sz="2600" dirty="0"/>
              <a:t> </a:t>
            </a:r>
            <a:r>
              <a:rPr sz="2600" dirty="0" err="1"/>
              <a:t>recibido</a:t>
            </a:r>
            <a:r>
              <a:rPr sz="2600" dirty="0"/>
              <a:t> y </a:t>
            </a:r>
            <a:r>
              <a:rPr sz="2600" dirty="0" err="1"/>
              <a:t>pendiente</a:t>
            </a:r>
            <a:r>
              <a:rPr sz="2600" dirty="0"/>
              <a:t> de </a:t>
            </a:r>
            <a:r>
              <a:rPr sz="2600" dirty="0" err="1"/>
              <a:t>validación</a:t>
            </a:r>
            <a:r>
              <a:rPr sz="2600" dirty="0"/>
              <a:t>.</a:t>
            </a:r>
          </a:p>
          <a:p>
            <a:pPr marL="0" indent="0" algn="just">
              <a:buNone/>
            </a:pPr>
            <a:r>
              <a:rPr sz="2600" dirty="0"/>
              <a:t>— </a:t>
            </a:r>
            <a:r>
              <a:rPr sz="2600" dirty="0" err="1"/>
              <a:t>Bloqueado</a:t>
            </a:r>
            <a:r>
              <a:rPr sz="2600" dirty="0"/>
              <a:t>: </a:t>
            </a:r>
            <a:r>
              <a:rPr sz="2600" dirty="0" err="1"/>
              <a:t>existe</a:t>
            </a:r>
            <a:r>
              <a:rPr sz="2600" dirty="0"/>
              <a:t> una </a:t>
            </a:r>
            <a:r>
              <a:rPr sz="2600" dirty="0" err="1"/>
              <a:t>dependencia</a:t>
            </a:r>
            <a:r>
              <a:rPr sz="2600" dirty="0"/>
              <a:t> o </a:t>
            </a:r>
            <a:r>
              <a:rPr sz="2600" dirty="0" err="1"/>
              <a:t>dato</a:t>
            </a:r>
            <a:r>
              <a:rPr sz="2600" dirty="0"/>
              <a:t> </a:t>
            </a:r>
            <a:r>
              <a:rPr sz="2600" dirty="0" err="1"/>
              <a:t>faltante</a:t>
            </a:r>
            <a:r>
              <a:rPr sz="2600" dirty="0"/>
              <a:t>.</a:t>
            </a:r>
          </a:p>
          <a:p>
            <a:pPr marL="0" indent="0" algn="just">
              <a:buNone/>
            </a:pPr>
            <a:r>
              <a:rPr sz="2600" dirty="0"/>
              <a:t>— </a:t>
            </a:r>
            <a:r>
              <a:rPr sz="2600" dirty="0" err="1"/>
              <a:t>Completado</a:t>
            </a:r>
            <a:r>
              <a:rPr sz="2600" dirty="0"/>
              <a:t>: </a:t>
            </a:r>
            <a:r>
              <a:rPr sz="2600" dirty="0" err="1"/>
              <a:t>actividad</a:t>
            </a:r>
            <a:r>
              <a:rPr sz="2600" dirty="0"/>
              <a:t> </a:t>
            </a:r>
            <a:r>
              <a:rPr sz="2600" dirty="0" err="1"/>
              <a:t>terminada</a:t>
            </a:r>
            <a:r>
              <a:rPr sz="2600" dirty="0"/>
              <a:t> con </a:t>
            </a:r>
            <a:r>
              <a:rPr sz="2600" dirty="0" err="1"/>
              <a:t>evidencia</a:t>
            </a:r>
            <a:r>
              <a:rPr sz="2600" dirty="0"/>
              <a:t> </a:t>
            </a:r>
            <a:r>
              <a:rPr sz="2600" dirty="0" err="1"/>
              <a:t>verificable</a:t>
            </a:r>
            <a:r>
              <a:rPr sz="2600" dirty="0"/>
              <a:t>.</a:t>
            </a:r>
          </a:p>
          <a:p>
            <a:pPr marL="0" indent="0" algn="just">
              <a:buNone/>
            </a:pPr>
            <a:r>
              <a:rPr sz="2600" dirty="0"/>
              <a:t>El </a:t>
            </a:r>
            <a:r>
              <a:rPr sz="2600" dirty="0" err="1"/>
              <a:t>estado</a:t>
            </a:r>
            <a:r>
              <a:rPr sz="2600" dirty="0"/>
              <a:t> cambia </a:t>
            </a:r>
            <a:r>
              <a:rPr sz="2600" dirty="0" err="1"/>
              <a:t>únicamente</a:t>
            </a:r>
            <a:r>
              <a:rPr sz="2600" dirty="0"/>
              <a:t> </a:t>
            </a:r>
            <a:r>
              <a:rPr sz="2600" dirty="0" err="1"/>
              <a:t>cuando</a:t>
            </a:r>
            <a:r>
              <a:rPr sz="2600" dirty="0"/>
              <a:t> </a:t>
            </a:r>
            <a:r>
              <a:rPr sz="2600" dirty="0" err="1"/>
              <a:t>existe</a:t>
            </a:r>
            <a:r>
              <a:rPr sz="2600" dirty="0"/>
              <a:t> </a:t>
            </a:r>
            <a:r>
              <a:rPr sz="2600" dirty="0" err="1"/>
              <a:t>información</a:t>
            </a:r>
            <a:r>
              <a:rPr sz="2600" dirty="0"/>
              <a:t> real que lo </a:t>
            </a:r>
            <a:r>
              <a:rPr sz="2600" dirty="0" err="1"/>
              <a:t>justifique</a:t>
            </a:r>
            <a:r>
              <a:rPr sz="2600" dirty="0"/>
              <a:t>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573BFB3-EBB4-597D-B008-05A4D552B0C4}"/>
              </a:ext>
            </a:extLst>
          </p:cNvPr>
          <p:cNvSpPr txBox="1"/>
          <p:nvPr/>
        </p:nvSpPr>
        <p:spPr>
          <a:xfrm>
            <a:off x="965200" y="681037"/>
            <a:ext cx="6096000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 cap="all"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>
                <a:solidFill>
                  <a:schemeClr val="accent1"/>
                </a:solidFill>
              </a:rPr>
              <a:t>Aplicación de Kanban</a:t>
            </a:r>
          </a:p>
        </p:txBody>
      </p:sp>
    </p:spTree>
    <p:extLst>
      <p:ext uri="{BB962C8B-B14F-4D97-AF65-F5344CB8AC3E}">
        <p14:creationId xmlns:p14="http://schemas.microsoft.com/office/powerpoint/2010/main" val="2690584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C2C70-18AF-E92D-7853-85C8D92CC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cap="all" dirty="0" err="1">
                <a:solidFill>
                  <a:schemeClr val="accent1"/>
                </a:solidFill>
              </a:rPr>
              <a:t>Tablero</a:t>
            </a:r>
            <a:r>
              <a:rPr sz="3600" b="1" cap="all" dirty="0">
                <a:solidFill>
                  <a:schemeClr val="accent1"/>
                </a:solidFill>
              </a:rPr>
              <a:t> general de </a:t>
            </a:r>
            <a:r>
              <a:rPr sz="3600" b="1" cap="all" dirty="0" err="1">
                <a:solidFill>
                  <a:schemeClr val="accent1"/>
                </a:solidFill>
              </a:rPr>
              <a:t>seguimiento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D327C6B-D409-2946-E86F-9E160C65B46E}"/>
              </a:ext>
            </a:extLst>
          </p:cNvPr>
          <p:cNvSpPr>
            <a:spLocks noGrp="1"/>
          </p:cNvSpPr>
          <p:nvPr/>
        </p:nvSpPr>
        <p:spPr>
          <a:xfrm>
            <a:off x="6238754" y="4747858"/>
            <a:ext cx="512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Panel general de seguimiento de los tres proyectos en Monday.com</a:t>
            </a:r>
            <a:endParaRPr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6E89C02-52A4-425C-3D03-97393022A19C}"/>
              </a:ext>
            </a:extLst>
          </p:cNvPr>
          <p:cNvSpPr>
            <a:spLocks noGrp="1"/>
          </p:cNvSpPr>
          <p:nvPr/>
        </p:nvSpPr>
        <p:spPr>
          <a:xfrm>
            <a:off x="1353273" y="2381118"/>
            <a:ext cx="4173767" cy="147732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650" lnSpcReduction="20000"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sz="2400" dirty="0"/>
              <a:t>El </a:t>
            </a:r>
            <a:r>
              <a:rPr sz="2400" dirty="0" err="1"/>
              <a:t>tablero</a:t>
            </a:r>
            <a:r>
              <a:rPr sz="2400" dirty="0"/>
              <a:t> </a:t>
            </a:r>
            <a:r>
              <a:rPr sz="2400" dirty="0" err="1"/>
              <a:t>concentra</a:t>
            </a:r>
            <a:r>
              <a:rPr sz="2400" dirty="0"/>
              <a:t> las </a:t>
            </a:r>
            <a:r>
              <a:rPr sz="2400" dirty="0" err="1"/>
              <a:t>actividades</a:t>
            </a:r>
            <a:r>
              <a:rPr sz="2400" dirty="0"/>
              <a:t> de </a:t>
            </a:r>
            <a:r>
              <a:rPr sz="2400" dirty="0" err="1"/>
              <a:t>los</a:t>
            </a:r>
            <a:r>
              <a:rPr sz="2400" dirty="0"/>
              <a:t> </a:t>
            </a:r>
            <a:r>
              <a:rPr sz="2400" dirty="0" err="1"/>
              <a:t>tres</a:t>
            </a:r>
            <a:r>
              <a:rPr sz="2400" dirty="0"/>
              <a:t> </a:t>
            </a:r>
            <a:r>
              <a:rPr sz="2400" dirty="0" err="1"/>
              <a:t>proyectos</a:t>
            </a:r>
            <a:r>
              <a:rPr sz="2400" dirty="0"/>
              <a:t> y </a:t>
            </a:r>
            <a:r>
              <a:rPr sz="2400" dirty="0" err="1"/>
              <a:t>permite</a:t>
            </a:r>
            <a:r>
              <a:rPr sz="2400" dirty="0"/>
              <a:t> distinguir </a:t>
            </a:r>
            <a:r>
              <a:rPr sz="2400" dirty="0" err="1"/>
              <a:t>avances</a:t>
            </a:r>
            <a:r>
              <a:rPr sz="2400" dirty="0"/>
              <a:t>, </a:t>
            </a:r>
            <a:r>
              <a:rPr sz="2400" dirty="0" err="1"/>
              <a:t>revisiones</a:t>
            </a:r>
            <a:r>
              <a:rPr sz="2400" dirty="0"/>
              <a:t> y </a:t>
            </a:r>
            <a:r>
              <a:rPr sz="2400" dirty="0" err="1"/>
              <a:t>bloqueos</a:t>
            </a:r>
            <a:r>
              <a:rPr sz="2400" dirty="0"/>
              <a:t>. La </a:t>
            </a:r>
            <a:r>
              <a:rPr sz="2400" dirty="0" err="1"/>
              <a:t>evidencia</a:t>
            </a:r>
            <a:r>
              <a:rPr sz="2400" dirty="0"/>
              <a:t> visual disponible </a:t>
            </a:r>
            <a:r>
              <a:rPr sz="2400" dirty="0" err="1"/>
              <a:t>corresponde</a:t>
            </a:r>
            <a:r>
              <a:rPr sz="2400" dirty="0"/>
              <a:t> al corte del 2</a:t>
            </a:r>
            <a:r>
              <a:rPr lang="es-MX" sz="2400" dirty="0"/>
              <a:t>9</a:t>
            </a:r>
            <a:r>
              <a:rPr sz="2400" dirty="0"/>
              <a:t>/08/2026.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B3452DC-4024-9662-37AE-638951393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804" y="1390181"/>
            <a:ext cx="5654236" cy="318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686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F0731-87AD-A56E-C0CB-B68EF8C4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cap="all" dirty="0">
                <a:solidFill>
                  <a:schemeClr val="accent1"/>
                </a:solidFill>
              </a:rPr>
              <a:t>Kanban de Brandon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D760DD-7002-5BCA-3F26-2ABDA3944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Estado: EN PROCESO</a:t>
            </a:r>
          </a:p>
          <a:p>
            <a:pPr marL="0" indent="0">
              <a:buNone/>
            </a:pPr>
            <a:r>
              <a:rPr dirty="0" err="1"/>
              <a:t>Actividad</a:t>
            </a:r>
            <a:r>
              <a:rPr dirty="0"/>
              <a:t> actual: </a:t>
            </a:r>
            <a:r>
              <a:rPr dirty="0" err="1"/>
              <a:t>modelo</a:t>
            </a:r>
            <a:r>
              <a:rPr dirty="0"/>
              <a:t> conceptual y </a:t>
            </a:r>
            <a:r>
              <a:rPr dirty="0" err="1"/>
              <a:t>diseño</a:t>
            </a:r>
            <a:r>
              <a:rPr dirty="0"/>
              <a:t> de la </a:t>
            </a:r>
            <a:r>
              <a:rPr dirty="0" err="1"/>
              <a:t>aplicación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Avance </a:t>
            </a:r>
            <a:r>
              <a:rPr dirty="0" err="1"/>
              <a:t>registrado</a:t>
            </a:r>
            <a:r>
              <a:rPr dirty="0"/>
              <a:t>: </a:t>
            </a:r>
            <a:r>
              <a:rPr dirty="0" err="1"/>
              <a:t>definición</a:t>
            </a:r>
            <a:r>
              <a:rPr dirty="0"/>
              <a:t> del </a:t>
            </a:r>
            <a:r>
              <a:rPr dirty="0" err="1"/>
              <a:t>proceso</a:t>
            </a:r>
            <a:r>
              <a:rPr dirty="0"/>
              <a:t>, </a:t>
            </a:r>
            <a:r>
              <a:rPr dirty="0" err="1"/>
              <a:t>recursos</a:t>
            </a:r>
            <a:r>
              <a:rPr dirty="0"/>
              <a:t> y </a:t>
            </a:r>
            <a:r>
              <a:rPr dirty="0" err="1"/>
              <a:t>servicios</a:t>
            </a:r>
            <a:r>
              <a:rPr dirty="0"/>
              <a:t>; </a:t>
            </a:r>
            <a:r>
              <a:rPr dirty="0" err="1"/>
              <a:t>corrección</a:t>
            </a:r>
            <a:r>
              <a:rPr dirty="0"/>
              <a:t> de </a:t>
            </a:r>
            <a:r>
              <a:rPr dirty="0" err="1"/>
              <a:t>fechas</a:t>
            </a:r>
            <a:r>
              <a:rPr dirty="0"/>
              <a:t> del </a:t>
            </a:r>
            <a:r>
              <a:rPr dirty="0" err="1"/>
              <a:t>cronograma</a:t>
            </a:r>
            <a:r>
              <a:rPr dirty="0"/>
              <a:t>.</a:t>
            </a:r>
          </a:p>
          <a:p>
            <a:r>
              <a:rPr dirty="0" err="1"/>
              <a:t>Próxima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: </a:t>
            </a:r>
            <a:r>
              <a:rPr dirty="0" err="1"/>
              <a:t>diseño</a:t>
            </a:r>
            <a:r>
              <a:rPr dirty="0"/>
              <a:t> o </a:t>
            </a:r>
            <a:r>
              <a:rPr dirty="0" err="1"/>
              <a:t>diagrama</a:t>
            </a:r>
            <a:r>
              <a:rPr dirty="0"/>
              <a:t> de </a:t>
            </a:r>
            <a:r>
              <a:rPr dirty="0" err="1"/>
              <a:t>clases</a:t>
            </a:r>
            <a:r>
              <a:rPr dirty="0"/>
              <a:t> y </a:t>
            </a:r>
            <a:r>
              <a:rPr dirty="0" err="1"/>
              <a:t>estructura</a:t>
            </a:r>
            <a:r>
              <a:rPr dirty="0"/>
              <a:t> del </a:t>
            </a:r>
            <a:r>
              <a:rPr dirty="0" err="1"/>
              <a:t>proyecto</a:t>
            </a:r>
            <a:r>
              <a:rPr dirty="0"/>
              <a:t> Java.</a:t>
            </a:r>
          </a:p>
          <a:p>
            <a:r>
              <a:rPr dirty="0" err="1"/>
              <a:t>Criterio</a:t>
            </a:r>
            <a:r>
              <a:rPr dirty="0"/>
              <a:t>: </a:t>
            </a:r>
            <a:r>
              <a:rPr dirty="0" err="1"/>
              <a:t>cubrir</a:t>
            </a:r>
            <a:r>
              <a:rPr dirty="0"/>
              <a:t> </a:t>
            </a:r>
            <a:r>
              <a:rPr dirty="0" err="1"/>
              <a:t>registro</a:t>
            </a:r>
            <a:r>
              <a:rPr dirty="0"/>
              <a:t>, cola y </a:t>
            </a:r>
            <a:r>
              <a:rPr dirty="0" err="1"/>
              <a:t>asignación</a:t>
            </a:r>
            <a:r>
              <a:rPr dirty="0"/>
              <a:t> de </a:t>
            </a:r>
            <a:r>
              <a:rPr dirty="0" err="1"/>
              <a:t>mecánicos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8603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F0731-87AD-A56E-C0CB-B68EF8C4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cap="all" dirty="0">
                <a:solidFill>
                  <a:schemeClr val="accent1"/>
                </a:solidFill>
              </a:rPr>
              <a:t>Kanban de Josefina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D760DD-7002-5BCA-3F26-2ABDA3944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Estado:  BLOQUEA</a:t>
            </a:r>
            <a:r>
              <a:rPr lang="es-MX" dirty="0"/>
              <a:t>DO</a:t>
            </a:r>
            <a:endParaRPr dirty="0"/>
          </a:p>
          <a:p>
            <a:pPr marL="0" indent="0">
              <a:buNone/>
            </a:pPr>
            <a:r>
              <a:rPr dirty="0" err="1"/>
              <a:t>Prioridad</a:t>
            </a:r>
            <a:r>
              <a:rPr dirty="0"/>
              <a:t>: </a:t>
            </a:r>
            <a:r>
              <a:rPr dirty="0" err="1"/>
              <a:t>definir</a:t>
            </a:r>
            <a:r>
              <a:rPr dirty="0"/>
              <a:t> </a:t>
            </a:r>
            <a:r>
              <a:rPr dirty="0" err="1"/>
              <a:t>cantidad</a:t>
            </a:r>
            <a:r>
              <a:rPr dirty="0"/>
              <a:t> de </a:t>
            </a:r>
            <a:r>
              <a:rPr dirty="0" err="1"/>
              <a:t>empleados</a:t>
            </a:r>
            <a:r>
              <a:rPr dirty="0"/>
              <a:t>, </a:t>
            </a:r>
            <a:r>
              <a:rPr dirty="0" err="1"/>
              <a:t>tasa</a:t>
            </a:r>
            <a:r>
              <a:rPr dirty="0"/>
              <a:t> de </a:t>
            </a:r>
            <a:r>
              <a:rPr dirty="0" err="1"/>
              <a:t>llegada</a:t>
            </a:r>
            <a:r>
              <a:rPr dirty="0"/>
              <a:t>,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limpieza</a:t>
            </a:r>
            <a:r>
              <a:rPr dirty="0"/>
              <a:t> y tiempo de </a:t>
            </a:r>
            <a:r>
              <a:rPr dirty="0" err="1"/>
              <a:t>tapado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También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confirmarse</a:t>
            </a:r>
            <a:r>
              <a:rPr dirty="0"/>
              <a:t> la </a:t>
            </a:r>
            <a:r>
              <a:rPr dirty="0" err="1"/>
              <a:t>herramienta</a:t>
            </a:r>
            <a:r>
              <a:rPr dirty="0"/>
              <a:t> que </a:t>
            </a:r>
            <a:r>
              <a:rPr dirty="0" err="1"/>
              <a:t>ejecutará</a:t>
            </a:r>
            <a:r>
              <a:rPr dirty="0"/>
              <a:t> la </a:t>
            </a:r>
            <a:r>
              <a:rPr dirty="0" err="1"/>
              <a:t>simulación</a:t>
            </a:r>
            <a:r>
              <a:rPr dirty="0"/>
              <a:t>.</a:t>
            </a:r>
          </a:p>
          <a:p>
            <a:r>
              <a:rPr dirty="0" err="1"/>
              <a:t>Próxima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: </a:t>
            </a:r>
            <a:r>
              <a:rPr dirty="0" err="1"/>
              <a:t>ficha</a:t>
            </a:r>
            <a:r>
              <a:rPr dirty="0"/>
              <a:t> de </a:t>
            </a:r>
            <a:r>
              <a:rPr dirty="0" err="1"/>
              <a:t>parámetros</a:t>
            </a:r>
            <a:r>
              <a:rPr dirty="0"/>
              <a:t> y </a:t>
            </a:r>
            <a:r>
              <a:rPr dirty="0" err="1"/>
              <a:t>confirmación</a:t>
            </a:r>
            <a:r>
              <a:rPr dirty="0"/>
              <a:t> de una </a:t>
            </a:r>
            <a:r>
              <a:rPr dirty="0" err="1"/>
              <a:t>herramienta</a:t>
            </a:r>
            <a:r>
              <a:rPr dirty="0"/>
              <a:t> </a:t>
            </a:r>
            <a:r>
              <a:rPr dirty="0" err="1"/>
              <a:t>definitiva</a:t>
            </a:r>
            <a:r>
              <a:rPr dirty="0"/>
              <a:t>.</a:t>
            </a:r>
          </a:p>
          <a:p>
            <a:r>
              <a:rPr dirty="0"/>
              <a:t>Sin </a:t>
            </a:r>
            <a:r>
              <a:rPr dirty="0" err="1"/>
              <a:t>estos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no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iniciar</a:t>
            </a:r>
            <a:r>
              <a:rPr dirty="0"/>
              <a:t> la construcción del </a:t>
            </a:r>
            <a:r>
              <a:rPr dirty="0" err="1"/>
              <a:t>modelo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0816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C2C70-18AF-E92D-7853-85C8D92CC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cap="all" dirty="0">
                <a:solidFill>
                  <a:schemeClr val="accent1"/>
                </a:solidFill>
              </a:rPr>
              <a:t>Kanban de Roberto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D327C6B-D409-2946-E86F-9E160C65B46E}"/>
              </a:ext>
            </a:extLst>
          </p:cNvPr>
          <p:cNvSpPr>
            <a:spLocks noGrp="1"/>
          </p:cNvSpPr>
          <p:nvPr/>
        </p:nvSpPr>
        <p:spPr>
          <a:xfrm>
            <a:off x="974071" y="4747858"/>
            <a:ext cx="51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Diagrama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entregado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el 2</a:t>
            </a:r>
            <a:r>
              <a:rPr lang="es-MX"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8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/08/2026</a:t>
            </a:r>
            <a:endParaRPr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6EBF6B6-F277-A894-4C26-F97A7BA59C68}"/>
              </a:ext>
            </a:extLst>
          </p:cNvPr>
          <p:cNvSpPr>
            <a:spLocks noGrp="1"/>
          </p:cNvSpPr>
          <p:nvPr/>
        </p:nvSpPr>
        <p:spPr>
          <a:xfrm>
            <a:off x="6366076" y="4747858"/>
            <a:ext cx="4987724" cy="64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Registro de seguimiento y estado del entregable</a:t>
            </a:r>
            <a:endParaRPr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6E89C02-52A4-425C-3D03-97393022A19C}"/>
              </a:ext>
            </a:extLst>
          </p:cNvPr>
          <p:cNvSpPr>
            <a:spLocks noGrp="1"/>
          </p:cNvSpPr>
          <p:nvPr/>
        </p:nvSpPr>
        <p:spPr>
          <a:xfrm>
            <a:off x="1238491" y="5571358"/>
            <a:ext cx="100005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700"/>
              </a:spcAft>
              <a:buNone/>
            </a:pPr>
            <a:r>
              <a:rPr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Estado: </a:t>
            </a:r>
            <a:r>
              <a:rPr lang="es-MX"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completado</a:t>
            </a:r>
            <a:r>
              <a:rPr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. Falta </a:t>
            </a:r>
            <a:r>
              <a:rPr sz="1800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representar</a:t>
            </a:r>
            <a:r>
              <a:rPr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800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Pruebas</a:t>
            </a:r>
            <a:r>
              <a:rPr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de </a:t>
            </a:r>
            <a:r>
              <a:rPr sz="1800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calidad</a:t>
            </a:r>
            <a:r>
              <a:rPr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como </a:t>
            </a:r>
            <a:r>
              <a:rPr sz="1800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decisión</a:t>
            </a:r>
            <a:r>
              <a:rPr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con </a:t>
            </a:r>
            <a:r>
              <a:rPr sz="1800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salidas</a:t>
            </a:r>
            <a:r>
              <a:rPr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“</a:t>
            </a:r>
            <a:r>
              <a:rPr sz="1800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Aprobado</a:t>
            </a:r>
            <a:r>
              <a:rPr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” y “</a:t>
            </a:r>
            <a:r>
              <a:rPr sz="1800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Requiere</a:t>
            </a:r>
            <a:r>
              <a:rPr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800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retrabajo</a:t>
            </a:r>
            <a:r>
              <a:rPr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”; el </a:t>
            </a:r>
            <a:r>
              <a:rPr sz="1800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retrabajo</a:t>
            </a:r>
            <a:r>
              <a:rPr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800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debe</a:t>
            </a:r>
            <a:r>
              <a:rPr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800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regresar</a:t>
            </a:r>
            <a:r>
              <a:rPr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a </a:t>
            </a:r>
            <a:r>
              <a:rPr sz="1800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reparación</a:t>
            </a:r>
            <a:r>
              <a:rPr sz="18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.</a:t>
            </a:r>
            <a:endParaRPr sz="10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5912BD1-8257-15D8-35B1-449266A64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120" y="1381760"/>
            <a:ext cx="5669205" cy="318892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E9DDF34-CCB8-75BE-DDAF-2B92246AC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2" y="2556491"/>
            <a:ext cx="5002128" cy="132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5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F5298F-390E-AC2B-7069-D09DEC8C8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dirty="0" err="1"/>
              <a:t>Grupos</a:t>
            </a:r>
            <a:r>
              <a:rPr dirty="0"/>
              <a:t> de </a:t>
            </a:r>
            <a:r>
              <a:rPr dirty="0" err="1"/>
              <a:t>procesos</a:t>
            </a:r>
            <a:r>
              <a:rPr dirty="0"/>
              <a:t> </a:t>
            </a:r>
            <a:r>
              <a:rPr dirty="0" err="1"/>
              <a:t>utilizados</a:t>
            </a:r>
            <a:endParaRPr dirty="0"/>
          </a:p>
          <a:p>
            <a:pPr marL="0" indent="0">
              <a:buNone/>
            </a:pPr>
            <a:r>
              <a:rPr dirty="0"/>
              <a:t>1. </a:t>
            </a:r>
            <a:r>
              <a:rPr dirty="0" err="1"/>
              <a:t>Inicio</a:t>
            </a:r>
            <a:r>
              <a:rPr dirty="0"/>
              <a:t>: </a:t>
            </a:r>
            <a:r>
              <a:rPr dirty="0" err="1"/>
              <a:t>levantamientos</a:t>
            </a:r>
            <a:r>
              <a:rPr dirty="0"/>
              <a:t> y </a:t>
            </a:r>
            <a:r>
              <a:rPr dirty="0" err="1"/>
              <a:t>Actas</a:t>
            </a:r>
            <a:r>
              <a:rPr dirty="0"/>
              <a:t> de </a:t>
            </a:r>
            <a:r>
              <a:rPr dirty="0" err="1"/>
              <a:t>Inicio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dirty="0" err="1"/>
              <a:t>Planificación</a:t>
            </a:r>
            <a:r>
              <a:rPr dirty="0"/>
              <a:t>: planes, </a:t>
            </a:r>
            <a:r>
              <a:rPr dirty="0" err="1"/>
              <a:t>cronogramas</a:t>
            </a:r>
            <a:r>
              <a:rPr dirty="0"/>
              <a:t>, </a:t>
            </a:r>
            <a:r>
              <a:rPr dirty="0" err="1"/>
              <a:t>entregables</a:t>
            </a:r>
            <a:r>
              <a:rPr dirty="0"/>
              <a:t> y </a:t>
            </a:r>
            <a:r>
              <a:rPr dirty="0" err="1"/>
              <a:t>riesgos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dirty="0" err="1"/>
              <a:t>Ejecución</a:t>
            </a:r>
            <a:r>
              <a:rPr dirty="0"/>
              <a:t>: </a:t>
            </a:r>
            <a:r>
              <a:rPr dirty="0" err="1"/>
              <a:t>desarrollo</a:t>
            </a:r>
            <a:r>
              <a:rPr dirty="0"/>
              <a:t> de </a:t>
            </a:r>
            <a:r>
              <a:rPr dirty="0" err="1"/>
              <a:t>diagramas</a:t>
            </a:r>
            <a:r>
              <a:rPr dirty="0"/>
              <a:t>, modelos y </a:t>
            </a:r>
            <a:r>
              <a:rPr dirty="0" err="1"/>
              <a:t>simulaciones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dirty="0" err="1"/>
              <a:t>Monitoreo</a:t>
            </a:r>
            <a:r>
              <a:rPr dirty="0"/>
              <a:t> y control: Daily Scrum, Kanban y </a:t>
            </a:r>
            <a:r>
              <a:rPr dirty="0" err="1"/>
              <a:t>revisión</a:t>
            </a:r>
            <a:r>
              <a:rPr dirty="0"/>
              <a:t> de </a:t>
            </a:r>
            <a:r>
              <a:rPr dirty="0" err="1"/>
              <a:t>evidencias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5. Cierre: </a:t>
            </a:r>
            <a:r>
              <a:rPr dirty="0" err="1"/>
              <a:t>aceptación</a:t>
            </a:r>
            <a:r>
              <a:rPr dirty="0"/>
              <a:t> de </a:t>
            </a:r>
            <a:r>
              <a:rPr dirty="0" err="1"/>
              <a:t>resultados</a:t>
            </a:r>
            <a:r>
              <a:rPr dirty="0"/>
              <a:t>, </a:t>
            </a:r>
            <a:r>
              <a:rPr dirty="0" err="1"/>
              <a:t>conclusiones</a:t>
            </a:r>
            <a:r>
              <a:rPr dirty="0"/>
              <a:t> y </a:t>
            </a:r>
            <a:r>
              <a:rPr dirty="0" err="1"/>
              <a:t>expediente</a:t>
            </a:r>
            <a:r>
              <a:rPr dirty="0"/>
              <a:t> final.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35AF57-5F5C-8D79-2FB2-559A9AC9EB86}"/>
              </a:ext>
            </a:extLst>
          </p:cNvPr>
          <p:cNvSpPr txBox="1"/>
          <p:nvPr/>
        </p:nvSpPr>
        <p:spPr>
          <a:xfrm>
            <a:off x="995680" y="681037"/>
            <a:ext cx="6096000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 cap="all"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>
                <a:solidFill>
                  <a:schemeClr val="accent1"/>
                </a:solidFill>
              </a:rPr>
              <a:t>Aplicación de PMBOK</a:t>
            </a:r>
          </a:p>
        </p:txBody>
      </p:sp>
    </p:spTree>
    <p:extLst>
      <p:ext uri="{BB962C8B-B14F-4D97-AF65-F5344CB8AC3E}">
        <p14:creationId xmlns:p14="http://schemas.microsoft.com/office/powerpoint/2010/main" val="3627680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C2C70-18AF-E92D-7853-85C8D92CC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cap="all" dirty="0">
                <a:solidFill>
                  <a:schemeClr val="accent1"/>
                </a:solidFill>
              </a:rPr>
              <a:t>PMBOK: </a:t>
            </a:r>
            <a:r>
              <a:rPr b="1" cap="all" dirty="0" err="1">
                <a:solidFill>
                  <a:schemeClr val="accent1"/>
                </a:solidFill>
              </a:rPr>
              <a:t>Inicio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D327C6B-D409-2946-E86F-9E160C65B46E}"/>
              </a:ext>
            </a:extLst>
          </p:cNvPr>
          <p:cNvSpPr>
            <a:spLocks noGrp="1"/>
          </p:cNvSpPr>
          <p:nvPr/>
        </p:nvSpPr>
        <p:spPr>
          <a:xfrm>
            <a:off x="4865351" y="1027906"/>
            <a:ext cx="2927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ACTA-001 · Taller </a:t>
            </a:r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mecánico</a:t>
            </a:r>
            <a:endParaRPr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6EBF6B6-F277-A894-4C26-F97A7BA59C68}"/>
              </a:ext>
            </a:extLst>
          </p:cNvPr>
          <p:cNvSpPr>
            <a:spLocks noGrp="1"/>
          </p:cNvSpPr>
          <p:nvPr/>
        </p:nvSpPr>
        <p:spPr>
          <a:xfrm>
            <a:off x="4395132" y="3359990"/>
            <a:ext cx="3397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ACTA-002 · Planta </a:t>
            </a:r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embotelladora</a:t>
            </a:r>
            <a:endParaRPr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6E89C02-52A4-425C-3D03-97393022A19C}"/>
              </a:ext>
            </a:extLst>
          </p:cNvPr>
          <p:cNvSpPr>
            <a:spLocks noGrp="1"/>
          </p:cNvSpPr>
          <p:nvPr/>
        </p:nvSpPr>
        <p:spPr>
          <a:xfrm>
            <a:off x="725804" y="2021573"/>
            <a:ext cx="3669327" cy="3970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sz="2800" dirty="0"/>
              <a:t>En la </a:t>
            </a:r>
            <a:r>
              <a:rPr sz="2800" dirty="0" err="1"/>
              <a:t>fase</a:t>
            </a:r>
            <a:r>
              <a:rPr sz="2800" dirty="0"/>
              <a:t> de </a:t>
            </a:r>
            <a:r>
              <a:rPr sz="2800" dirty="0" err="1"/>
              <a:t>inicio</a:t>
            </a:r>
            <a:r>
              <a:rPr sz="2800" dirty="0"/>
              <a:t> se </a:t>
            </a:r>
            <a:r>
              <a:rPr sz="2800" dirty="0" err="1"/>
              <a:t>formalizaron</a:t>
            </a:r>
            <a:r>
              <a:rPr sz="2800" dirty="0"/>
              <a:t> </a:t>
            </a:r>
            <a:r>
              <a:rPr sz="2800" dirty="0" err="1"/>
              <a:t>alcance</a:t>
            </a:r>
            <a:r>
              <a:rPr sz="2800" dirty="0"/>
              <a:t>, </a:t>
            </a:r>
            <a:r>
              <a:rPr sz="2800" dirty="0" err="1"/>
              <a:t>objetivos</a:t>
            </a:r>
            <a:r>
              <a:rPr sz="2800" dirty="0"/>
              <a:t>, </a:t>
            </a:r>
            <a:r>
              <a:rPr sz="2800" dirty="0" err="1"/>
              <a:t>entregables</a:t>
            </a:r>
            <a:r>
              <a:rPr sz="2800" dirty="0"/>
              <a:t>, </a:t>
            </a:r>
            <a:r>
              <a:rPr sz="2800" dirty="0" err="1"/>
              <a:t>responsabilidades</a:t>
            </a:r>
            <a:r>
              <a:rPr sz="2800" dirty="0"/>
              <a:t> y </a:t>
            </a:r>
            <a:r>
              <a:rPr sz="2800" dirty="0" err="1"/>
              <a:t>criterios</a:t>
            </a:r>
            <a:r>
              <a:rPr sz="2800" dirty="0"/>
              <a:t> de </a:t>
            </a:r>
            <a:r>
              <a:rPr sz="2800" dirty="0" err="1"/>
              <a:t>aceptación</a:t>
            </a:r>
            <a:r>
              <a:rPr sz="2800" dirty="0"/>
              <a:t>. ACTA-001</a:t>
            </a:r>
            <a:r>
              <a:rPr lang="es-MX" sz="2800" dirty="0"/>
              <a:t>,</a:t>
            </a:r>
            <a:r>
              <a:rPr sz="2800" dirty="0"/>
              <a:t>ACTA-002</a:t>
            </a:r>
            <a:r>
              <a:rPr lang="es-MX" sz="2800" dirty="0"/>
              <a:t> y ACTA-003</a:t>
            </a:r>
            <a:r>
              <a:rPr sz="2800" dirty="0"/>
              <a:t> </a:t>
            </a:r>
            <a:r>
              <a:rPr sz="2800" dirty="0" err="1"/>
              <a:t>fueron</a:t>
            </a:r>
            <a:r>
              <a:rPr sz="2800" dirty="0"/>
              <a:t> </a:t>
            </a:r>
            <a:r>
              <a:rPr sz="2800" dirty="0" err="1"/>
              <a:t>aprobadas</a:t>
            </a:r>
            <a:r>
              <a:rPr sz="2800" dirty="0"/>
              <a:t>;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1FAEA13-C25D-BDE4-EEF8-166E5A9EF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035" y="2484802"/>
            <a:ext cx="3840000" cy="2160000"/>
          </a:xfrm>
          <a:prstGeom prst="rect">
            <a:avLst/>
          </a:prstGeom>
        </p:spPr>
      </p:pic>
      <p:sp>
        <p:nvSpPr>
          <p:cNvPr id="8" name="CuadroTexto 14">
            <a:extLst>
              <a:ext uri="{FF2B5EF4-FFF2-40B4-BE49-F238E27FC236}">
                <a16:creationId xmlns:a16="http://schemas.microsoft.com/office/drawing/2014/main" id="{C59438DB-E121-07A2-D313-1F656E9B918D}"/>
              </a:ext>
            </a:extLst>
          </p:cNvPr>
          <p:cNvSpPr>
            <a:spLocks noGrp="1"/>
          </p:cNvSpPr>
          <p:nvPr/>
        </p:nvSpPr>
        <p:spPr>
          <a:xfrm>
            <a:off x="4529027" y="5277908"/>
            <a:ext cx="38107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ACTA-00</a:t>
            </a:r>
            <a:r>
              <a:rPr lang="es-MX"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3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· </a:t>
            </a:r>
            <a:r>
              <a:rPr lang="es-MX" dirty="0"/>
              <a:t>taller de electrónica</a:t>
            </a:r>
            <a:endParaRPr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9665F95-DE57-3C26-C8E8-077F9FC75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035" y="310333"/>
            <a:ext cx="3840000" cy="2160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E3042E1-812F-039D-B18F-938BC64E13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035" y="4659271"/>
            <a:ext cx="384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80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C2C70-18AF-E92D-7853-85C8D92CC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cap="all" dirty="0">
                <a:solidFill>
                  <a:schemeClr val="accent1"/>
                </a:solidFill>
              </a:rPr>
              <a:t>PMBOK: </a:t>
            </a:r>
            <a:r>
              <a:rPr b="1" cap="all" dirty="0" err="1">
                <a:solidFill>
                  <a:schemeClr val="accent1"/>
                </a:solidFill>
              </a:rPr>
              <a:t>Planificación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D327C6B-D409-2946-E86F-9E160C65B46E}"/>
              </a:ext>
            </a:extLst>
          </p:cNvPr>
          <p:cNvSpPr>
            <a:spLocks noGrp="1"/>
          </p:cNvSpPr>
          <p:nvPr/>
        </p:nvSpPr>
        <p:spPr>
          <a:xfrm>
            <a:off x="4983671" y="1956022"/>
            <a:ext cx="2764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PLAN-001 · Brandon</a:t>
            </a:r>
            <a:endParaRPr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6EBF6B6-F277-A894-4C26-F97A7BA59C68}"/>
              </a:ext>
            </a:extLst>
          </p:cNvPr>
          <p:cNvSpPr>
            <a:spLocks noGrp="1"/>
          </p:cNvSpPr>
          <p:nvPr/>
        </p:nvSpPr>
        <p:spPr>
          <a:xfrm>
            <a:off x="4925844" y="3263314"/>
            <a:ext cx="2442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PLAN-002 · Josefina</a:t>
            </a:r>
            <a:endParaRPr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6E89C02-52A4-425C-3D03-97393022A19C}"/>
              </a:ext>
            </a:extLst>
          </p:cNvPr>
          <p:cNvSpPr>
            <a:spLocks noGrp="1"/>
          </p:cNvSpPr>
          <p:nvPr/>
        </p:nvSpPr>
        <p:spPr>
          <a:xfrm>
            <a:off x="838200" y="1690688"/>
            <a:ext cx="3510280" cy="4358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sz="2800" dirty="0"/>
              <a:t>Los planes </a:t>
            </a:r>
            <a:r>
              <a:rPr sz="2800" dirty="0" err="1"/>
              <a:t>definen</a:t>
            </a:r>
            <a:r>
              <a:rPr sz="2800" dirty="0"/>
              <a:t> </a:t>
            </a:r>
            <a:r>
              <a:rPr sz="2800" dirty="0" err="1"/>
              <a:t>actividades</a:t>
            </a:r>
            <a:r>
              <a:rPr sz="2800" dirty="0"/>
              <a:t> </a:t>
            </a:r>
            <a:r>
              <a:rPr sz="2800" dirty="0" err="1"/>
              <a:t>semanales</a:t>
            </a:r>
            <a:r>
              <a:rPr sz="2800" dirty="0"/>
              <a:t>, </a:t>
            </a:r>
            <a:r>
              <a:rPr sz="2800" dirty="0" err="1"/>
              <a:t>entregables</a:t>
            </a:r>
            <a:r>
              <a:rPr sz="2800" dirty="0"/>
              <a:t>, </a:t>
            </a:r>
            <a:r>
              <a:rPr sz="2800" dirty="0" err="1"/>
              <a:t>evidencias</a:t>
            </a:r>
            <a:r>
              <a:rPr sz="2800" dirty="0"/>
              <a:t>, </a:t>
            </a:r>
            <a:r>
              <a:rPr sz="2800" dirty="0" err="1"/>
              <a:t>criterios</a:t>
            </a:r>
            <a:r>
              <a:rPr sz="2800" dirty="0"/>
              <a:t> de </a:t>
            </a:r>
            <a:r>
              <a:rPr sz="2800" dirty="0" err="1"/>
              <a:t>aprobación</a:t>
            </a:r>
            <a:r>
              <a:rPr sz="2800" dirty="0"/>
              <a:t> y </a:t>
            </a:r>
            <a:r>
              <a:rPr sz="2800" dirty="0" err="1"/>
              <a:t>riesgos</a:t>
            </a:r>
            <a:r>
              <a:rPr sz="2800" dirty="0"/>
              <a:t>.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FAA83AD-C29D-3C7E-B07E-4D7FFADAE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488" y="156022"/>
            <a:ext cx="3840000" cy="2160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01EBFFD-EBDD-80DE-4C75-C7981D5F2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488" y="2325354"/>
            <a:ext cx="3840000" cy="2160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1A47221-D7AF-FDE4-FCD1-44ABA49C4B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8488" y="4494686"/>
            <a:ext cx="3840000" cy="21600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6574DD4-D31F-5878-1D1E-FD4348983A48}"/>
              </a:ext>
            </a:extLst>
          </p:cNvPr>
          <p:cNvSpPr txBox="1"/>
          <p:nvPr/>
        </p:nvSpPr>
        <p:spPr>
          <a:xfrm>
            <a:off x="4925844" y="5566480"/>
            <a:ext cx="2318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PLAN-003 · </a:t>
            </a:r>
            <a:r>
              <a:rPr lang="es-MX" i="1" dirty="0">
                <a:ea typeface="+mn-lt"/>
                <a:cs typeface="+mn-lt"/>
              </a:rPr>
              <a:t>Roberto</a:t>
            </a:r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661024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F5298F-390E-AC2B-7069-D09DEC8C8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dirty="0" err="1"/>
              <a:t>Actividades</a:t>
            </a:r>
            <a:r>
              <a:rPr dirty="0"/>
              <a:t> </a:t>
            </a:r>
            <a:r>
              <a:rPr dirty="0" err="1"/>
              <a:t>iniciadas</a:t>
            </a:r>
            <a:endParaRPr dirty="0"/>
          </a:p>
          <a:p>
            <a:pPr marL="0" indent="0">
              <a:buNone/>
            </a:pPr>
            <a:r>
              <a:rPr dirty="0"/>
              <a:t>— Brandon: </a:t>
            </a:r>
            <a:r>
              <a:rPr dirty="0" err="1"/>
              <a:t>modelo</a:t>
            </a:r>
            <a:r>
              <a:rPr dirty="0"/>
              <a:t> conceptual y </a:t>
            </a:r>
            <a:r>
              <a:rPr dirty="0" err="1"/>
              <a:t>diseño</a:t>
            </a:r>
            <a:r>
              <a:rPr dirty="0"/>
              <a:t> de la </a:t>
            </a:r>
            <a:r>
              <a:rPr dirty="0" err="1"/>
              <a:t>aplicación</a:t>
            </a:r>
            <a:r>
              <a:rPr dirty="0"/>
              <a:t> de </a:t>
            </a:r>
            <a:r>
              <a:rPr dirty="0" err="1"/>
              <a:t>gestión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— Josefina: </a:t>
            </a:r>
            <a:r>
              <a:rPr dirty="0" err="1"/>
              <a:t>definición</a:t>
            </a:r>
            <a:r>
              <a:rPr dirty="0"/>
              <a:t> de </a:t>
            </a:r>
            <a:r>
              <a:rPr dirty="0" err="1"/>
              <a:t>parámetros</a:t>
            </a:r>
            <a:r>
              <a:rPr dirty="0"/>
              <a:t> y </a:t>
            </a:r>
            <a:r>
              <a:rPr dirty="0" err="1"/>
              <a:t>selección</a:t>
            </a:r>
            <a:r>
              <a:rPr dirty="0"/>
              <a:t> de </a:t>
            </a:r>
            <a:r>
              <a:rPr dirty="0" err="1"/>
              <a:t>herramienta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— Roberto: </a:t>
            </a:r>
            <a:r>
              <a:rPr dirty="0" err="1"/>
              <a:t>elaboración</a:t>
            </a:r>
            <a:r>
              <a:rPr dirty="0"/>
              <a:t> y </a:t>
            </a:r>
            <a:r>
              <a:rPr dirty="0" err="1"/>
              <a:t>corrección</a:t>
            </a:r>
            <a:r>
              <a:rPr dirty="0"/>
              <a:t> del </a:t>
            </a:r>
            <a:r>
              <a:rPr dirty="0" err="1"/>
              <a:t>diagrama</a:t>
            </a:r>
            <a:r>
              <a:rPr dirty="0"/>
              <a:t> de </a:t>
            </a:r>
            <a:r>
              <a:rPr dirty="0" err="1"/>
              <a:t>flujo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 err="1"/>
              <a:t>Condición</a:t>
            </a:r>
            <a:r>
              <a:rPr dirty="0"/>
              <a:t> de </a:t>
            </a:r>
            <a:r>
              <a:rPr dirty="0" err="1"/>
              <a:t>avance</a:t>
            </a:r>
            <a:endParaRPr dirty="0"/>
          </a:p>
          <a:p>
            <a:pPr marL="0" indent="0">
              <a:buNone/>
            </a:pPr>
            <a:r>
              <a:rPr dirty="0"/>
              <a:t>Cada </a:t>
            </a:r>
            <a:r>
              <a:rPr dirty="0" err="1"/>
              <a:t>actividad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producir</a:t>
            </a:r>
            <a:r>
              <a:rPr dirty="0"/>
              <a:t> un </a:t>
            </a:r>
            <a:r>
              <a:rPr dirty="0" err="1"/>
              <a:t>entregable</a:t>
            </a:r>
            <a:r>
              <a:rPr dirty="0"/>
              <a:t> </a:t>
            </a:r>
            <a:r>
              <a:rPr dirty="0" err="1"/>
              <a:t>verificable</a:t>
            </a:r>
            <a:r>
              <a:rPr dirty="0"/>
              <a:t> antes de </a:t>
            </a:r>
            <a:r>
              <a:rPr dirty="0" err="1"/>
              <a:t>marcarse</a:t>
            </a:r>
            <a:r>
              <a:rPr dirty="0"/>
              <a:t> como </a:t>
            </a:r>
            <a:r>
              <a:rPr dirty="0" err="1"/>
              <a:t>completada</a:t>
            </a:r>
            <a:r>
              <a:rPr dirty="0"/>
              <a:t> en Monday.com.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97837E8-3164-542A-800E-B438491D975E}"/>
              </a:ext>
            </a:extLst>
          </p:cNvPr>
          <p:cNvSpPr txBox="1"/>
          <p:nvPr/>
        </p:nvSpPr>
        <p:spPr>
          <a:xfrm>
            <a:off x="838200" y="1056650"/>
            <a:ext cx="6096000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defPPr>
              <a:defRPr lang="es-MX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 cap="all"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>
                <a:solidFill>
                  <a:schemeClr val="accent1"/>
                </a:solidFill>
              </a:rPr>
              <a:t>PMBOK: Ejecución</a:t>
            </a:r>
          </a:p>
        </p:txBody>
      </p:sp>
    </p:spTree>
    <p:extLst>
      <p:ext uri="{BB962C8B-B14F-4D97-AF65-F5344CB8AC3E}">
        <p14:creationId xmlns:p14="http://schemas.microsoft.com/office/powerpoint/2010/main" val="1383689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C2C70-18AF-E92D-7853-85C8D92CC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cap="all" dirty="0">
                <a:solidFill>
                  <a:schemeClr val="accent1"/>
                </a:solidFill>
              </a:rPr>
              <a:t>PMBOK: </a:t>
            </a:r>
            <a:r>
              <a:rPr b="1" cap="all" dirty="0" err="1">
                <a:solidFill>
                  <a:schemeClr val="accent1"/>
                </a:solidFill>
              </a:rPr>
              <a:t>Monitoreo</a:t>
            </a:r>
            <a:r>
              <a:rPr b="1" cap="all" dirty="0">
                <a:solidFill>
                  <a:schemeClr val="accent1"/>
                </a:solidFill>
              </a:rPr>
              <a:t> y control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D327C6B-D409-2946-E86F-9E160C65B46E}"/>
              </a:ext>
            </a:extLst>
          </p:cNvPr>
          <p:cNvSpPr>
            <a:spLocks noGrp="1"/>
          </p:cNvSpPr>
          <p:nvPr/>
        </p:nvSpPr>
        <p:spPr>
          <a:xfrm>
            <a:off x="974071" y="4747858"/>
            <a:ext cx="512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Seguimiento de las fases y actualización de estados en Monday.com.</a:t>
            </a:r>
            <a:endParaRPr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6EBF6B6-F277-A894-4C26-F97A7BA59C68}"/>
              </a:ext>
            </a:extLst>
          </p:cNvPr>
          <p:cNvSpPr>
            <a:spLocks noGrp="1"/>
          </p:cNvSpPr>
          <p:nvPr/>
        </p:nvSpPr>
        <p:spPr>
          <a:xfrm>
            <a:off x="6366076" y="4747858"/>
            <a:ext cx="49877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/>
              <a:t>Revisión y propuesta de corrección del primer entregable recibido.</a:t>
            </a:r>
            <a:endParaRPr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6E89C02-52A4-425C-3D03-97393022A19C}"/>
              </a:ext>
            </a:extLst>
          </p:cNvPr>
          <p:cNvSpPr>
            <a:spLocks noGrp="1"/>
          </p:cNvSpPr>
          <p:nvPr/>
        </p:nvSpPr>
        <p:spPr>
          <a:xfrm>
            <a:off x="838200" y="5670998"/>
            <a:ext cx="100005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700"/>
              </a:spcAft>
              <a:buNone/>
            </a:pPr>
            <a:r>
              <a:rPr lang="es-MX" dirty="0"/>
              <a:t>El Project Manager registra avances, revisa entregables, identifica bloqueos, controla riesgos y solicita correcciones. El diagrama de Roberto permanece en revisión hasta que la decisión de “Pruebas de calidad” y el retorno por retrabajo sean validados.</a:t>
            </a:r>
            <a:endParaRPr sz="10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rcRect l="-1110" t="23939" r="1110" b="6046"/>
          <a:stretch>
            <a:fillRect/>
          </a:stretch>
        </p:blipFill>
        <p:spPr>
          <a:xfrm>
            <a:off x="6248204" y="1727826"/>
            <a:ext cx="5120000" cy="140286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3B2C4C9-CE33-C1BF-415C-7431D9375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076" y="3333709"/>
            <a:ext cx="5002128" cy="1325564"/>
          </a:xfrm>
          <a:prstGeom prst="rect">
            <a:avLst/>
          </a:prstGeom>
        </p:spPr>
      </p:pic>
      <p:sp>
        <p:nvSpPr>
          <p:cNvPr id="8" name="CuadroTexto 14">
            <a:extLst>
              <a:ext uri="{FF2B5EF4-FFF2-40B4-BE49-F238E27FC236}">
                <a16:creationId xmlns:a16="http://schemas.microsoft.com/office/drawing/2014/main" id="{0C722FE6-F9E4-F1C6-16B1-97495D34E885}"/>
              </a:ext>
            </a:extLst>
          </p:cNvPr>
          <p:cNvSpPr>
            <a:spLocks noGrp="1"/>
          </p:cNvSpPr>
          <p:nvPr/>
        </p:nvSpPr>
        <p:spPr>
          <a:xfrm>
            <a:off x="7526438" y="1537745"/>
            <a:ext cx="2425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>
                <a:ea typeface="+mn-lt"/>
                <a:cs typeface="+mn-lt"/>
              </a:rPr>
              <a:t>Antes</a:t>
            </a:r>
            <a:endParaRPr dirty="0"/>
          </a:p>
        </p:txBody>
      </p:sp>
      <p:sp>
        <p:nvSpPr>
          <p:cNvPr id="10" name="CuadroTexto 14">
            <a:extLst>
              <a:ext uri="{FF2B5EF4-FFF2-40B4-BE49-F238E27FC236}">
                <a16:creationId xmlns:a16="http://schemas.microsoft.com/office/drawing/2014/main" id="{AA403968-EAC8-69FB-852F-AD5F73CA4B15}"/>
              </a:ext>
            </a:extLst>
          </p:cNvPr>
          <p:cNvSpPr>
            <a:spLocks noGrp="1"/>
          </p:cNvSpPr>
          <p:nvPr/>
        </p:nvSpPr>
        <p:spPr>
          <a:xfrm>
            <a:off x="7526437" y="3167826"/>
            <a:ext cx="2425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 err="1">
                <a:ea typeface="+mn-lt"/>
                <a:cs typeface="+mn-lt"/>
              </a:rPr>
              <a:t>Despues</a:t>
            </a:r>
            <a:endParaRPr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8AD6EE8-9F06-F469-4E8D-84C8C2839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689" y="1760666"/>
            <a:ext cx="5003236" cy="281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602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F0731-87AD-A56E-C0CB-B68EF8C4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cap="all" dirty="0">
                <a:solidFill>
                  <a:schemeClr val="accent1"/>
                </a:solidFill>
              </a:rPr>
              <a:t>PMBOK: Cierre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D760DD-7002-5BCA-3F26-2ABDA3944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Estado: TODAVÍA NO REALIZADO</a:t>
            </a:r>
          </a:p>
          <a:p>
            <a:pPr marL="0" indent="0">
              <a:buNone/>
            </a:pPr>
            <a:r>
              <a:rPr dirty="0"/>
              <a:t>Los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proyectos</a:t>
            </a:r>
            <a:r>
              <a:rPr dirty="0"/>
              <a:t> </a:t>
            </a:r>
            <a:r>
              <a:rPr dirty="0" err="1"/>
              <a:t>continúan</a:t>
            </a:r>
            <a:r>
              <a:rPr dirty="0"/>
              <a:t> en </a:t>
            </a:r>
            <a:r>
              <a:rPr dirty="0" err="1"/>
              <a:t>ejecución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La </a:t>
            </a:r>
            <a:r>
              <a:rPr dirty="0" err="1"/>
              <a:t>fase</a:t>
            </a:r>
            <a:r>
              <a:rPr dirty="0"/>
              <a:t> de </a:t>
            </a:r>
            <a:r>
              <a:rPr dirty="0" err="1"/>
              <a:t>cierre</a:t>
            </a:r>
            <a:r>
              <a:rPr dirty="0"/>
              <a:t> se </a:t>
            </a:r>
            <a:r>
              <a:rPr dirty="0" err="1"/>
              <a:t>completará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se </a:t>
            </a:r>
            <a:r>
              <a:rPr dirty="0" err="1"/>
              <a:t>entreguen</a:t>
            </a:r>
            <a:r>
              <a:rPr dirty="0"/>
              <a:t> las </a:t>
            </a:r>
            <a:r>
              <a:rPr dirty="0" err="1"/>
              <a:t>simulaciones</a:t>
            </a:r>
            <a:r>
              <a:rPr dirty="0"/>
              <a:t>, </a:t>
            </a:r>
            <a:r>
              <a:rPr dirty="0" err="1"/>
              <a:t>resultados</a:t>
            </a:r>
            <a:r>
              <a:rPr dirty="0"/>
              <a:t>, </a:t>
            </a:r>
            <a:r>
              <a:rPr dirty="0" err="1"/>
              <a:t>conclusiones</a:t>
            </a:r>
            <a:r>
              <a:rPr dirty="0"/>
              <a:t> y </a:t>
            </a:r>
            <a:r>
              <a:rPr dirty="0" err="1"/>
              <a:t>evidencias</a:t>
            </a:r>
            <a:r>
              <a:rPr dirty="0"/>
              <a:t> finales.</a:t>
            </a:r>
          </a:p>
          <a:p>
            <a:pPr marL="0" indent="0">
              <a:buNone/>
            </a:pPr>
            <a:r>
              <a:rPr dirty="0"/>
              <a:t>También </a:t>
            </a:r>
            <a:r>
              <a:rPr dirty="0" err="1"/>
              <a:t>deberá</a:t>
            </a:r>
            <a:r>
              <a:rPr dirty="0"/>
              <a:t> </a:t>
            </a:r>
            <a:r>
              <a:rPr dirty="0" err="1"/>
              <a:t>registrarse</a:t>
            </a:r>
            <a:r>
              <a:rPr dirty="0"/>
              <a:t> la </a:t>
            </a:r>
            <a:r>
              <a:rPr dirty="0" err="1"/>
              <a:t>aceptación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entregable</a:t>
            </a:r>
            <a:r>
              <a:rPr dirty="0"/>
              <a:t>, las </a:t>
            </a:r>
            <a:r>
              <a:rPr dirty="0" err="1"/>
              <a:t>lecciones</a:t>
            </a:r>
            <a:r>
              <a:rPr dirty="0"/>
              <a:t> </a:t>
            </a:r>
            <a:r>
              <a:rPr dirty="0" err="1"/>
              <a:t>aprendidas</a:t>
            </a:r>
            <a:r>
              <a:rPr dirty="0"/>
              <a:t> y el </a:t>
            </a:r>
            <a:r>
              <a:rPr dirty="0" err="1"/>
              <a:t>cierre</a:t>
            </a:r>
            <a:r>
              <a:rPr dirty="0"/>
              <a:t> del </a:t>
            </a:r>
            <a:r>
              <a:rPr dirty="0" err="1"/>
              <a:t>expediente</a:t>
            </a:r>
            <a:r>
              <a:rPr dirty="0"/>
              <a:t> </a:t>
            </a:r>
            <a:r>
              <a:rPr dirty="0" err="1"/>
              <a:t>correspondiente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8650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47905F-C5B6-7F91-E712-82B25DAF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cap="all" dirty="0">
                <a:solidFill>
                  <a:schemeClr val="accent1"/>
                </a:solidFill>
              </a:rPr>
              <a:t>Estado actual de </a:t>
            </a:r>
            <a:r>
              <a:rPr sz="3600" b="1" cap="all" dirty="0" err="1">
                <a:solidFill>
                  <a:schemeClr val="accent1"/>
                </a:solidFill>
              </a:rPr>
              <a:t>los</a:t>
            </a:r>
            <a:r>
              <a:rPr sz="3600" b="1" cap="all" dirty="0">
                <a:solidFill>
                  <a:schemeClr val="accent1"/>
                </a:solidFill>
              </a:rPr>
              <a:t> </a:t>
            </a:r>
            <a:r>
              <a:rPr sz="3600" b="1" cap="all" dirty="0" err="1">
                <a:solidFill>
                  <a:schemeClr val="accent1"/>
                </a:solidFill>
              </a:rPr>
              <a:t>proyectos</a:t>
            </a:r>
            <a:endParaRPr dirty="0">
              <a:solidFill>
                <a:schemeClr val="accent1"/>
              </a:solidFill>
            </a:endParaRPr>
          </a:p>
        </p:txBody>
      </p:sp>
      <p:graphicFrame>
        <p:nvGraphicFramePr>
          <p:cNvPr id="9" name="Marcador de contenido 3"/>
          <p:cNvGraphicFramePr/>
          <p:nvPr>
            <p:extLst>
              <p:ext uri="{D42A27DB-BD31-4B8C-83A1-F6EECF244321}">
                <p14:modId xmlns:p14="http://schemas.microsoft.com/office/powerpoint/2010/main" val="2448047814"/>
              </p:ext>
            </p:extLst>
          </p:nvPr>
        </p:nvGraphicFramePr>
        <p:xfrm>
          <a:off x="1027043" y="2131412"/>
          <a:ext cx="10515600" cy="28143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Proyecto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Estado actual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Próxima actividad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Brandon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En proceso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Entregar diseño o diagrama de clases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Josefina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Bloqueantes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Confirmar parámetros y herramienta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Roberto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dirty="0" err="1"/>
                        <a:t>Diagrama</a:t>
                      </a:r>
                      <a:r>
                        <a:rPr sz="1400" dirty="0"/>
                        <a:t> </a:t>
                      </a:r>
                      <a:r>
                        <a:rPr lang="es-MX" sz="1400" dirty="0"/>
                        <a:t>en revisión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Corregir decisión de calidad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Gestión general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Monitoreo activo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Actualizar Daily y Kanban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Cierre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Pendiente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dirty="0" err="1"/>
                        <a:t>Esperar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entregables</a:t>
                      </a:r>
                      <a:r>
                        <a:rPr sz="1400" dirty="0"/>
                        <a:t> finales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6F054DFC-F216-545F-70CB-F98EFE8C449E}"/>
              </a:ext>
            </a:extLst>
          </p:cNvPr>
          <p:cNvSpPr>
            <a:spLocks noGrp="1"/>
          </p:cNvSpPr>
          <p:nvPr/>
        </p:nvSpPr>
        <p:spPr>
          <a:xfrm>
            <a:off x="1027043" y="5166623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None/>
            </a:pP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Corte de </a:t>
            </a:r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seguimiento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: 2</a:t>
            </a:r>
            <a:r>
              <a:rPr lang="es-MX" i="1" dirty="0">
                <a:ea typeface="+mn-lt"/>
                <a:cs typeface="+mn-lt"/>
              </a:rPr>
              <a:t>9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de </a:t>
            </a:r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agosto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de 2026. Los </a:t>
            </a:r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estados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reflejan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únicamente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evidencias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disponibles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y </a:t>
            </a:r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bloqueos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800" i="1" dirty="0" err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identificados</a:t>
            </a:r>
            <a:r>
              <a:rPr sz="1800" i="1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.</a:t>
            </a:r>
            <a:endParaRPr sz="1800" dirty="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3995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F5298F-390E-AC2B-7069-D09DEC8C8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— Tres </a:t>
            </a:r>
            <a:r>
              <a:rPr dirty="0" err="1"/>
              <a:t>levantamientos</a:t>
            </a:r>
            <a:r>
              <a:rPr dirty="0"/>
              <a:t> </a:t>
            </a:r>
            <a:r>
              <a:rPr dirty="0" err="1"/>
              <a:t>iniciales</a:t>
            </a:r>
            <a:r>
              <a:rPr dirty="0"/>
              <a:t> </a:t>
            </a:r>
            <a:r>
              <a:rPr dirty="0" err="1"/>
              <a:t>organizados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— Tres </a:t>
            </a:r>
            <a:r>
              <a:rPr dirty="0" err="1"/>
              <a:t>Actas</a:t>
            </a:r>
            <a:r>
              <a:rPr dirty="0"/>
              <a:t> de </a:t>
            </a:r>
            <a:r>
              <a:rPr dirty="0" err="1"/>
              <a:t>Inicio</a:t>
            </a:r>
            <a:r>
              <a:rPr dirty="0"/>
              <a:t> </a:t>
            </a:r>
            <a:r>
              <a:rPr dirty="0" err="1"/>
              <a:t>elaboradas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— Tres planes de </a:t>
            </a:r>
            <a:r>
              <a:rPr dirty="0" err="1"/>
              <a:t>trabajo</a:t>
            </a:r>
            <a:r>
              <a:rPr dirty="0"/>
              <a:t> con </a:t>
            </a:r>
            <a:r>
              <a:rPr dirty="0" err="1"/>
              <a:t>entregables</a:t>
            </a:r>
            <a:r>
              <a:rPr dirty="0"/>
              <a:t> y </a:t>
            </a:r>
            <a:r>
              <a:rPr dirty="0" err="1"/>
              <a:t>criterios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— </a:t>
            </a:r>
            <a:r>
              <a:rPr dirty="0" err="1"/>
              <a:t>Tablero</a:t>
            </a:r>
            <a:r>
              <a:rPr dirty="0"/>
              <a:t> Kanban </a:t>
            </a:r>
            <a:r>
              <a:rPr dirty="0" err="1"/>
              <a:t>configurado</a:t>
            </a:r>
            <a:r>
              <a:rPr dirty="0"/>
              <a:t> en Monday.com.</a:t>
            </a:r>
          </a:p>
          <a:p>
            <a:pPr marL="0" indent="0">
              <a:buNone/>
            </a:pPr>
            <a:r>
              <a:rPr dirty="0"/>
              <a:t>— Daily Scrum </a:t>
            </a:r>
            <a:r>
              <a:rPr dirty="0" err="1"/>
              <a:t>registrado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llamadas</a:t>
            </a:r>
            <a:r>
              <a:rPr dirty="0"/>
              <a:t> y WhatsApp.</a:t>
            </a:r>
          </a:p>
          <a:p>
            <a:pPr marL="0" indent="0">
              <a:buNone/>
            </a:pPr>
            <a:r>
              <a:rPr dirty="0"/>
              <a:t>— Primer </a:t>
            </a:r>
            <a:r>
              <a:rPr dirty="0" err="1"/>
              <a:t>diagrama</a:t>
            </a:r>
            <a:r>
              <a:rPr dirty="0"/>
              <a:t> </a:t>
            </a:r>
            <a:r>
              <a:rPr dirty="0" err="1"/>
              <a:t>recibido</a:t>
            </a:r>
            <a:r>
              <a:rPr dirty="0"/>
              <a:t> y </a:t>
            </a:r>
            <a:r>
              <a:rPr dirty="0" err="1"/>
              <a:t>revisado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— </a:t>
            </a:r>
            <a:r>
              <a:rPr dirty="0" err="1"/>
              <a:t>Riesgos</a:t>
            </a:r>
            <a:r>
              <a:rPr dirty="0"/>
              <a:t> y </a:t>
            </a:r>
            <a:r>
              <a:rPr dirty="0" err="1"/>
              <a:t>actividades</a:t>
            </a:r>
            <a:r>
              <a:rPr dirty="0"/>
              <a:t> </a:t>
            </a:r>
            <a:r>
              <a:rPr dirty="0" err="1"/>
              <a:t>bloqueantes</a:t>
            </a:r>
            <a:r>
              <a:rPr dirty="0"/>
              <a:t> </a:t>
            </a:r>
            <a:r>
              <a:rPr dirty="0" err="1"/>
              <a:t>identificados</a:t>
            </a:r>
            <a:r>
              <a:rPr dirty="0"/>
              <a:t> para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seguimiento</a:t>
            </a:r>
            <a:r>
              <a:rPr dirty="0"/>
              <a:t>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2992BD8-A482-C48D-26A2-5C1B43D01AE6}"/>
              </a:ext>
            </a:extLst>
          </p:cNvPr>
          <p:cNvSpPr txBox="1"/>
          <p:nvPr/>
        </p:nvSpPr>
        <p:spPr>
          <a:xfrm>
            <a:off x="955040" y="922030"/>
            <a:ext cx="6096000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cap="all"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>
                <a:solidFill>
                  <a:schemeClr val="accent1"/>
                </a:solidFill>
              </a:rPr>
              <a:t>Resultados obtenidos</a:t>
            </a:r>
          </a:p>
        </p:txBody>
      </p:sp>
    </p:spTree>
    <p:extLst>
      <p:ext uri="{BB962C8B-B14F-4D97-AF65-F5344CB8AC3E}">
        <p14:creationId xmlns:p14="http://schemas.microsoft.com/office/powerpoint/2010/main" val="2978405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0AC5D9-9FD1-99B5-CB0C-FC5B34DE4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8375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sz="4800" b="1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Conclusión</a:t>
            </a:r>
          </a:p>
          <a:p>
            <a:pPr marL="0" indent="0" algn="just">
              <a:buNone/>
            </a:pPr>
            <a:r>
              <a:t>La aplicación conjunta de Scrum, Kanban y PMBOK permitió organizar formalmente los tres proyectos y mantener un seguimiento verificable. PMBOK proporcionó la estructura documental y las fases de gestión; Scrum facilitó la comunicación periódica con las personas ejecutoras; y Kanban permitió visualizar el estado de las actividades, detectar bloqueos y controlar el avance.</a:t>
            </a:r>
          </a:p>
          <a:p>
            <a:pPr marL="0" indent="0" algn="just">
              <a:buNone/>
            </a:pPr>
            <a:r>
              <a:t>Los proyectos permanecen en ejecución. El seguimiento continuará mediante Daily Scrum, actualización de Monday.com y validación de entregables contra los criterios establecidos en cada acta y plan de trabajo.</a:t>
            </a:r>
          </a:p>
        </p:txBody>
      </p:sp>
    </p:spTree>
    <p:extLst>
      <p:ext uri="{BB962C8B-B14F-4D97-AF65-F5344CB8AC3E}">
        <p14:creationId xmlns:p14="http://schemas.microsoft.com/office/powerpoint/2010/main" val="2822923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124EC-CD38-C073-CDBA-5D847311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chemeClr val="accent1"/>
                </a:solidFill>
              </a:rPr>
              <a:t>FUENTES DE INFORMACIÓN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0F83E8-77E6-BA3C-CE9D-7E292129A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750" y="1476375"/>
            <a:ext cx="10096500" cy="40957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dirty="0"/>
              <a:t>Aquino Villanueva, R. (2026). </a:t>
            </a:r>
            <a:r>
              <a:rPr lang="es-MX" i="1" dirty="0"/>
              <a:t>GPTI</a:t>
            </a:r>
            <a:r>
              <a:rPr lang="es-MX" dirty="0"/>
              <a:t> GitHub. </a:t>
            </a:r>
            <a:r>
              <a:rPr lang="es-MX" dirty="0">
                <a:hlinkClick r:id="rId3"/>
              </a:rPr>
              <a:t>https://github.com/rafaelrav8770/GPTI</a:t>
            </a:r>
            <a:endParaRPr lang="es-MX" dirty="0"/>
          </a:p>
          <a:p>
            <a:pPr marL="0" indent="0">
              <a:buNone/>
            </a:pPr>
            <a:r>
              <a:rPr lang="es-MX" i="1" dirty="0"/>
              <a:t>Cómo empezar con la gestión de proyectos</a:t>
            </a:r>
            <a:r>
              <a:rPr lang="es-MX" dirty="0"/>
              <a:t> Video.  YouTube. </a:t>
            </a:r>
            <a:r>
              <a:rPr lang="es-MX" dirty="0">
                <a:hlinkClick r:id="rId4"/>
              </a:rPr>
              <a:t>https://www.youtube.com/watch?v=2x8gfBL5Rps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EALDE Business School.  </a:t>
            </a:r>
            <a:r>
              <a:rPr lang="es-MX" i="1" dirty="0"/>
              <a:t>Los 6 procesos para la gestión del alcance en dirección de proyectos</a:t>
            </a:r>
            <a:r>
              <a:rPr lang="es-MX" dirty="0"/>
              <a:t> [Video]. YouTube. </a:t>
            </a:r>
            <a:r>
              <a:rPr lang="es-MX" dirty="0">
                <a:hlinkClick r:id="rId5"/>
              </a:rPr>
              <a:t>https://www.youtube.com/watch?v=yVRZif8cJz0</a:t>
            </a:r>
            <a:endParaRPr lang="es-MX" dirty="0"/>
          </a:p>
          <a:p>
            <a:pPr marL="0" indent="0">
              <a:buNone/>
            </a:pPr>
            <a:r>
              <a:rPr lang="es-MX" i="1" dirty="0"/>
              <a:t>Levantamiento de procesos desde cero</a:t>
            </a:r>
            <a:r>
              <a:rPr lang="es-MX" dirty="0"/>
              <a:t> Video. YouTube. </a:t>
            </a:r>
            <a:r>
              <a:rPr lang="es-MX" dirty="0">
                <a:hlinkClick r:id="rId6"/>
              </a:rPr>
              <a:t>https://www.youtube.com/watch?v=8k_7bMRPEco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Project Management </a:t>
            </a:r>
            <a:r>
              <a:rPr lang="es-MX" dirty="0" err="1"/>
              <a:t>Institute</a:t>
            </a:r>
            <a:r>
              <a:rPr lang="es-MX" dirty="0"/>
              <a:t>. (2025). </a:t>
            </a:r>
            <a:r>
              <a:rPr lang="es-MX" i="1" dirty="0"/>
              <a:t>A guide </a:t>
            </a:r>
            <a:r>
              <a:rPr lang="es-MX" i="1" dirty="0" err="1"/>
              <a:t>to</a:t>
            </a:r>
            <a:r>
              <a:rPr lang="es-MX" i="1" dirty="0"/>
              <a:t> </a:t>
            </a:r>
            <a:r>
              <a:rPr lang="es-MX" i="1" dirty="0" err="1"/>
              <a:t>the</a:t>
            </a:r>
            <a:r>
              <a:rPr lang="es-MX" i="1" dirty="0"/>
              <a:t> </a:t>
            </a:r>
            <a:r>
              <a:rPr lang="es-MX" i="1" dirty="0" err="1"/>
              <a:t>project</a:t>
            </a:r>
            <a:r>
              <a:rPr lang="es-MX" i="1" dirty="0"/>
              <a:t> </a:t>
            </a:r>
            <a:r>
              <a:rPr lang="es-MX" i="1" dirty="0" err="1"/>
              <a:t>management</a:t>
            </a:r>
            <a:r>
              <a:rPr lang="es-MX" i="1" dirty="0"/>
              <a:t> </a:t>
            </a:r>
            <a:r>
              <a:rPr lang="es-MX" i="1" dirty="0" err="1"/>
              <a:t>body</a:t>
            </a:r>
            <a:r>
              <a:rPr lang="es-MX" i="1" dirty="0"/>
              <a:t> </a:t>
            </a:r>
            <a:r>
              <a:rPr lang="es-MX" i="1" dirty="0" err="1"/>
              <a:t>of</a:t>
            </a:r>
            <a:r>
              <a:rPr lang="es-MX" i="1" dirty="0"/>
              <a:t> </a:t>
            </a:r>
            <a:r>
              <a:rPr lang="es-MX" i="1" dirty="0" err="1"/>
              <a:t>knowledge</a:t>
            </a:r>
            <a:r>
              <a:rPr lang="es-MX" i="1" dirty="0"/>
              <a:t> (PMBOK® guide)</a:t>
            </a:r>
            <a:r>
              <a:rPr lang="es-MX" dirty="0"/>
              <a:t> (8.ª ed.). </a:t>
            </a:r>
            <a:r>
              <a:rPr lang="es-MX" dirty="0">
                <a:hlinkClick r:id="rId7"/>
              </a:rPr>
              <a:t>https://www.pmi.org/standards/pmbok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Video Gestión de Proyectos TI YouTube. </a:t>
            </a:r>
            <a:r>
              <a:rPr lang="es-MX" dirty="0">
                <a:hlinkClick r:id="rId8"/>
              </a:rPr>
              <a:t>https://www.youtube.com/watch?v=kJtlZ0xneEw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454896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3138</TotalTime>
  <Words>1584</Words>
  <Application>Microsoft Office PowerPoint</Application>
  <PresentationFormat>Panorámica</PresentationFormat>
  <Paragraphs>194</Paragraphs>
  <Slides>25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  <vt:lpstr>Presentación de PowerPoint</vt:lpstr>
      <vt:lpstr>justificación</vt:lpstr>
      <vt:lpstr>Proyectos gestionados</vt:lpstr>
      <vt:lpstr>Metodologías utilizadas</vt:lpstr>
      <vt:lpstr>SECCIÓN SCRUM Aplicación en los tres proyectos</vt:lpstr>
      <vt:lpstr>Roles de Scrum</vt:lpstr>
      <vt:lpstr>Presentación de PowerPoint</vt:lpstr>
      <vt:lpstr>Evidencia del Daily Scrum</vt:lpstr>
      <vt:lpstr>Presentación de PowerPoint</vt:lpstr>
      <vt:lpstr>Tablero general de seguimiento</vt:lpstr>
      <vt:lpstr>Kanban de Brandon</vt:lpstr>
      <vt:lpstr>Kanban de Josefina</vt:lpstr>
      <vt:lpstr>Kanban de Roberto</vt:lpstr>
      <vt:lpstr>Presentación de PowerPoint</vt:lpstr>
      <vt:lpstr>PMBOK: Inicio</vt:lpstr>
      <vt:lpstr>PMBOK: Planificación</vt:lpstr>
      <vt:lpstr>Presentación de PowerPoint</vt:lpstr>
      <vt:lpstr>PMBOK: Monitoreo y control</vt:lpstr>
      <vt:lpstr>PMBOK: Cierre</vt:lpstr>
      <vt:lpstr>Estado actual de los proyectos</vt:lpstr>
      <vt:lpstr>Presentación de PowerPoint</vt:lpstr>
      <vt:lpstr>Presentación de PowerPoint</vt:lpstr>
      <vt:lpstr>FUENTES DE INFORMACIÓN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60</cp:revision>
  <dcterms:created xsi:type="dcterms:W3CDTF">2026-02-14T13:39:49Z</dcterms:created>
  <dcterms:modified xsi:type="dcterms:W3CDTF">2026-08-31T03:29:46Z</dcterms:modified>
</cp:coreProperties>
</file>