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3" r:id="rId3"/>
    <p:sldId id="258" r:id="rId4"/>
    <p:sldId id="303" r:id="rId5"/>
    <p:sldId id="306" r:id="rId6"/>
    <p:sldId id="261" r:id="rId7"/>
    <p:sldId id="262" r:id="rId8"/>
    <p:sldId id="307" r:id="rId9"/>
    <p:sldId id="264" r:id="rId10"/>
    <p:sldId id="265" r:id="rId11"/>
    <p:sldId id="266" r:id="rId12"/>
    <p:sldId id="305" r:id="rId13"/>
    <p:sldId id="260" r:id="rId1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0" d="100"/>
          <a:sy n="50" d="100"/>
        </p:scale>
        <p:origin x="922"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30/08/2026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Repositorio GPTI del usuario.</a:t>
            </a:r>
          </a:p>
          <a:p>
            <a:r>
              <a:t>- Documentos de proyecto y capturas de Monday.com proporcionados por el usuario.</a:t>
            </a:r>
          </a:p>
          <a:p>
            <a:r>
              <a:t>- Material docente y Guía PMBOK 7 utilizada en la materia.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56920"/>
          </a:xfrm>
          <a:prstGeom prst="rect">
            <a:avLst/>
          </a:prstGeom>
          <a:noFill/>
        </p:spPr>
        <p:txBody>
          <a:bodyPr wrap="square">
            <a:spAutoFit/>
          </a:bodyPr>
          <a:lstStyle/>
          <a:p>
            <a:pPr algn="ctr">
              <a:lnSpc>
                <a:spcPct val="100000"/>
              </a:lnSpc>
              <a:spcAft>
                <a:spcPts val="800"/>
              </a:spcAft>
              <a:buNone/>
            </a:pPr>
            <a:r>
              <a:rPr lang="es-MX" b="1" kern="0" dirty="0">
                <a:latin typeface="Arial" panose="020B0604020202020204" pitchFamily="34" charset="0"/>
                <a:cs typeface="Arial" panose="020B0604020202020204" pitchFamily="34" charset="0"/>
              </a:rPr>
              <a:t>GESTION DE PROYECTOS DE TI</a:t>
            </a:r>
          </a:p>
          <a:p>
            <a:pPr algn="ctr">
              <a:lnSpc>
                <a:spcPct val="100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1</a:t>
            </a:r>
            <a:r>
              <a:rPr lang="es-MX" sz="2000" b="1" kern="0" dirty="0">
                <a:effectLst/>
                <a:latin typeface="Arial" panose="020B0604020202020204" pitchFamily="34" charset="0"/>
                <a:ea typeface="Arial" panose="020B0604020202020204" pitchFamily="34" charset="0"/>
                <a:cs typeface="Arial" panose="020B0604020202020204" pitchFamily="34" charset="0"/>
              </a:rPr>
              <a:t>.3 –</a:t>
            </a:r>
            <a:r>
              <a:rPr lang="es-MX" sz="2000" b="1" kern="0" dirty="0">
                <a:latin typeface="Arial" panose="020B0604020202020204" pitchFamily="34" charset="0"/>
                <a:ea typeface="Arial" panose="020B0604020202020204" pitchFamily="34" charset="0"/>
                <a:cs typeface="Arial" panose="020B0604020202020204" pitchFamily="34" charset="0"/>
              </a:rPr>
              <a:t>BANCO DE EJERCICIOS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83305190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27</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a:t>
            </a:r>
            <a:r>
              <a:rPr lang="es-MX" sz="2000" b="1" kern="0">
                <a:effectLst/>
                <a:latin typeface="Arial" panose="020B0604020202020204" pitchFamily="34" charset="0"/>
                <a:ea typeface="Times New Roman" panose="02020603050405020304" pitchFamily="18" charset="0"/>
                <a:cs typeface="Arial" panose="020B0604020202020204" pitchFamily="34" charset="0"/>
              </a:rPr>
              <a:t>DE AGOSTO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dirty="0">
                <a:solidFill>
                  <a:schemeClr val="accent1"/>
                </a:solidFill>
                <a:latin typeface="+mj-lt"/>
                <a:cs typeface="Arial" panose="020B0604020202020204" pitchFamily="34" charset="0"/>
              </a:rPr>
              <a:t>Introducción</a:t>
            </a:r>
          </a:p>
          <a:p>
            <a:pPr marL="0" indent="0">
              <a:buNone/>
            </a:pPr>
            <a:r>
              <a:rPr lang="es-MX" dirty="0"/>
              <a:t>Este banco de ejercicios analiza la aplicación de Scrum, Kanban y PMBOK en la gestión de tres proyectos de simulación: taller mecánico, planta embotelladora y taller de electrónica. Los ejercicios relacionan cada metodología con las actividades registradas, los estados del tablero y las evidencias disponibles.</a:t>
            </a:r>
          </a:p>
          <a:p>
            <a:pPr marL="0" indent="0">
              <a:buNone/>
            </a:pPr>
            <a:r>
              <a:rPr lang="es-MX" dirty="0"/>
              <a:t>El análisis permite reconocer cómo se realiza el seguimiento, cómo se visualizan los bloqueos y cómo se documentan las decisiones del Project Manager.</a:t>
            </a:r>
          </a:p>
          <a:p>
            <a:pPr marL="0" indent="0">
              <a:buNone/>
            </a:pPr>
            <a:endParaRPr lang="es-MX" dirty="0"/>
          </a:p>
          <a:p>
            <a:pPr marL="0" indent="0" algn="just">
              <a:buNone/>
            </a:pPr>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1253331"/>
            <a:ext cx="10515600" cy="4351338"/>
          </a:xfrm>
        </p:spPr>
        <p:txBody>
          <a:bodyPr/>
          <a:lstStyle/>
          <a:p>
            <a:pPr marL="0" indent="0">
              <a:buNone/>
            </a:pPr>
            <a:r>
              <a:rPr lang="es-MX" sz="4400" b="1" kern="0" dirty="0">
                <a:solidFill>
                  <a:schemeClr val="accent1"/>
                </a:solidFill>
                <a:latin typeface="+mj-lt"/>
                <a:cs typeface="Arial" panose="020B0604020202020204" pitchFamily="34" charset="0"/>
              </a:rPr>
              <a:t>Objetivo</a:t>
            </a:r>
          </a:p>
          <a:p>
            <a:pPr marL="0" indent="0">
              <a:buNone/>
            </a:pPr>
            <a:r>
              <a:rPr lang="es-MX" dirty="0"/>
              <a:t> </a:t>
            </a:r>
          </a:p>
          <a:p>
            <a:pPr marL="0" indent="0" algn="just">
              <a:buNone/>
            </a:pPr>
            <a:r>
              <a:rPr lang="es-MX" dirty="0"/>
              <a:t>Analizar la aplicación de Scrum, Kanban y PMBOK en los tres proyectos de simulación mediante ejercicios comparativos, revisión de estados y evaluación de evidencias, con el propósito de identificar avances, bloqueos y acciones de seguimiento.</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err="1">
                <a:solidFill>
                  <a:schemeClr val="accent1"/>
                </a:solidFill>
              </a:rPr>
              <a:t>justificacion</a:t>
            </a:r>
            <a:endParaRPr lang="es-MX" sz="4800" b="1" dirty="0">
              <a:solidFill>
                <a:schemeClr val="accent1"/>
              </a:solidFill>
            </a:endParaRP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lgn="just">
              <a:buNone/>
            </a:pPr>
            <a:r>
              <a:rPr lang="es-MX" dirty="0"/>
              <a:t>El banco de ejercicios permite comprobar de manera práctica cómo Scrum, Kanban y PMBOK se complementan en la gestión de proyectos. La comparación facilita distinguir la función de cada enfoque, interpretar los estados de Monday.com y justificar las decisiones tomadas a partir de evidencias reales. Con ello se fortalece la capacidad de organizar, supervisar y controlar el avance sin registrar actividades que no ocurrieron.</a:t>
            </a:r>
          </a:p>
          <a:p>
            <a:pPr marL="0" indent="0" algn="just">
              <a:buNone/>
            </a:pPr>
            <a:endParaRPr lang="es-MX" dirty="0"/>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2D8D02-5163-5C0B-9AEF-6204540FB85E}"/>
              </a:ext>
            </a:extLst>
          </p:cNvPr>
          <p:cNvSpPr>
            <a:spLocks noGrp="1"/>
          </p:cNvSpPr>
          <p:nvPr>
            <p:ph type="title"/>
          </p:nvPr>
        </p:nvSpPr>
        <p:spPr>
          <a:xfrm>
            <a:off x="838200" y="66675"/>
            <a:ext cx="10515600" cy="1285875"/>
          </a:xfrm>
        </p:spPr>
        <p:txBody>
          <a:bodyPr vert="horz" lIns="91440" tIns="45720" rIns="91440" bIns="45720" anchor="ctr">
            <a:noAutofit/>
          </a:bodyPr>
          <a:lstStyle/>
          <a:p>
            <a:r>
              <a:rPr sz="3600" b="1" dirty="0" err="1">
                <a:solidFill>
                  <a:schemeClr val="accent1"/>
                </a:solidFill>
              </a:rPr>
              <a:t>Ejercicio</a:t>
            </a:r>
            <a:r>
              <a:rPr sz="3600" b="1" dirty="0">
                <a:solidFill>
                  <a:schemeClr val="accent1"/>
                </a:solidFill>
              </a:rPr>
              <a:t> 1. </a:t>
            </a:r>
            <a:r>
              <a:rPr sz="3600" b="1" dirty="0" err="1">
                <a:solidFill>
                  <a:schemeClr val="accent1"/>
                </a:solidFill>
              </a:rPr>
              <a:t>Comparación</a:t>
            </a:r>
            <a:r>
              <a:rPr sz="3600" b="1" dirty="0">
                <a:solidFill>
                  <a:schemeClr val="accent1"/>
                </a:solidFill>
              </a:rPr>
              <a:t> de Scrum, Kanban y PMBOK</a:t>
            </a:r>
          </a:p>
        </p:txBody>
      </p:sp>
      <p:graphicFrame>
        <p:nvGraphicFramePr>
          <p:cNvPr id="9" name="Marcador de contenido 3"/>
          <p:cNvGraphicFramePr/>
          <p:nvPr>
            <p:extLst>
              <p:ext uri="{D42A27DB-BD31-4B8C-83A1-F6EECF244321}">
                <p14:modId xmlns:p14="http://schemas.microsoft.com/office/powerpoint/2010/main" val="2563387544"/>
              </p:ext>
            </p:extLst>
          </p:nvPr>
        </p:nvGraphicFramePr>
        <p:xfrm>
          <a:off x="1066800" y="1628775"/>
          <a:ext cx="9915525" cy="2927034"/>
        </p:xfrm>
        <a:graphic>
          <a:graphicData uri="http://schemas.openxmlformats.org/drawingml/2006/table">
            <a:tbl>
              <a:tblPr>
                <a:tableStyleId>{FABFCF23-3B69-468F-B69F-88F6DE6A72F2}</a:tableStyleId>
              </a:tblPr>
              <a:tblGrid>
                <a:gridCol w="1343862">
                  <a:extLst>
                    <a:ext uri="{9D8B030D-6E8A-4147-A177-3AD203B41FA5}">
                      <a16:colId xmlns:a16="http://schemas.microsoft.com/office/drawing/2014/main" val="20000"/>
                    </a:ext>
                  </a:extLst>
                </a:gridCol>
                <a:gridCol w="1979473">
                  <a:extLst>
                    <a:ext uri="{9D8B030D-6E8A-4147-A177-3AD203B41FA5}">
                      <a16:colId xmlns:a16="http://schemas.microsoft.com/office/drawing/2014/main" val="20001"/>
                    </a:ext>
                  </a:extLst>
                </a:gridCol>
                <a:gridCol w="1725229">
                  <a:extLst>
                    <a:ext uri="{9D8B030D-6E8A-4147-A177-3AD203B41FA5}">
                      <a16:colId xmlns:a16="http://schemas.microsoft.com/office/drawing/2014/main" val="20002"/>
                    </a:ext>
                  </a:extLst>
                </a:gridCol>
                <a:gridCol w="1634427">
                  <a:extLst>
                    <a:ext uri="{9D8B030D-6E8A-4147-A177-3AD203B41FA5}">
                      <a16:colId xmlns:a16="http://schemas.microsoft.com/office/drawing/2014/main" val="20003"/>
                    </a:ext>
                  </a:extLst>
                </a:gridCol>
                <a:gridCol w="1362023">
                  <a:extLst>
                    <a:ext uri="{9D8B030D-6E8A-4147-A177-3AD203B41FA5}">
                      <a16:colId xmlns:a16="http://schemas.microsoft.com/office/drawing/2014/main" val="20004"/>
                    </a:ext>
                  </a:extLst>
                </a:gridCol>
                <a:gridCol w="1870511">
                  <a:extLst>
                    <a:ext uri="{9D8B030D-6E8A-4147-A177-3AD203B41FA5}">
                      <a16:colId xmlns:a16="http://schemas.microsoft.com/office/drawing/2014/main" val="20005"/>
                    </a:ext>
                  </a:extLst>
                </a:gridCol>
              </a:tblGrid>
              <a:tr h="334740">
                <a:tc>
                  <a:txBody>
                    <a:bodyPr/>
                    <a:lstStyle/>
                    <a:p>
                      <a:pPr algn="l">
                        <a:buNone/>
                      </a:pPr>
                      <a:r>
                        <a:rPr sz="1400" dirty="0" err="1"/>
                        <a:t>Metodología</a:t>
                      </a:r>
                      <a:endParaRPr sz="1800" dirty="0">
                        <a:latin typeface="Times New Roman"/>
                        <a:ea typeface="Times New Roman"/>
                        <a:cs typeface="Times New Roman"/>
                      </a:endParaRPr>
                    </a:p>
                  </a:txBody>
                  <a:tcPr marL="57150" marR="57150" marT="57150" marB="57150" anchor="ctr"/>
                </a:tc>
                <a:tc>
                  <a:txBody>
                    <a:bodyPr/>
                    <a:lstStyle/>
                    <a:p>
                      <a:pPr algn="l">
                        <a:buNone/>
                      </a:pPr>
                      <a:r>
                        <a:rPr sz="1400"/>
                        <a:t>Aplicación</a:t>
                      </a:r>
                      <a:endParaRPr sz="1800">
                        <a:latin typeface="Times New Roman"/>
                        <a:ea typeface="Times New Roman"/>
                        <a:cs typeface="Times New Roman"/>
                      </a:endParaRPr>
                    </a:p>
                  </a:txBody>
                  <a:tcPr marL="57150" marR="57150" marT="57150" marB="57150" anchor="ctr"/>
                </a:tc>
                <a:tc>
                  <a:txBody>
                    <a:bodyPr/>
                    <a:lstStyle/>
                    <a:p>
                      <a:pPr algn="l">
                        <a:buNone/>
                      </a:pPr>
                      <a:r>
                        <a:rPr sz="1400"/>
                        <a:t>Evidencia</a:t>
                      </a:r>
                      <a:endParaRPr sz="1800">
                        <a:latin typeface="Times New Roman"/>
                        <a:ea typeface="Times New Roman"/>
                        <a:cs typeface="Times New Roman"/>
                      </a:endParaRPr>
                    </a:p>
                  </a:txBody>
                  <a:tcPr marL="57150" marR="57150" marT="57150" marB="57150" anchor="ctr"/>
                </a:tc>
                <a:tc>
                  <a:txBody>
                    <a:bodyPr/>
                    <a:lstStyle/>
                    <a:p>
                      <a:pPr algn="l">
                        <a:buNone/>
                      </a:pPr>
                      <a:r>
                        <a:rPr sz="1400"/>
                        <a:t>Ventaja</a:t>
                      </a:r>
                      <a:endParaRPr sz="1800">
                        <a:latin typeface="Times New Roman"/>
                        <a:ea typeface="Times New Roman"/>
                        <a:cs typeface="Times New Roman"/>
                      </a:endParaRPr>
                    </a:p>
                  </a:txBody>
                  <a:tcPr marL="57150" marR="57150" marT="57150" marB="57150" anchor="ctr"/>
                </a:tc>
                <a:tc>
                  <a:txBody>
                    <a:bodyPr/>
                    <a:lstStyle/>
                    <a:p>
                      <a:pPr algn="l">
                        <a:buNone/>
                      </a:pPr>
                      <a:r>
                        <a:rPr sz="1400"/>
                        <a:t>Limitación</a:t>
                      </a:r>
                      <a:endParaRPr sz="1800">
                        <a:latin typeface="Times New Roman"/>
                        <a:ea typeface="Times New Roman"/>
                        <a:cs typeface="Times New Roman"/>
                      </a:endParaRPr>
                    </a:p>
                  </a:txBody>
                  <a:tcPr marL="57150" marR="57150" marT="57150" marB="57150" anchor="ctr"/>
                </a:tc>
                <a:tc>
                  <a:txBody>
                    <a:bodyPr/>
                    <a:lstStyle/>
                    <a:p>
                      <a:pPr algn="l">
                        <a:buNone/>
                      </a:pPr>
                      <a:r>
                        <a:rPr sz="1400"/>
                        <a:t>Resultado</a:t>
                      </a:r>
                      <a:endParaRPr sz="1800">
                        <a:latin typeface="Times New Roman"/>
                        <a:ea typeface="Times New Roman"/>
                        <a:cs typeface="Times New Roman"/>
                      </a:endParaRPr>
                    </a:p>
                  </a:txBody>
                  <a:tcPr marL="57150" marR="57150" marT="57150" marB="57150" anchor="ctr"/>
                </a:tc>
                <a:extLst>
                  <a:ext uri="{0D108BD9-81ED-4DB2-BD59-A6C34878D82A}">
                    <a16:rowId xmlns:a16="http://schemas.microsoft.com/office/drawing/2014/main" val="10000"/>
                  </a:ext>
                </a:extLst>
              </a:tr>
              <a:tr h="864098">
                <a:tc>
                  <a:txBody>
                    <a:bodyPr/>
                    <a:lstStyle/>
                    <a:p>
                      <a:pPr algn="l">
                        <a:buNone/>
                      </a:pPr>
                      <a:r>
                        <a:rPr sz="1600" dirty="0"/>
                        <a:t>Scrum</a:t>
                      </a:r>
                      <a:endParaRPr sz="1800" dirty="0">
                        <a:latin typeface="Times New Roman"/>
                        <a:ea typeface="Times New Roman"/>
                        <a:cs typeface="Times New Roman"/>
                      </a:endParaRPr>
                    </a:p>
                  </a:txBody>
                  <a:tcPr marL="57150" marR="57150" marT="57150" marB="57150" anchor="ctr"/>
                </a:tc>
                <a:tc>
                  <a:txBody>
                    <a:bodyPr/>
                    <a:lstStyle/>
                    <a:p>
                      <a:pPr algn="l">
                        <a:buNone/>
                      </a:pPr>
                      <a:r>
                        <a:rPr sz="1600"/>
                        <a:t>Seguimiento mediante llamadas y WhatsApp</a:t>
                      </a:r>
                      <a:endParaRPr sz="1800">
                        <a:latin typeface="Times New Roman"/>
                        <a:ea typeface="Times New Roman"/>
                        <a:cs typeface="Times New Roman"/>
                      </a:endParaRPr>
                    </a:p>
                  </a:txBody>
                  <a:tcPr marL="57150" marR="57150" marT="57150" marB="57150" anchor="ctr"/>
                </a:tc>
                <a:tc>
                  <a:txBody>
                    <a:bodyPr/>
                    <a:lstStyle/>
                    <a:p>
                      <a:pPr algn="l">
                        <a:buNone/>
                      </a:pPr>
                      <a:r>
                        <a:rPr sz="1600"/>
                        <a:t>Daily Scrum</a:t>
                      </a:r>
                      <a:endParaRPr sz="1800">
                        <a:latin typeface="Times New Roman"/>
                        <a:ea typeface="Times New Roman"/>
                        <a:cs typeface="Times New Roman"/>
                      </a:endParaRPr>
                    </a:p>
                  </a:txBody>
                  <a:tcPr marL="57150" marR="57150" marT="57150" marB="57150" anchor="ctr"/>
                </a:tc>
                <a:tc>
                  <a:txBody>
                    <a:bodyPr/>
                    <a:lstStyle/>
                    <a:p>
                      <a:pPr algn="l">
                        <a:buNone/>
                      </a:pPr>
                      <a:r>
                        <a:rPr sz="1600"/>
                        <a:t>Comunicación frecuente</a:t>
                      </a:r>
                      <a:endParaRPr sz="1800">
                        <a:latin typeface="Times New Roman"/>
                        <a:ea typeface="Times New Roman"/>
                        <a:cs typeface="Times New Roman"/>
                      </a:endParaRPr>
                    </a:p>
                  </a:txBody>
                  <a:tcPr marL="57150" marR="57150" marT="57150" marB="57150" anchor="ctr"/>
                </a:tc>
                <a:tc>
                  <a:txBody>
                    <a:bodyPr/>
                    <a:lstStyle/>
                    <a:p>
                      <a:pPr algn="l">
                        <a:buNone/>
                      </a:pPr>
                      <a:r>
                        <a:rPr sz="1600"/>
                        <a:t>Depende de información real</a:t>
                      </a:r>
                      <a:endParaRPr sz="1800">
                        <a:latin typeface="Times New Roman"/>
                        <a:ea typeface="Times New Roman"/>
                        <a:cs typeface="Times New Roman"/>
                      </a:endParaRPr>
                    </a:p>
                  </a:txBody>
                  <a:tcPr marL="57150" marR="57150" marT="57150" marB="57150" anchor="ctr"/>
                </a:tc>
                <a:tc>
                  <a:txBody>
                    <a:bodyPr/>
                    <a:lstStyle/>
                    <a:p>
                      <a:pPr algn="l">
                        <a:buNone/>
                      </a:pPr>
                      <a:r>
                        <a:rPr sz="1600"/>
                        <a:t>Avances y bloqueos registrados</a:t>
                      </a:r>
                      <a:endParaRPr sz="1800">
                        <a:latin typeface="Times New Roman"/>
                        <a:ea typeface="Times New Roman"/>
                        <a:cs typeface="Times New Roman"/>
                      </a:endParaRPr>
                    </a:p>
                  </a:txBody>
                  <a:tcPr marL="57150" marR="57150" marT="57150" marB="57150" anchor="ctr"/>
                </a:tc>
                <a:extLst>
                  <a:ext uri="{0D108BD9-81ED-4DB2-BD59-A6C34878D82A}">
                    <a16:rowId xmlns:a16="http://schemas.microsoft.com/office/drawing/2014/main" val="10001"/>
                  </a:ext>
                </a:extLst>
              </a:tr>
              <a:tr h="864098">
                <a:tc>
                  <a:txBody>
                    <a:bodyPr/>
                    <a:lstStyle/>
                    <a:p>
                      <a:pPr algn="l">
                        <a:buNone/>
                      </a:pPr>
                      <a:r>
                        <a:rPr sz="1600"/>
                        <a:t>Kanban</a:t>
                      </a:r>
                      <a:endParaRPr sz="1800">
                        <a:latin typeface="Times New Roman"/>
                        <a:ea typeface="Times New Roman"/>
                        <a:cs typeface="Times New Roman"/>
                      </a:endParaRPr>
                    </a:p>
                  </a:txBody>
                  <a:tcPr marL="57150" marR="57150" marT="57150" marB="57150" anchor="ctr"/>
                </a:tc>
                <a:tc>
                  <a:txBody>
                    <a:bodyPr/>
                    <a:lstStyle/>
                    <a:p>
                      <a:pPr algn="l">
                        <a:buNone/>
                      </a:pPr>
                      <a:r>
                        <a:rPr sz="1600" dirty="0" err="1"/>
                        <a:t>Estados</a:t>
                      </a:r>
                      <a:r>
                        <a:rPr sz="1600" dirty="0"/>
                        <a:t> de </a:t>
                      </a:r>
                      <a:r>
                        <a:rPr sz="1600" dirty="0" err="1"/>
                        <a:t>actividades</a:t>
                      </a:r>
                      <a:r>
                        <a:rPr sz="1600" dirty="0"/>
                        <a:t> en Monday.com</a:t>
                      </a:r>
                      <a:endParaRPr sz="1800" dirty="0">
                        <a:latin typeface="Times New Roman"/>
                        <a:ea typeface="Times New Roman"/>
                        <a:cs typeface="Times New Roman"/>
                      </a:endParaRPr>
                    </a:p>
                  </a:txBody>
                  <a:tcPr marL="57150" marR="57150" marT="57150" marB="57150" anchor="ctr"/>
                </a:tc>
                <a:tc>
                  <a:txBody>
                    <a:bodyPr/>
                    <a:lstStyle/>
                    <a:p>
                      <a:pPr algn="l">
                        <a:buNone/>
                      </a:pPr>
                      <a:r>
                        <a:rPr sz="1600"/>
                        <a:t>Tablero general</a:t>
                      </a:r>
                      <a:endParaRPr sz="1800">
                        <a:latin typeface="Times New Roman"/>
                        <a:ea typeface="Times New Roman"/>
                        <a:cs typeface="Times New Roman"/>
                      </a:endParaRPr>
                    </a:p>
                  </a:txBody>
                  <a:tcPr marL="57150" marR="57150" marT="57150" marB="57150" anchor="ctr"/>
                </a:tc>
                <a:tc>
                  <a:txBody>
                    <a:bodyPr/>
                    <a:lstStyle/>
                    <a:p>
                      <a:pPr algn="l">
                        <a:buNone/>
                      </a:pPr>
                      <a:r>
                        <a:rPr sz="1600"/>
                        <a:t>Visualiza el flujo</a:t>
                      </a:r>
                      <a:endParaRPr sz="1800">
                        <a:latin typeface="Times New Roman"/>
                        <a:ea typeface="Times New Roman"/>
                        <a:cs typeface="Times New Roman"/>
                      </a:endParaRPr>
                    </a:p>
                  </a:txBody>
                  <a:tcPr marL="57150" marR="57150" marT="57150" marB="57150" anchor="ctr"/>
                </a:tc>
                <a:tc>
                  <a:txBody>
                    <a:bodyPr/>
                    <a:lstStyle/>
                    <a:p>
                      <a:pPr algn="l">
                        <a:buNone/>
                      </a:pPr>
                      <a:r>
                        <a:rPr sz="1600"/>
                        <a:t>Requiere actualización constante</a:t>
                      </a:r>
                      <a:endParaRPr sz="1800">
                        <a:latin typeface="Times New Roman"/>
                        <a:ea typeface="Times New Roman"/>
                        <a:cs typeface="Times New Roman"/>
                      </a:endParaRPr>
                    </a:p>
                  </a:txBody>
                  <a:tcPr marL="57150" marR="57150" marT="57150" marB="57150" anchor="ctr"/>
                </a:tc>
                <a:tc>
                  <a:txBody>
                    <a:bodyPr/>
                    <a:lstStyle/>
                    <a:p>
                      <a:pPr algn="l">
                        <a:buNone/>
                      </a:pPr>
                      <a:r>
                        <a:rPr sz="1600"/>
                        <a:t>Pendientes y revisiones visibles</a:t>
                      </a:r>
                      <a:endParaRPr sz="1800">
                        <a:latin typeface="Times New Roman"/>
                        <a:ea typeface="Times New Roman"/>
                        <a:cs typeface="Times New Roman"/>
                      </a:endParaRPr>
                    </a:p>
                  </a:txBody>
                  <a:tcPr marL="57150" marR="57150" marT="57150" marB="57150" anchor="ctr"/>
                </a:tc>
                <a:extLst>
                  <a:ext uri="{0D108BD9-81ED-4DB2-BD59-A6C34878D82A}">
                    <a16:rowId xmlns:a16="http://schemas.microsoft.com/office/drawing/2014/main" val="10002"/>
                  </a:ext>
                </a:extLst>
              </a:tr>
              <a:tr h="864098">
                <a:tc>
                  <a:txBody>
                    <a:bodyPr/>
                    <a:lstStyle/>
                    <a:p>
                      <a:pPr algn="l">
                        <a:buNone/>
                      </a:pPr>
                      <a:r>
                        <a:rPr sz="1600" dirty="0"/>
                        <a:t>PMBOK</a:t>
                      </a:r>
                      <a:endParaRPr sz="1800" dirty="0">
                        <a:latin typeface="Times New Roman"/>
                        <a:ea typeface="Times New Roman"/>
                        <a:cs typeface="Times New Roman"/>
                      </a:endParaRPr>
                    </a:p>
                  </a:txBody>
                  <a:tcPr marL="57150" marR="57150" marT="57150" marB="57150" anchor="ctr"/>
                </a:tc>
                <a:tc>
                  <a:txBody>
                    <a:bodyPr/>
                    <a:lstStyle/>
                    <a:p>
                      <a:pPr algn="l">
                        <a:buNone/>
                      </a:pPr>
                      <a:r>
                        <a:rPr sz="1600"/>
                        <a:t>Gestión por fases y documentos</a:t>
                      </a:r>
                      <a:endParaRPr sz="1800">
                        <a:latin typeface="Times New Roman"/>
                        <a:ea typeface="Times New Roman"/>
                        <a:cs typeface="Times New Roman"/>
                      </a:endParaRPr>
                    </a:p>
                  </a:txBody>
                  <a:tcPr marL="57150" marR="57150" marT="57150" marB="57150" anchor="ctr"/>
                </a:tc>
                <a:tc>
                  <a:txBody>
                    <a:bodyPr/>
                    <a:lstStyle/>
                    <a:p>
                      <a:pPr algn="l">
                        <a:buNone/>
                      </a:pPr>
                      <a:r>
                        <a:rPr sz="1600"/>
                        <a:t>Actas y planes</a:t>
                      </a:r>
                      <a:endParaRPr sz="1800">
                        <a:latin typeface="Times New Roman"/>
                        <a:ea typeface="Times New Roman"/>
                        <a:cs typeface="Times New Roman"/>
                      </a:endParaRPr>
                    </a:p>
                  </a:txBody>
                  <a:tcPr marL="57150" marR="57150" marT="57150" marB="57150" anchor="ctr"/>
                </a:tc>
                <a:tc>
                  <a:txBody>
                    <a:bodyPr/>
                    <a:lstStyle/>
                    <a:p>
                      <a:pPr algn="l">
                        <a:buNone/>
                      </a:pPr>
                      <a:r>
                        <a:rPr sz="1600"/>
                        <a:t>Formaliza el proyecto</a:t>
                      </a:r>
                      <a:endParaRPr sz="1800">
                        <a:latin typeface="Times New Roman"/>
                        <a:ea typeface="Times New Roman"/>
                        <a:cs typeface="Times New Roman"/>
                      </a:endParaRPr>
                    </a:p>
                  </a:txBody>
                  <a:tcPr marL="57150" marR="57150" marT="57150" marB="57150" anchor="ctr"/>
                </a:tc>
                <a:tc>
                  <a:txBody>
                    <a:bodyPr/>
                    <a:lstStyle/>
                    <a:p>
                      <a:pPr algn="l">
                        <a:buNone/>
                      </a:pPr>
                      <a:r>
                        <a:rPr sz="1600"/>
                        <a:t>Mayor documentación</a:t>
                      </a:r>
                      <a:endParaRPr sz="1800">
                        <a:latin typeface="Times New Roman"/>
                        <a:ea typeface="Times New Roman"/>
                        <a:cs typeface="Times New Roman"/>
                      </a:endParaRPr>
                    </a:p>
                  </a:txBody>
                  <a:tcPr marL="57150" marR="57150" marT="57150" marB="57150" anchor="ctr"/>
                </a:tc>
                <a:tc>
                  <a:txBody>
                    <a:bodyPr/>
                    <a:lstStyle/>
                    <a:p>
                      <a:pPr algn="l">
                        <a:buNone/>
                      </a:pPr>
                      <a:r>
                        <a:rPr sz="1600" dirty="0"/>
                        <a:t>Control de </a:t>
                      </a:r>
                      <a:r>
                        <a:rPr sz="1600" dirty="0" err="1"/>
                        <a:t>inicio</a:t>
                      </a:r>
                      <a:r>
                        <a:rPr sz="1600" dirty="0"/>
                        <a:t>, </a:t>
                      </a:r>
                      <a:r>
                        <a:rPr sz="1600" dirty="0" err="1"/>
                        <a:t>planificación</a:t>
                      </a:r>
                      <a:r>
                        <a:rPr sz="1600" dirty="0"/>
                        <a:t> y </a:t>
                      </a:r>
                      <a:r>
                        <a:rPr sz="1600" dirty="0" err="1"/>
                        <a:t>ejecución</a:t>
                      </a:r>
                      <a:endParaRPr sz="1800" dirty="0">
                        <a:latin typeface="Times New Roman"/>
                        <a:ea typeface="Times New Roman"/>
                        <a:cs typeface="Times New Roman"/>
                      </a:endParaRPr>
                    </a:p>
                  </a:txBody>
                  <a:tcPr marL="57150" marR="57150" marT="57150" marB="57150" anchor="ctr"/>
                </a:tc>
                <a:extLst>
                  <a:ext uri="{0D108BD9-81ED-4DB2-BD59-A6C34878D82A}">
                    <a16:rowId xmlns:a16="http://schemas.microsoft.com/office/drawing/2014/main" val="10003"/>
                  </a:ext>
                </a:extLst>
              </a:tr>
            </a:tbl>
          </a:graphicData>
        </a:graphic>
      </p:graphicFrame>
      <p:sp>
        <p:nvSpPr>
          <p:cNvPr id="6" name="CuadroTexto 5">
            <a:extLst>
              <a:ext uri="{FF2B5EF4-FFF2-40B4-BE49-F238E27FC236}">
                <a16:creationId xmlns:a16="http://schemas.microsoft.com/office/drawing/2014/main" id="{1451F046-2C7C-63C1-EA15-DDD0F82422C1}"/>
              </a:ext>
            </a:extLst>
          </p:cNvPr>
          <p:cNvSpPr>
            <a:spLocks noGrp="1"/>
          </p:cNvSpPr>
          <p:nvPr/>
        </p:nvSpPr>
        <p:spPr>
          <a:xfrm>
            <a:off x="952500" y="4875848"/>
            <a:ext cx="10515600" cy="2087751"/>
          </a:xfrm>
          <a:prstGeom prst="rect">
            <a:avLst/>
          </a:prstGeom>
          <a:noFill/>
        </p:spPr>
        <p:txBody>
          <a:bodyPr wrap="square">
            <a:spAutoFit/>
          </a:bodyPr>
          <a:lstStyle/>
          <a:p>
            <a:pPr algn="just">
              <a:lnSpc>
                <a:spcPct val="100000"/>
              </a:lnSpc>
              <a:spcAft>
                <a:spcPts val="700"/>
              </a:spcAft>
              <a:buNone/>
            </a:pPr>
            <a:r>
              <a:rPr sz="1800">
                <a:solidFill>
                  <a:schemeClr val="tx1"/>
                </a:solidFill>
                <a:latin typeface="+mn-lt"/>
                <a:ea typeface="+mn-lt"/>
                <a:cs typeface="+mn-lt"/>
              </a:rPr>
              <a:t>Respuesta: PMBOK proporciona la estructura formal, Scrum mantiene el seguimiento periódico y Kanban permite visualizar el estado de las actividades. Los tres enfoques se complementan en la gestión de los proyectos.</a:t>
            </a:r>
          </a:p>
        </p:txBody>
      </p:sp>
    </p:spTree>
    <p:extLst>
      <p:ext uri="{BB962C8B-B14F-4D97-AF65-F5344CB8AC3E}">
        <p14:creationId xmlns:p14="http://schemas.microsoft.com/office/powerpoint/2010/main" val="1450582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13985-6EEA-BA16-133C-412FDAA345DC}"/>
              </a:ext>
            </a:extLst>
          </p:cNvPr>
          <p:cNvSpPr>
            <a:spLocks noGrp="1"/>
          </p:cNvSpPr>
          <p:nvPr>
            <p:ph type="title"/>
          </p:nvPr>
        </p:nvSpPr>
        <p:spPr/>
        <p:txBody>
          <a:bodyPr vert="horz" lIns="91440" tIns="45720" rIns="91440" bIns="45720" anchor="ctr">
            <a:noAutofit/>
          </a:bodyPr>
          <a:lstStyle/>
          <a:p>
            <a:r>
              <a:rPr sz="3600" b="1" dirty="0" err="1">
                <a:solidFill>
                  <a:schemeClr val="accent1"/>
                </a:solidFill>
              </a:rPr>
              <a:t>Ejercicio</a:t>
            </a:r>
            <a:r>
              <a:rPr sz="3600" b="1" dirty="0">
                <a:solidFill>
                  <a:schemeClr val="accent1"/>
                </a:solidFill>
              </a:rPr>
              <a:t> 2. Analiza el </a:t>
            </a:r>
            <a:r>
              <a:rPr sz="3600" b="1" dirty="0" err="1">
                <a:solidFill>
                  <a:schemeClr val="accent1"/>
                </a:solidFill>
              </a:rPr>
              <a:t>estado</a:t>
            </a:r>
            <a:r>
              <a:rPr sz="3600" b="1" dirty="0">
                <a:solidFill>
                  <a:schemeClr val="accent1"/>
                </a:solidFill>
              </a:rPr>
              <a:t> de </a:t>
            </a:r>
            <a:r>
              <a:rPr sz="3600" b="1" dirty="0" err="1">
                <a:solidFill>
                  <a:schemeClr val="accent1"/>
                </a:solidFill>
              </a:rPr>
              <a:t>cada</a:t>
            </a:r>
            <a:r>
              <a:rPr sz="3600" b="1" dirty="0">
                <a:solidFill>
                  <a:schemeClr val="accent1"/>
                </a:solidFill>
              </a:rPr>
              <a:t> </a:t>
            </a:r>
            <a:r>
              <a:rPr sz="3600" b="1" dirty="0" err="1">
                <a:solidFill>
                  <a:schemeClr val="accent1"/>
                </a:solidFill>
              </a:rPr>
              <a:t>proyecto</a:t>
            </a:r>
            <a:endParaRPr sz="3600" b="1" dirty="0">
              <a:solidFill>
                <a:schemeClr val="accent1"/>
              </a:solidFill>
            </a:endParaRPr>
          </a:p>
        </p:txBody>
      </p:sp>
      <p:graphicFrame>
        <p:nvGraphicFramePr>
          <p:cNvPr id="5" name="Marcador de contenido 3"/>
          <p:cNvGraphicFramePr/>
          <p:nvPr>
            <p:extLst>
              <p:ext uri="{D42A27DB-BD31-4B8C-83A1-F6EECF244321}">
                <p14:modId xmlns:p14="http://schemas.microsoft.com/office/powerpoint/2010/main" val="1478921183"/>
              </p:ext>
            </p:extLst>
          </p:nvPr>
        </p:nvGraphicFramePr>
        <p:xfrm>
          <a:off x="838200" y="1898174"/>
          <a:ext cx="10515600" cy="3413760"/>
        </p:xfrm>
        <a:graphic>
          <a:graphicData uri="http://schemas.openxmlformats.org/drawingml/2006/table">
            <a:tbl>
              <a:tblPr>
                <a:tableStyleId>{FABFCF23-3B69-468F-B69F-88F6DE6A72F2}</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0">
                <a:tc>
                  <a:txBody>
                    <a:bodyPr/>
                    <a:lstStyle/>
                    <a:p>
                      <a:pPr>
                        <a:buNone/>
                      </a:pPr>
                      <a:r>
                        <a:rPr sz="2000"/>
                        <a:t>Proyecto</a:t>
                      </a:r>
                    </a:p>
                  </a:txBody>
                  <a:tcPr anchor="ctr"/>
                </a:tc>
                <a:tc>
                  <a:txBody>
                    <a:bodyPr/>
                    <a:lstStyle/>
                    <a:p>
                      <a:pPr>
                        <a:buNone/>
                      </a:pPr>
                      <a:r>
                        <a:rPr sz="2000"/>
                        <a:t>Estado actual</a:t>
                      </a:r>
                    </a:p>
                  </a:txBody>
                  <a:tcPr anchor="ctr"/>
                </a:tc>
                <a:tc>
                  <a:txBody>
                    <a:bodyPr/>
                    <a:lstStyle/>
                    <a:p>
                      <a:pPr>
                        <a:buNone/>
                      </a:pPr>
                      <a:r>
                        <a:rPr sz="2000"/>
                        <a:t>Evidencia disponible</a:t>
                      </a:r>
                    </a:p>
                  </a:txBody>
                  <a:tcPr anchor="ctr"/>
                </a:tc>
                <a:tc>
                  <a:txBody>
                    <a:bodyPr/>
                    <a:lstStyle/>
                    <a:p>
                      <a:pPr>
                        <a:buNone/>
                      </a:pPr>
                      <a:r>
                        <a:rPr sz="2000"/>
                        <a:t>Acción del Project Manager</a:t>
                      </a:r>
                    </a:p>
                  </a:txBody>
                  <a:tcPr anchor="ctr"/>
                </a:tc>
                <a:extLst>
                  <a:ext uri="{0D108BD9-81ED-4DB2-BD59-A6C34878D82A}">
                    <a16:rowId xmlns:a16="http://schemas.microsoft.com/office/drawing/2014/main" val="10000"/>
                  </a:ext>
                </a:extLst>
              </a:tr>
              <a:tr h="0">
                <a:tc>
                  <a:txBody>
                    <a:bodyPr/>
                    <a:lstStyle/>
                    <a:p>
                      <a:pPr>
                        <a:buNone/>
                      </a:pPr>
                      <a:r>
                        <a:rPr sz="2000"/>
                        <a:t>Brandon · Taller mecánico</a:t>
                      </a:r>
                    </a:p>
                  </a:txBody>
                  <a:tcPr anchor="ctr"/>
                </a:tc>
                <a:tc>
                  <a:txBody>
                    <a:bodyPr/>
                    <a:lstStyle/>
                    <a:p>
                      <a:pPr>
                        <a:buNone/>
                      </a:pPr>
                      <a:r>
                        <a:rPr sz="2000"/>
                        <a:t>En proceso</a:t>
                      </a:r>
                    </a:p>
                  </a:txBody>
                  <a:tcPr anchor="ctr"/>
                </a:tc>
                <a:tc>
                  <a:txBody>
                    <a:bodyPr/>
                    <a:lstStyle/>
                    <a:p>
                      <a:pPr>
                        <a:buNone/>
                      </a:pPr>
                      <a:r>
                        <a:rPr sz="2000"/>
                        <a:t>Modelo conceptual y definición del proceso</a:t>
                      </a:r>
                    </a:p>
                  </a:txBody>
                  <a:tcPr anchor="ctr"/>
                </a:tc>
                <a:tc>
                  <a:txBody>
                    <a:bodyPr/>
                    <a:lstStyle/>
                    <a:p>
                      <a:pPr>
                        <a:buNone/>
                      </a:pPr>
                      <a:r>
                        <a:rPr sz="2000"/>
                        <a:t>Solicitar diseño o diagrama de clases</a:t>
                      </a:r>
                    </a:p>
                  </a:txBody>
                  <a:tcPr anchor="ctr"/>
                </a:tc>
                <a:extLst>
                  <a:ext uri="{0D108BD9-81ED-4DB2-BD59-A6C34878D82A}">
                    <a16:rowId xmlns:a16="http://schemas.microsoft.com/office/drawing/2014/main" val="10001"/>
                  </a:ext>
                </a:extLst>
              </a:tr>
              <a:tr h="0">
                <a:tc>
                  <a:txBody>
                    <a:bodyPr/>
                    <a:lstStyle/>
                    <a:p>
                      <a:pPr>
                        <a:buNone/>
                      </a:pPr>
                      <a:r>
                        <a:rPr sz="2000"/>
                        <a:t>Josefina · Planta embotelladora</a:t>
                      </a:r>
                    </a:p>
                  </a:txBody>
                  <a:tcPr anchor="ctr"/>
                </a:tc>
                <a:tc>
                  <a:txBody>
                    <a:bodyPr/>
                    <a:lstStyle/>
                    <a:p>
                      <a:pPr>
                        <a:buNone/>
                      </a:pPr>
                      <a:r>
                        <a:rPr sz="2000"/>
                        <a:t>Bloqueado</a:t>
                      </a:r>
                    </a:p>
                  </a:txBody>
                  <a:tcPr anchor="ctr"/>
                </a:tc>
                <a:tc>
                  <a:txBody>
                    <a:bodyPr/>
                    <a:lstStyle/>
                    <a:p>
                      <a:pPr>
                        <a:buNone/>
                      </a:pPr>
                      <a:r>
                        <a:rPr sz="2000"/>
                        <a:t>Parámetros y herramienta pendientes</a:t>
                      </a:r>
                    </a:p>
                  </a:txBody>
                  <a:tcPr anchor="ctr"/>
                </a:tc>
                <a:tc>
                  <a:txBody>
                    <a:bodyPr/>
                    <a:lstStyle/>
                    <a:p>
                      <a:pPr>
                        <a:buNone/>
                      </a:pPr>
                      <a:r>
                        <a:rPr sz="2000"/>
                        <a:t>Solicitar ficha de parámetros y herramienta definitiva</a:t>
                      </a:r>
                    </a:p>
                  </a:txBody>
                  <a:tcPr anchor="ctr"/>
                </a:tc>
                <a:extLst>
                  <a:ext uri="{0D108BD9-81ED-4DB2-BD59-A6C34878D82A}">
                    <a16:rowId xmlns:a16="http://schemas.microsoft.com/office/drawing/2014/main" val="10002"/>
                  </a:ext>
                </a:extLst>
              </a:tr>
              <a:tr h="0">
                <a:tc>
                  <a:txBody>
                    <a:bodyPr/>
                    <a:lstStyle/>
                    <a:p>
                      <a:pPr>
                        <a:buNone/>
                      </a:pPr>
                      <a:r>
                        <a:rPr sz="2000"/>
                        <a:t>Roberto · Taller de electrónica</a:t>
                      </a:r>
                    </a:p>
                  </a:txBody>
                  <a:tcPr anchor="ctr"/>
                </a:tc>
                <a:tc>
                  <a:txBody>
                    <a:bodyPr/>
                    <a:lstStyle/>
                    <a:p>
                      <a:pPr>
                        <a:buNone/>
                      </a:pPr>
                      <a:r>
                        <a:rPr sz="2000"/>
                        <a:t>En revisión</a:t>
                      </a:r>
                    </a:p>
                  </a:txBody>
                  <a:tcPr anchor="ctr"/>
                </a:tc>
                <a:tc>
                  <a:txBody>
                    <a:bodyPr/>
                    <a:lstStyle/>
                    <a:p>
                      <a:pPr>
                        <a:buNone/>
                      </a:pPr>
                      <a:r>
                        <a:rPr sz="2000"/>
                        <a:t>Diagrama y corrección recibidos</a:t>
                      </a:r>
                    </a:p>
                  </a:txBody>
                  <a:tcPr anchor="ctr"/>
                </a:tc>
                <a:tc>
                  <a:txBody>
                    <a:bodyPr/>
                    <a:lstStyle/>
                    <a:p>
                      <a:pPr>
                        <a:buNone/>
                      </a:pPr>
                      <a:r>
                        <a:rPr sz="2000" dirty="0"/>
                        <a:t>Validar </a:t>
                      </a:r>
                      <a:r>
                        <a:rPr sz="2000" dirty="0" err="1"/>
                        <a:t>salidas</a:t>
                      </a:r>
                      <a:r>
                        <a:rPr sz="2000" dirty="0"/>
                        <a:t> </a:t>
                      </a:r>
                      <a:r>
                        <a:rPr sz="2000" dirty="0" err="1"/>
                        <a:t>Sí</a:t>
                      </a:r>
                      <a:r>
                        <a:rPr sz="2000" dirty="0"/>
                        <a:t>/No y </a:t>
                      </a:r>
                      <a:r>
                        <a:rPr sz="2000" dirty="0" err="1"/>
                        <a:t>eliminar</a:t>
                      </a:r>
                      <a:r>
                        <a:rPr sz="2000" dirty="0"/>
                        <a:t> el </a:t>
                      </a:r>
                      <a:r>
                        <a:rPr sz="2000" dirty="0" err="1"/>
                        <a:t>flujo</a:t>
                      </a:r>
                      <a:r>
                        <a:rPr sz="2000" dirty="0"/>
                        <a:t> </a:t>
                      </a:r>
                      <a:r>
                        <a:rPr sz="2000" dirty="0" err="1"/>
                        <a:t>duplicado</a:t>
                      </a:r>
                      <a:endParaRPr sz="2000" dirty="0"/>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07750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13985-6EEA-BA16-133C-412FDAA345DC}"/>
              </a:ext>
            </a:extLst>
          </p:cNvPr>
          <p:cNvSpPr>
            <a:spLocks noGrp="1"/>
          </p:cNvSpPr>
          <p:nvPr>
            <p:ph type="title"/>
          </p:nvPr>
        </p:nvSpPr>
        <p:spPr/>
        <p:txBody>
          <a:bodyPr vert="horz" lIns="91440" tIns="45720" rIns="91440" bIns="45720" anchor="ctr">
            <a:noAutofit/>
          </a:bodyPr>
          <a:lstStyle/>
          <a:p>
            <a:r>
              <a:rPr sz="3600" b="1">
                <a:solidFill>
                  <a:schemeClr val="accent1"/>
                </a:solidFill>
              </a:rPr>
              <a:t>Evidencias: Daily Scrum y tablero Kanban</a:t>
            </a:r>
          </a:p>
        </p:txBody>
      </p:sp>
      <p:pic>
        <p:nvPicPr>
          <p:cNvPr id="7" name="Imagen 6"/>
          <p:cNvPicPr>
            <a:picLocks noChangeAspect="1"/>
          </p:cNvPicPr>
          <p:nvPr/>
        </p:nvPicPr>
        <p:blipFill>
          <a:blip r:embed="rId3"/>
          <a:stretch/>
        </p:blipFill>
        <p:spPr>
          <a:xfrm>
            <a:off x="6734176" y="1579425"/>
            <a:ext cx="5120001" cy="2880000"/>
          </a:xfrm>
          <a:prstGeom prst="rect">
            <a:avLst/>
          </a:prstGeom>
        </p:spPr>
      </p:pic>
      <p:pic>
        <p:nvPicPr>
          <p:cNvPr id="4" name="Imagen 3">
            <a:extLst>
              <a:ext uri="{FF2B5EF4-FFF2-40B4-BE49-F238E27FC236}">
                <a16:creationId xmlns:a16="http://schemas.microsoft.com/office/drawing/2014/main" id="{9EB1C5F1-4A34-A5B7-985B-CA7C9804F4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000" y="1579425"/>
            <a:ext cx="5120000" cy="2880000"/>
          </a:xfrm>
          <a:prstGeom prst="rect">
            <a:avLst/>
          </a:prstGeom>
        </p:spPr>
      </p:pic>
      <p:sp>
        <p:nvSpPr>
          <p:cNvPr id="8" name="CuadroTexto 7">
            <a:extLst>
              <a:ext uri="{FF2B5EF4-FFF2-40B4-BE49-F238E27FC236}">
                <a16:creationId xmlns:a16="http://schemas.microsoft.com/office/drawing/2014/main" id="{B741CAA3-5C1F-12D6-1840-8D6A91CEE9CD}"/>
              </a:ext>
            </a:extLst>
          </p:cNvPr>
          <p:cNvSpPr txBox="1"/>
          <p:nvPr/>
        </p:nvSpPr>
        <p:spPr>
          <a:xfrm>
            <a:off x="666750" y="4895850"/>
            <a:ext cx="11187427" cy="1754326"/>
          </a:xfrm>
          <a:prstGeom prst="rect">
            <a:avLst/>
          </a:prstGeom>
          <a:noFill/>
        </p:spPr>
        <p:txBody>
          <a:bodyPr wrap="square">
            <a:spAutoFit/>
          </a:bodyPr>
          <a:lstStyle/>
          <a:p>
            <a:pPr algn="just">
              <a:buNone/>
            </a:pPr>
            <a:r>
              <a:rPr lang="es-MX" dirty="0"/>
              <a:t>La primera evidencia muestra el registro del Daily Scrum en Monday.com, donde se documentaron las fechas, los medios de comunicación, las actividades realizadas y los días sin seguimiento. La segunda evidencia corresponde al panel general, utilizado para visualizar el estado de las tareas, identificar actividades pendientes, avances y bloqueos de los tres proyectos.</a:t>
            </a:r>
          </a:p>
          <a:p>
            <a:pPr algn="just">
              <a:buNone/>
            </a:pPr>
            <a:r>
              <a:rPr lang="es-MX" dirty="0"/>
              <a:t>Estas herramientas permiten mantener un seguimiento verificable y actualizar los estados únicamente cuando existe información o evidencia real.</a:t>
            </a:r>
          </a:p>
        </p:txBody>
      </p:sp>
      <p:sp>
        <p:nvSpPr>
          <p:cNvPr id="10" name="CuadroTexto 9">
            <a:extLst>
              <a:ext uri="{FF2B5EF4-FFF2-40B4-BE49-F238E27FC236}">
                <a16:creationId xmlns:a16="http://schemas.microsoft.com/office/drawing/2014/main" id="{13156A8F-1AB1-BF92-9E1C-2974FC5FCCE6}"/>
              </a:ext>
            </a:extLst>
          </p:cNvPr>
          <p:cNvSpPr txBox="1"/>
          <p:nvPr/>
        </p:nvSpPr>
        <p:spPr>
          <a:xfrm>
            <a:off x="1181100" y="4526518"/>
            <a:ext cx="4533900" cy="338554"/>
          </a:xfrm>
          <a:prstGeom prst="rect">
            <a:avLst/>
          </a:prstGeom>
          <a:noFill/>
        </p:spPr>
        <p:txBody>
          <a:bodyPr wrap="square">
            <a:spAutoFit/>
          </a:bodyPr>
          <a:lstStyle/>
          <a:p>
            <a:pPr lvl="0" algn="ctr"/>
            <a:r>
              <a:rPr lang="es-MX" sz="1600" i="1" dirty="0"/>
              <a:t>Registro del Daily Scrum en Monday.com</a:t>
            </a:r>
            <a:r>
              <a:rPr lang="es-MX" sz="1600" b="1" i="1" dirty="0"/>
              <a:t>.</a:t>
            </a:r>
            <a:r>
              <a:rPr lang="es-MX" sz="1600" i="1" dirty="0"/>
              <a:t> </a:t>
            </a:r>
          </a:p>
        </p:txBody>
      </p:sp>
      <p:sp>
        <p:nvSpPr>
          <p:cNvPr id="12" name="CuadroTexto 11">
            <a:extLst>
              <a:ext uri="{FF2B5EF4-FFF2-40B4-BE49-F238E27FC236}">
                <a16:creationId xmlns:a16="http://schemas.microsoft.com/office/drawing/2014/main" id="{08CB1A37-43E1-1B16-14A2-3981A0A3448E}"/>
              </a:ext>
            </a:extLst>
          </p:cNvPr>
          <p:cNvSpPr txBox="1"/>
          <p:nvPr/>
        </p:nvSpPr>
        <p:spPr>
          <a:xfrm>
            <a:off x="6858002" y="4492971"/>
            <a:ext cx="5120000" cy="338554"/>
          </a:xfrm>
          <a:prstGeom prst="rect">
            <a:avLst/>
          </a:prstGeom>
          <a:noFill/>
        </p:spPr>
        <p:txBody>
          <a:bodyPr wrap="square">
            <a:spAutoFit/>
          </a:bodyPr>
          <a:lstStyle/>
          <a:p>
            <a:pPr algn="ctr"/>
            <a:r>
              <a:rPr lang="es-MX" sz="1600" i="1" dirty="0"/>
              <a:t>Panel general de seguimiento de los tres proyectos.</a:t>
            </a:r>
          </a:p>
        </p:txBody>
      </p:sp>
    </p:spTree>
    <p:extLst>
      <p:ext uri="{BB962C8B-B14F-4D97-AF65-F5344CB8AC3E}">
        <p14:creationId xmlns:p14="http://schemas.microsoft.com/office/powerpoint/2010/main" val="1228343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13985-6EEA-BA16-133C-412FDAA345DC}"/>
              </a:ext>
            </a:extLst>
          </p:cNvPr>
          <p:cNvSpPr>
            <a:spLocks noGrp="1"/>
          </p:cNvSpPr>
          <p:nvPr>
            <p:ph type="title"/>
          </p:nvPr>
        </p:nvSpPr>
        <p:spPr/>
        <p:txBody>
          <a:bodyPr vert="horz" lIns="91440" tIns="45720" rIns="91440" bIns="45720" anchor="ctr">
            <a:noAutofit/>
          </a:bodyPr>
          <a:lstStyle/>
          <a:p>
            <a:r>
              <a:rPr sz="3600" b="1">
                <a:solidFill>
                  <a:schemeClr val="accent1"/>
                </a:solidFill>
              </a:rPr>
              <a:t>Ejercicio 3. Revisión del diagrama de Roberto</a:t>
            </a:r>
          </a:p>
        </p:txBody>
      </p:sp>
      <p:pic>
        <p:nvPicPr>
          <p:cNvPr id="6" name="Imagen 5"/>
          <p:cNvPicPr>
            <a:picLocks noChangeAspect="1"/>
          </p:cNvPicPr>
          <p:nvPr/>
        </p:nvPicPr>
        <p:blipFill>
          <a:blip r:embed="rId3"/>
          <a:stretch/>
        </p:blipFill>
        <p:spPr>
          <a:xfrm>
            <a:off x="5982616" y="1266111"/>
            <a:ext cx="5841507" cy="2286000"/>
          </a:xfrm>
          <a:prstGeom prst="rect">
            <a:avLst/>
          </a:prstGeom>
        </p:spPr>
      </p:pic>
      <p:pic>
        <p:nvPicPr>
          <p:cNvPr id="7" name="Imagen 6"/>
          <p:cNvPicPr>
            <a:picLocks noChangeAspect="1"/>
          </p:cNvPicPr>
          <p:nvPr/>
        </p:nvPicPr>
        <p:blipFill>
          <a:blip r:embed="rId4"/>
          <a:stretch/>
        </p:blipFill>
        <p:spPr>
          <a:xfrm>
            <a:off x="6094389" y="4323675"/>
            <a:ext cx="5729733" cy="1514436"/>
          </a:xfrm>
          <a:prstGeom prst="rect">
            <a:avLst/>
          </a:prstGeom>
        </p:spPr>
      </p:pic>
      <p:sp>
        <p:nvSpPr>
          <p:cNvPr id="4" name="CuadroTexto 3">
            <a:extLst>
              <a:ext uri="{FF2B5EF4-FFF2-40B4-BE49-F238E27FC236}">
                <a16:creationId xmlns:a16="http://schemas.microsoft.com/office/drawing/2014/main" id="{BE6F1023-8BF6-B03F-1D0C-1D74E438725E}"/>
              </a:ext>
            </a:extLst>
          </p:cNvPr>
          <p:cNvSpPr txBox="1"/>
          <p:nvPr/>
        </p:nvSpPr>
        <p:spPr>
          <a:xfrm>
            <a:off x="6677025" y="3152000"/>
            <a:ext cx="6096000" cy="307777"/>
          </a:xfrm>
          <a:prstGeom prst="rect">
            <a:avLst/>
          </a:prstGeom>
          <a:noFill/>
        </p:spPr>
        <p:txBody>
          <a:bodyPr wrap="square">
            <a:spAutoFit/>
          </a:bodyPr>
          <a:lstStyle/>
          <a:p>
            <a:pPr algn="ctr"/>
            <a:r>
              <a:rPr lang="es-MX" sz="1400" i="1" dirty="0"/>
              <a:t>Diagrama inicial entregado el 27/08/2026</a:t>
            </a:r>
          </a:p>
        </p:txBody>
      </p:sp>
      <p:sp>
        <p:nvSpPr>
          <p:cNvPr id="8" name="CuadroTexto 7">
            <a:extLst>
              <a:ext uri="{FF2B5EF4-FFF2-40B4-BE49-F238E27FC236}">
                <a16:creationId xmlns:a16="http://schemas.microsoft.com/office/drawing/2014/main" id="{BFE57D1F-1FA9-8A11-E904-763EBD8203AD}"/>
              </a:ext>
            </a:extLst>
          </p:cNvPr>
          <p:cNvSpPr txBox="1"/>
          <p:nvPr/>
        </p:nvSpPr>
        <p:spPr>
          <a:xfrm>
            <a:off x="5619750" y="6185098"/>
            <a:ext cx="6096000" cy="307777"/>
          </a:xfrm>
          <a:prstGeom prst="rect">
            <a:avLst/>
          </a:prstGeom>
          <a:noFill/>
        </p:spPr>
        <p:txBody>
          <a:bodyPr wrap="square">
            <a:spAutoFit/>
          </a:bodyPr>
          <a:lstStyle>
            <a:defPPr>
              <a:defRPr lang="es-MX"/>
            </a:defPPr>
            <a:lvl1pPr algn="ctr">
              <a:defRPr sz="1400" i="1"/>
            </a:lvl1pPr>
          </a:lstStyle>
          <a:p>
            <a:r>
              <a:rPr lang="es-MX" dirty="0"/>
              <a:t>Diagrama corregido — En revisión</a:t>
            </a:r>
          </a:p>
        </p:txBody>
      </p:sp>
      <p:sp>
        <p:nvSpPr>
          <p:cNvPr id="10" name="CuadroTexto 9">
            <a:extLst>
              <a:ext uri="{FF2B5EF4-FFF2-40B4-BE49-F238E27FC236}">
                <a16:creationId xmlns:a16="http://schemas.microsoft.com/office/drawing/2014/main" id="{7A722CF7-CFF0-C0DA-3384-22061D324689}"/>
              </a:ext>
            </a:extLst>
          </p:cNvPr>
          <p:cNvSpPr txBox="1"/>
          <p:nvPr/>
        </p:nvSpPr>
        <p:spPr>
          <a:xfrm>
            <a:off x="512739" y="1496795"/>
            <a:ext cx="5469877" cy="5450851"/>
          </a:xfrm>
          <a:prstGeom prst="rect">
            <a:avLst/>
          </a:prstGeom>
          <a:noFill/>
        </p:spPr>
        <p:txBody>
          <a:bodyPr wrap="square">
            <a:spAutoFit/>
          </a:bodyPr>
          <a:lstStyle/>
          <a:p>
            <a:pPr>
              <a:lnSpc>
                <a:spcPct val="150000"/>
              </a:lnSpc>
              <a:buNone/>
            </a:pPr>
            <a:r>
              <a:rPr lang="es-MX" dirty="0"/>
              <a:t>El primer diagrama representaba las actividades principales del taller de electrónica, pero no mostraba correctamente la decisión después de las pruebas de calidad. Por esta razón, se solicitó agregar la pregunta “¿El equipo funciona correctamente?”, con las salidas “Sí” y “No requiere retrabajo”.</a:t>
            </a:r>
          </a:p>
          <a:p>
            <a:pPr algn="just">
              <a:lnSpc>
                <a:spcPct val="150000"/>
              </a:lnSpc>
              <a:buNone/>
            </a:pPr>
            <a:r>
              <a:rPr lang="es-MX" dirty="0"/>
              <a:t>En el segundo diagrama se incorporó la decisión y el retorno hacia reparación y mantenimiento. Sin embargo, el entregable permanece en revisión porque debe eliminarse la conexión horizontal directa entre la decisión y “Entrega y facturación”; la llegada a esta actividad debe realizarse únicamente mediante la salida “Sí”.</a:t>
            </a:r>
          </a:p>
        </p:txBody>
      </p:sp>
    </p:spTree>
    <p:extLst>
      <p:ext uri="{BB962C8B-B14F-4D97-AF65-F5344CB8AC3E}">
        <p14:creationId xmlns:p14="http://schemas.microsoft.com/office/powerpoint/2010/main" val="1993028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F09F6B-605C-18C1-9557-95EC8CFCB495}"/>
              </a:ext>
            </a:extLst>
          </p:cNvPr>
          <p:cNvSpPr>
            <a:spLocks noGrp="1"/>
          </p:cNvSpPr>
          <p:nvPr>
            <p:ph type="title"/>
          </p:nvPr>
        </p:nvSpPr>
        <p:spPr>
          <a:xfrm>
            <a:off x="838200" y="1"/>
            <a:ext cx="10515600" cy="819150"/>
          </a:xfrm>
        </p:spPr>
        <p:txBody>
          <a:bodyPr vert="horz" lIns="91440" tIns="45720" rIns="91440" bIns="45720" anchor="ctr">
            <a:noAutofit/>
          </a:bodyPr>
          <a:lstStyle/>
          <a:p>
            <a:r>
              <a:rPr sz="3600" b="1">
                <a:solidFill>
                  <a:schemeClr val="accent1"/>
                </a:solidFill>
              </a:rPr>
              <a:t>Bitácora de seguimiento de la Unidad 2</a:t>
            </a:r>
          </a:p>
        </p:txBody>
      </p:sp>
      <p:graphicFrame>
        <p:nvGraphicFramePr>
          <p:cNvPr id="9" name="Marcador de contenido 3"/>
          <p:cNvGraphicFramePr/>
          <p:nvPr>
            <p:extLst>
              <p:ext uri="{D42A27DB-BD31-4B8C-83A1-F6EECF244321}">
                <p14:modId xmlns:p14="http://schemas.microsoft.com/office/powerpoint/2010/main" val="248018070"/>
              </p:ext>
            </p:extLst>
          </p:nvPr>
        </p:nvGraphicFramePr>
        <p:xfrm>
          <a:off x="838200" y="1079232"/>
          <a:ext cx="10591800" cy="4443697"/>
        </p:xfrm>
        <a:graphic>
          <a:graphicData uri="http://schemas.openxmlformats.org/drawingml/2006/table">
            <a:tbl>
              <a:tblPr>
                <a:tableStyleId>{BDBED569-4797-4DF1-A0F4-6AAB3CD982D8}</a:tableStyleId>
              </a:tblPr>
              <a:tblGrid>
                <a:gridCol w="2118360">
                  <a:extLst>
                    <a:ext uri="{9D8B030D-6E8A-4147-A177-3AD203B41FA5}">
                      <a16:colId xmlns:a16="http://schemas.microsoft.com/office/drawing/2014/main" val="20000"/>
                    </a:ext>
                  </a:extLst>
                </a:gridCol>
                <a:gridCol w="2118360">
                  <a:extLst>
                    <a:ext uri="{9D8B030D-6E8A-4147-A177-3AD203B41FA5}">
                      <a16:colId xmlns:a16="http://schemas.microsoft.com/office/drawing/2014/main" val="20001"/>
                    </a:ext>
                  </a:extLst>
                </a:gridCol>
                <a:gridCol w="2118360">
                  <a:extLst>
                    <a:ext uri="{9D8B030D-6E8A-4147-A177-3AD203B41FA5}">
                      <a16:colId xmlns:a16="http://schemas.microsoft.com/office/drawing/2014/main" val="20002"/>
                    </a:ext>
                  </a:extLst>
                </a:gridCol>
                <a:gridCol w="2118360">
                  <a:extLst>
                    <a:ext uri="{9D8B030D-6E8A-4147-A177-3AD203B41FA5}">
                      <a16:colId xmlns:a16="http://schemas.microsoft.com/office/drawing/2014/main" val="20003"/>
                    </a:ext>
                  </a:extLst>
                </a:gridCol>
                <a:gridCol w="2118360">
                  <a:extLst>
                    <a:ext uri="{9D8B030D-6E8A-4147-A177-3AD203B41FA5}">
                      <a16:colId xmlns:a16="http://schemas.microsoft.com/office/drawing/2014/main" val="20004"/>
                    </a:ext>
                  </a:extLst>
                </a:gridCol>
              </a:tblGrid>
              <a:tr h="213003">
                <a:tc>
                  <a:txBody>
                    <a:bodyPr/>
                    <a:lstStyle/>
                    <a:p>
                      <a:pPr>
                        <a:buNone/>
                      </a:pPr>
                      <a:r>
                        <a:rPr sz="1400"/>
                        <a:t>Fecha</a:t>
                      </a:r>
                    </a:p>
                  </a:txBody>
                  <a:tcPr marL="30429" marR="30429" marT="15214" marB="15214" anchor="ctr"/>
                </a:tc>
                <a:tc>
                  <a:txBody>
                    <a:bodyPr/>
                    <a:lstStyle/>
                    <a:p>
                      <a:pPr>
                        <a:buNone/>
                      </a:pPr>
                      <a:r>
                        <a:rPr sz="1400"/>
                        <a:t>Proyecto</a:t>
                      </a:r>
                    </a:p>
                  </a:txBody>
                  <a:tcPr marL="30429" marR="30429" marT="15214" marB="15214" anchor="ctr"/>
                </a:tc>
                <a:tc>
                  <a:txBody>
                    <a:bodyPr/>
                    <a:lstStyle/>
                    <a:p>
                      <a:pPr>
                        <a:buNone/>
                      </a:pPr>
                      <a:r>
                        <a:rPr sz="1400"/>
                        <a:t>Actividad realizada</a:t>
                      </a:r>
                    </a:p>
                  </a:txBody>
                  <a:tcPr marL="30429" marR="30429" marT="15214" marB="15214" anchor="ctr"/>
                </a:tc>
                <a:tc>
                  <a:txBody>
                    <a:bodyPr/>
                    <a:lstStyle/>
                    <a:p>
                      <a:pPr>
                        <a:buNone/>
                      </a:pPr>
                      <a:r>
                        <a:rPr sz="1400"/>
                        <a:t>Evidencia o resultado</a:t>
                      </a:r>
                    </a:p>
                  </a:txBody>
                  <a:tcPr marL="30429" marR="30429" marT="15214" marB="15214" anchor="ctr"/>
                </a:tc>
                <a:tc>
                  <a:txBody>
                    <a:bodyPr/>
                    <a:lstStyle/>
                    <a:p>
                      <a:pPr>
                        <a:buNone/>
                      </a:pPr>
                      <a:r>
                        <a:rPr sz="1400"/>
                        <a:t>Estado</a:t>
                      </a:r>
                    </a:p>
                  </a:txBody>
                  <a:tcPr marL="30429" marR="30429" marT="15214" marB="15214" anchor="ctr"/>
                </a:tc>
                <a:extLst>
                  <a:ext uri="{0D108BD9-81ED-4DB2-BD59-A6C34878D82A}">
                    <a16:rowId xmlns:a16="http://schemas.microsoft.com/office/drawing/2014/main" val="10000"/>
                  </a:ext>
                </a:extLst>
              </a:tr>
              <a:tr h="669437">
                <a:tc>
                  <a:txBody>
                    <a:bodyPr/>
                    <a:lstStyle/>
                    <a:p>
                      <a:pPr>
                        <a:buNone/>
                      </a:pPr>
                      <a:r>
                        <a:rPr sz="1400"/>
                        <a:t>24/08/2026</a:t>
                      </a:r>
                    </a:p>
                  </a:txBody>
                  <a:tcPr marL="30429" marR="30429" marT="15214" marB="15214" anchor="ctr"/>
                </a:tc>
                <a:tc>
                  <a:txBody>
                    <a:bodyPr/>
                    <a:lstStyle/>
                    <a:p>
                      <a:pPr>
                        <a:buNone/>
                      </a:pPr>
                      <a:r>
                        <a:rPr sz="1400"/>
                        <a:t>Tres proyectos</a:t>
                      </a:r>
                    </a:p>
                  </a:txBody>
                  <a:tcPr marL="30429" marR="30429" marT="15214" marB="15214" anchor="ctr"/>
                </a:tc>
                <a:tc>
                  <a:txBody>
                    <a:bodyPr/>
                    <a:lstStyle/>
                    <a:p>
                      <a:pPr>
                        <a:buNone/>
                      </a:pPr>
                      <a:r>
                        <a:rPr sz="1400"/>
                        <a:t>Registro inicial del Daily Scrum</a:t>
                      </a:r>
                    </a:p>
                  </a:txBody>
                  <a:tcPr marL="30429" marR="30429" marT="15214" marB="15214" anchor="ctr"/>
                </a:tc>
                <a:tc>
                  <a:txBody>
                    <a:bodyPr/>
                    <a:lstStyle/>
                    <a:p>
                      <a:pPr>
                        <a:buNone/>
                      </a:pPr>
                      <a:r>
                        <a:rPr sz="1400"/>
                        <a:t>Monday.com actualizado</a:t>
                      </a:r>
                    </a:p>
                  </a:txBody>
                  <a:tcPr marL="30429" marR="30429" marT="15214" marB="15214" anchor="ctr"/>
                </a:tc>
                <a:tc>
                  <a:txBody>
                    <a:bodyPr/>
                    <a:lstStyle/>
                    <a:p>
                      <a:pPr>
                        <a:buNone/>
                      </a:pPr>
                      <a:r>
                        <a:rPr sz="1400"/>
                        <a:t>Completado</a:t>
                      </a:r>
                    </a:p>
                  </a:txBody>
                  <a:tcPr marL="30429" marR="30429" marT="15214" marB="15214" anchor="ctr"/>
                </a:tc>
                <a:extLst>
                  <a:ext uri="{0D108BD9-81ED-4DB2-BD59-A6C34878D82A}">
                    <a16:rowId xmlns:a16="http://schemas.microsoft.com/office/drawing/2014/main" val="10001"/>
                  </a:ext>
                </a:extLst>
              </a:tr>
              <a:tr h="669437">
                <a:tc>
                  <a:txBody>
                    <a:bodyPr/>
                    <a:lstStyle/>
                    <a:p>
                      <a:pPr>
                        <a:buNone/>
                      </a:pPr>
                      <a:r>
                        <a:rPr sz="1400"/>
                        <a:t>25/08/2026</a:t>
                      </a:r>
                    </a:p>
                  </a:txBody>
                  <a:tcPr marL="30429" marR="30429" marT="15214" marB="15214" anchor="ctr"/>
                </a:tc>
                <a:tc>
                  <a:txBody>
                    <a:bodyPr/>
                    <a:lstStyle/>
                    <a:p>
                      <a:pPr>
                        <a:buNone/>
                      </a:pPr>
                      <a:r>
                        <a:rPr sz="1400"/>
                        <a:t>Brandon</a:t>
                      </a:r>
                    </a:p>
                  </a:txBody>
                  <a:tcPr marL="30429" marR="30429" marT="15214" marB="15214" anchor="ctr"/>
                </a:tc>
                <a:tc>
                  <a:txBody>
                    <a:bodyPr/>
                    <a:lstStyle/>
                    <a:p>
                      <a:pPr>
                        <a:buNone/>
                      </a:pPr>
                      <a:r>
                        <a:rPr sz="1400"/>
                        <a:t>Revisión de fechas del cronograma</a:t>
                      </a:r>
                    </a:p>
                  </a:txBody>
                  <a:tcPr marL="30429" marR="30429" marT="15214" marB="15214" anchor="ctr"/>
                </a:tc>
                <a:tc>
                  <a:txBody>
                    <a:bodyPr/>
                    <a:lstStyle/>
                    <a:p>
                      <a:pPr>
                        <a:buNone/>
                      </a:pPr>
                      <a:r>
                        <a:rPr sz="1400"/>
                        <a:t>Fechas corregidas</a:t>
                      </a:r>
                    </a:p>
                  </a:txBody>
                  <a:tcPr marL="30429" marR="30429" marT="15214" marB="15214" anchor="ctr"/>
                </a:tc>
                <a:tc>
                  <a:txBody>
                    <a:bodyPr/>
                    <a:lstStyle/>
                    <a:p>
                      <a:pPr>
                        <a:buNone/>
                      </a:pPr>
                      <a:r>
                        <a:rPr sz="1400"/>
                        <a:t>Completado</a:t>
                      </a:r>
                    </a:p>
                  </a:txBody>
                  <a:tcPr marL="30429" marR="30429" marT="15214" marB="15214" anchor="ctr"/>
                </a:tc>
                <a:extLst>
                  <a:ext uri="{0D108BD9-81ED-4DB2-BD59-A6C34878D82A}">
                    <a16:rowId xmlns:a16="http://schemas.microsoft.com/office/drawing/2014/main" val="10002"/>
                  </a:ext>
                </a:extLst>
              </a:tr>
              <a:tr h="578150">
                <a:tc>
                  <a:txBody>
                    <a:bodyPr/>
                    <a:lstStyle/>
                    <a:p>
                      <a:pPr>
                        <a:buNone/>
                      </a:pPr>
                      <a:r>
                        <a:rPr sz="1400"/>
                        <a:t>26/08/2026</a:t>
                      </a:r>
                    </a:p>
                  </a:txBody>
                  <a:tcPr marL="30429" marR="30429" marT="15214" marB="15214" anchor="ctr"/>
                </a:tc>
                <a:tc>
                  <a:txBody>
                    <a:bodyPr/>
                    <a:lstStyle/>
                    <a:p>
                      <a:pPr>
                        <a:buNone/>
                      </a:pPr>
                      <a:r>
                        <a:rPr sz="1400"/>
                        <a:t>Roberto</a:t>
                      </a:r>
                    </a:p>
                  </a:txBody>
                  <a:tcPr marL="30429" marR="30429" marT="15214" marB="15214" anchor="ctr"/>
                </a:tc>
                <a:tc>
                  <a:txBody>
                    <a:bodyPr/>
                    <a:lstStyle/>
                    <a:p>
                      <a:pPr>
                        <a:buNone/>
                      </a:pPr>
                      <a:r>
                        <a:rPr sz="1400"/>
                        <a:t>Resolución de duda del diagrama</a:t>
                      </a:r>
                    </a:p>
                  </a:txBody>
                  <a:tcPr marL="30429" marR="30429" marT="15214" marB="15214" anchor="ctr"/>
                </a:tc>
                <a:tc>
                  <a:txBody>
                    <a:bodyPr/>
                    <a:lstStyle/>
                    <a:p>
                      <a:pPr>
                        <a:buNone/>
                      </a:pPr>
                      <a:r>
                        <a:rPr sz="1400"/>
                        <a:t>Orientación registrada</a:t>
                      </a:r>
                    </a:p>
                  </a:txBody>
                  <a:tcPr marL="30429" marR="30429" marT="15214" marB="15214" anchor="ctr"/>
                </a:tc>
                <a:tc>
                  <a:txBody>
                    <a:bodyPr/>
                    <a:lstStyle/>
                    <a:p>
                      <a:pPr>
                        <a:buNone/>
                      </a:pPr>
                      <a:r>
                        <a:rPr sz="1400"/>
                        <a:t>Completado</a:t>
                      </a:r>
                    </a:p>
                  </a:txBody>
                  <a:tcPr marL="30429" marR="30429" marT="15214" marB="15214" anchor="ctr"/>
                </a:tc>
                <a:extLst>
                  <a:ext uri="{0D108BD9-81ED-4DB2-BD59-A6C34878D82A}">
                    <a16:rowId xmlns:a16="http://schemas.microsoft.com/office/drawing/2014/main" val="10003"/>
                  </a:ext>
                </a:extLst>
              </a:tr>
              <a:tr h="578150">
                <a:tc>
                  <a:txBody>
                    <a:bodyPr/>
                    <a:lstStyle/>
                    <a:p>
                      <a:pPr>
                        <a:buNone/>
                      </a:pPr>
                      <a:r>
                        <a:rPr sz="1400"/>
                        <a:t>27/08/2026</a:t>
                      </a:r>
                    </a:p>
                  </a:txBody>
                  <a:tcPr marL="30429" marR="30429" marT="15214" marB="15214" anchor="ctr"/>
                </a:tc>
                <a:tc>
                  <a:txBody>
                    <a:bodyPr/>
                    <a:lstStyle/>
                    <a:p>
                      <a:pPr>
                        <a:buNone/>
                      </a:pPr>
                      <a:r>
                        <a:rPr sz="1400"/>
                        <a:t>Roberto</a:t>
                      </a:r>
                    </a:p>
                  </a:txBody>
                  <a:tcPr marL="30429" marR="30429" marT="15214" marB="15214" anchor="ctr"/>
                </a:tc>
                <a:tc>
                  <a:txBody>
                    <a:bodyPr/>
                    <a:lstStyle/>
                    <a:p>
                      <a:pPr>
                        <a:buNone/>
                      </a:pPr>
                      <a:r>
                        <a:rPr sz="1400"/>
                        <a:t>Recepción del primer diagrama</a:t>
                      </a:r>
                    </a:p>
                  </a:txBody>
                  <a:tcPr marL="30429" marR="30429" marT="15214" marB="15214" anchor="ctr"/>
                </a:tc>
                <a:tc>
                  <a:txBody>
                    <a:bodyPr/>
                    <a:lstStyle/>
                    <a:p>
                      <a:pPr>
                        <a:buNone/>
                      </a:pPr>
                      <a:r>
                        <a:rPr sz="1400"/>
                        <a:t>Entregable recibido</a:t>
                      </a:r>
                    </a:p>
                  </a:txBody>
                  <a:tcPr marL="30429" marR="30429" marT="15214" marB="15214" anchor="ctr"/>
                </a:tc>
                <a:tc>
                  <a:txBody>
                    <a:bodyPr/>
                    <a:lstStyle/>
                    <a:p>
                      <a:pPr>
                        <a:buNone/>
                      </a:pPr>
                      <a:r>
                        <a:rPr sz="1400"/>
                        <a:t>En revisión</a:t>
                      </a:r>
                    </a:p>
                  </a:txBody>
                  <a:tcPr marL="30429" marR="30429" marT="15214" marB="15214" anchor="ctr"/>
                </a:tc>
                <a:extLst>
                  <a:ext uri="{0D108BD9-81ED-4DB2-BD59-A6C34878D82A}">
                    <a16:rowId xmlns:a16="http://schemas.microsoft.com/office/drawing/2014/main" val="10004"/>
                  </a:ext>
                </a:extLst>
              </a:tr>
              <a:tr h="395576">
                <a:tc>
                  <a:txBody>
                    <a:bodyPr/>
                    <a:lstStyle/>
                    <a:p>
                      <a:pPr>
                        <a:buNone/>
                      </a:pPr>
                      <a:r>
                        <a:rPr sz="1400"/>
                        <a:t>28/08/2026</a:t>
                      </a:r>
                    </a:p>
                  </a:txBody>
                  <a:tcPr marL="30429" marR="30429" marT="15214" marB="15214" anchor="ctr"/>
                </a:tc>
                <a:tc>
                  <a:txBody>
                    <a:bodyPr/>
                    <a:lstStyle/>
                    <a:p>
                      <a:pPr>
                        <a:buNone/>
                      </a:pPr>
                      <a:r>
                        <a:rPr sz="1400"/>
                        <a:t>Tres proyectos</a:t>
                      </a:r>
                    </a:p>
                  </a:txBody>
                  <a:tcPr marL="30429" marR="30429" marT="15214" marB="15214" anchor="ctr"/>
                </a:tc>
                <a:tc>
                  <a:txBody>
                    <a:bodyPr/>
                    <a:lstStyle/>
                    <a:p>
                      <a:pPr>
                        <a:buNone/>
                      </a:pPr>
                      <a:r>
                        <a:rPr sz="1400"/>
                        <a:t>Sin comunicación; revisión documental</a:t>
                      </a:r>
                    </a:p>
                  </a:txBody>
                  <a:tcPr marL="30429" marR="30429" marT="15214" marB="15214" anchor="ctr"/>
                </a:tc>
                <a:tc>
                  <a:txBody>
                    <a:bodyPr/>
                    <a:lstStyle/>
                    <a:p>
                      <a:pPr>
                        <a:buNone/>
                      </a:pPr>
                      <a:r>
                        <a:rPr sz="1400"/>
                        <a:t>Tablero y documentos revisados</a:t>
                      </a:r>
                    </a:p>
                  </a:txBody>
                  <a:tcPr marL="30429" marR="30429" marT="15214" marB="15214" anchor="ctr"/>
                </a:tc>
                <a:tc>
                  <a:txBody>
                    <a:bodyPr/>
                    <a:lstStyle/>
                    <a:p>
                      <a:pPr>
                        <a:buNone/>
                      </a:pPr>
                      <a:r>
                        <a:rPr sz="1400"/>
                        <a:t>Sin seguimiento</a:t>
                      </a:r>
                    </a:p>
                  </a:txBody>
                  <a:tcPr marL="30429" marR="30429" marT="15214" marB="15214" anchor="ctr"/>
                </a:tc>
                <a:extLst>
                  <a:ext uri="{0D108BD9-81ED-4DB2-BD59-A6C34878D82A}">
                    <a16:rowId xmlns:a16="http://schemas.microsoft.com/office/drawing/2014/main" val="10005"/>
                  </a:ext>
                </a:extLst>
              </a:tr>
              <a:tr h="578150">
                <a:tc>
                  <a:txBody>
                    <a:bodyPr/>
                    <a:lstStyle/>
                    <a:p>
                      <a:pPr>
                        <a:buNone/>
                      </a:pPr>
                      <a:r>
                        <a:rPr sz="1400"/>
                        <a:t>29/08/2026</a:t>
                      </a:r>
                    </a:p>
                  </a:txBody>
                  <a:tcPr marL="30429" marR="30429" marT="15214" marB="15214" anchor="ctr"/>
                </a:tc>
                <a:tc>
                  <a:txBody>
                    <a:bodyPr/>
                    <a:lstStyle/>
                    <a:p>
                      <a:pPr>
                        <a:buNone/>
                      </a:pPr>
                      <a:r>
                        <a:rPr sz="1400"/>
                        <a:t>Roberto</a:t>
                      </a:r>
                    </a:p>
                  </a:txBody>
                  <a:tcPr marL="30429" marR="30429" marT="15214" marB="15214" anchor="ctr"/>
                </a:tc>
                <a:tc>
                  <a:txBody>
                    <a:bodyPr/>
                    <a:lstStyle/>
                    <a:p>
                      <a:pPr>
                        <a:buNone/>
                      </a:pPr>
                      <a:r>
                        <a:rPr sz="1400"/>
                        <a:t>Revisión de la corrección del diagrama</a:t>
                      </a:r>
                    </a:p>
                  </a:txBody>
                  <a:tcPr marL="30429" marR="30429" marT="15214" marB="15214" anchor="ctr"/>
                </a:tc>
                <a:tc>
                  <a:txBody>
                    <a:bodyPr/>
                    <a:lstStyle/>
                    <a:p>
                      <a:pPr>
                        <a:buNone/>
                      </a:pPr>
                      <a:r>
                        <a:rPr sz="1400"/>
                        <a:t>Flujo duplicado identificado</a:t>
                      </a:r>
                    </a:p>
                  </a:txBody>
                  <a:tcPr marL="30429" marR="30429" marT="15214" marB="15214" anchor="ctr"/>
                </a:tc>
                <a:tc>
                  <a:txBody>
                    <a:bodyPr/>
                    <a:lstStyle/>
                    <a:p>
                      <a:pPr>
                        <a:buNone/>
                      </a:pPr>
                      <a:r>
                        <a:rPr sz="1400"/>
                        <a:t>En revisión</a:t>
                      </a:r>
                    </a:p>
                  </a:txBody>
                  <a:tcPr marL="30429" marR="30429" marT="15214" marB="15214" anchor="ctr"/>
                </a:tc>
                <a:extLst>
                  <a:ext uri="{0D108BD9-81ED-4DB2-BD59-A6C34878D82A}">
                    <a16:rowId xmlns:a16="http://schemas.microsoft.com/office/drawing/2014/main" val="10006"/>
                  </a:ext>
                </a:extLst>
              </a:tr>
              <a:tr h="669437">
                <a:tc>
                  <a:txBody>
                    <a:bodyPr/>
                    <a:lstStyle/>
                    <a:p>
                      <a:pPr>
                        <a:buNone/>
                      </a:pPr>
                      <a:r>
                        <a:rPr sz="1400"/>
                        <a:t>29/08/2026</a:t>
                      </a:r>
                    </a:p>
                  </a:txBody>
                  <a:tcPr marL="30429" marR="30429" marT="15214" marB="15214" anchor="ctr"/>
                </a:tc>
                <a:tc>
                  <a:txBody>
                    <a:bodyPr/>
                    <a:lstStyle/>
                    <a:p>
                      <a:pPr>
                        <a:buNone/>
                      </a:pPr>
                      <a:r>
                        <a:rPr sz="1400"/>
                        <a:t>Gestión general</a:t>
                      </a:r>
                    </a:p>
                  </a:txBody>
                  <a:tcPr marL="30429" marR="30429" marT="15214" marB="15214" anchor="ctr"/>
                </a:tc>
                <a:tc>
                  <a:txBody>
                    <a:bodyPr/>
                    <a:lstStyle/>
                    <a:p>
                      <a:pPr>
                        <a:buNone/>
                      </a:pPr>
                      <a:r>
                        <a:rPr sz="1400"/>
                        <a:t>Actualización del reporte y evidencias</a:t>
                      </a:r>
                    </a:p>
                  </a:txBody>
                  <a:tcPr marL="30429" marR="30429" marT="15214" marB="15214" anchor="ctr"/>
                </a:tc>
                <a:tc>
                  <a:txBody>
                    <a:bodyPr/>
                    <a:lstStyle/>
                    <a:p>
                      <a:pPr>
                        <a:buNone/>
                      </a:pPr>
                      <a:r>
                        <a:rPr sz="1400"/>
                        <a:t>Actividad 2.2 actualizada</a:t>
                      </a:r>
                    </a:p>
                  </a:txBody>
                  <a:tcPr marL="30429" marR="30429" marT="15214" marB="15214" anchor="ctr"/>
                </a:tc>
                <a:tc>
                  <a:txBody>
                    <a:bodyPr/>
                    <a:lstStyle/>
                    <a:p>
                      <a:pPr>
                        <a:buNone/>
                      </a:pPr>
                      <a:r>
                        <a:rPr sz="1400" dirty="0" err="1"/>
                        <a:t>Completado</a:t>
                      </a:r>
                      <a:endParaRPr sz="1400" dirty="0"/>
                    </a:p>
                  </a:txBody>
                  <a:tcPr marL="30429" marR="30429" marT="15214" marB="15214" anchor="ctr"/>
                </a:tc>
                <a:extLst>
                  <a:ext uri="{0D108BD9-81ED-4DB2-BD59-A6C34878D82A}">
                    <a16:rowId xmlns:a16="http://schemas.microsoft.com/office/drawing/2014/main" val="10007"/>
                  </a:ext>
                </a:extLst>
              </a:tr>
            </a:tbl>
          </a:graphicData>
        </a:graphic>
      </p:graphicFrame>
      <p:sp>
        <p:nvSpPr>
          <p:cNvPr id="6" name="CuadroTexto 5">
            <a:extLst>
              <a:ext uri="{FF2B5EF4-FFF2-40B4-BE49-F238E27FC236}">
                <a16:creationId xmlns:a16="http://schemas.microsoft.com/office/drawing/2014/main" id="{A7615F87-9D81-14CD-4CCA-6B2A011D13E9}"/>
              </a:ext>
            </a:extLst>
          </p:cNvPr>
          <p:cNvSpPr>
            <a:spLocks noGrp="1"/>
          </p:cNvSpPr>
          <p:nvPr/>
        </p:nvSpPr>
        <p:spPr>
          <a:xfrm>
            <a:off x="838199" y="5778768"/>
            <a:ext cx="10658475" cy="646331"/>
          </a:xfrm>
          <a:prstGeom prst="rect">
            <a:avLst/>
          </a:prstGeom>
          <a:noFill/>
        </p:spPr>
        <p:txBody>
          <a:bodyPr wrap="square">
            <a:spAutoFit/>
          </a:bodyPr>
          <a:lstStyle/>
          <a:p>
            <a:r>
              <a:t>La bitácora registra únicamente actividades y comunicaciones respaldadas por evidencia. Los días sin comunicación se documentan sin inventar llamadas o avances.</a:t>
            </a:r>
          </a:p>
        </p:txBody>
      </p:sp>
    </p:spTree>
    <p:extLst>
      <p:ext uri="{BB962C8B-B14F-4D97-AF65-F5344CB8AC3E}">
        <p14:creationId xmlns:p14="http://schemas.microsoft.com/office/powerpoint/2010/main" val="230371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fontScale="97884" lnSpcReduction="10000"/>
          </a:bodyPr>
          <a:lstStyle/>
          <a:p>
            <a:pPr marL="0" indent="0">
              <a:buNone/>
            </a:pPr>
            <a:r>
              <a:rPr sz="4400" b="1" dirty="0" err="1">
                <a:solidFill>
                  <a:schemeClr val="accent1"/>
                </a:solidFill>
                <a:latin typeface="+mj-lt"/>
                <a:ea typeface="+mj-lt"/>
                <a:cs typeface="+mj-lt"/>
              </a:rPr>
              <a:t>Conclusión</a:t>
            </a:r>
            <a:endParaRPr sz="4400" b="1" dirty="0">
              <a:solidFill>
                <a:schemeClr val="accent1"/>
              </a:solidFill>
              <a:latin typeface="+mj-lt"/>
              <a:ea typeface="+mj-lt"/>
              <a:cs typeface="+mj-lt"/>
            </a:endParaRPr>
          </a:p>
          <a:p>
            <a:pPr marL="0" indent="0">
              <a:buNone/>
            </a:pPr>
            <a:endParaRPr dirty="0"/>
          </a:p>
          <a:p>
            <a:pPr marL="0" indent="0" algn="just">
              <a:buNone/>
            </a:pPr>
            <a:r>
              <a:rPr dirty="0"/>
              <a:t>Los </a:t>
            </a:r>
            <a:r>
              <a:rPr dirty="0" err="1"/>
              <a:t>ejercicios</a:t>
            </a:r>
            <a:r>
              <a:rPr dirty="0"/>
              <a:t> </a:t>
            </a:r>
            <a:r>
              <a:rPr dirty="0" err="1"/>
              <a:t>permitieron</a:t>
            </a:r>
            <a:r>
              <a:rPr dirty="0"/>
              <a:t> </a:t>
            </a:r>
            <a:r>
              <a:rPr dirty="0" err="1"/>
              <a:t>relacionar</a:t>
            </a:r>
            <a:r>
              <a:rPr dirty="0"/>
              <a:t> Scrum, Kanban y PMBOK con </a:t>
            </a:r>
            <a:r>
              <a:rPr dirty="0" err="1"/>
              <a:t>situaciones</a:t>
            </a:r>
            <a:r>
              <a:rPr dirty="0"/>
              <a:t> reales de </a:t>
            </a:r>
            <a:r>
              <a:rPr dirty="0" err="1"/>
              <a:t>los</a:t>
            </a:r>
            <a:r>
              <a:rPr dirty="0"/>
              <a:t> </a:t>
            </a:r>
            <a:r>
              <a:rPr dirty="0" err="1"/>
              <a:t>tres</a:t>
            </a:r>
            <a:r>
              <a:rPr dirty="0"/>
              <a:t> </a:t>
            </a:r>
            <a:r>
              <a:rPr dirty="0" err="1"/>
              <a:t>proyectos</a:t>
            </a:r>
            <a:r>
              <a:rPr dirty="0"/>
              <a:t>. Scrum </a:t>
            </a:r>
            <a:r>
              <a:rPr dirty="0" err="1"/>
              <a:t>facilitó</a:t>
            </a:r>
            <a:r>
              <a:rPr dirty="0"/>
              <a:t> el </a:t>
            </a:r>
            <a:r>
              <a:rPr dirty="0" err="1"/>
              <a:t>seguimiento</a:t>
            </a:r>
            <a:r>
              <a:rPr dirty="0"/>
              <a:t> </a:t>
            </a:r>
            <a:r>
              <a:rPr dirty="0" err="1"/>
              <a:t>mediante</a:t>
            </a:r>
            <a:r>
              <a:rPr dirty="0"/>
              <a:t> </a:t>
            </a:r>
            <a:r>
              <a:rPr dirty="0" err="1"/>
              <a:t>llamadas</a:t>
            </a:r>
            <a:r>
              <a:rPr dirty="0"/>
              <a:t> y WhatsApp; Kanban </a:t>
            </a:r>
            <a:r>
              <a:rPr dirty="0" err="1"/>
              <a:t>mostró</a:t>
            </a:r>
            <a:r>
              <a:rPr dirty="0"/>
              <a:t> </a:t>
            </a:r>
            <a:r>
              <a:rPr dirty="0" err="1"/>
              <a:t>los</a:t>
            </a:r>
            <a:r>
              <a:rPr dirty="0"/>
              <a:t> </a:t>
            </a:r>
            <a:r>
              <a:rPr dirty="0" err="1"/>
              <a:t>estados</a:t>
            </a:r>
            <a:r>
              <a:rPr dirty="0"/>
              <a:t>, </a:t>
            </a:r>
            <a:r>
              <a:rPr dirty="0" err="1"/>
              <a:t>bloqueos</a:t>
            </a:r>
            <a:r>
              <a:rPr dirty="0"/>
              <a:t> y </a:t>
            </a:r>
            <a:r>
              <a:rPr dirty="0" err="1"/>
              <a:t>entregables</a:t>
            </a:r>
            <a:r>
              <a:rPr dirty="0"/>
              <a:t>; y PMBOK </a:t>
            </a:r>
            <a:r>
              <a:rPr dirty="0" err="1"/>
              <a:t>organizó</a:t>
            </a:r>
            <a:r>
              <a:rPr dirty="0"/>
              <a:t> la </a:t>
            </a:r>
            <a:r>
              <a:rPr dirty="0" err="1"/>
              <a:t>gestión</a:t>
            </a:r>
            <a:r>
              <a:rPr dirty="0"/>
              <a:t> </a:t>
            </a:r>
            <a:r>
              <a:rPr dirty="0" err="1"/>
              <a:t>mediante</a:t>
            </a:r>
            <a:r>
              <a:rPr dirty="0"/>
              <a:t> </a:t>
            </a:r>
            <a:r>
              <a:rPr dirty="0" err="1"/>
              <a:t>actas</a:t>
            </a:r>
            <a:r>
              <a:rPr dirty="0"/>
              <a:t>, planes y </a:t>
            </a:r>
            <a:r>
              <a:rPr dirty="0" err="1"/>
              <a:t>fases</a:t>
            </a:r>
            <a:r>
              <a:rPr dirty="0"/>
              <a:t>.</a:t>
            </a:r>
          </a:p>
          <a:p>
            <a:pPr marL="0" indent="0" algn="just">
              <a:buNone/>
            </a:pPr>
            <a:r>
              <a:rPr dirty="0"/>
              <a:t>El análisis de </a:t>
            </a:r>
            <a:r>
              <a:rPr dirty="0" err="1"/>
              <a:t>evidencias</a:t>
            </a:r>
            <a:r>
              <a:rPr dirty="0"/>
              <a:t> </a:t>
            </a:r>
            <a:r>
              <a:rPr dirty="0" err="1"/>
              <a:t>permitió</a:t>
            </a:r>
            <a:r>
              <a:rPr dirty="0"/>
              <a:t> </a:t>
            </a:r>
            <a:r>
              <a:rPr dirty="0" err="1"/>
              <a:t>determinar</a:t>
            </a:r>
            <a:r>
              <a:rPr dirty="0"/>
              <a:t> que Brandon </a:t>
            </a:r>
            <a:r>
              <a:rPr dirty="0" err="1"/>
              <a:t>continúa</a:t>
            </a:r>
            <a:r>
              <a:rPr dirty="0"/>
              <a:t> en </a:t>
            </a:r>
            <a:r>
              <a:rPr dirty="0" err="1"/>
              <a:t>proceso</a:t>
            </a:r>
            <a:r>
              <a:rPr dirty="0"/>
              <a:t>, Josefina </a:t>
            </a:r>
            <a:r>
              <a:rPr dirty="0" err="1"/>
              <a:t>presenta</a:t>
            </a:r>
            <a:r>
              <a:rPr dirty="0"/>
              <a:t> </a:t>
            </a:r>
            <a:r>
              <a:rPr dirty="0" err="1"/>
              <a:t>bloqueos</a:t>
            </a:r>
            <a:r>
              <a:rPr dirty="0"/>
              <a:t> por </a:t>
            </a:r>
            <a:r>
              <a:rPr dirty="0" err="1"/>
              <a:t>datos</a:t>
            </a:r>
            <a:r>
              <a:rPr dirty="0"/>
              <a:t> </a:t>
            </a:r>
            <a:r>
              <a:rPr dirty="0" err="1"/>
              <a:t>pendientes</a:t>
            </a:r>
            <a:r>
              <a:rPr dirty="0"/>
              <a:t> y Roberto </a:t>
            </a:r>
            <a:r>
              <a:rPr dirty="0" err="1"/>
              <a:t>mantiene</a:t>
            </a:r>
            <a:r>
              <a:rPr dirty="0"/>
              <a:t> </a:t>
            </a:r>
            <a:r>
              <a:rPr dirty="0" err="1"/>
              <a:t>su</a:t>
            </a:r>
            <a:r>
              <a:rPr dirty="0"/>
              <a:t> </a:t>
            </a:r>
            <a:r>
              <a:rPr dirty="0" err="1"/>
              <a:t>diagrama</a:t>
            </a:r>
            <a:r>
              <a:rPr dirty="0"/>
              <a:t> en </a:t>
            </a:r>
            <a:r>
              <a:rPr dirty="0" err="1"/>
              <a:t>revisión</a:t>
            </a:r>
            <a:r>
              <a:rPr dirty="0"/>
              <a:t>. El Project Manager </a:t>
            </a:r>
            <a:r>
              <a:rPr dirty="0" err="1"/>
              <a:t>debe</a:t>
            </a:r>
            <a:r>
              <a:rPr dirty="0"/>
              <a:t> </a:t>
            </a:r>
            <a:r>
              <a:rPr dirty="0" err="1"/>
              <a:t>conservar</a:t>
            </a:r>
            <a:r>
              <a:rPr dirty="0"/>
              <a:t> el </a:t>
            </a:r>
            <a:r>
              <a:rPr dirty="0" err="1"/>
              <a:t>tablero</a:t>
            </a:r>
            <a:r>
              <a:rPr dirty="0"/>
              <a:t> </a:t>
            </a:r>
            <a:r>
              <a:rPr dirty="0" err="1"/>
              <a:t>actualizado</a:t>
            </a:r>
            <a:r>
              <a:rPr dirty="0"/>
              <a:t> y </a:t>
            </a:r>
            <a:r>
              <a:rPr dirty="0" err="1"/>
              <a:t>validar</a:t>
            </a:r>
            <a:r>
              <a:rPr dirty="0"/>
              <a:t> </a:t>
            </a:r>
            <a:r>
              <a:rPr dirty="0" err="1"/>
              <a:t>cada</a:t>
            </a:r>
            <a:r>
              <a:rPr dirty="0"/>
              <a:t> </a:t>
            </a:r>
            <a:r>
              <a:rPr dirty="0" err="1"/>
              <a:t>entregable</a:t>
            </a:r>
            <a:r>
              <a:rPr dirty="0"/>
              <a:t> antes de </a:t>
            </a:r>
            <a:r>
              <a:rPr dirty="0" err="1"/>
              <a:t>marcarlo</a:t>
            </a:r>
            <a:r>
              <a:rPr dirty="0"/>
              <a:t> como </a:t>
            </a:r>
            <a:r>
              <a:rPr dirty="0" err="1"/>
              <a:t>completado</a:t>
            </a:r>
            <a:r>
              <a:rPr dirty="0"/>
              <a:t>.</a:t>
            </a:r>
          </a:p>
        </p:txBody>
      </p:sp>
    </p:spTree>
    <p:extLst>
      <p:ext uri="{BB962C8B-B14F-4D97-AF65-F5344CB8AC3E}">
        <p14:creationId xmlns:p14="http://schemas.microsoft.com/office/powerpoint/2010/main" val="400021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DA0075-23DC-9820-03EC-BB9C50FCF13E}"/>
              </a:ext>
            </a:extLst>
          </p:cNvPr>
          <p:cNvSpPr>
            <a:spLocks noGrp="1"/>
          </p:cNvSpPr>
          <p:nvPr>
            <p:ph type="title"/>
          </p:nvPr>
        </p:nvSpPr>
        <p:spPr/>
        <p:txBody>
          <a:bodyPr vert="horz" lIns="91440" tIns="45720" rIns="91440" bIns="45720" anchor="ctr">
            <a:noAutofit/>
          </a:bodyPr>
          <a:lstStyle/>
          <a:p>
            <a:r>
              <a:rPr sz="3600" b="1">
                <a:solidFill>
                  <a:schemeClr val="accent1"/>
                </a:solidFill>
              </a:rPr>
              <a:t>Fuentes de información</a:t>
            </a:r>
          </a:p>
        </p:txBody>
      </p:sp>
      <p:sp>
        <p:nvSpPr>
          <p:cNvPr id="3" name="Marcador de contenido 2">
            <a:extLst>
              <a:ext uri="{FF2B5EF4-FFF2-40B4-BE49-F238E27FC236}">
                <a16:creationId xmlns:a16="http://schemas.microsoft.com/office/drawing/2014/main" id="{EDEDD0C2-4503-5EC0-BBD2-E720A1C3AB4B}"/>
              </a:ext>
            </a:extLst>
          </p:cNvPr>
          <p:cNvSpPr>
            <a:spLocks noGrp="1"/>
          </p:cNvSpPr>
          <p:nvPr>
            <p:ph idx="1"/>
          </p:nvPr>
        </p:nvSpPr>
        <p:spPr/>
        <p:txBody>
          <a:bodyPr>
            <a:normAutofit/>
          </a:bodyPr>
          <a:lstStyle/>
          <a:p>
            <a:pPr marL="0" indent="0">
              <a:buNone/>
            </a:pPr>
            <a:r>
              <a:rPr dirty="0"/>
              <a:t>Aquino Villanueva, R. (2026). GPTI [</a:t>
            </a:r>
            <a:r>
              <a:rPr dirty="0" err="1"/>
              <a:t>Repositorio</a:t>
            </a:r>
            <a:r>
              <a:rPr dirty="0"/>
              <a:t> de GitHub]. https://github.com/rafaelrav8770/GPTI</a:t>
            </a:r>
          </a:p>
          <a:p>
            <a:pPr marL="0" indent="0">
              <a:buNone/>
            </a:pPr>
            <a:r>
              <a:rPr i="1" dirty="0" err="1"/>
              <a:t>Documentos</a:t>
            </a:r>
            <a:r>
              <a:rPr i="1" dirty="0"/>
              <a:t> de </a:t>
            </a:r>
            <a:r>
              <a:rPr i="1" dirty="0" err="1"/>
              <a:t>levantamiento</a:t>
            </a:r>
            <a:r>
              <a:rPr i="1" dirty="0"/>
              <a:t> </a:t>
            </a:r>
            <a:r>
              <a:rPr i="1" dirty="0" err="1"/>
              <a:t>inicial</a:t>
            </a:r>
            <a:r>
              <a:rPr i="1" dirty="0"/>
              <a:t>, ACTA-001, ACTA-002 y ACTA-003.</a:t>
            </a:r>
            <a:endParaRPr dirty="0"/>
          </a:p>
          <a:p>
            <a:pPr marL="0" indent="0">
              <a:buNone/>
            </a:pPr>
            <a:r>
              <a:rPr dirty="0"/>
              <a:t>PLAN-001, PLAN-002 y PLAN-003.</a:t>
            </a:r>
          </a:p>
          <a:p>
            <a:pPr marL="0" indent="0">
              <a:buNone/>
            </a:pPr>
            <a:r>
              <a:rPr i="1" dirty="0"/>
              <a:t>Monday.com. (2026). </a:t>
            </a:r>
            <a:r>
              <a:rPr i="1" dirty="0" err="1"/>
              <a:t>Tablero</a:t>
            </a:r>
            <a:r>
              <a:rPr i="1" dirty="0"/>
              <a:t> de </a:t>
            </a:r>
            <a:r>
              <a:rPr i="1" dirty="0" err="1"/>
              <a:t>seguimiento</a:t>
            </a:r>
            <a:r>
              <a:rPr i="1" dirty="0"/>
              <a:t> de </a:t>
            </a:r>
            <a:r>
              <a:rPr i="1" dirty="0" err="1"/>
              <a:t>los</a:t>
            </a:r>
            <a:r>
              <a:rPr i="1" dirty="0"/>
              <a:t> </a:t>
            </a:r>
            <a:r>
              <a:rPr i="1" dirty="0" err="1"/>
              <a:t>proyectos</a:t>
            </a:r>
            <a:r>
              <a:rPr i="1" dirty="0"/>
              <a:t> </a:t>
            </a:r>
            <a:r>
              <a:rPr i="1" dirty="0" err="1"/>
              <a:t>Capturas</a:t>
            </a:r>
            <a:r>
              <a:rPr i="1" dirty="0"/>
              <a:t> de </a:t>
            </a:r>
            <a:r>
              <a:rPr i="1" dirty="0" err="1"/>
              <a:t>pantalla</a:t>
            </a:r>
            <a:r>
              <a:rPr i="1" dirty="0"/>
              <a:t>.</a:t>
            </a:r>
            <a:endParaRPr dirty="0"/>
          </a:p>
          <a:p>
            <a:pPr marL="0" indent="0">
              <a:buNone/>
            </a:pPr>
            <a:r>
              <a:t>Project </a:t>
            </a:r>
            <a:r>
              <a:rPr dirty="0"/>
              <a:t>Management Institute. (2021). Guía de </a:t>
            </a:r>
            <a:r>
              <a:rPr dirty="0" err="1"/>
              <a:t>los</a:t>
            </a:r>
            <a:r>
              <a:rPr dirty="0"/>
              <a:t> </a:t>
            </a:r>
            <a:r>
              <a:rPr dirty="0" err="1"/>
              <a:t>fundamentos</a:t>
            </a:r>
            <a:r>
              <a:rPr dirty="0"/>
              <a:t> para la </a:t>
            </a:r>
            <a:r>
              <a:rPr dirty="0" err="1"/>
              <a:t>dirección</a:t>
            </a:r>
            <a:r>
              <a:rPr dirty="0"/>
              <a:t> de </a:t>
            </a:r>
            <a:r>
              <a:rPr dirty="0" err="1"/>
              <a:t>proyectos</a:t>
            </a:r>
            <a:r>
              <a:rPr dirty="0"/>
              <a:t> (Guía del PMBOK®) (7.ª ed.).</a:t>
            </a:r>
          </a:p>
        </p:txBody>
      </p:sp>
    </p:spTree>
    <p:extLst>
      <p:ext uri="{BB962C8B-B14F-4D97-AF65-F5344CB8AC3E}">
        <p14:creationId xmlns:p14="http://schemas.microsoft.com/office/powerpoint/2010/main" val="3236943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2715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fontScale="92500" lnSpcReduction="10000"/>
          </a:bodyPr>
          <a:lstStyle/>
          <a:p>
            <a:pPr marL="0" indent="0">
              <a:buNone/>
            </a:pPr>
            <a:r>
              <a:rPr lang="es-MX" sz="4400" b="1" dirty="0">
                <a:solidFill>
                  <a:schemeClr val="accent1"/>
                </a:solidFill>
                <a:latin typeface="+mj-lt"/>
              </a:rPr>
              <a:t>Conclusión</a:t>
            </a:r>
          </a:p>
          <a:p>
            <a:pPr marL="0" indent="0">
              <a:buNone/>
            </a:pPr>
            <a:endParaRPr lang="es-MX" dirty="0"/>
          </a:p>
          <a:p>
            <a:pPr marL="0" indent="0" algn="just">
              <a:buNone/>
            </a:pPr>
            <a:r>
              <a:rPr lang="es-MX" dirty="0"/>
              <a:t> El cuadro comparativo permitió identificar el estado actual de los tres proyectos bajo supervisión. Los desarrolladores presentan un avance aproximado del 20 % y han completado la etapa inicial de definición de sus proyectos.</a:t>
            </a:r>
          </a:p>
          <a:p>
            <a:pPr marL="0" indent="0" algn="just">
              <a:buNone/>
            </a:pPr>
            <a:r>
              <a:rPr lang="es-MX" dirty="0"/>
              <a:t>Como Project Manager se logró identificar las actividades pendientes de cada desarrollador y establecer las acciones de seguimiento necesarias para continuar con el desarrollo conforme al cronograma. Esta comparación permite mantener un control general de los proyectos y detectar oportunamente posibles retrasos.</a:t>
            </a:r>
          </a:p>
          <a:p>
            <a:pPr marL="0" indent="0" algn="just">
              <a:buNone/>
            </a:pPr>
            <a:endParaRPr lang="es-MX" dirty="0"/>
          </a:p>
        </p:txBody>
      </p:sp>
    </p:spTree>
    <p:extLst>
      <p:ext uri="{BB962C8B-B14F-4D97-AF65-F5344CB8AC3E}">
        <p14:creationId xmlns:p14="http://schemas.microsoft.com/office/powerpoint/2010/main" val="41559223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4299</TotalTime>
  <Words>1082</Words>
  <Application>Microsoft Office PowerPoint</Application>
  <PresentationFormat>Panorámica</PresentationFormat>
  <Paragraphs>141</Paragraphs>
  <Slides>13</Slides>
  <Notes>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Times New Roman</vt:lpstr>
      <vt:lpstr>Tema de Office</vt:lpstr>
      <vt:lpstr>Presentación de PowerPoint</vt:lpstr>
      <vt:lpstr>Presentación de PowerPoint</vt:lpstr>
      <vt:lpstr>Presentación de PowerPoint</vt:lpstr>
      <vt:lpstr>justificacion</vt:lpstr>
      <vt:lpstr>Ejercicio 1. Comparación de Scrum, Kanban y PMBOK</vt:lpstr>
      <vt:lpstr>Ejercicio 2. Analiza el estado de cada proyecto</vt:lpstr>
      <vt:lpstr>Evidencias: Daily Scrum y tablero Kanban</vt:lpstr>
      <vt:lpstr>Ejercicio 3. Revisión del diagrama de Roberto</vt:lpstr>
      <vt:lpstr>Bitácora de seguimiento de la Unidad 2</vt:lpstr>
      <vt:lpstr>Presentación de PowerPoint</vt:lpstr>
      <vt:lpstr>Fuentes de información</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48</cp:revision>
  <dcterms:created xsi:type="dcterms:W3CDTF">2026-02-14T13:39:49Z</dcterms:created>
  <dcterms:modified xsi:type="dcterms:W3CDTF">2026-08-31T03:30:24Z</dcterms:modified>
</cp:coreProperties>
</file>